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실시간 음성·영상 분석 기반 직무·인성 평가 멀티모달 생성형 AI 면접관 플랫폼 개발</a:t>
            </a:r>
          </a:p>
          <a:p>
            <a:r>
              <a:t>화면정의서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A4 — big21/FINAL-PROJECT-NEW (2026-09-23 전면 재작성)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개정이력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00200"/>
          <a:ext cx="8229600" cy="4525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508654">
                <a:tc>
                  <a:txBody>
                    <a:bodyPr/>
                    <a:lstStyle/>
                    <a:p>
                      <a:r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변경내용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버전</a:t>
                      </a:r>
                    </a:p>
                  </a:txBody>
                  <a:tcPr/>
                </a:tc>
              </a:tr>
              <a:tr h="1508654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Big20 예시(52슬라이드, 작성자 함유라, 2026-03-06) 전면 폐기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2026-09-23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1.0.4</a:t>
                      </a:r>
                    </a:p>
                  </a:txBody>
                  <a:tcPr/>
                </a:tc>
              </a:tr>
              <a:tr h="1508655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현재 프로젝트(frontend/app 실제 라우트 14개) 기준 전면 재작성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2026-09-23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2.0.0</a:t>
                      </a:r>
                    </a:p>
                  </a:txBody>
                  <a:tcPr/>
                </a:tc>
              </a:tr>
              <a:tr h="1508655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2026-09-24~25 실배선/실측 검증 반영(K8s·코드샌드박스·DeepFace·화이트보드AI비전·STT스트리밍 완료전환), 면접장 화면(슬라이드12)에 코드실행/화이트보드AI분석 버튼 반영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2026-09-25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2.0.1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문서 목적: 현재 프로젝트(big21/FINAL-PROJECT-NEW)의 실제 프론트엔드 라우트(frontend/app/**/page.tsx)를 기준으로 화면 정의서를 재작성</a:t>
            </a:r>
          </a:p>
          <a:p>
            <a:pPr>
              <a:defRPr sz="1600"/>
            </a:pPr>
            <a:r>
              <a:t>적용 범위: Next.js 16 App Router 기반 14개 실제 라우트 전수 (공개/지원자/채용담당자/운영자)</a:t>
            </a:r>
          </a:p>
          <a:p>
            <a:pPr lvl="1">
              <a:defRPr sz="1400"/>
            </a:pPr>
            <a:r>
              <a:t>인증 방식: 서버 미들웨어 없음 — 각 클라이언트 컴포넌트가 sessionStorage 토큰으로 자체 인증/역할 분기</a:t>
            </a:r>
          </a:p>
          <a:p>
            <a:pPr>
              <a:defRPr sz="1600"/>
            </a:pPr>
            <a:r>
              <a:t>본 문서는 Big20 프로젝트의 기존 52슬라이드 예시(다른 프로젝트, 2026-03-06 작성)를 전면 대체합니다.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화면 목록 (frontend/app 실제 라우트 전수)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00200"/>
          <a:ext cx="8229600" cy="4525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01730">
                <a:tc>
                  <a:txBody>
                    <a:bodyPr/>
                    <a:lstStyle/>
                    <a:p>
                      <a:r>
                        <a:t>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라우트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공개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app/login/page.tsx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로그인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공개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app/register/page.tsx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회원가입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공개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/legal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app/legal/page.tsx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법적 고지(REQ-034, 비로그인 포함 상시 접근)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공용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랜딩/허브 — 역할별 자동 분기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공용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/mypage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app/mypage/page.tsx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마이페이지 — 동의/삭제요청 관리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지원자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/interviews/new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app/interviews/new/page.tsx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면접 생성 진입점(자동 리다이렉트)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지원자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/interviews/[id]/consent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app/interviews/[id]/consent/page.tsx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[C-04] 사전고지·동의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지원자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/interviews/[id]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app/interviews/[id]/page.tsx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[C-06] 면접장(메인)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지원자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/interviews/[id]/report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app/interviews/[id]/report/page.tsx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[C-11] 리포트 상세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채용담당자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/recruiter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app/recruiter/page.tsx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[R-01] 리포트 목록 대시보드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채용담당자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/recruiter/[id]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app/recruiter/[id]/page.tsx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[R-02] 리포트 상세(열람+재채점)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채용담당자(비활성)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/recruiter/rubric-templates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app/recruiter/rubric-templates/page.tsx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루브릭 템플릿 CRUD — 현재 /recruiter로 즉시 리다이렉트, 코드는 보존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운영자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/admin/ops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app/admin/ops/page.tsx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[O-01] 운영 모니터링 대시보드</a:t>
                      </a:r>
                    </a:p>
                  </a:txBody>
                  <a:tcPr/>
                </a:tc>
              </a:tr>
              <a:tr h="301743">
                <a:tc>
                  <a:txBody>
                    <a:bodyPr/>
                    <a:lstStyle/>
                    <a:p>
                      <a:r>
                        <a:t>개발전용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/u20-06-autostart-check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app/u20-06-autostart-check/page.tsx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웹캠 autoStart 임시 검증 라우트(저장소에 영구 보존 대상 아님)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[공개] 로그인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/login</a:t>
            </a:r>
          </a:p>
          <a:p>
            <a:pPr>
              <a:defRPr sz="1600"/>
            </a:pPr>
            <a:r>
              <a:t>파일: app/login/page.tsx</a:t>
            </a:r>
          </a:p>
          <a:p>
            <a:pPr lvl="1">
              <a:defRPr sz="1400"/>
            </a:pPr>
            <a:r>
              <a:t>이메일+비밀번호 로그인 폼, ?registered=1 시 가입완료 안내 배너</a:t>
            </a:r>
          </a:p>
          <a:p>
            <a:pPr lvl="1">
              <a:defRPr sz="1400"/>
            </a:pPr>
            <a:r>
              <a:t>제출 실패 시 인라인 에러 메시지 노출</a:t>
            </a:r>
          </a:p>
          <a:p>
            <a:pPr lvl="1">
              <a:defRPr sz="1400"/>
            </a:pPr>
            <a:r>
              <a:t>성공 시 accessToken을 sessionStorage에 저장 후 홈(/)으로 이동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[공개] 회원가입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/register</a:t>
            </a:r>
          </a:p>
          <a:p>
            <a:pPr>
              <a:defRPr sz="1600"/>
            </a:pPr>
            <a:r>
              <a:t>파일: app/register/page.tsx</a:t>
            </a:r>
          </a:p>
          <a:p>
            <a:pPr lvl="1">
              <a:defRPr sz="1400"/>
            </a:pPr>
            <a:r>
              <a:t>이메일/비밀번호/역할(candidate·recruiter) 라디오/개인정보처리방침 동의</a:t>
            </a:r>
          </a:p>
          <a:p>
            <a:pPr lvl="1">
              <a:defRPr sz="1400"/>
            </a:pPr>
            <a:r>
              <a:t>클라이언트 유효성 검증 + 서버 409/422 필드 에러 매핑</a:t>
            </a:r>
          </a:p>
          <a:p>
            <a:pPr lvl="1">
              <a:defRPr sz="1400"/>
            </a:pPr>
            <a:r>
              <a:t>성공 시 /login?registered=1 로 이동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[공개] 법적 고지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/legal</a:t>
            </a:r>
          </a:p>
          <a:p>
            <a:pPr>
              <a:defRPr sz="1600"/>
            </a:pPr>
            <a:r>
              <a:t>파일: app/legal/page.tsx</a:t>
            </a:r>
          </a:p>
          <a:p>
            <a:pPr lvl="1">
              <a:defRPr sz="1400"/>
            </a:pPr>
            <a:r>
              <a:t>REQ-034 — 비로그인 포함 항상 접근 가능한 정적 고지문</a:t>
            </a:r>
          </a:p>
          <a:p>
            <a:pPr lvl="1">
              <a:defRPr sz="1400"/>
            </a:pPr>
            <a:r>
              <a:t>lib/complianceContent.ts의 LEGAL_DISCLAIMER_TEXT 렌더링</a:t>
            </a:r>
          </a:p>
          <a:p>
            <a:pPr lvl="1">
              <a:defRPr sz="1400"/>
            </a:pPr>
            <a:r>
              <a:t>설계 이탈 사항: GET /legal/disclaimer 백엔드 엔드포인트는 미구현 — 정적 페이지로 대체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[공용] 랜딩/허브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</a:t>
            </a:r>
          </a:p>
          <a:p>
            <a:pPr>
              <a:defRPr sz="1600"/>
            </a:pPr>
            <a:r>
              <a:t>파일: app/page.tsx</a:t>
            </a:r>
          </a:p>
          <a:p>
            <a:pPr lvl="1">
              <a:defRPr sz="1400"/>
            </a:pPr>
            <a:r>
              <a:t>비로그인: 로그인/가입 CTA</a:t>
            </a:r>
          </a:p>
          <a:p>
            <a:pPr lvl="1">
              <a:defRPr sz="1400"/>
            </a:pPr>
            <a:r>
              <a:t>candidate: CandidateHome으로 위임</a:t>
            </a:r>
          </a:p>
          <a:p>
            <a:pPr lvl="1">
              <a:defRPr sz="1400"/>
            </a:pPr>
            <a:r>
              <a:t>recruiter/admin: 인사말 + 역할별 링크(recruiter는 리포트 목록 링크)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[공용] 마이페이지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/mypage</a:t>
            </a:r>
          </a:p>
          <a:p>
            <a:pPr>
              <a:defRPr sz="1600"/>
            </a:pPr>
            <a:r>
              <a:t>파일: app/mypage/page.tsx</a:t>
            </a:r>
          </a:p>
          <a:p>
            <a:pPr lvl="1">
              <a:defRPr sz="1400"/>
            </a:pPr>
            <a:r>
              <a:t>계정정보, 동의 이력(철회 가능) 테이블</a:t>
            </a:r>
          </a:p>
          <a:p>
            <a:pPr lvl="1">
              <a:defRPr sz="1400"/>
            </a:pPr>
            <a:r>
              <a:t>생체정보(음성) 삭제 요청 및 이력 — 2단계 인라인 확인 패턴(네이티브 confirm() 미사용)</a:t>
            </a:r>
          </a:p>
          <a:p>
            <a:pPr lvl="1">
              <a:defRPr sz="1400"/>
            </a:pPr>
            <a:r>
              <a:t>HomeLink 공용 컴포넌트 사용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[지원자] 면접 생성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/interviews/new</a:t>
            </a:r>
          </a:p>
          <a:p>
            <a:pPr>
              <a:defRPr sz="1600"/>
            </a:pPr>
            <a:r>
              <a:t>파일: app/interviews/new/page.tsx</a:t>
            </a:r>
          </a:p>
          <a:p>
            <a:pPr lvl="1">
              <a:defRPr sz="1400"/>
            </a:pPr>
            <a:r>
              <a:t>createInterview() 자동 호출 후 consent 화면으로 즉시 리다이렉트</a:t>
            </a:r>
          </a:p>
          <a:p>
            <a:pPr lvl="1">
              <a:defRPr sz="1400"/>
            </a:pPr>
            <a:r>
              <a:t>별도 UI 없이 로딩 스피너만 노출</a:t>
            </a:r>
          </a:p>
          <a:p>
            <a:pPr lvl="1">
              <a:defRPr sz="1400"/>
            </a:pPr>
            <a:r>
              <a:t>설계 이력: 당시 홈에 CTA가 없어 독립 진입점으로 추가된 임시 경로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[지원자] 사전고지·동의 [C-04]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/interviews/[id]/consent</a:t>
            </a:r>
          </a:p>
          <a:p>
            <a:pPr>
              <a:defRPr sz="1600"/>
            </a:pPr>
            <a:r>
              <a:t>파일: app/interviews/[id]/consent/page.tsx</a:t>
            </a:r>
          </a:p>
          <a:p>
            <a:pPr lvl="1">
              <a:defRPr sz="1400"/>
            </a:pPr>
            <a:r>
              <a:t>고지문 끝까지 스크롤해야 필수 동의(ai_interview_notice) 체크 가능</a:t>
            </a:r>
          </a:p>
          <a:p>
            <a:pPr lvl="1">
              <a:defRPr sz="1400"/>
            </a:pPr>
            <a:r>
              <a:t>선택 동의(biometric_voice) 별도 체크</a:t>
            </a:r>
          </a:p>
          <a:p>
            <a:pPr lvl="1">
              <a:defRPr sz="1400"/>
            </a:pPr>
            <a:r>
              <a:t>면접 상태 가드: live/paused→면접장으로 리다이렉트, scheduled 아니면 에러</a:t>
            </a:r>
          </a:p>
          <a:p>
            <a:pPr lvl="1">
              <a:defRPr sz="1400"/>
            </a:pPr>
            <a:r>
              <a:t>설계 이탈: GET /interviews/{id}/pre-notice 백엔드 미구현 — 고지문은 클라이언트 하드코딩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[지원자] 면접장(메인) [C-06]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/interviews/[id]</a:t>
            </a:r>
          </a:p>
          <a:p>
            <a:pPr>
              <a:defRPr sz="1600"/>
            </a:pPr>
            <a:r>
              <a:t>파일: app/interviews/[id]/page.tsx</a:t>
            </a:r>
          </a:p>
          <a:p>
            <a:pPr lvl="1">
              <a:defRPr sz="1400"/>
            </a:pPr>
            <a:r>
              <a:t>텍스트/음성 턴 제출, WS로 stage_update(stt/llm/tts)·turn_result 실시간 수신</a:t>
            </a:r>
          </a:p>
          <a:p>
            <a:pPr lvl="1">
              <a:defRPr sz="1400"/>
            </a:pPr>
            <a:r>
              <a:t>WebcamPreview(비분석) + InterviewSidePanel(CodeEditorPanel/WhiteboardCanvas)</a:t>
            </a:r>
          </a:p>
          <a:p>
            <a:pPr lvl="1">
              <a:defRPr sz="1400"/>
            </a:pPr>
            <a:r>
              <a:t>모바일(&lt;768px)은 사이드패널이 풀스크린 모달로 전환</a:t>
            </a:r>
          </a:p>
          <a:p>
            <a:pPr lvl="1">
              <a:defRPr sz="1400"/>
            </a:pPr>
            <a:r>
              <a:t>MAX_CANDIDATE_TURNS=5 클라이언트 제한(백엔드와 동일 값 미러링)</a:t>
            </a:r>
          </a:p>
          <a:p>
            <a:pPr lvl="1">
              <a:defRPr sz="1400"/>
            </a:pPr>
            <a:r>
              <a:t>WS 무응답 대비 폴링 폴백 및 '스텁 경계' 안내 문구 내장</a:t>
            </a:r>
          </a:p>
          <a:p>
            <a:pPr>
              <a:defRPr sz="1600"/>
            </a:pPr>
            <a:r>
              <a:t>(2026-09-24~25 추가) CodeEditorPanel '실행' 버튼 — Docker 9중격리 샌드박스에서 Python/JS 실제 실행(DEC-069) / WhiteboardCanvas 'AI 분석' 버튼 — 로컬 SmolVLM으로 다이어그램 설명, 저신뢰 disclaimer 동봉(DEC-061/062)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[지원자] 리포트 상세 [C-11]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/interviews/[id]/report</a:t>
            </a:r>
          </a:p>
          <a:p>
            <a:pPr>
              <a:defRPr sz="1600"/>
            </a:pPr>
            <a:r>
              <a:t>파일: app/interviews/[id]/report/page.tsx</a:t>
            </a:r>
          </a:p>
          <a:p>
            <a:pPr lvl="1">
              <a:defRPr sz="1400"/>
            </a:pPr>
            <a:r>
              <a:t>3초 간격 폴링으로 생성 상태(processing) 확인, 실패 시 재생성 버튼</a:t>
            </a:r>
          </a:p>
          <a:p>
            <a:pPr lvl="1">
              <a:defRPr sz="1400"/>
            </a:pPr>
            <a:r>
              <a:t>종합점수/세부점수/RubricEvidenceSection(근거)/STAR 요약/총평/법적 고지</a:t>
            </a:r>
          </a:p>
          <a:p>
            <a:pPr lvl="1">
              <a:defRPr sz="1400"/>
            </a:pPr>
            <a:r>
              <a:t>unit-37 루브릭 템플릿 기반 채점 결과를 실제로 반영(2026-09-23 실측 PASS)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[채용담당자] 리포트 목록 [R-01]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/recruiter</a:t>
            </a:r>
          </a:p>
          <a:p>
            <a:pPr>
              <a:defRPr sz="1600"/>
            </a:pPr>
            <a:r>
              <a:t>파일: app/recruiter/page.tsx</a:t>
            </a:r>
          </a:p>
          <a:p>
            <a:pPr lvl="1">
              <a:defRPr sz="1400"/>
            </a:pPr>
            <a:r>
              <a:t>전체 지원자 세션 테이블(상태/리포트상태/시작일/점수)</a:t>
            </a:r>
          </a:p>
          <a:p>
            <a:pPr lvl="1">
              <a:defRPr sz="1400"/>
            </a:pPr>
            <a:r>
              <a:t>행 클릭 시 상세로 이동, 역할 가드(recruiter 아니면 권한없음 카드)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[채용담당자] 리포트 상세 [R-02]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/recruiter/[id]</a:t>
            </a:r>
          </a:p>
          <a:p>
            <a:pPr>
              <a:defRPr sz="1600"/>
            </a:pPr>
            <a:r>
              <a:t>파일: app/recruiter/[id]/page.tsx</a:t>
            </a:r>
          </a:p>
          <a:p>
            <a:pPr lvl="1">
              <a:defRPr sz="1400"/>
            </a:pPr>
            <a:r>
              <a:t>후보자 정보/세부점수/RubricEvidenceSection/법적 고지 배너 상시 노출</a:t>
            </a:r>
          </a:p>
          <a:p>
            <a:pPr lvl="1">
              <a:defRPr sz="1400"/>
            </a:pPr>
            <a:r>
              <a:t>루브릭 템플릿 select + 2단계 인라인 확인으로 재채점(assignRubricTemplate) 적용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[비활성] 루브릭 템플릿 CRUD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/recruiter/rubric-templates</a:t>
            </a:r>
          </a:p>
          <a:p>
            <a:pPr>
              <a:defRPr sz="1600"/>
            </a:pPr>
            <a:r>
              <a:t>파일: app/recruiter/rubric-templates/page.tsx</a:t>
            </a:r>
          </a:p>
          <a:p>
            <a:pPr lvl="1">
              <a:defRPr sz="1400"/>
            </a:pPr>
            <a:r>
              <a:t>실제 CRUD UI(RubricTemplatesPageDisabledPendingIntegration)는 구현되어 있으나 default export가 아님</a:t>
            </a:r>
          </a:p>
          <a:p>
            <a:pPr lvl="1">
              <a:defRPr sz="1400"/>
            </a:pPr>
            <a:r>
              <a:t>현재 default export는 /recruiter로 즉시 router.replace — 화면이 사용자에게 노출되지 않음</a:t>
            </a:r>
          </a:p>
          <a:p>
            <a:pPr lvl="1">
              <a:defRPr sz="1400"/>
            </a:pPr>
            <a:r>
              <a:t>사유: 면접 생성/AI 질문생성/리포트 채점 어디에도 배선되지 않아 혼란을 준다는 이유로 비활성화, 코드는 향후 통합 대비 보존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[운영자] 모니터링 대시보드 [O-01]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/admin/ops</a:t>
            </a:r>
          </a:p>
          <a:p>
            <a:pPr>
              <a:defRPr sz="1600"/>
            </a:pPr>
            <a:r>
              <a:t>파일: app/admin/ops/page.tsx</a:t>
            </a:r>
          </a:p>
          <a:p>
            <a:pPr lvl="1">
              <a:defRPr sz="1400"/>
            </a:pPr>
            <a:r>
              <a:t>큐 길이/GPU 메모리/에러율/활성 세션 수를 7초 간격 폴링</a:t>
            </a:r>
          </a:p>
          <a:p>
            <a:pPr lvl="1">
              <a:defRPr sz="1400"/>
            </a:pPr>
            <a:r>
              <a:t>갱신 실패 시 마지막 정상값 유지 + '갱신 실패' 배지</a:t>
            </a:r>
          </a:p>
          <a:p>
            <a:pPr lvl="1">
              <a:defRPr sz="1400"/>
            </a:pPr>
            <a:r>
              <a:t>&lt;details&gt; 접이식 패널로 지표별 측정 방법론 노출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[개발전용] autoStart 검증 라우트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/u20-06-autostart-check</a:t>
            </a:r>
          </a:p>
          <a:p>
            <a:pPr>
              <a:defRPr sz="1600"/>
            </a:pPr>
            <a:r>
              <a:t>파일: app/u20-06-autostart-check/page.tsx</a:t>
            </a:r>
          </a:p>
          <a:p>
            <a:pPr lvl="1">
              <a:defRPr sz="1400"/>
            </a:pPr>
            <a:r>
              <a:t>unit-20 WebcamPreview autoStart SSR/hydration 검증용 임시 라우트(DEF-001 관련)</a:t>
            </a:r>
          </a:p>
          <a:p>
            <a:pPr lvl="1">
              <a:defRPr sz="1400"/>
            </a:pPr>
            <a:r>
              <a:t>코드 주석에 '저장소에 영구히 남기지 않는다'고 명시 — 07단계 착수 전 정리 대상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공용/공유 컴포넌트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HomeLink — '← 홈으로' 링크, mypage/consent/ops/recruiter 목록·상세 등 다수 화면에서 재사용</a:t>
            </a:r>
          </a:p>
          <a:p>
            <a:pPr>
              <a:defRPr sz="1600"/>
            </a:pPr>
            <a:r>
              <a:t>RubricEvidenceSection — 후보자 리포트(C-11)와 채용담당자 상세(R-02)가 공유하는 루브릭 근거/답변발췌 블록</a:t>
            </a:r>
          </a:p>
          <a:p>
            <a:pPr lvl="1">
              <a:defRPr sz="1400"/>
            </a:pPr>
            <a:r>
              <a:t>LLM 생성 텍스트를 다루므로 dangerouslySetInnerHTML을 사용하지 않음(XSS 방지)</a:t>
            </a:r>
          </a:p>
          <a:p>
            <a:pPr>
              <a:defRPr sz="1600"/>
            </a:pPr>
            <a:r>
              <a:t>WebcamPreview — variant: panel|tile, autoStart 지원. 면접장과 autostart-check 라우트에서 사용</a:t>
            </a:r>
          </a:p>
          <a:p>
            <a:pPr>
              <a:defRPr sz="1600"/>
            </a:pPr>
            <a:r>
              <a:t>InterviewSidePanel — CodeEditorPanel + WhiteboardCanvas 컨테이너. 모바일에서 풀스크린 모달(앱 내 유일한 모달 패턴)</a:t>
            </a:r>
          </a:p>
          <a:p>
            <a:pPr>
              <a:defRPr sz="1600"/>
            </a:pPr>
            <a:r>
              <a:t>네이티브 window.confirm()은 어디에도 사용하지 않음 — 모든 확인 상호작용은 2단계 인라인 버튼 UI로 구현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알려진 갭 / 미완성 화면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/recruiter/rubric-templates — 구현되어 있으나 기본 비활성화(라우팅만 차단, 코드 보존)</a:t>
            </a:r>
          </a:p>
          <a:p>
            <a:pPr>
              <a:defRPr sz="1600"/>
            </a:pPr>
            <a:r>
              <a:t>/u20-06-autostart-check — 임시 검증 라우트, 정식 [C-05] 장치점검 화면 부재로 존재</a:t>
            </a:r>
          </a:p>
          <a:p>
            <a:pPr>
              <a:defRPr sz="1600"/>
            </a:pPr>
            <a:r>
              <a:t>/interviews/new — 홈 CTA 부재로 추가된 임시 진입점 성격</a:t>
            </a:r>
          </a:p>
          <a:p>
            <a:pPr>
              <a:defRPr sz="1600"/>
            </a:pPr>
            <a:r>
              <a:t>/interviews/[id]/consent, /legal — 설계된 백엔드 엔드포인트(pre-notice, disclaimer) 미구현으로 정적 콘텐츠로 대체</a:t>
            </a:r>
          </a:p>
          <a:p>
            <a:pPr>
              <a:defRPr sz="1600"/>
            </a:pPr>
            <a:r>
              <a:t>면접장 화면은 AI 응답 미수신 시를 대비한 '스텁 경계' 폴백 로직을 영구적으로 내장 — 07단계 통합테스트에서 실제 커버리지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