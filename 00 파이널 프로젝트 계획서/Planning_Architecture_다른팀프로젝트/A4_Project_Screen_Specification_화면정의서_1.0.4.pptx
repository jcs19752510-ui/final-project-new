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4.xml"/>
  <Override ContentType="application/vnd.openxmlformats-officedocument.drawingml.chart+xml" PartName="/ppt/charts/chart1.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9144000"/>
  <p:embeddedFontLst>
    <p:embeddedFont>
      <p:font typeface="Noto Sans KR"/>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0" roundtripDataSignature="AMtx7mjFAKSh35efOexX7vHFVrEioV+O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1F204E-A15B-47D6-BEBB-6A886D3283EB}">
  <a:tblStyle styleId="{C61F204E-A15B-47D6-BEBB-6A886D3283EB}" styleName="Table_0">
    <a:wholeTbl>
      <a:tcTxStyle b="off" i="off">
        <a:font>
          <a:latin typeface="맑은 고딕"/>
          <a:ea typeface="맑은 고딕"/>
          <a:cs typeface="맑은 고딕"/>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맑은 고딕"/>
          <a:ea typeface="맑은 고딕"/>
          <a:cs typeface="맑은 고딕"/>
        </a:font>
        <a:schemeClr val="lt1"/>
      </a:tcTxStyle>
      <a:tcStyle>
        <a:fill>
          <a:solidFill>
            <a:schemeClr val="accent1"/>
          </a:solidFill>
        </a:fill>
      </a:tcStyle>
    </a:lastCol>
    <a:firstCol>
      <a:tcTxStyle b="on" i="off">
        <a:font>
          <a:latin typeface="맑은 고딕"/>
          <a:ea typeface="맑은 고딕"/>
          <a:cs typeface="맑은 고딕"/>
        </a:font>
        <a:schemeClr val="lt1"/>
      </a:tcTxStyle>
      <a:tcStyle>
        <a:fill>
          <a:solidFill>
            <a:schemeClr val="accent1"/>
          </a:solidFill>
        </a:fill>
      </a:tcStyle>
    </a:firstCol>
    <a:lastRow>
      <a:tcTxStyle b="on" i="off">
        <a:font>
          <a:latin typeface="맑은 고딕"/>
          <a:ea typeface="맑은 고딕"/>
          <a:cs typeface="맑은 고딕"/>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맑은 고딕"/>
          <a:ea typeface="맑은 고딕"/>
          <a:cs typeface="맑은 고딕"/>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NotoSansKR-bold.fntdata"/><Relationship Id="rId14" Type="http://schemas.openxmlformats.org/officeDocument/2006/relationships/slide" Target="slides/slide9.xml"/><Relationship Id="rId58" Type="http://schemas.openxmlformats.org/officeDocument/2006/relationships/font" Target="fonts/NotoSansKR-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26757098917322836"/>
          <c:y val="0.24927920464571821"/>
          <c:w val="0.45548314468503937"/>
          <c:h val="0.68322467499848205"/>
        </c:manualLayout>
      </c:layout>
      <c:radarChart>
        <c:radarStyle val="filled"/>
        <c:varyColors val="0"/>
        <c:ser>
          <c:idx val="0"/>
          <c:order val="0"/>
          <c:tx>
            <c:strRef>
              <c:f>Sheet1!$B$1</c:f>
              <c:strCache>
                <c:ptCount val="1"/>
                <c:pt idx="0">
                  <c:v>종합평가</c:v>
                </c:pt>
              </c:strCache>
            </c:strRef>
          </c:tx>
          <c:spPr>
            <a:gradFill>
              <a:gsLst>
                <a:gs pos="47750">
                  <a:srgbClr val="C09AC7">
                    <a:alpha val="7843"/>
                  </a:srgbClr>
                </a:gs>
                <a:gs pos="0">
                  <a:srgbClr val="D573A9"/>
                </a:gs>
                <a:gs pos="45000">
                  <a:srgbClr val="FF256E">
                    <a:alpha val="7843"/>
                  </a:srgbClr>
                </a:gs>
                <a:gs pos="0">
                  <a:schemeClr val="accent1">
                    <a:lumMod val="5000"/>
                    <a:lumOff val="95000"/>
                  </a:schemeClr>
                </a:gs>
                <a:gs pos="98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ln w="50800">
              <a:gradFill>
                <a:gsLst>
                  <a:gs pos="3000">
                    <a:srgbClr val="FF256E"/>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c:spPr>
          <c:cat>
            <c:strRef>
              <c:f>Sheet1!$A$2:$A$7</c:f>
              <c:strCache>
                <c:ptCount val="6"/>
                <c:pt idx="0">
                  <c:v>직무이해</c:v>
                </c:pt>
                <c:pt idx="1">
                  <c:v>직무경험</c:v>
                </c:pt>
                <c:pt idx="2">
                  <c:v>문제해결능력</c:v>
                </c:pt>
                <c:pt idx="3">
                  <c:v>의사소통능력</c:v>
                </c:pt>
                <c:pt idx="4">
                  <c:v>책임감</c:v>
                </c:pt>
                <c:pt idx="5">
                  <c:v>성장력</c:v>
                </c:pt>
              </c:strCache>
            </c:strRef>
          </c:cat>
          <c:val>
            <c:numRef>
              <c:f>Sheet1!$B$2:$B$7</c:f>
              <c:numCache>
                <c:formatCode>General</c:formatCode>
                <c:ptCount val="6"/>
                <c:pt idx="0">
                  <c:v>11</c:v>
                </c:pt>
                <c:pt idx="1">
                  <c:v>10</c:v>
                </c:pt>
                <c:pt idx="2">
                  <c:v>12</c:v>
                </c:pt>
                <c:pt idx="3">
                  <c:v>15</c:v>
                </c:pt>
                <c:pt idx="4">
                  <c:v>16</c:v>
                </c:pt>
                <c:pt idx="5">
                  <c:v>15</c:v>
                </c:pt>
              </c:numCache>
            </c:numRef>
          </c:val>
          <c:extLst>
            <c:ext xmlns:c16="http://schemas.microsoft.com/office/drawing/2014/chart" uri="{C3380CC4-5D6E-409C-BE32-E72D297353CC}">
              <c16:uniqueId val="{00000000-0964-4BBD-A065-9AB630B44FFF}"/>
            </c:ext>
          </c:extLst>
        </c:ser>
        <c:dLbls>
          <c:showLegendKey val="0"/>
          <c:showVal val="0"/>
          <c:showCatName val="0"/>
          <c:showSerName val="0"/>
          <c:showPercent val="0"/>
          <c:showBubbleSize val="0"/>
        </c:dLbls>
        <c:axId val="1740732432"/>
        <c:axId val="1740733264"/>
      </c:radarChart>
      <c:catAx>
        <c:axId val="1740732432"/>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lumMod val="50000"/>
                    <a:lumOff val="50000"/>
                  </a:schemeClr>
                </a:solidFill>
                <a:latin typeface="+mn-lt"/>
                <a:ea typeface="+mn-ea"/>
                <a:cs typeface="+mn-cs"/>
              </a:defRPr>
            </a:pPr>
            <a:endParaRPr lang="ko-KR"/>
          </a:p>
        </c:txPr>
        <c:crossAx val="1740733264"/>
        <c:crosses val="autoZero"/>
        <c:auto val="1"/>
        <c:lblAlgn val="ctr"/>
        <c:lblOffset val="100"/>
        <c:noMultiLvlLbl val="0"/>
      </c:catAx>
      <c:valAx>
        <c:axId val="1740733264"/>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50000"/>
                    <a:lumOff val="50000"/>
                  </a:schemeClr>
                </a:solidFill>
                <a:latin typeface="+mn-lt"/>
                <a:ea typeface="+mn-ea"/>
                <a:cs typeface="+mn-cs"/>
              </a:defRPr>
            </a:pPr>
            <a:endParaRPr lang="ko-KR"/>
          </a:p>
        </c:txPr>
        <c:crossAx val="1740732432"/>
        <c:crosses val="autoZero"/>
        <c:crossBetween val="between"/>
      </c:valAx>
      <c:spPr>
        <a:noFill/>
        <a:ln>
          <a:noFill/>
        </a:ln>
        <a:effectLst/>
      </c:spPr>
    </c:plotArea>
    <c:plotVisOnly val="1"/>
    <c:dispBlanksAs val="gap"/>
    <c:showDLblsOverMax val="0"/>
  </c:chart>
  <c:spPr>
    <a:noFill/>
    <a:ln w="9525" cap="flat" cmpd="sng" algn="ctr">
      <a:solidFill>
        <a:schemeClr val="dk1">
          <a:lumMod val="15000"/>
          <a:lumOff val="85000"/>
        </a:schemeClr>
      </a:solidFill>
      <a:round/>
    </a:ln>
    <a:effectLst/>
  </c:spPr>
  <c:txPr>
    <a:bodyPr/>
    <a:lstStyle/>
    <a:p>
      <a:pPr>
        <a:defRPr sz="900" baseline="0"/>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계열 1</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Sheet1!$A$2:$A$5</c:f>
              <c:numCache>
                <c:formatCode>General</c:formatCode>
                <c:ptCount val="4"/>
                <c:pt idx="0">
                  <c:v>1</c:v>
                </c:pt>
                <c:pt idx="1">
                  <c:v>10</c:v>
                </c:pt>
                <c:pt idx="2">
                  <c:v>20</c:v>
                </c:pt>
                <c:pt idx="3">
                  <c:v>30</c:v>
                </c:pt>
              </c:numCache>
            </c:numRef>
          </c:cat>
          <c:val>
            <c:numRef>
              <c:f>Sheet1!$B$2:$B$5</c:f>
              <c:numCache>
                <c:formatCode>0%</c:formatCode>
                <c:ptCount val="4"/>
                <c:pt idx="0">
                  <c:v>0.2</c:v>
                </c:pt>
                <c:pt idx="1">
                  <c:v>0.25</c:v>
                </c:pt>
                <c:pt idx="2">
                  <c:v>0.45</c:v>
                </c:pt>
                <c:pt idx="3">
                  <c:v>0.95</c:v>
                </c:pt>
              </c:numCache>
            </c:numRef>
          </c:val>
          <c:smooth val="0"/>
          <c:extLst>
            <c:ext xmlns:c16="http://schemas.microsoft.com/office/drawing/2014/chart" uri="{C3380CC4-5D6E-409C-BE32-E72D297353CC}">
              <c16:uniqueId val="{00000000-190C-4732-8329-D25300A18834}"/>
            </c:ext>
          </c:extLst>
        </c:ser>
        <c:dLbls>
          <c:showLegendKey val="0"/>
          <c:showVal val="0"/>
          <c:showCatName val="0"/>
          <c:showSerName val="0"/>
          <c:showPercent val="0"/>
          <c:showBubbleSize val="0"/>
        </c:dLbls>
        <c:marker val="1"/>
        <c:smooth val="0"/>
        <c:axId val="1918798143"/>
        <c:axId val="1918798559"/>
      </c:lineChart>
      <c:catAx>
        <c:axId val="191879814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ko-KR"/>
          </a:p>
        </c:txPr>
        <c:crossAx val="1918798559"/>
        <c:crosses val="autoZero"/>
        <c:auto val="1"/>
        <c:lblAlgn val="ctr"/>
        <c:lblOffset val="100"/>
        <c:noMultiLvlLbl val="0"/>
      </c:catAx>
      <c:valAx>
        <c:axId val="1918798559"/>
        <c:scaling>
          <c:orientation val="minMax"/>
        </c:scaling>
        <c:delete val="0"/>
        <c:axPos val="l"/>
        <c:numFmt formatCode="0%"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19187981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User</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Sheet1!$A$2:$A$5</c:f>
              <c:numCache>
                <c:formatCode>General</c:formatCode>
                <c:ptCount val="4"/>
                <c:pt idx="0">
                  <c:v>8</c:v>
                </c:pt>
                <c:pt idx="1">
                  <c:v>9</c:v>
                </c:pt>
                <c:pt idx="2">
                  <c:v>10</c:v>
                </c:pt>
                <c:pt idx="3">
                  <c:v>11</c:v>
                </c:pt>
              </c:numCache>
            </c:numRef>
          </c:cat>
          <c:val>
            <c:numRef>
              <c:f>Sheet1!$B$2:$B$5</c:f>
              <c:numCache>
                <c:formatCode>General</c:formatCode>
                <c:ptCount val="4"/>
                <c:pt idx="0">
                  <c:v>1201</c:v>
                </c:pt>
                <c:pt idx="1">
                  <c:v>1302</c:v>
                </c:pt>
                <c:pt idx="2">
                  <c:v>1222</c:v>
                </c:pt>
                <c:pt idx="3">
                  <c:v>1256</c:v>
                </c:pt>
              </c:numCache>
            </c:numRef>
          </c:val>
          <c:smooth val="0"/>
          <c:extLst>
            <c:ext xmlns:c16="http://schemas.microsoft.com/office/drawing/2014/chart" uri="{C3380CC4-5D6E-409C-BE32-E72D297353CC}">
              <c16:uniqueId val="{00000000-F5D1-452C-8C23-53227D91CEBD}"/>
            </c:ext>
          </c:extLst>
        </c:ser>
        <c:dLbls>
          <c:showLegendKey val="0"/>
          <c:showVal val="0"/>
          <c:showCatName val="0"/>
          <c:showSerName val="0"/>
          <c:showPercent val="0"/>
          <c:showBubbleSize val="0"/>
        </c:dLbls>
        <c:marker val="1"/>
        <c:smooth val="0"/>
        <c:axId val="1642767455"/>
        <c:axId val="1642771199"/>
      </c:lineChart>
      <c:catAx>
        <c:axId val="1642767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642771199"/>
        <c:crosses val="autoZero"/>
        <c:auto val="1"/>
        <c:lblAlgn val="ctr"/>
        <c:lblOffset val="100"/>
        <c:noMultiLvlLbl val="0"/>
      </c:catAx>
      <c:valAx>
        <c:axId val="1642771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crossAx val="1642767455"/>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ko-KR"/>
        </a:p>
      </c:txPr>
    </c:legend>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열1</c:v>
                </c:pt>
              </c:strCache>
            </c:strRef>
          </c:tx>
          <c:spPr>
            <a:ln>
              <a:solidFill>
                <a:srgbClr val="FF0000"/>
              </a:solidFill>
            </a:ln>
          </c:spPr>
          <c:explosion val="3"/>
          <c:dPt>
            <c:idx val="0"/>
            <c:bubble3D val="0"/>
            <c:spPr>
              <a:solidFill>
                <a:schemeClr val="accent1"/>
              </a:solidFill>
              <a:ln w="19050">
                <a:solidFill>
                  <a:schemeClr val="accent1"/>
                </a:solidFill>
              </a:ln>
              <a:effectLst/>
            </c:spPr>
            <c:extLst>
              <c:ext xmlns:c16="http://schemas.microsoft.com/office/drawing/2014/chart" uri="{C3380CC4-5D6E-409C-BE32-E72D297353CC}">
                <c16:uniqueId val="{00000002-4437-4569-A3EF-5CB6561BF580}"/>
              </c:ext>
            </c:extLst>
          </c:dPt>
          <c:dPt>
            <c:idx val="1"/>
            <c:bubble3D val="0"/>
            <c:spPr>
              <a:solidFill>
                <a:srgbClr val="FF0000"/>
              </a:solidFill>
              <a:ln w="19050">
                <a:solidFill>
                  <a:srgbClr val="FF0000"/>
                </a:solidFill>
              </a:ln>
              <a:effectLst/>
            </c:spPr>
            <c:extLst>
              <c:ext xmlns:c16="http://schemas.microsoft.com/office/drawing/2014/chart" uri="{C3380CC4-5D6E-409C-BE32-E72D297353CC}">
                <c16:uniqueId val="{00000001-4437-4569-A3EF-5CB6561BF580}"/>
              </c:ext>
            </c:extLst>
          </c:dPt>
          <c:cat>
            <c:strRef>
              <c:f>Sheet1!$A$2:$A$3</c:f>
              <c:strCache>
                <c:ptCount val="2"/>
                <c:pt idx="0">
                  <c:v>Success</c:v>
                </c:pt>
                <c:pt idx="1">
                  <c:v>Failed</c:v>
                </c:pt>
              </c:strCache>
            </c:strRef>
          </c:cat>
          <c:val>
            <c:numRef>
              <c:f>Sheet1!$B$2:$B$3</c:f>
              <c:numCache>
                <c:formatCode>General</c:formatCode>
                <c:ptCount val="2"/>
                <c:pt idx="0">
                  <c:v>8.1999999999999993</c:v>
                </c:pt>
                <c:pt idx="1">
                  <c:v>1.8</c:v>
                </c:pt>
              </c:numCache>
            </c:numRef>
          </c:val>
          <c:extLst>
            <c:ext xmlns:c16="http://schemas.microsoft.com/office/drawing/2014/chart" uri="{C3380CC4-5D6E-409C-BE32-E72D297353CC}">
              <c16:uniqueId val="{00000000-4437-4569-A3EF-5CB6561BF580}"/>
            </c:ext>
          </c:extLst>
        </c:ser>
        <c:dLbls>
          <c:showLegendKey val="0"/>
          <c:showVal val="0"/>
          <c:showCatName val="0"/>
          <c:showSerName val="0"/>
          <c:showPercent val="0"/>
          <c:showBubbleSize val="0"/>
          <c:showLeaderLines val="1"/>
        </c:dLbls>
        <c:firstSliceAng val="0"/>
        <c:holeSize val="51"/>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legend>
    <c:plotVisOnly val="1"/>
    <c:dispBlanksAs val="gap"/>
    <c:showDLblsOverMax val="0"/>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4">
  <a:schemeClr val="accent4"/>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9">
  <cs:axisTitle>
    <cs:lnRef idx="0"/>
    <cs:fillRef idx="0"/>
    <cs:effectRef idx="0"/>
    <cs:fontRef idx="minor">
      <a:schemeClr val="dk1">
        <a:lumMod val="50000"/>
        <a:lumOff val="50000"/>
      </a:schemeClr>
    </cs:fontRef>
    <cs:defRPr sz="1197" b="1" kern="1200"/>
  </cs:axisTitle>
  <cs:categoryAxis>
    <cs:lnRef idx="0"/>
    <cs:fillRef idx="0"/>
    <cs:effectRef idx="0"/>
    <cs:fontRef idx="minor">
      <a:schemeClr val="dk1">
        <a:lumMod val="50000"/>
        <a:lumOff val="50000"/>
      </a:schemeClr>
    </cs:fontRef>
    <cs:spPr>
      <a:ln w="9525" cap="flat" cmpd="sng" algn="ctr">
        <a:solidFill>
          <a:schemeClr val="dk1">
            <a:lumMod val="15000"/>
            <a:lumOff val="85000"/>
          </a:schemeClr>
        </a:solidFill>
        <a:round/>
      </a:ln>
    </cs:spPr>
    <cs:defRPr sz="1197" kern="1200"/>
  </cs:categoryAxis>
  <cs:chartArea>
    <cs:lnRef idx="0"/>
    <cs:fillRef idx="0"/>
    <cs:effectRef idx="0"/>
    <cs:fontRef idx="minor">
      <a:schemeClr val="dk1"/>
    </cs:fontRef>
    <cs:spPr>
      <a:gradFill flip="none" rotWithShape="1">
        <a:gsLst>
          <a:gs pos="100000">
            <a:schemeClr val="lt1">
              <a:lumMod val="95000"/>
            </a:schemeClr>
          </a:gs>
          <a:gs pos="43000">
            <a:schemeClr val="lt1"/>
          </a:gs>
        </a:gsLst>
        <a:path path="circle">
          <a:fillToRect l="50000" t="50000" r="50000" b="50000"/>
        </a:path>
        <a:tileRect/>
      </a:gra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
  <cs:dataPoint3D>
    <cs:lnRef idx="0">
      <cs:styleClr val="auto"/>
    </cs:lnRef>
    <cs:fillRef idx="0">
      <cs:styleClr val="auto"/>
    </cs:fillRef>
    <cs:effectRef idx="0"/>
    <cs:fontRef idx="minor">
      <a:schemeClr val="tx1"/>
    </cs:fontRef>
    <cs:spPr>
      <a:solidFill>
        <a:schemeClr val="phClr">
          <a:alpha val="10196"/>
        </a:schemeClr>
      </a:solidFill>
      <a:ln w="50800">
        <a:solidFill>
          <a:schemeClr val="phClr">
            <a:alpha val="30000"/>
          </a:schemeClr>
        </a:solidFill>
      </a:ln>
    </cs:spPr>
  </cs:dataPoint3D>
  <cs:dataPointLine>
    <cs:lnRef idx="0">
      <cs:styleClr val="auto"/>
    </cs:lnRef>
    <cs:fillRef idx="0"/>
    <cs:effectRef idx="0"/>
    <cs:fontRef idx="minor">
      <a:schemeClr val="tx1"/>
    </cs:fontRef>
    <cs:spPr>
      <a:ln w="50800" cap="rnd" cmpd="sng" algn="ctr">
        <a:solidFill>
          <a:schemeClr val="phClr">
            <a:alpha val="30000"/>
          </a:schemeClr>
        </a:solidFill>
        <a:round/>
      </a:ln>
    </cs:spPr>
  </cs:dataPointLine>
  <cs:dataPointMarker>
    <cs:lnRef idx="0"/>
    <cs:fillRef idx="0">
      <cs:styleClr val="auto"/>
    </cs:fillRef>
    <cs:effectRef idx="0"/>
    <cs:fontRef idx="minor">
      <a:schemeClr val="tx1"/>
    </cs:fontRef>
    <cs:spPr>
      <a:solidFill>
        <a:schemeClr val="phClr"/>
      </a:solidFill>
      <a:ln w="12700" cap="flat" cmpd="sng" algn="ctr">
        <a:solidFill>
          <a:schemeClr val="lt1"/>
        </a:solidFill>
        <a:round/>
      </a:ln>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50000"/>
        <a:lumOff val="50000"/>
      </a:schemeClr>
    </cs:fontRef>
    <cs:spPr>
      <a:ln w="9525" cap="rnd">
        <a:solidFill>
          <a:schemeClr val="dk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a:solidFill>
          <a:schemeClr val="dk1">
            <a:lumMod val="50000"/>
            <a:lumOff val="50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15000"/>
            <a:lumOff val="85000"/>
          </a:schemeClr>
        </a:solidFill>
        <a:round/>
      </a:ln>
    </cs:spPr>
  </cs:gridlineMajor>
  <cs:gridlineMinor>
    <cs:lnRef idx="0"/>
    <cs:fillRef idx="0"/>
    <cs:effectRef idx="0"/>
    <cs:fontRef idx="minor">
      <a:schemeClr val="tx1"/>
    </cs:fontRef>
    <cs:spPr>
      <a:ln w="9525" cap="flat" cmpd="sng" algn="ctr">
        <a:solidFill>
          <a:schemeClr val="dk1">
            <a:lumMod val="5000"/>
            <a:lumOff val="95000"/>
          </a:schemeClr>
        </a:solidFill>
        <a:round/>
      </a:ln>
    </cs:spPr>
  </cs:gridlineMinor>
  <cs:hiLoLine>
    <cs:lnRef idx="0"/>
    <cs:fillRef idx="0"/>
    <cs:effectRef idx="0"/>
    <cs:fontRef idx="minor">
      <a:schemeClr val="tx1"/>
    </cs:fontRef>
    <cs:spPr>
      <a:ln w="9525">
        <a:solidFill>
          <a:schemeClr val="dk1">
            <a:lumMod val="35000"/>
            <a:lumOff val="6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50000"/>
        <a:lumOff val="50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50000"/>
        <a:lumOff val="50000"/>
      </a:schemeClr>
    </cs:fontRef>
    <cs:spPr>
      <a:ln w="9525">
        <a:solidFill>
          <a:schemeClr val="dk1">
            <a:lumMod val="15000"/>
            <a:lumOff val="85000"/>
          </a:schemeClr>
        </a:solidFill>
      </a:ln>
    </cs:spPr>
    <cs:defRPr sz="1197"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50000"/>
        <a:lumOff val="50000"/>
      </a:schemeClr>
    </cs:fontRef>
    <cs:defRPr sz="2128" b="0" kern="1200" spc="70" baseline="0"/>
  </cs:title>
  <cs:trendline>
    <cs:lnRef idx="0">
      <cs:styleClr val="0"/>
    </cs:lnRef>
    <cs:fillRef idx="0"/>
    <cs:effectRef idx="0"/>
    <cs:fontRef idx="minor">
      <a:schemeClr val="tx1"/>
    </cs:fontRef>
    <cs:spPr>
      <a:ln w="63500" cap="rnd" cmpd="sng" algn="ctr">
        <a:solidFill>
          <a:schemeClr val="phClr">
            <a:alpha val="25000"/>
          </a:schemeClr>
        </a:solidFill>
        <a:round/>
      </a:ln>
    </cs:spPr>
  </cs:trendline>
  <cs:trendlineLabel>
    <cs:lnRef idx="0"/>
    <cs:fillRef idx="0"/>
    <cs:effectRef idx="0"/>
    <cs:fontRef idx="minor">
      <a:schemeClr val="dk1">
        <a:lumMod val="50000"/>
        <a:lumOff val="50000"/>
      </a:schemeClr>
    </cs:fontRef>
    <cs:defRPr sz="1197" kern="1200"/>
  </cs:trendlineLabel>
  <cs:upBar>
    <cs:lnRef idx="0"/>
    <cs:fillRef idx="0"/>
    <cs:effectRef idx="0"/>
    <cs:fontRef idx="minor">
      <a:schemeClr val="tx1"/>
    </cs:fontRef>
    <cs:spPr>
      <a:solidFill>
        <a:schemeClr val="lt1"/>
      </a:solidFill>
      <a:ln w="9525">
        <a:solidFill>
          <a:schemeClr val="dk1">
            <a:lumMod val="50000"/>
            <a:lumOff val="50000"/>
          </a:schemeClr>
        </a:solidFill>
      </a:ln>
    </cs:spPr>
  </cs:upBar>
  <cs:valueAxis>
    <cs:lnRef idx="0"/>
    <cs:fillRef idx="0"/>
    <cs:effectRef idx="0"/>
    <cs:fontRef idx="minor">
      <a:schemeClr val="dk1">
        <a:lumMod val="50000"/>
        <a:lumOff val="50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 name="Google Shape;93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6" name="Google Shape;98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9" name="Google Shape;102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1" name="Google Shape;107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2" name="Google Shape;120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0" name="Google Shape;123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8" name="Google Shape;1268;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9" name="Google Shape;126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3" name="Google Shape;131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4" name="Google Shape;131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0" name="Google Shape;143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1" name="Google Shape;143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0" name="Google Shape;151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1" name="Google Shape;151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7" name="Google Shape;162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8" name="Google Shape;175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9" name="Google Shape;175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4" name="Google Shape;188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5" name="Google Shape;188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0" name="Google Shape;2000;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9" name="Google Shape;212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0" name="Google Shape;213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7" name="Google Shape;225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8" name="Google Shape;2448;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9" name="Google Shape;2449;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4" name="Google Shape;257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0" name="Shape 2680"/>
        <p:cNvGrpSpPr/>
        <p:nvPr/>
      </p:nvGrpSpPr>
      <p:grpSpPr>
        <a:xfrm>
          <a:off x="0" y="0"/>
          <a:ext cx="0" cy="0"/>
          <a:chOff x="0" y="0"/>
          <a:chExt cx="0" cy="0"/>
        </a:xfrm>
      </p:grpSpPr>
      <p:sp>
        <p:nvSpPr>
          <p:cNvPr id="2681" name="Google Shape;268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2" name="Google Shape;268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3" name="Google Shape;268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9" name="Google Shape;278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0" name="Google Shape;2790;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Malgun Gothic"/>
              <a:buNone/>
            </a:pPr>
            <a:fld id="{00000000-1234-1234-1234-123412341234}" type="slidenum">
              <a:rPr b="0" i="0" lang="ko-KR" sz="1200" u="none" cap="none" strike="noStrike">
                <a:solidFill>
                  <a:srgbClr val="000000"/>
                </a:solidFill>
                <a:latin typeface="Malgun Gothic"/>
                <a:ea typeface="Malgun Gothic"/>
                <a:cs typeface="Malgun Gothic"/>
                <a:sym typeface="Malgun Gothic"/>
              </a:rPr>
              <a:t>‹#›</a:t>
            </a:fld>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2" name="Shape 12"/>
        <p:cNvGrpSpPr/>
        <p:nvPr/>
      </p:nvGrpSpPr>
      <p:grpSpPr>
        <a:xfrm>
          <a:off x="0" y="0"/>
          <a:ext cx="0" cy="0"/>
          <a:chOff x="0" y="0"/>
          <a:chExt cx="0" cy="0"/>
        </a:xfrm>
      </p:grpSpPr>
      <p:sp>
        <p:nvSpPr>
          <p:cNvPr id="13" name="Google Shape;13;p5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5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54"/>
          <p:cNvSpPr txBox="1"/>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ko-KR" sz="900" u="none" cap="none" strike="noStrike">
                <a:solidFill>
                  <a:schemeClr val="dk1"/>
                </a:solidFill>
                <a:latin typeface="Noto Sans KR"/>
                <a:ea typeface="Noto Sans KR"/>
                <a:cs typeface="Noto Sans KR"/>
                <a:sym typeface="Noto Sans KR"/>
              </a:rPr>
              <a:t>2026년 3월 6일 오전 11시 28분</a:t>
            </a:r>
            <a:endParaRPr b="0" i="0" sz="900" u="none" cap="none" strike="noStrike">
              <a:solidFill>
                <a:schemeClr val="dk1"/>
              </a:solidFill>
              <a:latin typeface="Noto Sans KR"/>
              <a:ea typeface="Noto Sans KR"/>
              <a:cs typeface="Noto Sans KR"/>
              <a:sym typeface="Noto Sans KR"/>
            </a:endParaRPr>
          </a:p>
        </p:txBody>
      </p:sp>
      <p:sp>
        <p:nvSpPr>
          <p:cNvPr id="16" name="Google Shape;16;p54"/>
          <p:cNvSpPr txBox="1"/>
          <p:nvPr/>
        </p:nvSpPr>
        <p:spPr>
          <a:xfrm>
            <a:off x="5025078" y="6625031"/>
            <a:ext cx="4114800" cy="2480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ko-KR" sz="900" u="none" cap="none" strike="noStrike">
                <a:solidFill>
                  <a:schemeClr val="dk1"/>
                </a:solidFill>
                <a:latin typeface="Noto Sans KR"/>
                <a:ea typeface="Noto Sans KR"/>
                <a:cs typeface="Noto Sans KR"/>
                <a:sym typeface="Noto Sans KR"/>
              </a:rPr>
              <a:t>Final_Project_기획안_함유라</a:t>
            </a:r>
            <a:endParaRPr/>
          </a:p>
        </p:txBody>
      </p:sp>
      <p:sp>
        <p:nvSpPr>
          <p:cNvPr id="17" name="Google Shape;17;p54"/>
          <p:cNvSpPr txBox="1"/>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ko-KR" sz="900" u="none" cap="none" strike="noStrike">
                <a:solidFill>
                  <a:schemeClr val="dk1"/>
                </a:solidFill>
                <a:latin typeface="Noto Sans KR"/>
                <a:ea typeface="Noto Sans KR"/>
                <a:cs typeface="Noto Sans KR"/>
                <a:sym typeface="Noto Sans KR"/>
              </a:rPr>
              <a:t>‹#›</a:t>
            </a:fld>
            <a:endParaRPr b="0" i="0" sz="900" u="none" cap="none" strike="noStrike">
              <a:solidFill>
                <a:schemeClr val="dk1"/>
              </a:solidFill>
              <a:latin typeface="Noto Sans KR"/>
              <a:ea typeface="Noto Sans KR"/>
              <a:cs typeface="Noto Sans KR"/>
              <a:sym typeface="Noto Sans K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bg>
      <p:bgPr>
        <a:solidFill>
          <a:schemeClr val="lt1"/>
        </a:solidFill>
      </p:bgPr>
    </p:bg>
    <p:spTree>
      <p:nvGrpSpPr>
        <p:cNvPr id="18" name="Shape 18"/>
        <p:cNvGrpSpPr/>
        <p:nvPr/>
      </p:nvGrpSpPr>
      <p:grpSpPr>
        <a:xfrm>
          <a:off x="0" y="0"/>
          <a:ext cx="0" cy="0"/>
          <a:chOff x="0" y="0"/>
          <a:chExt cx="0" cy="0"/>
        </a:xfrm>
      </p:grpSpPr>
      <p:sp>
        <p:nvSpPr>
          <p:cNvPr id="19" name="Google Shape;19;p55"/>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2400"/>
              <a:buFont typeface="Noto Sans KR"/>
              <a:buNone/>
              <a:defRPr sz="2400">
                <a:latin typeface="Noto Sans KR"/>
                <a:ea typeface="Noto Sans KR"/>
                <a:cs typeface="Noto Sans KR"/>
                <a:sym typeface="Noto Sans K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55"/>
          <p:cNvSpPr txBox="1"/>
          <p:nvPr>
            <p:ph idx="1" type="body"/>
          </p:nvPr>
        </p:nvSpPr>
        <p:spPr>
          <a:xfrm>
            <a:off x="410910" y="1083633"/>
            <a:ext cx="10515600" cy="4351338"/>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chemeClr val="dk1"/>
              </a:buClr>
              <a:buSzPts val="1000"/>
              <a:buChar char="•"/>
              <a:defRPr sz="1000">
                <a:latin typeface="Noto Sans KR"/>
                <a:ea typeface="Noto Sans KR"/>
                <a:cs typeface="Noto Sans KR"/>
                <a:sym typeface="Noto Sans KR"/>
              </a:defRPr>
            </a:lvl1pPr>
            <a:lvl2pPr indent="-292100" lvl="1" marL="9144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2pPr>
            <a:lvl3pPr indent="-292100" lvl="2" marL="13716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3pPr>
            <a:lvl4pPr indent="-292100" lvl="3" marL="18288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4pPr>
            <a:lvl5pPr indent="-292100" lvl="4" marL="22860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55"/>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22" name="Google Shape;22;p55"/>
          <p:cNvSpPr txBox="1"/>
          <p:nvPr>
            <p:ph idx="11" type="ftr"/>
          </p:nvPr>
        </p:nvSpPr>
        <p:spPr>
          <a:xfrm>
            <a:off x="5025078" y="6625031"/>
            <a:ext cx="4114800" cy="24802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23" name="Google Shape;23;p55"/>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900" u="none" cap="none" strike="noStrike">
                <a:solidFill>
                  <a:schemeClr val="dk1"/>
                </a:solidFill>
                <a:latin typeface="Noto Sans KR"/>
                <a:ea typeface="Noto Sans KR"/>
                <a:cs typeface="Noto Sans KR"/>
                <a:sym typeface="Noto Sans KR"/>
              </a:defRPr>
            </a:lvl1pPr>
            <a:lvl2pPr indent="0" lvl="1" marL="0" marR="0" rtl="0" algn="l">
              <a:spcBef>
                <a:spcPts val="0"/>
              </a:spcBef>
              <a:buNone/>
              <a:defRPr b="0" i="0" sz="900" u="none" cap="none" strike="noStrike">
                <a:solidFill>
                  <a:schemeClr val="dk1"/>
                </a:solidFill>
                <a:latin typeface="Noto Sans KR"/>
                <a:ea typeface="Noto Sans KR"/>
                <a:cs typeface="Noto Sans KR"/>
                <a:sym typeface="Noto Sans KR"/>
              </a:defRPr>
            </a:lvl2pPr>
            <a:lvl3pPr indent="0" lvl="2" marL="0" marR="0" rtl="0" algn="l">
              <a:spcBef>
                <a:spcPts val="0"/>
              </a:spcBef>
              <a:buNone/>
              <a:defRPr b="0" i="0" sz="900" u="none" cap="none" strike="noStrike">
                <a:solidFill>
                  <a:schemeClr val="dk1"/>
                </a:solidFill>
                <a:latin typeface="Noto Sans KR"/>
                <a:ea typeface="Noto Sans KR"/>
                <a:cs typeface="Noto Sans KR"/>
                <a:sym typeface="Noto Sans KR"/>
              </a:defRPr>
            </a:lvl3pPr>
            <a:lvl4pPr indent="0" lvl="3" marL="0" marR="0" rtl="0" algn="l">
              <a:spcBef>
                <a:spcPts val="0"/>
              </a:spcBef>
              <a:buNone/>
              <a:defRPr b="0" i="0" sz="900" u="none" cap="none" strike="noStrike">
                <a:solidFill>
                  <a:schemeClr val="dk1"/>
                </a:solidFill>
                <a:latin typeface="Noto Sans KR"/>
                <a:ea typeface="Noto Sans KR"/>
                <a:cs typeface="Noto Sans KR"/>
                <a:sym typeface="Noto Sans KR"/>
              </a:defRPr>
            </a:lvl4pPr>
            <a:lvl5pPr indent="0" lvl="4" marL="0" marR="0" rtl="0" algn="l">
              <a:spcBef>
                <a:spcPts val="0"/>
              </a:spcBef>
              <a:buNone/>
              <a:defRPr b="0" i="0" sz="900" u="none" cap="none" strike="noStrike">
                <a:solidFill>
                  <a:schemeClr val="dk1"/>
                </a:solidFill>
                <a:latin typeface="Noto Sans KR"/>
                <a:ea typeface="Noto Sans KR"/>
                <a:cs typeface="Noto Sans KR"/>
                <a:sym typeface="Noto Sans KR"/>
              </a:defRPr>
            </a:lvl5pPr>
            <a:lvl6pPr indent="0" lvl="5" marL="0" marR="0" rtl="0" algn="l">
              <a:spcBef>
                <a:spcPts val="0"/>
              </a:spcBef>
              <a:buNone/>
              <a:defRPr b="0" i="0" sz="900" u="none" cap="none" strike="noStrike">
                <a:solidFill>
                  <a:schemeClr val="dk1"/>
                </a:solidFill>
                <a:latin typeface="Noto Sans KR"/>
                <a:ea typeface="Noto Sans KR"/>
                <a:cs typeface="Noto Sans KR"/>
                <a:sym typeface="Noto Sans KR"/>
              </a:defRPr>
            </a:lvl6pPr>
            <a:lvl7pPr indent="0" lvl="6" marL="0" marR="0" rtl="0" algn="l">
              <a:spcBef>
                <a:spcPts val="0"/>
              </a:spcBef>
              <a:buNone/>
              <a:defRPr b="0" i="0" sz="900" u="none" cap="none" strike="noStrike">
                <a:solidFill>
                  <a:schemeClr val="dk1"/>
                </a:solidFill>
                <a:latin typeface="Noto Sans KR"/>
                <a:ea typeface="Noto Sans KR"/>
                <a:cs typeface="Noto Sans KR"/>
                <a:sym typeface="Noto Sans KR"/>
              </a:defRPr>
            </a:lvl7pPr>
            <a:lvl8pPr indent="0" lvl="7" marL="0" marR="0" rtl="0" algn="l">
              <a:spcBef>
                <a:spcPts val="0"/>
              </a:spcBef>
              <a:buNone/>
              <a:defRPr b="0" i="0" sz="900" u="none" cap="none" strike="noStrike">
                <a:solidFill>
                  <a:schemeClr val="dk1"/>
                </a:solidFill>
                <a:latin typeface="Noto Sans KR"/>
                <a:ea typeface="Noto Sans KR"/>
                <a:cs typeface="Noto Sans KR"/>
                <a:sym typeface="Noto Sans KR"/>
              </a:defRPr>
            </a:lvl8pPr>
            <a:lvl9pPr indent="0" lvl="8" marL="0" marR="0" rtl="0" algn="l">
              <a:spcBef>
                <a:spcPts val="0"/>
              </a:spcBef>
              <a:buNone/>
              <a:defRPr b="0" i="0" sz="900" u="none" cap="none" strike="noStrike">
                <a:solidFill>
                  <a:schemeClr val="dk1"/>
                </a:solidFill>
                <a:latin typeface="Noto Sans KR"/>
                <a:ea typeface="Noto Sans KR"/>
                <a:cs typeface="Noto Sans KR"/>
                <a:sym typeface="Noto Sans KR"/>
              </a:defRPr>
            </a:lvl9pPr>
          </a:lstStyle>
          <a:p>
            <a:pPr indent="0" lvl="0" marL="0" rtl="0" algn="l">
              <a:spcBef>
                <a:spcPts val="0"/>
              </a:spcBef>
              <a:spcAft>
                <a:spcPts val="0"/>
              </a:spcAft>
              <a:buNone/>
            </a:pPr>
            <a:fld id="{00000000-1234-1234-1234-123412341234}" type="slidenum">
              <a:rPr lang="ko-KR"/>
              <a:t>‹#›</a:t>
            </a:fld>
            <a:endParaRPr/>
          </a:p>
        </p:txBody>
      </p:sp>
      <p:sp>
        <p:nvSpPr>
          <p:cNvPr id="24" name="Google Shape;24;p55"/>
          <p:cNvSpPr/>
          <p:nvPr/>
        </p:nvSpPr>
        <p:spPr>
          <a:xfrm flipH="1" rot="10800000">
            <a:off x="335383" y="658185"/>
            <a:ext cx="9379391" cy="45719"/>
          </a:xfrm>
          <a:prstGeom prst="rect">
            <a:avLst/>
          </a:prstGeom>
          <a:solidFill>
            <a:srgbClr val="FF256E"/>
          </a:solidFill>
          <a:ln cap="flat" cmpd="sng" w="12700">
            <a:solidFill>
              <a:srgbClr val="E905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제목 및 내용">
  <p:cSld name="1_제목 및 내용">
    <p:bg>
      <p:bgPr>
        <a:solidFill>
          <a:schemeClr val="lt1"/>
        </a:solidFill>
      </p:bgPr>
    </p:bg>
    <p:spTree>
      <p:nvGrpSpPr>
        <p:cNvPr id="25" name="Shape 25"/>
        <p:cNvGrpSpPr/>
        <p:nvPr/>
      </p:nvGrpSpPr>
      <p:grpSpPr>
        <a:xfrm>
          <a:off x="0" y="0"/>
          <a:ext cx="0" cy="0"/>
          <a:chOff x="0" y="0"/>
          <a:chExt cx="0" cy="0"/>
        </a:xfrm>
      </p:grpSpPr>
      <p:sp>
        <p:nvSpPr>
          <p:cNvPr id="26" name="Google Shape;26;p56"/>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2400"/>
              <a:buFont typeface="Noto Sans KR"/>
              <a:buNone/>
              <a:defRPr sz="2400">
                <a:latin typeface="Noto Sans KR"/>
                <a:ea typeface="Noto Sans KR"/>
                <a:cs typeface="Noto Sans KR"/>
                <a:sym typeface="Noto Sans K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6"/>
          <p:cNvSpPr txBox="1"/>
          <p:nvPr>
            <p:ph idx="1" type="body"/>
          </p:nvPr>
        </p:nvSpPr>
        <p:spPr>
          <a:xfrm>
            <a:off x="410910" y="1083633"/>
            <a:ext cx="10515600" cy="4351338"/>
          </a:xfrm>
          <a:prstGeom prst="rect">
            <a:avLst/>
          </a:prstGeom>
          <a:noFill/>
          <a:ln>
            <a:noFill/>
          </a:ln>
        </p:spPr>
        <p:txBody>
          <a:bodyPr anchorCtr="0" anchor="t" bIns="45700" lIns="91425" spcFirstLastPara="1" rIns="91425" wrap="square" tIns="45700">
            <a:normAutofit/>
          </a:bodyPr>
          <a:lstStyle>
            <a:lvl1pPr indent="-292100" lvl="0" marL="457200" algn="l">
              <a:lnSpc>
                <a:spcPct val="90000"/>
              </a:lnSpc>
              <a:spcBef>
                <a:spcPts val="1000"/>
              </a:spcBef>
              <a:spcAft>
                <a:spcPts val="0"/>
              </a:spcAft>
              <a:buClr>
                <a:schemeClr val="dk1"/>
              </a:buClr>
              <a:buSzPts val="1000"/>
              <a:buChar char="•"/>
              <a:defRPr sz="1000">
                <a:latin typeface="Noto Sans KR"/>
                <a:ea typeface="Noto Sans KR"/>
                <a:cs typeface="Noto Sans KR"/>
                <a:sym typeface="Noto Sans KR"/>
              </a:defRPr>
            </a:lvl1pPr>
            <a:lvl2pPr indent="-292100" lvl="1" marL="9144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2pPr>
            <a:lvl3pPr indent="-292100" lvl="2" marL="13716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3pPr>
            <a:lvl4pPr indent="-292100" lvl="3" marL="18288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4pPr>
            <a:lvl5pPr indent="-292100" lvl="4" marL="2286000" algn="l">
              <a:lnSpc>
                <a:spcPct val="90000"/>
              </a:lnSpc>
              <a:spcBef>
                <a:spcPts val="500"/>
              </a:spcBef>
              <a:spcAft>
                <a:spcPts val="0"/>
              </a:spcAft>
              <a:buClr>
                <a:schemeClr val="dk1"/>
              </a:buClr>
              <a:buSzPts val="1000"/>
              <a:buChar char="•"/>
              <a:defRPr sz="1000">
                <a:latin typeface="Noto Sans KR"/>
                <a:ea typeface="Noto Sans KR"/>
                <a:cs typeface="Noto Sans KR"/>
                <a:sym typeface="Noto Sans K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6"/>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900">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29" name="Google Shape;29;p56"/>
          <p:cNvSpPr txBox="1"/>
          <p:nvPr>
            <p:ph idx="11" type="ftr"/>
          </p:nvPr>
        </p:nvSpPr>
        <p:spPr>
          <a:xfrm>
            <a:off x="5025078" y="6639698"/>
            <a:ext cx="4114800" cy="24802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30" name="Google Shape;30;p56"/>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900">
                <a:solidFill>
                  <a:schemeClr val="dk1"/>
                </a:solidFill>
                <a:latin typeface="Noto Sans KR"/>
                <a:ea typeface="Noto Sans KR"/>
                <a:cs typeface="Noto Sans KR"/>
                <a:sym typeface="Noto Sans KR"/>
              </a:defRPr>
            </a:lvl1pPr>
            <a:lvl2pPr indent="0" lvl="1" marL="0" marR="0" rtl="0" algn="l">
              <a:spcBef>
                <a:spcPts val="0"/>
              </a:spcBef>
              <a:buNone/>
              <a:defRPr sz="900">
                <a:solidFill>
                  <a:schemeClr val="dk1"/>
                </a:solidFill>
                <a:latin typeface="Noto Sans KR"/>
                <a:ea typeface="Noto Sans KR"/>
                <a:cs typeface="Noto Sans KR"/>
                <a:sym typeface="Noto Sans KR"/>
              </a:defRPr>
            </a:lvl2pPr>
            <a:lvl3pPr indent="0" lvl="2" marL="0" marR="0" rtl="0" algn="l">
              <a:spcBef>
                <a:spcPts val="0"/>
              </a:spcBef>
              <a:buNone/>
              <a:defRPr sz="900">
                <a:solidFill>
                  <a:schemeClr val="dk1"/>
                </a:solidFill>
                <a:latin typeface="Noto Sans KR"/>
                <a:ea typeface="Noto Sans KR"/>
                <a:cs typeface="Noto Sans KR"/>
                <a:sym typeface="Noto Sans KR"/>
              </a:defRPr>
            </a:lvl3pPr>
            <a:lvl4pPr indent="0" lvl="3" marL="0" marR="0" rtl="0" algn="l">
              <a:spcBef>
                <a:spcPts val="0"/>
              </a:spcBef>
              <a:buNone/>
              <a:defRPr sz="900">
                <a:solidFill>
                  <a:schemeClr val="dk1"/>
                </a:solidFill>
                <a:latin typeface="Noto Sans KR"/>
                <a:ea typeface="Noto Sans KR"/>
                <a:cs typeface="Noto Sans KR"/>
                <a:sym typeface="Noto Sans KR"/>
              </a:defRPr>
            </a:lvl4pPr>
            <a:lvl5pPr indent="0" lvl="4" marL="0" marR="0" rtl="0" algn="l">
              <a:spcBef>
                <a:spcPts val="0"/>
              </a:spcBef>
              <a:buNone/>
              <a:defRPr sz="900">
                <a:solidFill>
                  <a:schemeClr val="dk1"/>
                </a:solidFill>
                <a:latin typeface="Noto Sans KR"/>
                <a:ea typeface="Noto Sans KR"/>
                <a:cs typeface="Noto Sans KR"/>
                <a:sym typeface="Noto Sans KR"/>
              </a:defRPr>
            </a:lvl5pPr>
            <a:lvl6pPr indent="0" lvl="5" marL="0" marR="0" rtl="0" algn="l">
              <a:spcBef>
                <a:spcPts val="0"/>
              </a:spcBef>
              <a:buNone/>
              <a:defRPr sz="900">
                <a:solidFill>
                  <a:schemeClr val="dk1"/>
                </a:solidFill>
                <a:latin typeface="Noto Sans KR"/>
                <a:ea typeface="Noto Sans KR"/>
                <a:cs typeface="Noto Sans KR"/>
                <a:sym typeface="Noto Sans KR"/>
              </a:defRPr>
            </a:lvl6pPr>
            <a:lvl7pPr indent="0" lvl="6" marL="0" marR="0" rtl="0" algn="l">
              <a:spcBef>
                <a:spcPts val="0"/>
              </a:spcBef>
              <a:buNone/>
              <a:defRPr sz="900">
                <a:solidFill>
                  <a:schemeClr val="dk1"/>
                </a:solidFill>
                <a:latin typeface="Noto Sans KR"/>
                <a:ea typeface="Noto Sans KR"/>
                <a:cs typeface="Noto Sans KR"/>
                <a:sym typeface="Noto Sans KR"/>
              </a:defRPr>
            </a:lvl7pPr>
            <a:lvl8pPr indent="0" lvl="7" marL="0" marR="0" rtl="0" algn="l">
              <a:spcBef>
                <a:spcPts val="0"/>
              </a:spcBef>
              <a:buNone/>
              <a:defRPr sz="900">
                <a:solidFill>
                  <a:schemeClr val="dk1"/>
                </a:solidFill>
                <a:latin typeface="Noto Sans KR"/>
                <a:ea typeface="Noto Sans KR"/>
                <a:cs typeface="Noto Sans KR"/>
                <a:sym typeface="Noto Sans KR"/>
              </a:defRPr>
            </a:lvl8pPr>
            <a:lvl9pPr indent="0" lvl="8" marL="0" marR="0" rtl="0" algn="l">
              <a:spcBef>
                <a:spcPts val="0"/>
              </a:spcBef>
              <a:buNone/>
              <a:defRPr sz="900">
                <a:solidFill>
                  <a:schemeClr val="dk1"/>
                </a:solidFill>
                <a:latin typeface="Noto Sans KR"/>
                <a:ea typeface="Noto Sans KR"/>
                <a:cs typeface="Noto Sans KR"/>
                <a:sym typeface="Noto Sans KR"/>
              </a:defRPr>
            </a:lvl9pPr>
          </a:lstStyle>
          <a:p>
            <a:pPr indent="0" lvl="0" marL="0" rtl="0" algn="l">
              <a:spcBef>
                <a:spcPts val="0"/>
              </a:spcBef>
              <a:spcAft>
                <a:spcPts val="0"/>
              </a:spcAft>
              <a:buNone/>
            </a:pPr>
            <a:fld id="{00000000-1234-1234-1234-123412341234}" type="slidenum">
              <a:rPr lang="ko-KR"/>
              <a:t>‹#›</a:t>
            </a:fld>
            <a:endParaRPr/>
          </a:p>
        </p:txBody>
      </p:sp>
      <p:sp>
        <p:nvSpPr>
          <p:cNvPr id="31" name="Google Shape;31;p56"/>
          <p:cNvSpPr/>
          <p:nvPr/>
        </p:nvSpPr>
        <p:spPr>
          <a:xfrm flipH="1" rot="10800000">
            <a:off x="335383" y="658185"/>
            <a:ext cx="9379391" cy="45719"/>
          </a:xfrm>
          <a:prstGeom prst="rect">
            <a:avLst/>
          </a:prstGeom>
          <a:solidFill>
            <a:srgbClr val="FF256E"/>
          </a:solidFill>
          <a:ln cap="flat" cmpd="sng" w="12700">
            <a:solidFill>
              <a:srgbClr val="E905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chart" Target="../charts/char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16.png"/><Relationship Id="rId11" Type="http://schemas.openxmlformats.org/officeDocument/2006/relationships/image" Target="../media/image15.png"/><Relationship Id="rId10" Type="http://schemas.openxmlformats.org/officeDocument/2006/relationships/image" Target="../media/image17.png"/><Relationship Id="rId9" Type="http://schemas.openxmlformats.org/officeDocument/2006/relationships/image" Target="../media/image18.png"/><Relationship Id="rId5" Type="http://schemas.openxmlformats.org/officeDocument/2006/relationships/chart" Target="../charts/chart2.xml"/><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11.png"/><Relationship Id="rId7" Type="http://schemas.openxmlformats.org/officeDocument/2006/relationships/image" Target="../media/image15.png"/><Relationship Id="rId8"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3.png"/><Relationship Id="rId8" Type="http://schemas.openxmlformats.org/officeDocument/2006/relationships/image" Target="../media/image24.png"/></Relationships>
</file>

<file path=ppt/slides/_rels/slide45.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26.png"/><Relationship Id="rId13" Type="http://schemas.openxmlformats.org/officeDocument/2006/relationships/image" Target="../media/image9.png"/><Relationship Id="rId12"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5.png"/><Relationship Id="rId15" Type="http://schemas.openxmlformats.org/officeDocument/2006/relationships/image" Target="../media/image29.png"/><Relationship Id="rId14" Type="http://schemas.openxmlformats.org/officeDocument/2006/relationships/image" Target="../media/image30.png"/><Relationship Id="rId17" Type="http://schemas.openxmlformats.org/officeDocument/2006/relationships/image" Target="../media/image32.png"/><Relationship Id="rId16" Type="http://schemas.openxmlformats.org/officeDocument/2006/relationships/image" Target="../media/image28.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image" Target="../media/image12.png"/></Relationships>
</file>

<file path=ppt/slides/_rels/slide46.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31.png"/><Relationship Id="rId12"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image" Target="../media/image25.png"/></Relationships>
</file>

<file path=ppt/slides/_rels/slide47.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image" Target="../media/image25.png"/></Relationships>
</file>

<file path=ppt/slides/_rels/slide48.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31.png"/><Relationship Id="rId12"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image" Target="../media/image25.png"/></Relationships>
</file>

<file path=ppt/slides/_rels/slide49.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24.png"/><Relationship Id="rId8"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16.png"/><Relationship Id="rId9" Type="http://schemas.openxmlformats.org/officeDocument/2006/relationships/hyperlink" Target="mailto:kildong@vmail.com" TargetMode="External"/><Relationship Id="rId5" Type="http://schemas.openxmlformats.org/officeDocument/2006/relationships/image" Target="../media/image30.png"/><Relationship Id="rId6" Type="http://schemas.openxmlformats.org/officeDocument/2006/relationships/image" Target="../media/image17.png"/><Relationship Id="rId7" Type="http://schemas.openxmlformats.org/officeDocument/2006/relationships/image" Target="../media/image15.png"/><Relationship Id="rId8"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30.png"/><Relationship Id="rId6" Type="http://schemas.openxmlformats.org/officeDocument/2006/relationships/image" Target="../media/image17.png"/><Relationship Id="rId7"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
          <p:cNvSpPr/>
          <p:nvPr/>
        </p:nvSpPr>
        <p:spPr>
          <a:xfrm>
            <a:off x="0" y="6495861"/>
            <a:ext cx="12192000" cy="362139"/>
          </a:xfrm>
          <a:prstGeom prst="rect">
            <a:avLst/>
          </a:prstGeom>
          <a:solidFill>
            <a:srgbClr val="FFD6EE"/>
          </a:solidFill>
          <a:ln cap="flat" cmpd="sng" w="12700">
            <a:solidFill>
              <a:srgbClr val="FFD6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38" name="Google Shape;38;p1"/>
          <p:cNvSpPr txBox="1"/>
          <p:nvPr>
            <p:ph type="ctrTitle"/>
          </p:nvPr>
        </p:nvSpPr>
        <p:spPr>
          <a:xfrm>
            <a:off x="4028792" y="2290526"/>
            <a:ext cx="4134416" cy="1010703"/>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FF256E"/>
              </a:buClr>
              <a:buSzPct val="100000"/>
              <a:buFont typeface="Malgun Gothic"/>
              <a:buNone/>
            </a:pPr>
            <a:br>
              <a:rPr b="1" lang="ko-KR">
                <a:solidFill>
                  <a:srgbClr val="FF256E"/>
                </a:solidFill>
              </a:rPr>
            </a:br>
            <a:endParaRPr/>
          </a:p>
        </p:txBody>
      </p:sp>
      <p:sp>
        <p:nvSpPr>
          <p:cNvPr id="39" name="Google Shape;39;p1"/>
          <p:cNvSpPr txBox="1"/>
          <p:nvPr>
            <p:ph idx="1" type="subTitle"/>
          </p:nvPr>
        </p:nvSpPr>
        <p:spPr>
          <a:xfrm>
            <a:off x="583948" y="3888623"/>
            <a:ext cx="11024103"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ko-KR">
                <a:solidFill>
                  <a:schemeClr val="dk1"/>
                </a:solidFill>
                <a:latin typeface="Noto Sans KR"/>
                <a:ea typeface="Noto Sans KR"/>
                <a:cs typeface="Noto Sans KR"/>
                <a:sym typeface="Noto Sans KR"/>
              </a:rPr>
              <a:t>실시간 음성·영상 분석 기반 직무·인성 평가 멀티모달 생성형 AI 면접관 플랫폼 </a:t>
            </a:r>
            <a:r>
              <a:rPr b="1" lang="ko-KR">
                <a:solidFill>
                  <a:schemeClr val="dk1"/>
                </a:solidFill>
                <a:latin typeface="Noto Sans KR"/>
                <a:ea typeface="Noto Sans KR"/>
                <a:cs typeface="Noto Sans KR"/>
                <a:sym typeface="Noto Sans KR"/>
              </a:rPr>
              <a:t>개발</a:t>
            </a:r>
            <a:endParaRPr b="1">
              <a:solidFill>
                <a:schemeClr val="dk1"/>
              </a:solidFill>
              <a:latin typeface="Noto Sans KR"/>
              <a:ea typeface="Noto Sans KR"/>
              <a:cs typeface="Noto Sans KR"/>
              <a:sym typeface="Noto Sans KR"/>
            </a:endParaRPr>
          </a:p>
          <a:p>
            <a:pPr indent="0" lvl="0" marL="0" rtl="0" algn="ctr">
              <a:lnSpc>
                <a:spcPct val="90000"/>
              </a:lnSpc>
              <a:spcBef>
                <a:spcPts val="1000"/>
              </a:spcBef>
              <a:spcAft>
                <a:spcPts val="0"/>
              </a:spcAft>
              <a:buClr>
                <a:schemeClr val="dk1"/>
              </a:buClr>
              <a:buSzPts val="2400"/>
              <a:buNone/>
            </a:pPr>
            <a:r>
              <a:rPr lang="ko-KR">
                <a:solidFill>
                  <a:schemeClr val="dk1"/>
                </a:solidFill>
                <a:latin typeface="Noto Sans KR"/>
                <a:ea typeface="Noto Sans KR"/>
                <a:cs typeface="Noto Sans KR"/>
                <a:sym typeface="Noto Sans KR"/>
              </a:rPr>
              <a:t>화면정의서</a:t>
            </a:r>
            <a:endParaRPr>
              <a:solidFill>
                <a:schemeClr val="dk1"/>
              </a:solidFill>
              <a:latin typeface="Noto Sans KR"/>
              <a:ea typeface="Noto Sans KR"/>
              <a:cs typeface="Noto Sans KR"/>
              <a:sym typeface="Noto Sans KR"/>
            </a:endParaRPr>
          </a:p>
        </p:txBody>
      </p:sp>
      <p:sp>
        <p:nvSpPr>
          <p:cNvPr id="40" name="Google Shape;40;p1"/>
          <p:cNvSpPr txBox="1"/>
          <p:nvPr/>
        </p:nvSpPr>
        <p:spPr>
          <a:xfrm>
            <a:off x="2899748" y="4069883"/>
            <a:ext cx="6642980" cy="1010703"/>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FF256E"/>
              </a:buClr>
              <a:buSzPts val="9600"/>
              <a:buFont typeface="Noto Sans KR"/>
              <a:buNone/>
            </a:pPr>
            <a:r>
              <a:rPr b="1" i="0" lang="ko-KR" sz="9600" u="none" cap="none" strike="noStrike">
                <a:solidFill>
                  <a:srgbClr val="FF256E"/>
                </a:solidFill>
                <a:latin typeface="Noto Sans KR"/>
                <a:ea typeface="Noto Sans KR"/>
                <a:cs typeface="Noto Sans KR"/>
                <a:sym typeface="Noto Sans KR"/>
              </a:rPr>
              <a:t>PROJECT</a:t>
            </a:r>
            <a:br>
              <a:rPr b="1" i="0" lang="ko-KR" sz="9600" u="none" cap="none" strike="noStrike">
                <a:solidFill>
                  <a:srgbClr val="FF256E"/>
                </a:solidFill>
                <a:latin typeface="Malgun Gothic"/>
                <a:ea typeface="Malgun Gothic"/>
                <a:cs typeface="Malgun Gothic"/>
                <a:sym typeface="Malgun Gothic"/>
              </a:rPr>
            </a:br>
            <a:endParaRPr b="1" i="0" sz="9600" u="none" cap="none" strike="noStrike">
              <a:solidFill>
                <a:schemeClr val="dk1"/>
              </a:solidFill>
              <a:latin typeface="Malgun Gothic"/>
              <a:ea typeface="Malgun Gothic"/>
              <a:cs typeface="Malgun Gothic"/>
              <a:sym typeface="Malgun Gothic"/>
            </a:endParaRPr>
          </a:p>
        </p:txBody>
      </p:sp>
      <p:sp>
        <p:nvSpPr>
          <p:cNvPr id="41" name="Google Shape;41;p1"/>
          <p:cNvSpPr/>
          <p:nvPr/>
        </p:nvSpPr>
        <p:spPr>
          <a:xfrm>
            <a:off x="0" y="0"/>
            <a:ext cx="12192000" cy="362139"/>
          </a:xfrm>
          <a:prstGeom prst="rect">
            <a:avLst/>
          </a:prstGeom>
          <a:solidFill>
            <a:srgbClr val="FFD6EE"/>
          </a:solidFill>
          <a:ln cap="flat" cmpd="sng" w="12700">
            <a:solidFill>
              <a:srgbClr val="FFD6E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2" name="Google Shape;42;p1"/>
          <p:cNvSpPr txBox="1"/>
          <p:nvPr/>
        </p:nvSpPr>
        <p:spPr>
          <a:xfrm>
            <a:off x="2619062" y="2857197"/>
            <a:ext cx="6642980" cy="1010703"/>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FF256E"/>
              </a:buClr>
              <a:buSzPts val="9600"/>
              <a:buFont typeface="Noto Sans KR"/>
              <a:buNone/>
            </a:pPr>
            <a:r>
              <a:rPr b="1" i="0" lang="ko-KR" sz="9600" u="none" cap="none" strike="noStrike">
                <a:solidFill>
                  <a:srgbClr val="FF256E"/>
                </a:solidFill>
                <a:latin typeface="Noto Sans KR"/>
                <a:ea typeface="Noto Sans KR"/>
                <a:cs typeface="Noto Sans KR"/>
                <a:sym typeface="Noto Sans KR"/>
              </a:rPr>
              <a:t>A4</a:t>
            </a:r>
            <a:br>
              <a:rPr b="1" i="0" lang="ko-KR" sz="9600" u="none" cap="none" strike="noStrike">
                <a:solidFill>
                  <a:srgbClr val="FF256E"/>
                </a:solidFill>
                <a:latin typeface="Malgun Gothic"/>
                <a:ea typeface="Malgun Gothic"/>
                <a:cs typeface="Malgun Gothic"/>
                <a:sym typeface="Malgun Gothic"/>
              </a:rPr>
            </a:br>
            <a:endParaRPr b="0" i="0" sz="96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
        <p:nvSpPr>
          <p:cNvPr id="47" name="Google Shape;47;p2"/>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개정이력</a:t>
            </a:r>
            <a:endParaRPr/>
          </a:p>
        </p:txBody>
      </p:sp>
      <p:sp>
        <p:nvSpPr>
          <p:cNvPr id="48" name="Google Shape;48;p2"/>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ko-KR"/>
              <a:t>2026년 3월 6일 오전 11시 28분</a:t>
            </a:r>
            <a:endParaRPr/>
          </a:p>
        </p:txBody>
      </p:sp>
      <p:sp>
        <p:nvSpPr>
          <p:cNvPr id="49" name="Google Shape;49;p2"/>
          <p:cNvSpPr txBox="1"/>
          <p:nvPr>
            <p:ph idx="11" type="ftr"/>
          </p:nvPr>
        </p:nvSpPr>
        <p:spPr>
          <a:xfrm>
            <a:off x="5025078" y="6625031"/>
            <a:ext cx="4114800" cy="24802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ko-KR"/>
              <a:t>A4_Project_화면정의서_함유라</a:t>
            </a:r>
            <a:endParaRPr/>
          </a:p>
        </p:txBody>
      </p:sp>
      <p:sp>
        <p:nvSpPr>
          <p:cNvPr id="50" name="Google Shape;50;p2"/>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ko-KR"/>
              <a:t>‹#›</a:t>
            </a:fld>
            <a:endParaRPr/>
          </a:p>
        </p:txBody>
      </p:sp>
      <p:graphicFrame>
        <p:nvGraphicFramePr>
          <p:cNvPr id="51" name="Google Shape;51;p2"/>
          <p:cNvGraphicFramePr/>
          <p:nvPr/>
        </p:nvGraphicFramePr>
        <p:xfrm>
          <a:off x="708891" y="985663"/>
          <a:ext cx="3000000" cy="3000000"/>
        </p:xfrm>
        <a:graphic>
          <a:graphicData uri="http://schemas.openxmlformats.org/drawingml/2006/table">
            <a:tbl>
              <a:tblPr bandRow="1" firstRow="1">
                <a:noFill/>
                <a:tableStyleId>{C61F204E-A15B-47D6-BEBB-6A886D3283EB}</a:tableStyleId>
              </a:tblPr>
              <a:tblGrid>
                <a:gridCol w="602825"/>
                <a:gridCol w="6409850"/>
                <a:gridCol w="1195050"/>
                <a:gridCol w="1321800"/>
                <a:gridCol w="986050"/>
              </a:tblGrid>
              <a:tr h="327700">
                <a:tc>
                  <a:txBody>
                    <a:bodyPr/>
                    <a:lstStyle/>
                    <a:p>
                      <a:pPr indent="0" lvl="0" marL="0" marR="0" rtl="0" algn="ctr">
                        <a:spcBef>
                          <a:spcPts val="0"/>
                        </a:spcBef>
                        <a:spcAft>
                          <a:spcPts val="0"/>
                        </a:spcAft>
                        <a:buNone/>
                      </a:pPr>
                      <a:r>
                        <a:rPr lang="ko-KR" sz="1200" u="none" cap="none" strike="noStrike">
                          <a:latin typeface="Noto Sans KR"/>
                          <a:ea typeface="Noto Sans KR"/>
                          <a:cs typeface="Noto Sans KR"/>
                          <a:sym typeface="Noto Sans KR"/>
                        </a:rPr>
                        <a:t>No.</a:t>
                      </a:r>
                      <a:endParaRPr sz="1200" u="none" cap="none" strike="noStrike">
                        <a:latin typeface="Noto Sans KR"/>
                        <a:ea typeface="Noto Sans KR"/>
                        <a:cs typeface="Noto Sans KR"/>
                        <a:sym typeface="Noto Sans KR"/>
                      </a:endParaRPr>
                    </a:p>
                  </a:txBody>
                  <a:tcPr marT="45725" marB="45725" marR="91450" marL="91450">
                    <a:solidFill>
                      <a:srgbClr val="FF256E"/>
                    </a:solidFill>
                  </a:tcPr>
                </a:tc>
                <a:tc>
                  <a:txBody>
                    <a:bodyPr/>
                    <a:lstStyle/>
                    <a:p>
                      <a:pPr indent="0" lvl="0" marL="0" marR="0" rtl="0" algn="ctr">
                        <a:spcBef>
                          <a:spcPts val="0"/>
                        </a:spcBef>
                        <a:spcAft>
                          <a:spcPts val="0"/>
                        </a:spcAft>
                        <a:buNone/>
                      </a:pPr>
                      <a:r>
                        <a:rPr lang="ko-KR" sz="1200" u="none" cap="none" strike="noStrike">
                          <a:latin typeface="Noto Sans KR"/>
                          <a:ea typeface="Noto Sans KR"/>
                          <a:cs typeface="Noto Sans KR"/>
                          <a:sym typeface="Noto Sans KR"/>
                        </a:rPr>
                        <a:t>Modifications</a:t>
                      </a:r>
                      <a:endParaRPr sz="1200" u="none" cap="none" strike="noStrike">
                        <a:latin typeface="Noto Sans KR"/>
                        <a:ea typeface="Noto Sans KR"/>
                        <a:cs typeface="Noto Sans KR"/>
                        <a:sym typeface="Noto Sans KR"/>
                      </a:endParaRPr>
                    </a:p>
                  </a:txBody>
                  <a:tcPr marT="45725" marB="45725" marR="91450" marL="91450">
                    <a:solidFill>
                      <a:srgbClr val="FF256E"/>
                    </a:solidFill>
                  </a:tcPr>
                </a:tc>
                <a:tc>
                  <a:txBody>
                    <a:bodyPr/>
                    <a:lstStyle/>
                    <a:p>
                      <a:pPr indent="0" lvl="0" marL="0" marR="0" rtl="0" algn="ctr">
                        <a:spcBef>
                          <a:spcPts val="0"/>
                        </a:spcBef>
                        <a:spcAft>
                          <a:spcPts val="0"/>
                        </a:spcAft>
                        <a:buClr>
                          <a:schemeClr val="dk1"/>
                        </a:buClr>
                        <a:buSzPts val="1200"/>
                        <a:buFont typeface="Noto Sans KR"/>
                        <a:buNone/>
                      </a:pPr>
                      <a:r>
                        <a:rPr lang="ko-KR" sz="1200" u="none" cap="none" strike="noStrike">
                          <a:latin typeface="Noto Sans KR"/>
                          <a:ea typeface="Noto Sans KR"/>
                          <a:cs typeface="Noto Sans KR"/>
                          <a:sym typeface="Noto Sans KR"/>
                        </a:rPr>
                        <a:t>Revised By</a:t>
                      </a:r>
                      <a:endParaRPr sz="1200" u="none" cap="none" strike="noStrike">
                        <a:latin typeface="Noto Sans KR"/>
                        <a:ea typeface="Noto Sans KR"/>
                        <a:cs typeface="Noto Sans KR"/>
                        <a:sym typeface="Noto Sans KR"/>
                      </a:endParaRPr>
                    </a:p>
                  </a:txBody>
                  <a:tcPr marT="45725" marB="45725" marR="91450" marL="91450" anchor="ctr">
                    <a:solidFill>
                      <a:srgbClr val="FF256E"/>
                    </a:solidFill>
                  </a:tcPr>
                </a:tc>
                <a:tc>
                  <a:txBody>
                    <a:bodyPr/>
                    <a:lstStyle/>
                    <a:p>
                      <a:pPr indent="0" lvl="0" marL="0" marR="0" rtl="0" algn="ctr">
                        <a:spcBef>
                          <a:spcPts val="0"/>
                        </a:spcBef>
                        <a:spcAft>
                          <a:spcPts val="0"/>
                        </a:spcAft>
                        <a:buClr>
                          <a:schemeClr val="dk1"/>
                        </a:buClr>
                        <a:buSzPts val="1200"/>
                        <a:buFont typeface="Noto Sans KR"/>
                        <a:buNone/>
                      </a:pPr>
                      <a:r>
                        <a:rPr lang="ko-KR" sz="1200" u="none" cap="none" strike="noStrike">
                          <a:latin typeface="Noto Sans KR"/>
                          <a:ea typeface="Noto Sans KR"/>
                          <a:cs typeface="Noto Sans KR"/>
                          <a:sym typeface="Noto Sans KR"/>
                        </a:rPr>
                        <a:t>Revision Date</a:t>
                      </a:r>
                      <a:endParaRPr sz="1200" u="none" cap="none" strike="noStrike">
                        <a:latin typeface="Noto Sans KR"/>
                        <a:ea typeface="Noto Sans KR"/>
                        <a:cs typeface="Noto Sans KR"/>
                        <a:sym typeface="Noto Sans KR"/>
                      </a:endParaRPr>
                    </a:p>
                  </a:txBody>
                  <a:tcPr marT="45725" marB="45725" marR="91450" marL="91450" anchor="ctr">
                    <a:solidFill>
                      <a:srgbClr val="FF256E"/>
                    </a:solidFill>
                  </a:tcPr>
                </a:tc>
                <a:tc>
                  <a:txBody>
                    <a:bodyPr/>
                    <a:lstStyle/>
                    <a:p>
                      <a:pPr indent="0" lvl="0" marL="0" marR="0" rtl="0" algn="ctr">
                        <a:spcBef>
                          <a:spcPts val="0"/>
                        </a:spcBef>
                        <a:spcAft>
                          <a:spcPts val="0"/>
                        </a:spcAft>
                        <a:buNone/>
                      </a:pPr>
                      <a:r>
                        <a:rPr lang="ko-KR" sz="1200" u="none" cap="none" strike="noStrike">
                          <a:latin typeface="Noto Sans KR"/>
                          <a:ea typeface="Noto Sans KR"/>
                          <a:cs typeface="Noto Sans KR"/>
                          <a:sym typeface="Noto Sans KR"/>
                        </a:rPr>
                        <a:t>Version</a:t>
                      </a:r>
                      <a:endParaRPr sz="1200" u="none" cap="none" strike="noStrike">
                        <a:latin typeface="Noto Sans KR"/>
                        <a:ea typeface="Noto Sans KR"/>
                        <a:cs typeface="Noto Sans KR"/>
                        <a:sym typeface="Noto Sans KR"/>
                      </a:endParaRPr>
                    </a:p>
                  </a:txBody>
                  <a:tcPr marT="45725" marB="45725" marR="91450" marL="91450">
                    <a:solidFill>
                      <a:srgbClr val="FF256E"/>
                    </a:solidFill>
                  </a:tcPr>
                </a:tc>
              </a:tr>
              <a:tr h="329600">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1</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최초 정의서 수립</a:t>
                      </a:r>
                      <a:endParaRPr/>
                    </a:p>
                  </a:txBody>
                  <a:tcPr marT="45725" marB="45725" marR="91450" marL="91450">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함유라</a:t>
                      </a: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2026-01-26</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0.0.0</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화면 목록 구현 정의</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함유라</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2026-02-02</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1.0.0</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3</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lang="ko-KR" sz="1000" u="none" cap="none" strike="noStrike">
                          <a:solidFill>
                            <a:schemeClr val="dk1"/>
                          </a:solidFill>
                          <a:latin typeface="Noto Sans KR"/>
                          <a:ea typeface="Noto Sans KR"/>
                          <a:cs typeface="Noto Sans KR"/>
                          <a:sym typeface="Noto Sans KR"/>
                        </a:rPr>
                        <a:t>SCR-27 ~ SCR-30/SCR-00-1 사용자 화면 추가 / 메인화면 로그인 전,후 구분 </a:t>
                      </a:r>
                      <a:endParaRPr sz="1000" u="none" cap="none" strike="noStrike">
                        <a:solidFill>
                          <a:schemeClr val="dk1"/>
                        </a:solidFill>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함유라</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2026-02-05</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1.0.1</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4</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INT-00 ~INT07  면접 관리자 하면 추가</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함유라</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2026-02-10</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1.0.2</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5</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Screen List 최종 정리</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함유라</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2026-02-10</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1.0.3</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6</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SCR-00-2 브랜드 소개 화면 추가 및 메인화면 소개 문구 추가</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함유라</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2026-02-11</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rPr lang="ko-KR" sz="1000" u="none" cap="none" strike="noStrike">
                          <a:latin typeface="Noto Sans KR"/>
                          <a:ea typeface="Noto Sans KR"/>
                          <a:cs typeface="Noto Sans KR"/>
                          <a:sym typeface="Noto Sans KR"/>
                        </a:rPr>
                        <a:t>1.0.4</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r h="329600">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l">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c>
                  <a:txBody>
                    <a:bodyPr/>
                    <a:lstStyle/>
                    <a:p>
                      <a:pPr indent="0" lvl="0" marL="0" marR="0" rtl="0" algn="ctr">
                        <a:spcBef>
                          <a:spcPts val="0"/>
                        </a:spcBef>
                        <a:spcAft>
                          <a:spcPts val="0"/>
                        </a:spcAft>
                        <a:buNone/>
                      </a:pPr>
                      <a:r>
                        <a:t/>
                      </a:r>
                      <a:endParaRPr sz="1000" u="none" cap="none" strike="noStrike">
                        <a:latin typeface="Noto Sans KR"/>
                        <a:ea typeface="Noto Sans KR"/>
                        <a:cs typeface="Noto Sans KR"/>
                        <a:sym typeface="Noto Sans KR"/>
                      </a:endParaRPr>
                    </a:p>
                  </a:txBody>
                  <a:tcPr marT="45725" marB="45725" marR="91450" marL="91450" anchor="ctr">
                    <a:solidFill>
                      <a:srgbClr val="D0CECE"/>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3"/>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sz="2400"/>
              <a:t>개요</a:t>
            </a:r>
            <a:endParaRPr/>
          </a:p>
        </p:txBody>
      </p:sp>
      <p:sp>
        <p:nvSpPr>
          <p:cNvPr id="58" name="Google Shape;58;p3"/>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ko-KR"/>
              <a:t>2026년 3월 6일 오전 11시 28분</a:t>
            </a:r>
            <a:endParaRPr/>
          </a:p>
        </p:txBody>
      </p:sp>
      <p:sp>
        <p:nvSpPr>
          <p:cNvPr id="59" name="Google Shape;59;p3"/>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ko-KR"/>
              <a:t>A4_Project_화면정의서_함유라</a:t>
            </a:r>
            <a:endParaRPr/>
          </a:p>
        </p:txBody>
      </p:sp>
      <p:sp>
        <p:nvSpPr>
          <p:cNvPr id="60" name="Google Shape;60;p3"/>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ko-KR"/>
              <a:t>‹#›</a:t>
            </a:fld>
            <a:endParaRPr/>
          </a:p>
        </p:txBody>
      </p:sp>
      <p:sp>
        <p:nvSpPr>
          <p:cNvPr id="61" name="Google Shape;61;p3"/>
          <p:cNvSpPr txBox="1"/>
          <p:nvPr>
            <p:ph idx="1" type="body"/>
          </p:nvPr>
        </p:nvSpPr>
        <p:spPr>
          <a:xfrm>
            <a:off x="335383" y="1010481"/>
            <a:ext cx="10515600" cy="184829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200"/>
              <a:buNone/>
            </a:pPr>
            <a:r>
              <a:rPr b="1" lang="ko-KR" sz="1200">
                <a:latin typeface="Noto Sans KR"/>
                <a:ea typeface="Noto Sans KR"/>
                <a:cs typeface="Noto Sans KR"/>
                <a:sym typeface="Noto Sans KR"/>
              </a:rPr>
              <a:t>문서 목적</a:t>
            </a:r>
            <a:endParaRPr b="1" sz="1200">
              <a:latin typeface="Noto Sans KR"/>
              <a:ea typeface="Noto Sans KR"/>
              <a:cs typeface="Noto Sans KR"/>
              <a:sym typeface="Noto Sans KR"/>
            </a:endParaRPr>
          </a:p>
          <a:p>
            <a:pPr indent="0" lvl="0" marL="0" rtl="0" algn="l">
              <a:lnSpc>
                <a:spcPct val="90000"/>
              </a:lnSpc>
              <a:spcBef>
                <a:spcPts val="1000"/>
              </a:spcBef>
              <a:spcAft>
                <a:spcPts val="0"/>
              </a:spcAft>
              <a:buClr>
                <a:schemeClr val="dk1"/>
              </a:buClr>
              <a:buSzPts val="1000"/>
              <a:buNone/>
            </a:pPr>
            <a:r>
              <a:t/>
            </a:r>
            <a:endParaRPr>
              <a:latin typeface="Noto Sans KR"/>
              <a:ea typeface="Noto Sans KR"/>
              <a:cs typeface="Noto Sans KR"/>
              <a:sym typeface="Noto Sans KR"/>
            </a:endParaRPr>
          </a:p>
          <a:p>
            <a:pPr indent="-66675" lvl="0" marL="0" rtl="0" algn="l">
              <a:lnSpc>
                <a:spcPct val="100000"/>
              </a:lnSpc>
              <a:spcBef>
                <a:spcPts val="0"/>
              </a:spcBef>
              <a:spcAft>
                <a:spcPts val="0"/>
              </a:spcAft>
              <a:buClr>
                <a:schemeClr val="dk1"/>
              </a:buClr>
              <a:buSzPts val="1050"/>
              <a:buFont typeface="Noto Sans KR"/>
              <a:buChar char="•"/>
            </a:pPr>
            <a:r>
              <a:rPr b="1" lang="ko-KR" sz="1050">
                <a:latin typeface="Noto Sans KR"/>
                <a:ea typeface="Noto Sans KR"/>
                <a:cs typeface="Noto Sans KR"/>
                <a:sym typeface="Noto Sans KR"/>
              </a:rPr>
              <a:t>시스템 설계 가이드 제공</a:t>
            </a:r>
            <a:r>
              <a:rPr lang="ko-KR" sz="1050">
                <a:latin typeface="Noto Sans KR"/>
                <a:ea typeface="Noto Sans KR"/>
                <a:cs typeface="Noto Sans KR"/>
                <a:sym typeface="Noto Sans KR"/>
              </a:rPr>
              <a:t>: 생성형 AI 기반 모의면접 서비스의 UI/UX 설계 및 기능 정의를 목적으로 함.</a:t>
            </a:r>
            <a:endParaRPr/>
          </a:p>
          <a:p>
            <a:pPr indent="-66675" lvl="0" marL="0" rtl="0" algn="l">
              <a:lnSpc>
                <a:spcPct val="100000"/>
              </a:lnSpc>
              <a:spcBef>
                <a:spcPts val="0"/>
              </a:spcBef>
              <a:spcAft>
                <a:spcPts val="0"/>
              </a:spcAft>
              <a:buClr>
                <a:schemeClr val="dk1"/>
              </a:buClr>
              <a:buSzPts val="1050"/>
              <a:buFont typeface="Noto Sans KR"/>
              <a:buChar char="•"/>
            </a:pPr>
            <a:r>
              <a:rPr b="1" lang="ko-KR" sz="1050">
                <a:latin typeface="Noto Sans KR"/>
                <a:ea typeface="Noto Sans KR"/>
                <a:cs typeface="Noto Sans KR"/>
                <a:sym typeface="Noto Sans KR"/>
              </a:rPr>
              <a:t>사용자 경험 최적화</a:t>
            </a:r>
            <a:r>
              <a:rPr lang="ko-KR" sz="1050">
                <a:latin typeface="Noto Sans KR"/>
                <a:ea typeface="Noto Sans KR"/>
                <a:cs typeface="Noto Sans KR"/>
                <a:sym typeface="Noto Sans KR"/>
              </a:rPr>
              <a:t>: 사용자 흐름(User Flow)에 따른 인터랙션을 정의하여 원활한 면접 경험을 설계함.</a:t>
            </a:r>
            <a:endParaRPr/>
          </a:p>
          <a:p>
            <a:pPr indent="-66675" lvl="0" marL="0" rtl="0" algn="l">
              <a:lnSpc>
                <a:spcPct val="100000"/>
              </a:lnSpc>
              <a:spcBef>
                <a:spcPts val="0"/>
              </a:spcBef>
              <a:spcAft>
                <a:spcPts val="0"/>
              </a:spcAft>
              <a:buClr>
                <a:schemeClr val="dk1"/>
              </a:buClr>
              <a:buSzPts val="1050"/>
              <a:buFont typeface="Noto Sans KR"/>
              <a:buChar char="•"/>
            </a:pPr>
            <a:r>
              <a:rPr b="1" lang="ko-KR" sz="1050">
                <a:latin typeface="Noto Sans KR"/>
                <a:ea typeface="Noto Sans KR"/>
                <a:cs typeface="Noto Sans KR"/>
                <a:sym typeface="Noto Sans KR"/>
              </a:rPr>
              <a:t>프로세스 표준화</a:t>
            </a:r>
            <a:r>
              <a:rPr lang="ko-KR" sz="1050">
                <a:latin typeface="Noto Sans KR"/>
                <a:ea typeface="Noto Sans KR"/>
                <a:cs typeface="Noto Sans KR"/>
                <a:sym typeface="Noto Sans KR"/>
              </a:rPr>
              <a:t>: 화면별 기능, 입력/출력 요소, AI 로직 개입 지점을 명확히 규정함.</a:t>
            </a:r>
            <a:endParaRPr/>
          </a:p>
          <a:p>
            <a:pPr indent="-66675" lvl="0" marL="0" rtl="0" algn="l">
              <a:lnSpc>
                <a:spcPct val="100000"/>
              </a:lnSpc>
              <a:spcBef>
                <a:spcPts val="0"/>
              </a:spcBef>
              <a:spcAft>
                <a:spcPts val="0"/>
              </a:spcAft>
              <a:buClr>
                <a:schemeClr val="dk1"/>
              </a:buClr>
              <a:buSzPts val="1050"/>
              <a:buFont typeface="Noto Sans KR"/>
              <a:buChar char="•"/>
            </a:pPr>
            <a:r>
              <a:rPr b="1" lang="ko-KR" sz="1050">
                <a:latin typeface="Noto Sans KR"/>
                <a:ea typeface="Noto Sans KR"/>
                <a:cs typeface="Noto Sans KR"/>
                <a:sym typeface="Noto Sans KR"/>
              </a:rPr>
              <a:t>협업 효율성 제고</a:t>
            </a:r>
            <a:r>
              <a:rPr lang="ko-KR" sz="1050">
                <a:latin typeface="Noto Sans KR"/>
                <a:ea typeface="Noto Sans KR"/>
                <a:cs typeface="Noto Sans KR"/>
                <a:sym typeface="Noto Sans KR"/>
              </a:rPr>
              <a:t>: 기획, 개발, 평가 부문 간의 공통된 이해를 바탕으로 구현 및 검증 기준을 제공함.</a:t>
            </a:r>
            <a:endParaRPr/>
          </a:p>
          <a:p>
            <a:pPr indent="-66675" lvl="0" marL="0" rtl="0" algn="l">
              <a:lnSpc>
                <a:spcPct val="100000"/>
              </a:lnSpc>
              <a:spcBef>
                <a:spcPts val="0"/>
              </a:spcBef>
              <a:spcAft>
                <a:spcPts val="0"/>
              </a:spcAft>
              <a:buClr>
                <a:schemeClr val="dk1"/>
              </a:buClr>
              <a:buSzPts val="1050"/>
              <a:buFont typeface="Noto Sans KR"/>
              <a:buChar char="•"/>
            </a:pPr>
            <a:r>
              <a:rPr b="1" lang="ko-KR" sz="1050">
                <a:latin typeface="Noto Sans KR"/>
                <a:ea typeface="Noto Sans KR"/>
                <a:cs typeface="Noto Sans KR"/>
                <a:sym typeface="Noto Sans KR"/>
              </a:rPr>
              <a:t>AI 통합 정의</a:t>
            </a:r>
            <a:r>
              <a:rPr lang="ko-KR" sz="1050">
                <a:latin typeface="Noto Sans KR"/>
                <a:ea typeface="Noto Sans KR"/>
                <a:cs typeface="Noto Sans KR"/>
                <a:sym typeface="Noto Sans KR"/>
              </a:rPr>
              <a:t>: STT, LLM, 비동기 처리 로직의 적용 시점을 정의함.</a:t>
            </a:r>
            <a:endParaRPr/>
          </a:p>
          <a:p>
            <a:pPr indent="0" lvl="0" marL="0" rtl="0" algn="l">
              <a:lnSpc>
                <a:spcPct val="90000"/>
              </a:lnSpc>
              <a:spcBef>
                <a:spcPts val="1000"/>
              </a:spcBef>
              <a:spcAft>
                <a:spcPts val="0"/>
              </a:spcAft>
              <a:buClr>
                <a:schemeClr val="dk1"/>
              </a:buClr>
              <a:buSzPts val="1000"/>
              <a:buNone/>
            </a:pPr>
            <a:r>
              <a:t/>
            </a:r>
            <a:endParaRPr>
              <a:latin typeface="Noto Sans KR"/>
              <a:ea typeface="Noto Sans KR"/>
              <a:cs typeface="Noto Sans KR"/>
              <a:sym typeface="Noto Sans KR"/>
            </a:endParaRPr>
          </a:p>
        </p:txBody>
      </p:sp>
      <p:sp>
        <p:nvSpPr>
          <p:cNvPr id="62" name="Google Shape;62;p3"/>
          <p:cNvSpPr txBox="1"/>
          <p:nvPr/>
        </p:nvSpPr>
        <p:spPr>
          <a:xfrm>
            <a:off x="335383" y="2858775"/>
            <a:ext cx="11427152" cy="28469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ko-KR" sz="1200" u="none" cap="none" strike="noStrike">
                <a:solidFill>
                  <a:schemeClr val="dk1"/>
                </a:solidFill>
                <a:latin typeface="Noto Sans KR"/>
                <a:ea typeface="Noto Sans KR"/>
                <a:cs typeface="Noto Sans KR"/>
                <a:sym typeface="Noto Sans KR"/>
              </a:rPr>
              <a:t>적용 범위</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- 2.1 사용자 인터페이스(UI) 및 흐름</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인증 및 설정: 로그인/회원가입, 이력서 업로드, 지원 직무 확정 단계 포함.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사전 준비: 오디오/영상 장치 테스트 및 지원자 인식 단계(환경 테스트) 포함.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면접 수행: 자기소개, 지원동기, 직무 평가, 인성 평가, 최종 발언 단계 포함.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사후 분석: AI 분석 대기 및 결과 리포트(종합 점수 및 피드백) 화면 포함.</a:t>
            </a:r>
            <a:endParaRPr/>
          </a:p>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- 2.2 AI 및 데이터 처리 로직</a:t>
            </a:r>
            <a:endParaRPr b="1" sz="105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멀티모달 입력 처리: 마이크/카메라를 통한 음성(STT) 및 영상 스트림 처리 흐름 포함.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지능형 시나리오 생성: 사용자의 이력서 및 직무 데이터 기반의 LLM 질문 생성 기능 포함.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동적 인터랙션: 답변 분석 결과에 따른 꼬리 질문(추가 질문) 생성 및 비동기 처리 로직 포함.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심층 결과 분석: 개인 맞춤형 강점/개선점 도출 및 채용 추천 의견 생성 로직 포함.</a:t>
            </a:r>
            <a:endParaRPr/>
          </a:p>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- 2.3 설계 제약 및 제외 사항</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기능 중심 설계: 서비스 동작과 사용자 경험(UX) 정의를 최우선 범위로 설정함.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디자인 요소 제외: 세부적인 색상 값, 폰트 종류 등 시각 디자인 요소는 본 문서에서 제외함.</a:t>
            </a: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플랫폼 범위: 웹 브라우저 기반 인터페이스를 기준으로 함.</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4"/>
          <p:cNvSpPr txBox="1"/>
          <p:nvPr>
            <p:ph type="title"/>
          </p:nvPr>
        </p:nvSpPr>
        <p:spPr>
          <a:xfrm>
            <a:off x="371959" y="319406"/>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latin typeface="Noto Sans KR"/>
                <a:ea typeface="Noto Sans KR"/>
                <a:cs typeface="Noto Sans KR"/>
                <a:sym typeface="Noto Sans KR"/>
              </a:rPr>
              <a:t>User Flow Scenario</a:t>
            </a:r>
            <a:endParaRPr sz="2400">
              <a:latin typeface="Noto Sans KR"/>
              <a:ea typeface="Noto Sans KR"/>
              <a:cs typeface="Noto Sans KR"/>
              <a:sym typeface="Noto Sans KR"/>
            </a:endParaRPr>
          </a:p>
        </p:txBody>
      </p:sp>
      <p:sp>
        <p:nvSpPr>
          <p:cNvPr id="69" name="Google Shape;69;p4"/>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ko-KR">
                <a:latin typeface="Noto Sans KR"/>
                <a:ea typeface="Noto Sans KR"/>
                <a:cs typeface="Noto Sans KR"/>
                <a:sym typeface="Noto Sans KR"/>
              </a:rPr>
              <a:t>2026년 3월 6일 오전 11시 28분</a:t>
            </a:r>
            <a:endParaRPr>
              <a:latin typeface="Noto Sans KR"/>
              <a:ea typeface="Noto Sans KR"/>
              <a:cs typeface="Noto Sans KR"/>
              <a:sym typeface="Noto Sans KR"/>
            </a:endParaRPr>
          </a:p>
        </p:txBody>
      </p:sp>
      <p:sp>
        <p:nvSpPr>
          <p:cNvPr id="70" name="Google Shape;70;p4"/>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ko-KR">
                <a:latin typeface="Noto Sans KR"/>
                <a:ea typeface="Noto Sans KR"/>
                <a:cs typeface="Noto Sans KR"/>
                <a:sym typeface="Noto Sans KR"/>
              </a:rPr>
              <a:t>A4_Project_화면정의서_함유라</a:t>
            </a:r>
            <a:endParaRPr>
              <a:latin typeface="Noto Sans KR"/>
              <a:ea typeface="Noto Sans KR"/>
              <a:cs typeface="Noto Sans KR"/>
              <a:sym typeface="Noto Sans KR"/>
            </a:endParaRPr>
          </a:p>
        </p:txBody>
      </p:sp>
      <p:sp>
        <p:nvSpPr>
          <p:cNvPr id="71" name="Google Shape;71;p4"/>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ko-KR">
                <a:latin typeface="Noto Sans KR"/>
                <a:ea typeface="Noto Sans KR"/>
                <a:cs typeface="Noto Sans KR"/>
                <a:sym typeface="Noto Sans KR"/>
              </a:rPr>
              <a:t>‹#›</a:t>
            </a:fld>
            <a:endParaRPr>
              <a:latin typeface="Noto Sans KR"/>
              <a:ea typeface="Noto Sans KR"/>
              <a:cs typeface="Noto Sans KR"/>
              <a:sym typeface="Noto Sans KR"/>
            </a:endParaRPr>
          </a:p>
        </p:txBody>
      </p:sp>
      <p:sp>
        <p:nvSpPr>
          <p:cNvPr id="72" name="Google Shape;72;p4"/>
          <p:cNvSpPr txBox="1"/>
          <p:nvPr>
            <p:ph idx="1" type="body"/>
          </p:nvPr>
        </p:nvSpPr>
        <p:spPr>
          <a:xfrm>
            <a:off x="410910" y="1083633"/>
            <a:ext cx="10515600" cy="83570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200"/>
              <a:buChar char="•"/>
            </a:pPr>
            <a:r>
              <a:rPr lang="ko-KR" sz="1200">
                <a:latin typeface="Noto Sans KR"/>
                <a:ea typeface="Noto Sans KR"/>
                <a:cs typeface="Noto Sans KR"/>
                <a:sym typeface="Noto Sans KR"/>
              </a:rPr>
              <a:t>User Flow</a:t>
            </a:r>
            <a:endParaRPr/>
          </a:p>
          <a:p>
            <a:pPr indent="0" lvl="1" marL="457200" rtl="0" algn="l">
              <a:lnSpc>
                <a:spcPct val="90000"/>
              </a:lnSpc>
              <a:spcBef>
                <a:spcPts val="500"/>
              </a:spcBef>
              <a:spcAft>
                <a:spcPts val="0"/>
              </a:spcAft>
              <a:buClr>
                <a:schemeClr val="dk1"/>
              </a:buClr>
              <a:buSzPts val="1000"/>
              <a:buNone/>
            </a:pPr>
            <a:r>
              <a:rPr lang="ko-KR">
                <a:latin typeface="Noto Sans KR"/>
                <a:ea typeface="Noto Sans KR"/>
                <a:cs typeface="Noto Sans KR"/>
                <a:sym typeface="Noto Sans KR"/>
              </a:rPr>
              <a:t>-  User Flow는 사용자가 생성형 AI 모의면접 서비스를 이용하면서 어떤 순서로 화면을 이동하고, 어떤 입력을 수행하는지를 정의.</a:t>
            </a:r>
            <a:br>
              <a:rPr lang="ko-KR">
                <a:latin typeface="Noto Sans KR"/>
                <a:ea typeface="Noto Sans KR"/>
                <a:cs typeface="Noto Sans KR"/>
                <a:sym typeface="Noto Sans KR"/>
              </a:rPr>
            </a:br>
            <a:r>
              <a:rPr lang="ko-KR">
                <a:latin typeface="Noto Sans KR"/>
                <a:ea typeface="Noto Sans KR"/>
                <a:cs typeface="Noto Sans KR"/>
                <a:sym typeface="Noto Sans KR"/>
              </a:rPr>
              <a:t>    로그인 →  환경테스트 → 자기소개 → 면접 진행 → 결과 확인의 단계로 구성된 단순하고 반복 가능한 구조로 설계</a:t>
            </a:r>
            <a:endParaRPr/>
          </a:p>
        </p:txBody>
      </p:sp>
      <p:sp>
        <p:nvSpPr>
          <p:cNvPr id="73" name="Google Shape;73;p4"/>
          <p:cNvSpPr txBox="1"/>
          <p:nvPr/>
        </p:nvSpPr>
        <p:spPr>
          <a:xfrm>
            <a:off x="335383" y="2050845"/>
            <a:ext cx="1765021" cy="248021"/>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User Flow 단계 정의</a:t>
            </a:r>
            <a:endParaRPr sz="1200">
              <a:solidFill>
                <a:schemeClr val="dk1"/>
              </a:solidFill>
              <a:latin typeface="Noto Sans KR"/>
              <a:ea typeface="Noto Sans KR"/>
              <a:cs typeface="Noto Sans KR"/>
              <a:sym typeface="Noto Sans KR"/>
            </a:endParaRPr>
          </a:p>
        </p:txBody>
      </p:sp>
      <p:sp>
        <p:nvSpPr>
          <p:cNvPr id="74" name="Google Shape;74;p4"/>
          <p:cNvSpPr txBox="1"/>
          <p:nvPr/>
        </p:nvSpPr>
        <p:spPr>
          <a:xfrm>
            <a:off x="540945" y="2685079"/>
            <a:ext cx="2917479"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Step 1. 서비스 접속 및 로그인 단계</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웹 기반 AI 모의면접 서비스에 접속</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서비스 시작 화면이 표시 됨</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아이디와 비밀번호를 입력하여 로그인을 수행</a:t>
            </a:r>
            <a:endParaRPr/>
          </a:p>
        </p:txBody>
      </p:sp>
      <p:sp>
        <p:nvSpPr>
          <p:cNvPr id="75" name="Google Shape;75;p4"/>
          <p:cNvSpPr txBox="1"/>
          <p:nvPr/>
        </p:nvSpPr>
        <p:spPr>
          <a:xfrm>
            <a:off x="486077" y="3971251"/>
            <a:ext cx="3904306"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2. 이력서 업로드 단계</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이력서를 업로드하여 면접 절차를 시작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업로드된 이력서는 면접 질문 생성을 위한 기초 정보로 활용</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필요 시 이력서를 수정하여 재업로드 요청</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76" name="Google Shape;76;p4"/>
          <p:cNvSpPr txBox="1"/>
          <p:nvPr/>
        </p:nvSpPr>
        <p:spPr>
          <a:xfrm>
            <a:off x="540945" y="5223155"/>
            <a:ext cx="4415855"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3. 면접 환경 테스트</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음성 입력을 테스트를 진행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시스템은 마이크 입력, 음량, 잡음 및 STT 인식 가능 여부를 점검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카메라 테스트를 통해 얼굴 인식 및 영상 품질을 점검</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영상 연결이 안 되는 경우 음성만으로 면접을 진행함</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77" name="Google Shape;77;p4"/>
          <p:cNvSpPr txBox="1"/>
          <p:nvPr/>
        </p:nvSpPr>
        <p:spPr>
          <a:xfrm>
            <a:off x="5740554" y="1951368"/>
            <a:ext cx="4590292"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4. 직무 평가 면접</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면접 시작 버튼을 클릭하여 면접을 시작</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시스템은 직무 기반 첫 번째 질문(Q1)을 생성하여 사용자에게 제시</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음성 또는 텍스트로 질문에 응답</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이전 답변 내용을 다음 질문 생성에 반영하여 추가 꼬리질문을 생성</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위에 과정을 1단계 직무 관련 지식 질문,2단계 직무 관련 경험 질문, 3단계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 관련 문제 해결 관련 까지질문을 반복 진행</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78" name="Google Shape;78;p4"/>
          <p:cNvSpPr txBox="1"/>
          <p:nvPr/>
        </p:nvSpPr>
        <p:spPr>
          <a:xfrm>
            <a:off x="5740554" y="3306841"/>
            <a:ext cx="6097508"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5. 인성 평가 면접</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시스템은 인성 평가 관련 첫 번째 질문(Q1)을 생성하여 사용자에게 제시</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음성 또는 텍스트로 질문에 응답</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이전 답변 내용을 다음 질문 생성에 반영하여 추가 꼬리질문을 생성</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위에 과정을 1단계 의사소통 관련 질문,2단계 책임감 및 가치관 관련 경험 질문, 3단계 변화 수용력 및</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성장의지 관련 까지질문을 반복 진행</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a:t>
            </a:r>
            <a:endParaRPr sz="1000">
              <a:solidFill>
                <a:schemeClr val="dk1"/>
              </a:solidFill>
              <a:latin typeface="Noto Sans KR"/>
              <a:ea typeface="Noto Sans KR"/>
              <a:cs typeface="Noto Sans KR"/>
              <a:sym typeface="Noto Sans KR"/>
            </a:endParaRPr>
          </a:p>
        </p:txBody>
      </p:sp>
      <p:sp>
        <p:nvSpPr>
          <p:cNvPr id="79" name="Google Shape;79;p4"/>
          <p:cNvSpPr txBox="1"/>
          <p:nvPr/>
        </p:nvSpPr>
        <p:spPr>
          <a:xfrm>
            <a:off x="5740554" y="4719715"/>
            <a:ext cx="6097508"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6. 면접 종료</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인성평가의 마지막 질문(Q3)에 대한 응답이 완료되면 면접이 종료.</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결과 분석 단계로 이동</a:t>
            </a:r>
            <a:endParaRPr sz="1000">
              <a:solidFill>
                <a:schemeClr val="dk1"/>
              </a:solidFill>
              <a:latin typeface="Noto Sans KR"/>
              <a:ea typeface="Noto Sans KR"/>
              <a:cs typeface="Noto Sans KR"/>
              <a:sym typeface="Noto Sans KR"/>
            </a:endParaRPr>
          </a:p>
        </p:txBody>
      </p:sp>
      <p:sp>
        <p:nvSpPr>
          <p:cNvPr id="80" name="Google Shape;80;p4"/>
          <p:cNvSpPr txBox="1"/>
          <p:nvPr/>
        </p:nvSpPr>
        <p:spPr>
          <a:xfrm>
            <a:off x="5740554" y="5586899"/>
            <a:ext cx="6097508"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7. 결과 및 피드백 확인</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사용자는 면접 결과 요약을 확인</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면접 절차는 최종 종료</a:t>
            </a:r>
            <a:endParaRPr sz="1000">
              <a:solidFill>
                <a:schemeClr val="dk1"/>
              </a:solidFill>
              <a:latin typeface="Noto Sans KR"/>
              <a:ea typeface="Noto Sans KR"/>
              <a:cs typeface="Noto Sans KR"/>
              <a:sym typeface="Noto Sans K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5"/>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AI Scenario</a:t>
            </a:r>
            <a:endParaRPr sz="2400"/>
          </a:p>
        </p:txBody>
      </p:sp>
      <p:sp>
        <p:nvSpPr>
          <p:cNvPr id="87" name="Google Shape;87;p5"/>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88" name="Google Shape;88;p5"/>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89" name="Google Shape;89;p5"/>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90" name="Google Shape;90;p5"/>
          <p:cNvSpPr txBox="1"/>
          <p:nvPr>
            <p:ph idx="1" type="body"/>
          </p:nvPr>
        </p:nvSpPr>
        <p:spPr>
          <a:xfrm>
            <a:off x="410910" y="1083633"/>
            <a:ext cx="10515600" cy="6067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200"/>
              <a:buChar char="•"/>
            </a:pPr>
            <a:r>
              <a:rPr lang="ko-KR" sz="1200">
                <a:latin typeface="Noto Sans KR"/>
                <a:ea typeface="Noto Sans KR"/>
                <a:cs typeface="Noto Sans KR"/>
                <a:sym typeface="Noto Sans KR"/>
              </a:rPr>
              <a:t>AI Scenario</a:t>
            </a:r>
            <a:endParaRPr/>
          </a:p>
          <a:p>
            <a:pPr indent="0" lvl="1" marL="457200" rtl="0" algn="l">
              <a:lnSpc>
                <a:spcPct val="90000"/>
              </a:lnSpc>
              <a:spcBef>
                <a:spcPts val="500"/>
              </a:spcBef>
              <a:spcAft>
                <a:spcPts val="0"/>
              </a:spcAft>
              <a:buClr>
                <a:schemeClr val="dk1"/>
              </a:buClr>
              <a:buSzPts val="1000"/>
              <a:buNone/>
            </a:pPr>
            <a:r>
              <a:rPr lang="ko-KR">
                <a:latin typeface="Noto Sans KR"/>
                <a:ea typeface="Noto Sans KR"/>
                <a:cs typeface="Noto Sans KR"/>
                <a:sym typeface="Noto Sans KR"/>
              </a:rPr>
              <a:t>- AI 사용자 흐름(User Flow)에 따라 AI 모듈 개입 시점과 역할 정의함. STT, LLM, 영상분석을 통합하여 질문 생성·응답 분석·피드백 제공 수행함.</a:t>
            </a:r>
            <a:endParaRPr>
              <a:latin typeface="Noto Sans KR"/>
              <a:ea typeface="Noto Sans KR"/>
              <a:cs typeface="Noto Sans KR"/>
              <a:sym typeface="Noto Sans KR"/>
            </a:endParaRPr>
          </a:p>
        </p:txBody>
      </p:sp>
      <p:sp>
        <p:nvSpPr>
          <p:cNvPr id="91" name="Google Shape;91;p5"/>
          <p:cNvSpPr txBox="1"/>
          <p:nvPr/>
        </p:nvSpPr>
        <p:spPr>
          <a:xfrm>
            <a:off x="410910" y="1767282"/>
            <a:ext cx="1964197" cy="30337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AI Scenario 단계 정의</a:t>
            </a:r>
            <a:endParaRPr sz="1000">
              <a:solidFill>
                <a:schemeClr val="dk1"/>
              </a:solidFill>
              <a:latin typeface="Noto Sans KR"/>
              <a:ea typeface="Noto Sans KR"/>
              <a:cs typeface="Noto Sans KR"/>
              <a:sym typeface="Noto Sans KR"/>
            </a:endParaRPr>
          </a:p>
        </p:txBody>
      </p:sp>
      <p:sp>
        <p:nvSpPr>
          <p:cNvPr id="92" name="Google Shape;92;p5"/>
          <p:cNvSpPr txBox="1"/>
          <p:nvPr/>
        </p:nvSpPr>
        <p:spPr>
          <a:xfrm>
            <a:off x="335383" y="2209156"/>
            <a:ext cx="6097508"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A1. 직무 및 지원 정보 Context 설정</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lang="ko-KR" sz="1000">
                <a:solidFill>
                  <a:schemeClr val="dk1"/>
                </a:solidFill>
                <a:latin typeface="Noto Sans KR"/>
                <a:ea typeface="Noto Sans KR"/>
                <a:cs typeface="Noto Sans KR"/>
                <a:sym typeface="Noto Sans KR"/>
              </a:rPr>
              <a:t>- 사용자가 직무 선택 및 이력서를 업로드하면</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지원 정보는 면접 질문 생성을 위한 초기 Context로 저장함</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활용 AI:</a:t>
            </a:r>
            <a:r>
              <a:rPr lang="ko-KR" sz="1000">
                <a:solidFill>
                  <a:schemeClr val="dk1"/>
                </a:solidFill>
                <a:latin typeface="Noto Sans KR"/>
                <a:ea typeface="Noto Sans KR"/>
                <a:cs typeface="Noto Sans KR"/>
                <a:sym typeface="Noto Sans KR"/>
              </a:rPr>
              <a:t> LLM</a:t>
            </a:r>
            <a:br>
              <a:rPr lang="ko-KR" sz="1000">
                <a:solidFill>
                  <a:schemeClr val="dk1"/>
                </a:solidFill>
                <a:latin typeface="Noto Sans KR"/>
                <a:ea typeface="Noto Sans KR"/>
                <a:cs typeface="Noto Sans KR"/>
                <a:sym typeface="Noto Sans KR"/>
              </a:rPr>
            </a:br>
            <a:r>
              <a:rPr b="1" lang="ko-KR" sz="1000">
                <a:solidFill>
                  <a:schemeClr val="dk1"/>
                </a:solidFill>
                <a:latin typeface="Noto Sans KR"/>
                <a:ea typeface="Noto Sans KR"/>
                <a:cs typeface="Noto Sans KR"/>
                <a:sym typeface="Noto Sans KR"/>
              </a:rPr>
              <a:t>목적:</a:t>
            </a:r>
            <a:r>
              <a:rPr lang="ko-KR" sz="1000">
                <a:solidFill>
                  <a:schemeClr val="dk1"/>
                </a:solidFill>
                <a:latin typeface="Noto Sans KR"/>
                <a:ea typeface="Noto Sans KR"/>
                <a:cs typeface="Noto Sans KR"/>
                <a:sym typeface="Noto Sans KR"/>
              </a:rPr>
              <a:t> 직무 기반 면접 질문 생성을 위한 기준 Context 구성함</a:t>
            </a:r>
            <a:endParaRPr/>
          </a:p>
        </p:txBody>
      </p:sp>
      <p:sp>
        <p:nvSpPr>
          <p:cNvPr id="93" name="Google Shape;93;p5"/>
          <p:cNvSpPr txBox="1"/>
          <p:nvPr/>
        </p:nvSpPr>
        <p:spPr>
          <a:xfrm>
            <a:off x="6432891" y="2051790"/>
            <a:ext cx="4366034"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A2. 면접 환경 테스트 및 입력 품질 검증</a:t>
            </a:r>
            <a:endParaRPr b="1"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사용자의 음성 입력을 통해 STT 인식 가능 여부 확인함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카메라 입력을 통해 얼굴 인식 및 영상 품질 확인함</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활용 AI:</a:t>
            </a:r>
            <a:r>
              <a:rPr lang="ko-KR" sz="1000">
                <a:solidFill>
                  <a:schemeClr val="dk1"/>
                </a:solidFill>
                <a:latin typeface="Noto Sans KR"/>
                <a:ea typeface="Noto Sans KR"/>
                <a:cs typeface="Noto Sans KR"/>
                <a:sym typeface="Noto Sans KR"/>
              </a:rPr>
              <a:t> STT / 영상분석</a:t>
            </a:r>
            <a:br>
              <a:rPr lang="ko-KR" sz="1000">
                <a:solidFill>
                  <a:schemeClr val="dk1"/>
                </a:solidFill>
                <a:latin typeface="Noto Sans KR"/>
                <a:ea typeface="Noto Sans KR"/>
                <a:cs typeface="Noto Sans KR"/>
                <a:sym typeface="Noto Sans KR"/>
              </a:rPr>
            </a:br>
            <a:r>
              <a:rPr b="1" lang="ko-KR" sz="1000">
                <a:solidFill>
                  <a:schemeClr val="dk1"/>
                </a:solidFill>
                <a:latin typeface="Noto Sans KR"/>
                <a:ea typeface="Noto Sans KR"/>
                <a:cs typeface="Noto Sans KR"/>
                <a:sym typeface="Noto Sans KR"/>
              </a:rPr>
              <a:t>목적:</a:t>
            </a:r>
            <a:r>
              <a:rPr lang="ko-KR" sz="1000">
                <a:solidFill>
                  <a:schemeClr val="dk1"/>
                </a:solidFill>
                <a:latin typeface="Noto Sans KR"/>
                <a:ea typeface="Noto Sans KR"/>
                <a:cs typeface="Noto Sans KR"/>
                <a:sym typeface="Noto Sans KR"/>
              </a:rPr>
              <a:t> 면접 진행 가능 여부 및 입력 품질 확보함</a:t>
            </a:r>
            <a:endParaRPr/>
          </a:p>
        </p:txBody>
      </p:sp>
      <p:sp>
        <p:nvSpPr>
          <p:cNvPr id="94" name="Google Shape;94;p5"/>
          <p:cNvSpPr txBox="1"/>
          <p:nvPr/>
        </p:nvSpPr>
        <p:spPr>
          <a:xfrm>
            <a:off x="335383" y="3228296"/>
            <a:ext cx="6097508"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A3. 자기소개 및 지원 동기 응답 수집</a:t>
            </a:r>
            <a:endParaRPr b="1"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사용자 음성 발화를 STT로 텍스트 변환함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자기소개 및 지원 동기 텍스트를 면접 Context에 누적 저장함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사용자 얼굴 영상에서 표정, 감정 분포, 시선 안정성 추출하여</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초기 감정 및 태도 데이터를 영상 베이스라인으로 저장함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 </a:t>
            </a:r>
            <a:r>
              <a:rPr b="1" lang="ko-KR" sz="1000">
                <a:solidFill>
                  <a:schemeClr val="dk1"/>
                </a:solidFill>
                <a:latin typeface="Noto Sans KR"/>
                <a:ea typeface="Noto Sans KR"/>
                <a:cs typeface="Noto Sans KR"/>
                <a:sym typeface="Noto Sans KR"/>
              </a:rPr>
              <a:t>활용 AI:</a:t>
            </a:r>
            <a:r>
              <a:rPr lang="ko-KR" sz="1000">
                <a:solidFill>
                  <a:schemeClr val="dk1"/>
                </a:solidFill>
                <a:latin typeface="Noto Sans KR"/>
                <a:ea typeface="Noto Sans KR"/>
                <a:cs typeface="Noto Sans KR"/>
                <a:sym typeface="Noto Sans KR"/>
              </a:rPr>
              <a:t> STT / 영상분석 / LLM</a:t>
            </a:r>
            <a:br>
              <a:rPr lang="ko-KR" sz="1000">
                <a:solidFill>
                  <a:schemeClr val="dk1"/>
                </a:solidFill>
                <a:latin typeface="Noto Sans KR"/>
                <a:ea typeface="Noto Sans KR"/>
                <a:cs typeface="Noto Sans KR"/>
                <a:sym typeface="Noto Sans KR"/>
              </a:rPr>
            </a:br>
            <a:r>
              <a:rPr b="1" lang="ko-KR" sz="1000">
                <a:solidFill>
                  <a:schemeClr val="dk1"/>
                </a:solidFill>
                <a:latin typeface="Noto Sans KR"/>
                <a:ea typeface="Noto Sans KR"/>
                <a:cs typeface="Noto Sans KR"/>
                <a:sym typeface="Noto Sans KR"/>
              </a:rPr>
              <a:t>목적:</a:t>
            </a:r>
            <a:r>
              <a:rPr lang="ko-KR" sz="1000">
                <a:solidFill>
                  <a:schemeClr val="dk1"/>
                </a:solidFill>
                <a:latin typeface="Noto Sans KR"/>
                <a:ea typeface="Noto Sans KR"/>
                <a:cs typeface="Noto Sans KR"/>
                <a:sym typeface="Noto Sans KR"/>
              </a:rPr>
              <a:t> 이후 질문 생성 및 평가를 위한 초기 응답 데이터 확보함</a:t>
            </a:r>
            <a:endParaRPr/>
          </a:p>
        </p:txBody>
      </p:sp>
      <p:sp>
        <p:nvSpPr>
          <p:cNvPr id="95" name="Google Shape;95;p5"/>
          <p:cNvSpPr txBox="1"/>
          <p:nvPr/>
        </p:nvSpPr>
        <p:spPr>
          <a:xfrm>
            <a:off x="6432891" y="2995618"/>
            <a:ext cx="6097508"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A4. 직무 평가 단계</a:t>
            </a:r>
            <a:r>
              <a:rPr lang="ko-KR" sz="1000">
                <a:solidFill>
                  <a:schemeClr val="dk1"/>
                </a:solidFill>
                <a:latin typeface="Noto Sans KR"/>
                <a:ea typeface="Noto Sans KR"/>
                <a:cs typeface="Noto Sans KR"/>
                <a:sym typeface="Noto Sans KR"/>
              </a:rPr>
              <a:t>-.</a:t>
            </a: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이력서 기반 직무 Context와 자기소개 응답을 결합하여 직무 평가 질문 생성함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직무 지식, 실무 경험, 문제 해결 능력 평가 방향으로 질문 구성함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사용자의 응답을 음성 또는 영상으로 입력받아 음성 입력은 STT를 통해 텍스트로 변환함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응답 텍스트를 기반으로 직무 관련 개념 이해도, 논리성, 경험 구체성 분석함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동시에 직무 설명 과정에서의 표정 안정성, 집중도, 반응 태도 영상 분석함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응답이 불충분하거나 직무 역량 판단이 어려운 경우 이전 답변 기반 꼬리 질문 생성함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활용 AI:</a:t>
            </a:r>
            <a:r>
              <a:rPr lang="ko-KR" sz="1000">
                <a:solidFill>
                  <a:schemeClr val="dk1"/>
                </a:solidFill>
                <a:latin typeface="Noto Sans KR"/>
                <a:ea typeface="Noto Sans KR"/>
                <a:cs typeface="Noto Sans KR"/>
                <a:sym typeface="Noto Sans KR"/>
              </a:rPr>
              <a:t> LLM / STT / 영상분석</a:t>
            </a:r>
            <a:br>
              <a:rPr lang="ko-KR" sz="1000">
                <a:solidFill>
                  <a:schemeClr val="dk1"/>
                </a:solidFill>
                <a:latin typeface="Noto Sans KR"/>
                <a:ea typeface="Noto Sans KR"/>
                <a:cs typeface="Noto Sans KR"/>
                <a:sym typeface="Noto Sans KR"/>
              </a:rPr>
            </a:br>
            <a:r>
              <a:rPr b="1" lang="ko-KR" sz="1000">
                <a:solidFill>
                  <a:schemeClr val="dk1"/>
                </a:solidFill>
                <a:latin typeface="Noto Sans KR"/>
                <a:ea typeface="Noto Sans KR"/>
                <a:cs typeface="Noto Sans KR"/>
                <a:sym typeface="Noto Sans KR"/>
              </a:rPr>
              <a:t>목적:</a:t>
            </a:r>
            <a:r>
              <a:rPr lang="ko-KR" sz="1000">
                <a:solidFill>
                  <a:schemeClr val="dk1"/>
                </a:solidFill>
                <a:latin typeface="Noto Sans KR"/>
                <a:ea typeface="Noto Sans KR"/>
                <a:cs typeface="Noto Sans KR"/>
                <a:sym typeface="Noto Sans KR"/>
              </a:rPr>
              <a:t> 이력서 및 자기소개 기반 직무 수행 역량을 다각적으로 평가함</a:t>
            </a:r>
            <a:endParaRPr/>
          </a:p>
        </p:txBody>
      </p:sp>
      <p:sp>
        <p:nvSpPr>
          <p:cNvPr id="96" name="Google Shape;96;p5"/>
          <p:cNvSpPr txBox="1"/>
          <p:nvPr/>
        </p:nvSpPr>
        <p:spPr>
          <a:xfrm>
            <a:off x="335383" y="4767431"/>
            <a:ext cx="6097508"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A5. 인성 평가 단계</a:t>
            </a:r>
            <a:endParaRPr b="1"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자기소개 응답과 직무 평가 과정에서 나타난 언어·행동 패턴을 기반으로 인성 평가 질문 생성함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의사소통 방식, 협업 태도, 책임감, 가치관 평가 방향으로 질문 구성함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사용자의 응답을 음성 또는 영상으로 입력받아 음성 입력은 STT를 통해 텍스트로 변환함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응답 내용의 일관성, 태도, 표현 방식 분석함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동시에 표정 변화, 긴장도, 시선 안정성 등 비언어적 반응 영상 분석함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응답이 모호하거나 인성 특성 판단이 어려운 경우 이전 답변 기반 꼬리 질문 생성함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활용 AI:</a:t>
            </a:r>
            <a:r>
              <a:rPr lang="ko-KR" sz="1000">
                <a:solidFill>
                  <a:schemeClr val="dk1"/>
                </a:solidFill>
                <a:latin typeface="Noto Sans KR"/>
                <a:ea typeface="Noto Sans KR"/>
                <a:cs typeface="Noto Sans KR"/>
                <a:sym typeface="Noto Sans KR"/>
              </a:rPr>
              <a:t> LLM / STT / 영상분석</a:t>
            </a:r>
            <a:br>
              <a:rPr lang="ko-KR" sz="1000">
                <a:solidFill>
                  <a:schemeClr val="dk1"/>
                </a:solidFill>
                <a:latin typeface="Noto Sans KR"/>
                <a:ea typeface="Noto Sans KR"/>
                <a:cs typeface="Noto Sans KR"/>
                <a:sym typeface="Noto Sans KR"/>
              </a:rPr>
            </a:br>
            <a:r>
              <a:rPr b="1" lang="ko-KR" sz="1000">
                <a:solidFill>
                  <a:schemeClr val="dk1"/>
                </a:solidFill>
                <a:latin typeface="Noto Sans KR"/>
                <a:ea typeface="Noto Sans KR"/>
                <a:cs typeface="Noto Sans KR"/>
                <a:sym typeface="Noto Sans KR"/>
              </a:rPr>
              <a:t>목적:</a:t>
            </a:r>
            <a:r>
              <a:rPr lang="ko-KR" sz="1000">
                <a:solidFill>
                  <a:schemeClr val="dk1"/>
                </a:solidFill>
                <a:latin typeface="Noto Sans KR"/>
                <a:ea typeface="Noto Sans KR"/>
                <a:cs typeface="Noto Sans KR"/>
                <a:sym typeface="Noto Sans KR"/>
              </a:rPr>
              <a:t> 직무 수행 과정과 인성평가 답변에서 드러난 조직 적합성과 인성 역량을 평가함</a:t>
            </a:r>
            <a:endParaRPr/>
          </a:p>
        </p:txBody>
      </p:sp>
      <p:sp>
        <p:nvSpPr>
          <p:cNvPr id="97" name="Google Shape;97;p5"/>
          <p:cNvSpPr txBox="1"/>
          <p:nvPr/>
        </p:nvSpPr>
        <p:spPr>
          <a:xfrm>
            <a:off x="6432891" y="4613543"/>
            <a:ext cx="6097508"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Noto Sans KR"/>
              <a:buNone/>
            </a:pPr>
            <a:r>
              <a:rPr b="1" lang="ko-KR" sz="1000">
                <a:solidFill>
                  <a:schemeClr val="dk1"/>
                </a:solidFill>
                <a:latin typeface="Noto Sans KR"/>
                <a:ea typeface="Noto Sans KR"/>
                <a:cs typeface="Noto Sans KR"/>
                <a:sym typeface="Noto Sans KR"/>
              </a:rPr>
              <a:t>Step A6. 면접 분석 및 평가 단계</a:t>
            </a:r>
            <a:endParaRPr b="1"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직무 평가 단계와 인성 평가 단계에서 수집된 전체 면접 응답을 종합 분석함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직무 평가 응답과 인성 평가 응답을 구분하여 분석 결과를 정리함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언어 기반 분석 결과와 영상 기반 분석 결과를 통합함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직무 역량 분석 결과와 인성 역량 분석 결과를 함께 반영함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직무 수행 역량과 조직 적합성에 대한 종합 평가 결과 도출함</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면접 평가 결과를 정성적 지표 형태로 구성함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a:solidFill>
                  <a:schemeClr val="dk1"/>
                </a:solidFill>
                <a:latin typeface="Noto Sans KR"/>
                <a:ea typeface="Noto Sans KR"/>
                <a:cs typeface="Noto Sans KR"/>
                <a:sym typeface="Noto Sans KR"/>
              </a:rPr>
              <a:t>본 단계에서는 사용자 입력을 받지 않음</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면접 결과 제공을 위한 최종 분석 단계로 처리함</a:t>
            </a:r>
            <a:endParaRPr sz="1000">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활용 AI:</a:t>
            </a:r>
            <a:r>
              <a:rPr lang="ko-KR" sz="1000">
                <a:solidFill>
                  <a:schemeClr val="dk1"/>
                </a:solidFill>
                <a:latin typeface="Noto Sans KR"/>
                <a:ea typeface="Noto Sans KR"/>
                <a:cs typeface="Noto Sans KR"/>
                <a:sym typeface="Noto Sans KR"/>
              </a:rPr>
              <a:t> LLM / NLP / 영상분석</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      목적:</a:t>
            </a:r>
            <a:r>
              <a:rPr lang="ko-KR" sz="1000">
                <a:solidFill>
                  <a:schemeClr val="dk1"/>
                </a:solidFill>
                <a:latin typeface="Noto Sans KR"/>
                <a:ea typeface="Noto Sans KR"/>
                <a:cs typeface="Noto Sans KR"/>
                <a:sym typeface="Noto Sans KR"/>
              </a:rPr>
              <a:t> 전체 면접 응답을 기반으로 직무·인성 역량 평가 결과를 도출함</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Screen List</a:t>
            </a:r>
            <a:endParaRPr sz="2400"/>
          </a:p>
        </p:txBody>
      </p:sp>
      <p:sp>
        <p:nvSpPr>
          <p:cNvPr id="104" name="Google Shape;104;p6"/>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05" name="Google Shape;105;p6"/>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06" name="Google Shape;106;p6"/>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07" name="Google Shape;107;p6"/>
          <p:cNvSpPr txBox="1"/>
          <p:nvPr>
            <p:ph idx="1" type="body"/>
          </p:nvPr>
        </p:nvSpPr>
        <p:spPr>
          <a:xfrm>
            <a:off x="410910" y="1083633"/>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200"/>
              <a:buChar char="•"/>
            </a:pPr>
            <a:r>
              <a:rPr lang="ko-KR" sz="1200">
                <a:latin typeface="Noto Sans KR"/>
                <a:ea typeface="Noto Sans KR"/>
                <a:cs typeface="Noto Sans KR"/>
                <a:sym typeface="Noto Sans KR"/>
              </a:rPr>
              <a:t>사용자 화면</a:t>
            </a:r>
            <a:endParaRPr sz="1200">
              <a:latin typeface="Noto Sans KR"/>
              <a:ea typeface="Noto Sans KR"/>
              <a:cs typeface="Noto Sans KR"/>
              <a:sym typeface="Noto Sans KR"/>
            </a:endParaRPr>
          </a:p>
          <a:p>
            <a:pPr indent="-152400" lvl="0" marL="228600" rtl="0" algn="l">
              <a:lnSpc>
                <a:spcPct val="90000"/>
              </a:lnSpc>
              <a:spcBef>
                <a:spcPts val="1000"/>
              </a:spcBef>
              <a:spcAft>
                <a:spcPts val="0"/>
              </a:spcAft>
              <a:buClr>
                <a:schemeClr val="dk1"/>
              </a:buClr>
              <a:buSzPts val="1200"/>
              <a:buNone/>
            </a:pPr>
            <a:r>
              <a:t/>
            </a:r>
            <a:endParaRPr sz="1200">
              <a:latin typeface="Noto Sans KR"/>
              <a:ea typeface="Noto Sans KR"/>
              <a:cs typeface="Noto Sans KR"/>
              <a:sym typeface="Noto Sans KR"/>
            </a:endParaRPr>
          </a:p>
        </p:txBody>
      </p:sp>
      <p:grpSp>
        <p:nvGrpSpPr>
          <p:cNvPr id="108" name="Google Shape;108;p6"/>
          <p:cNvGrpSpPr/>
          <p:nvPr/>
        </p:nvGrpSpPr>
        <p:grpSpPr>
          <a:xfrm>
            <a:off x="511178" y="1835088"/>
            <a:ext cx="2880000" cy="2943904"/>
            <a:chOff x="595221" y="1619648"/>
            <a:chExt cx="3378679" cy="3209152"/>
          </a:xfrm>
        </p:grpSpPr>
        <p:sp>
          <p:nvSpPr>
            <p:cNvPr id="109" name="Google Shape;109;p6"/>
            <p:cNvSpPr/>
            <p:nvPr/>
          </p:nvSpPr>
          <p:spPr>
            <a:xfrm>
              <a:off x="595221" y="1619648"/>
              <a:ext cx="3378679" cy="3139490"/>
            </a:xfrm>
            <a:prstGeom prst="roundRect">
              <a:avLst>
                <a:gd fmla="val 8040" name="adj"/>
              </a:avLst>
            </a:prstGeom>
            <a:solidFill>
              <a:srgbClr val="FF256E"/>
            </a:solidFill>
            <a:ln cap="flat" cmpd="sng" w="12700">
              <a:solidFill>
                <a:srgbClr val="FF256E"/>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메인/설정</a:t>
              </a:r>
              <a:endParaRPr sz="1600">
                <a:solidFill>
                  <a:schemeClr val="lt1"/>
                </a:solidFill>
                <a:latin typeface="Noto Sans KR"/>
                <a:ea typeface="Noto Sans KR"/>
                <a:cs typeface="Noto Sans KR"/>
                <a:sym typeface="Noto Sans KR"/>
              </a:endParaRPr>
            </a:p>
          </p:txBody>
        </p:sp>
        <p:sp>
          <p:nvSpPr>
            <p:cNvPr id="110" name="Google Shape;110;p6"/>
            <p:cNvSpPr/>
            <p:nvPr/>
          </p:nvSpPr>
          <p:spPr>
            <a:xfrm>
              <a:off x="595221" y="2081746"/>
              <a:ext cx="3378679" cy="2747054"/>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SCR-00      메인화면 –로그인 전</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SCR-00-1  메인화면 –로그인 후</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SCR-00-2  브랜드 소개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SCR-01      회원가입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SCR-02      로그인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SCR-21      면접 이력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SCR-22      면접 결과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SCR-23      프로필 관리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SCR-24      계정 설정 화면</a:t>
              </a:r>
              <a:endParaRPr sz="1400">
                <a:solidFill>
                  <a:schemeClr val="dk1"/>
                </a:solidFill>
                <a:latin typeface="Noto Sans KR"/>
                <a:ea typeface="Noto Sans KR"/>
                <a:cs typeface="Noto Sans KR"/>
                <a:sym typeface="Noto Sans KR"/>
              </a:endParaRPr>
            </a:p>
          </p:txBody>
        </p:sp>
      </p:grpSp>
      <p:grpSp>
        <p:nvGrpSpPr>
          <p:cNvPr id="111" name="Google Shape;111;p6"/>
          <p:cNvGrpSpPr/>
          <p:nvPr/>
        </p:nvGrpSpPr>
        <p:grpSpPr>
          <a:xfrm>
            <a:off x="3992175" y="1835088"/>
            <a:ext cx="2880000" cy="2953966"/>
            <a:chOff x="595222" y="1619649"/>
            <a:chExt cx="2774178" cy="2326814"/>
          </a:xfrm>
        </p:grpSpPr>
        <p:sp>
          <p:nvSpPr>
            <p:cNvPr id="112" name="Google Shape;112;p6"/>
            <p:cNvSpPr/>
            <p:nvPr/>
          </p:nvSpPr>
          <p:spPr>
            <a:xfrm>
              <a:off x="595222" y="1619649"/>
              <a:ext cx="2767803" cy="2268552"/>
            </a:xfrm>
            <a:prstGeom prst="roundRect">
              <a:avLst>
                <a:gd fmla="val 8040" name="adj"/>
              </a:avLst>
            </a:prstGeom>
            <a:solidFill>
              <a:srgbClr val="FF75A3"/>
            </a:solidFill>
            <a:ln cap="flat" cmpd="sng" w="12700">
              <a:solidFill>
                <a:srgbClr val="FF75A3"/>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면접 안내/준비</a:t>
              </a:r>
              <a:endParaRPr sz="1600">
                <a:solidFill>
                  <a:schemeClr val="lt1"/>
                </a:solidFill>
                <a:latin typeface="Noto Sans KR"/>
                <a:ea typeface="Noto Sans KR"/>
                <a:cs typeface="Noto Sans KR"/>
                <a:sym typeface="Noto Sans KR"/>
              </a:endParaRPr>
            </a:p>
          </p:txBody>
        </p:sp>
        <p:sp>
          <p:nvSpPr>
            <p:cNvPr id="113" name="Google Shape;113;p6"/>
            <p:cNvSpPr/>
            <p:nvPr/>
          </p:nvSpPr>
          <p:spPr>
            <a:xfrm>
              <a:off x="595222" y="1961480"/>
              <a:ext cx="2774178" cy="1984983"/>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SCR-03     면접 시작 안내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SCR-04     이력서 업로드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SCR-05     이력서 재업로드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SCR-06     이력서 확인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SCR-07     환경 테스트 – 오디오</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SCR-08     환경테스트  - 영상</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SCR-09     면접 시작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SCR-19     면접 종료 화면</a:t>
              </a:r>
              <a:endParaRPr sz="1400">
                <a:solidFill>
                  <a:schemeClr val="dk1"/>
                </a:solidFill>
                <a:latin typeface="Noto Sans KR"/>
                <a:ea typeface="Noto Sans KR"/>
                <a:cs typeface="Noto Sans KR"/>
                <a:sym typeface="Noto Sans KR"/>
              </a:endParaRPr>
            </a:p>
          </p:txBody>
        </p:sp>
      </p:grpSp>
      <p:grpSp>
        <p:nvGrpSpPr>
          <p:cNvPr id="114" name="Google Shape;114;p6"/>
          <p:cNvGrpSpPr/>
          <p:nvPr/>
        </p:nvGrpSpPr>
        <p:grpSpPr>
          <a:xfrm>
            <a:off x="7473173" y="1236511"/>
            <a:ext cx="3600000" cy="4793491"/>
            <a:chOff x="595222" y="1619649"/>
            <a:chExt cx="3467722" cy="4085940"/>
          </a:xfrm>
        </p:grpSpPr>
        <p:sp>
          <p:nvSpPr>
            <p:cNvPr id="115" name="Google Shape;115;p6"/>
            <p:cNvSpPr/>
            <p:nvPr/>
          </p:nvSpPr>
          <p:spPr>
            <a:xfrm>
              <a:off x="595222" y="1619649"/>
              <a:ext cx="3467722" cy="4085939"/>
            </a:xfrm>
            <a:prstGeom prst="roundRect">
              <a:avLst>
                <a:gd fmla="val 8040" name="adj"/>
              </a:avLst>
            </a:prstGeom>
            <a:solidFill>
              <a:srgbClr val="FFE1EB"/>
            </a:solidFill>
            <a:ln cap="flat" cmpd="sng" w="12700">
              <a:solidFill>
                <a:srgbClr val="FFE1EB"/>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rgbClr val="7F7F7F"/>
                  </a:solidFill>
                  <a:latin typeface="Noto Sans KR"/>
                  <a:ea typeface="Noto Sans KR"/>
                  <a:cs typeface="Noto Sans KR"/>
                  <a:sym typeface="Noto Sans KR"/>
                </a:rPr>
                <a:t>면접 진행</a:t>
              </a:r>
              <a:endParaRPr sz="1600">
                <a:solidFill>
                  <a:srgbClr val="7F7F7F"/>
                </a:solidFill>
                <a:latin typeface="Noto Sans KR"/>
                <a:ea typeface="Noto Sans KR"/>
                <a:cs typeface="Noto Sans KR"/>
                <a:sym typeface="Noto Sans KR"/>
              </a:endParaRPr>
            </a:p>
          </p:txBody>
        </p:sp>
        <p:sp>
          <p:nvSpPr>
            <p:cNvPr id="116" name="Google Shape;116;p6"/>
            <p:cNvSpPr/>
            <p:nvPr/>
          </p:nvSpPr>
          <p:spPr>
            <a:xfrm>
              <a:off x="595222" y="2023249"/>
              <a:ext cx="3467722" cy="3682340"/>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SCR-10       자기소개 응답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SCR-10-1   자기소개 응답 완료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SCR-11       지원동기 응답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SCR-12       직무 지식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SCR-12-1   직무 지식 추가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SCR-13       직무 경험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SCR-13-1   직무 경험 추가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SCR-14       문제 해결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SCR-14-1   문제 해결 추가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SCR-15       협업·의사소통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SCR-15-1   의사소통 추가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SCR-16       책임감·가치관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SCR-16-1   책임감·가치관 추가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SCR-17       변화·성장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SCR-17-1   변화·성장 추가 질문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SCR-18       최종 발언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400">
                <a:solidFill>
                  <a:schemeClr val="dk1"/>
                </a:solidFill>
                <a:latin typeface="Noto Sans KR"/>
                <a:ea typeface="Noto Sans KR"/>
                <a:cs typeface="Noto Sans KR"/>
                <a:sym typeface="Noto Sans K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7"/>
          <p:cNvSpPr txBox="1"/>
          <p:nvPr>
            <p:ph type="title"/>
          </p:nvPr>
        </p:nvSpPr>
        <p:spPr>
          <a:xfrm>
            <a:off x="335383" y="319406"/>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Screen List</a:t>
            </a:r>
            <a:endParaRPr sz="2400"/>
          </a:p>
        </p:txBody>
      </p:sp>
      <p:sp>
        <p:nvSpPr>
          <p:cNvPr id="123" name="Google Shape;123;p7"/>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24" name="Google Shape;124;p7"/>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25" name="Google Shape;125;p7"/>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26" name="Google Shape;126;p7"/>
          <p:cNvSpPr txBox="1"/>
          <p:nvPr>
            <p:ph idx="1" type="body"/>
          </p:nvPr>
        </p:nvSpPr>
        <p:spPr>
          <a:xfrm>
            <a:off x="410910" y="1083633"/>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200"/>
              <a:buChar char="•"/>
            </a:pPr>
            <a:r>
              <a:rPr lang="ko-KR" sz="1200">
                <a:latin typeface="Noto Sans KR"/>
                <a:ea typeface="Noto Sans KR"/>
                <a:cs typeface="Noto Sans KR"/>
                <a:sym typeface="Noto Sans KR"/>
              </a:rPr>
              <a:t>면접관리자 화면</a:t>
            </a:r>
            <a:endParaRPr sz="1200">
              <a:latin typeface="Noto Sans KR"/>
              <a:ea typeface="Noto Sans KR"/>
              <a:cs typeface="Noto Sans KR"/>
              <a:sym typeface="Noto Sans KR"/>
            </a:endParaRPr>
          </a:p>
          <a:p>
            <a:pPr indent="-152400" lvl="0" marL="228600" rtl="0" algn="l">
              <a:lnSpc>
                <a:spcPct val="90000"/>
              </a:lnSpc>
              <a:spcBef>
                <a:spcPts val="1000"/>
              </a:spcBef>
              <a:spcAft>
                <a:spcPts val="0"/>
              </a:spcAft>
              <a:buClr>
                <a:schemeClr val="dk1"/>
              </a:buClr>
              <a:buSzPts val="1200"/>
              <a:buNone/>
            </a:pPr>
            <a:r>
              <a:t/>
            </a:r>
            <a:endParaRPr sz="1200">
              <a:latin typeface="Noto Sans KR"/>
              <a:ea typeface="Noto Sans KR"/>
              <a:cs typeface="Noto Sans KR"/>
              <a:sym typeface="Noto Sans KR"/>
            </a:endParaRPr>
          </a:p>
        </p:txBody>
      </p:sp>
      <p:grpSp>
        <p:nvGrpSpPr>
          <p:cNvPr id="127" name="Google Shape;127;p7"/>
          <p:cNvGrpSpPr/>
          <p:nvPr/>
        </p:nvGrpSpPr>
        <p:grpSpPr>
          <a:xfrm>
            <a:off x="4228710" y="1093705"/>
            <a:ext cx="2880000" cy="1289112"/>
            <a:chOff x="595221" y="1619648"/>
            <a:chExt cx="3378679" cy="1405262"/>
          </a:xfrm>
        </p:grpSpPr>
        <p:sp>
          <p:nvSpPr>
            <p:cNvPr id="128" name="Google Shape;128;p7"/>
            <p:cNvSpPr/>
            <p:nvPr/>
          </p:nvSpPr>
          <p:spPr>
            <a:xfrm>
              <a:off x="595221" y="1619648"/>
              <a:ext cx="3378679" cy="1405262"/>
            </a:xfrm>
            <a:prstGeom prst="roundRect">
              <a:avLst>
                <a:gd fmla="val 8040" name="adj"/>
              </a:avLst>
            </a:prstGeom>
            <a:solidFill>
              <a:srgbClr val="FF256E"/>
            </a:solidFill>
            <a:ln cap="flat" cmpd="sng" w="12700">
              <a:solidFill>
                <a:srgbClr val="FF256E"/>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메인/설정</a:t>
              </a:r>
              <a:endParaRPr sz="1600">
                <a:solidFill>
                  <a:schemeClr val="lt1"/>
                </a:solidFill>
                <a:latin typeface="Noto Sans KR"/>
                <a:ea typeface="Noto Sans KR"/>
                <a:cs typeface="Noto Sans KR"/>
                <a:sym typeface="Noto Sans KR"/>
              </a:endParaRPr>
            </a:p>
          </p:txBody>
        </p:sp>
        <p:sp>
          <p:nvSpPr>
            <p:cNvPr id="129" name="Google Shape;129;p7"/>
            <p:cNvSpPr/>
            <p:nvPr/>
          </p:nvSpPr>
          <p:spPr>
            <a:xfrm>
              <a:off x="595221" y="2081746"/>
              <a:ext cx="3378679" cy="943164"/>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INT-00       면접 관리자 메인 화면</a:t>
              </a:r>
              <a:endParaRPr sz="1400">
                <a:solidFill>
                  <a:schemeClr val="dk1"/>
                </a:solidFill>
                <a:latin typeface="Noto Sans KR"/>
                <a:ea typeface="Noto Sans KR"/>
                <a:cs typeface="Noto Sans KR"/>
                <a:sym typeface="Noto Sans KR"/>
              </a:endParaRPr>
            </a:p>
          </p:txBody>
        </p:sp>
      </p:grpSp>
      <p:grpSp>
        <p:nvGrpSpPr>
          <p:cNvPr id="130" name="Google Shape;130;p7"/>
          <p:cNvGrpSpPr/>
          <p:nvPr/>
        </p:nvGrpSpPr>
        <p:grpSpPr>
          <a:xfrm>
            <a:off x="2305894" y="2741020"/>
            <a:ext cx="2880000" cy="1298636"/>
            <a:chOff x="595222" y="1619649"/>
            <a:chExt cx="2774178" cy="1022925"/>
          </a:xfrm>
        </p:grpSpPr>
        <p:sp>
          <p:nvSpPr>
            <p:cNvPr id="131" name="Google Shape;131;p7"/>
            <p:cNvSpPr/>
            <p:nvPr/>
          </p:nvSpPr>
          <p:spPr>
            <a:xfrm>
              <a:off x="595222" y="1619649"/>
              <a:ext cx="2767803" cy="1022925"/>
            </a:xfrm>
            <a:prstGeom prst="roundRect">
              <a:avLst>
                <a:gd fmla="val 8040" name="adj"/>
              </a:avLst>
            </a:prstGeom>
            <a:solidFill>
              <a:srgbClr val="FF75A3"/>
            </a:solidFill>
            <a:ln cap="flat" cmpd="sng" w="12700">
              <a:solidFill>
                <a:srgbClr val="FF75A3"/>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공고 관리</a:t>
              </a:r>
              <a:endParaRPr sz="1600">
                <a:solidFill>
                  <a:schemeClr val="lt1"/>
                </a:solidFill>
                <a:latin typeface="Noto Sans KR"/>
                <a:ea typeface="Noto Sans KR"/>
                <a:cs typeface="Noto Sans KR"/>
                <a:sym typeface="Noto Sans KR"/>
              </a:endParaRPr>
            </a:p>
          </p:txBody>
        </p:sp>
        <p:sp>
          <p:nvSpPr>
            <p:cNvPr id="132" name="Google Shape;132;p7"/>
            <p:cNvSpPr/>
            <p:nvPr/>
          </p:nvSpPr>
          <p:spPr>
            <a:xfrm>
              <a:off x="595222" y="1968982"/>
              <a:ext cx="2774178" cy="673591"/>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INT-01       공고 등록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INT-02       공고 현황 화면   </a:t>
              </a:r>
              <a:endParaRPr/>
            </a:p>
          </p:txBody>
        </p:sp>
      </p:grpSp>
      <p:grpSp>
        <p:nvGrpSpPr>
          <p:cNvPr id="133" name="Google Shape;133;p7"/>
          <p:cNvGrpSpPr/>
          <p:nvPr/>
        </p:nvGrpSpPr>
        <p:grpSpPr>
          <a:xfrm>
            <a:off x="6296870" y="4620157"/>
            <a:ext cx="2880000" cy="1298636"/>
            <a:chOff x="595222" y="1619649"/>
            <a:chExt cx="2774178" cy="1022925"/>
          </a:xfrm>
        </p:grpSpPr>
        <p:sp>
          <p:nvSpPr>
            <p:cNvPr id="134" name="Google Shape;134;p7"/>
            <p:cNvSpPr/>
            <p:nvPr/>
          </p:nvSpPr>
          <p:spPr>
            <a:xfrm>
              <a:off x="595222" y="1619649"/>
              <a:ext cx="2767803" cy="1022925"/>
            </a:xfrm>
            <a:prstGeom prst="roundRect">
              <a:avLst>
                <a:gd fmla="val 8040" name="adj"/>
              </a:avLst>
            </a:prstGeom>
            <a:solidFill>
              <a:srgbClr val="FF75A3"/>
            </a:solidFill>
            <a:ln cap="flat" cmpd="sng" w="12700">
              <a:solidFill>
                <a:srgbClr val="FF75A3"/>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Rubrics</a:t>
              </a:r>
              <a:endParaRPr sz="1600">
                <a:solidFill>
                  <a:schemeClr val="lt1"/>
                </a:solidFill>
                <a:latin typeface="Noto Sans KR"/>
                <a:ea typeface="Noto Sans KR"/>
                <a:cs typeface="Noto Sans KR"/>
                <a:sym typeface="Noto Sans KR"/>
              </a:endParaRPr>
            </a:p>
          </p:txBody>
        </p:sp>
        <p:sp>
          <p:nvSpPr>
            <p:cNvPr id="135" name="Google Shape;135;p7"/>
            <p:cNvSpPr/>
            <p:nvPr/>
          </p:nvSpPr>
          <p:spPr>
            <a:xfrm>
              <a:off x="595222" y="1968982"/>
              <a:ext cx="2774178" cy="673591"/>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INT-07       루브릭 설정 화면</a:t>
              </a:r>
              <a:endParaRPr sz="1400">
                <a:solidFill>
                  <a:schemeClr val="dk1"/>
                </a:solidFill>
                <a:latin typeface="Noto Sans KR"/>
                <a:ea typeface="Noto Sans KR"/>
                <a:cs typeface="Noto Sans KR"/>
                <a:sym typeface="Noto Sans KR"/>
              </a:endParaRPr>
            </a:p>
          </p:txBody>
        </p:sp>
      </p:grpSp>
      <p:grpSp>
        <p:nvGrpSpPr>
          <p:cNvPr id="136" name="Google Shape;136;p7"/>
          <p:cNvGrpSpPr/>
          <p:nvPr/>
        </p:nvGrpSpPr>
        <p:grpSpPr>
          <a:xfrm>
            <a:off x="2305894" y="4483143"/>
            <a:ext cx="2880000" cy="1590542"/>
            <a:chOff x="595222" y="1619649"/>
            <a:chExt cx="2774178" cy="1252857"/>
          </a:xfrm>
        </p:grpSpPr>
        <p:sp>
          <p:nvSpPr>
            <p:cNvPr id="137" name="Google Shape;137;p7"/>
            <p:cNvSpPr/>
            <p:nvPr/>
          </p:nvSpPr>
          <p:spPr>
            <a:xfrm>
              <a:off x="595222" y="1619649"/>
              <a:ext cx="2767803" cy="1022925"/>
            </a:xfrm>
            <a:prstGeom prst="roundRect">
              <a:avLst>
                <a:gd fmla="val 8040" name="adj"/>
              </a:avLst>
            </a:prstGeom>
            <a:solidFill>
              <a:srgbClr val="FF75A3"/>
            </a:solidFill>
            <a:ln cap="flat" cmpd="sng" w="12700">
              <a:solidFill>
                <a:srgbClr val="FF75A3"/>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면접 결과</a:t>
              </a:r>
              <a:endParaRPr sz="1600">
                <a:solidFill>
                  <a:schemeClr val="lt1"/>
                </a:solidFill>
                <a:latin typeface="Noto Sans KR"/>
                <a:ea typeface="Noto Sans KR"/>
                <a:cs typeface="Noto Sans KR"/>
                <a:sym typeface="Noto Sans KR"/>
              </a:endParaRPr>
            </a:p>
          </p:txBody>
        </p:sp>
        <p:sp>
          <p:nvSpPr>
            <p:cNvPr id="138" name="Google Shape;138;p7"/>
            <p:cNvSpPr/>
            <p:nvPr/>
          </p:nvSpPr>
          <p:spPr>
            <a:xfrm>
              <a:off x="595222" y="1968982"/>
              <a:ext cx="2774178" cy="903524"/>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INT-05       지원자 관리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INT-05-1   결과 수정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INT-06       결과 분석 목록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INT-06-1   결과 분석 화면</a:t>
              </a:r>
              <a:endParaRPr sz="1400">
                <a:solidFill>
                  <a:schemeClr val="dk1"/>
                </a:solidFill>
                <a:latin typeface="Noto Sans KR"/>
                <a:ea typeface="Noto Sans KR"/>
                <a:cs typeface="Noto Sans KR"/>
                <a:sym typeface="Noto Sans KR"/>
              </a:endParaRPr>
            </a:p>
          </p:txBody>
        </p:sp>
      </p:grpSp>
      <p:grpSp>
        <p:nvGrpSpPr>
          <p:cNvPr id="139" name="Google Shape;139;p7"/>
          <p:cNvGrpSpPr/>
          <p:nvPr/>
        </p:nvGrpSpPr>
        <p:grpSpPr>
          <a:xfrm>
            <a:off x="6296870" y="2786655"/>
            <a:ext cx="2880000" cy="1298636"/>
            <a:chOff x="595222" y="1619649"/>
            <a:chExt cx="2774178" cy="1022925"/>
          </a:xfrm>
        </p:grpSpPr>
        <p:sp>
          <p:nvSpPr>
            <p:cNvPr id="140" name="Google Shape;140;p7"/>
            <p:cNvSpPr/>
            <p:nvPr/>
          </p:nvSpPr>
          <p:spPr>
            <a:xfrm>
              <a:off x="595222" y="1619649"/>
              <a:ext cx="2767803" cy="1022925"/>
            </a:xfrm>
            <a:prstGeom prst="roundRect">
              <a:avLst>
                <a:gd fmla="val 8040" name="adj"/>
              </a:avLst>
            </a:prstGeom>
            <a:solidFill>
              <a:srgbClr val="FF75A3"/>
            </a:solidFill>
            <a:ln cap="flat" cmpd="sng" w="12700">
              <a:solidFill>
                <a:srgbClr val="FF75A3"/>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ko-KR" sz="1600">
                  <a:solidFill>
                    <a:schemeClr val="lt1"/>
                  </a:solidFill>
                  <a:latin typeface="Noto Sans KR"/>
                  <a:ea typeface="Noto Sans KR"/>
                  <a:cs typeface="Noto Sans KR"/>
                  <a:sym typeface="Noto Sans KR"/>
                </a:rPr>
                <a:t>면접 현황</a:t>
              </a:r>
              <a:endParaRPr sz="1600">
                <a:solidFill>
                  <a:schemeClr val="lt1"/>
                </a:solidFill>
                <a:latin typeface="Noto Sans KR"/>
                <a:ea typeface="Noto Sans KR"/>
                <a:cs typeface="Noto Sans KR"/>
                <a:sym typeface="Noto Sans KR"/>
              </a:endParaRPr>
            </a:p>
          </p:txBody>
        </p:sp>
        <p:sp>
          <p:nvSpPr>
            <p:cNvPr id="141" name="Google Shape;141;p7"/>
            <p:cNvSpPr/>
            <p:nvPr/>
          </p:nvSpPr>
          <p:spPr>
            <a:xfrm>
              <a:off x="595222" y="1968982"/>
              <a:ext cx="2774178" cy="673591"/>
            </a:xfrm>
            <a:prstGeom prst="roundRect">
              <a:avLst>
                <a:gd fmla="val 2676" name="adj"/>
              </a:avLst>
            </a:prstGeom>
            <a:solidFill>
              <a:schemeClr val="lt1"/>
            </a:solidFill>
            <a:ln cap="flat" cmpd="sng" w="12700">
              <a:solidFill>
                <a:srgbClr val="A5A5A5"/>
              </a:solidFill>
              <a:prstDash val="solid"/>
              <a:miter lim="8000"/>
              <a:headEnd len="sm" w="sm" type="none"/>
              <a:tailEnd len="sm" w="sm" type="none"/>
            </a:ln>
            <a:effectLst>
              <a:outerShdw blurRad="50800" sx="101000" rotWithShape="0" algn="tl" dir="2700000" dist="38100" sy="101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INT-03       지원자 관리 화면</a:t>
              </a:r>
              <a:endParaRPr sz="14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INT-04       면접 관리 화면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메인 화면</a:t>
            </a:r>
            <a:endParaRPr sz="2400"/>
          </a:p>
        </p:txBody>
      </p:sp>
      <p:sp>
        <p:nvSpPr>
          <p:cNvPr id="148" name="Google Shape;148;p9"/>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49" name="Google Shape;149;p9"/>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50" name="Google Shape;150;p9"/>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51" name="Google Shape;151;p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2" name="Google Shape;152;p9"/>
          <p:cNvSpPr/>
          <p:nvPr/>
        </p:nvSpPr>
        <p:spPr>
          <a:xfrm>
            <a:off x="2997965" y="5287197"/>
            <a:ext cx="876835" cy="465703"/>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면접 시작</a:t>
            </a:r>
            <a:endParaRPr sz="1000">
              <a:solidFill>
                <a:schemeClr val="dk1"/>
              </a:solidFill>
              <a:latin typeface="Noto Sans KR"/>
              <a:ea typeface="Noto Sans KR"/>
              <a:cs typeface="Noto Sans KR"/>
              <a:sym typeface="Noto Sans KR"/>
            </a:endParaRPr>
          </a:p>
        </p:txBody>
      </p:sp>
      <p:sp>
        <p:nvSpPr>
          <p:cNvPr id="153" name="Google Shape;153;p9"/>
          <p:cNvSpPr/>
          <p:nvPr/>
        </p:nvSpPr>
        <p:spPr>
          <a:xfrm>
            <a:off x="4222412" y="5287196"/>
            <a:ext cx="1047417" cy="465703"/>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더 알아보기</a:t>
            </a:r>
            <a:endParaRPr sz="1000">
              <a:solidFill>
                <a:schemeClr val="dk1"/>
              </a:solidFill>
              <a:latin typeface="Noto Sans KR"/>
              <a:ea typeface="Noto Sans KR"/>
              <a:cs typeface="Noto Sans KR"/>
              <a:sym typeface="Noto Sans KR"/>
            </a:endParaRPr>
          </a:p>
        </p:txBody>
      </p:sp>
      <p:sp>
        <p:nvSpPr>
          <p:cNvPr id="154" name="Google Shape;154;p9"/>
          <p:cNvSpPr/>
          <p:nvPr/>
        </p:nvSpPr>
        <p:spPr>
          <a:xfrm>
            <a:off x="2867965" y="185596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55" name="Google Shape;155;p9"/>
          <p:cNvSpPr/>
          <p:nvPr/>
        </p:nvSpPr>
        <p:spPr>
          <a:xfrm>
            <a:off x="2717593" y="247128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56" name="Google Shape;156;p9"/>
          <p:cNvSpPr/>
          <p:nvPr/>
        </p:nvSpPr>
        <p:spPr>
          <a:xfrm>
            <a:off x="2966431" y="519859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57" name="Google Shape;157;p9"/>
          <p:cNvSpPr/>
          <p:nvPr/>
        </p:nvSpPr>
        <p:spPr>
          <a:xfrm>
            <a:off x="4097715" y="519631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graphicFrame>
        <p:nvGraphicFramePr>
          <p:cNvPr id="158" name="Google Shape;158;p9"/>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563125"/>
                <a:gridCol w="2713100"/>
              </a:tblGrid>
              <a:tr h="5729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브랜드 로고 표시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로고 로고를 노출하여 서비스 정체성과 브랜드 인지도를 제공함</a:t>
                      </a:r>
                      <a:r>
                        <a:rPr lang="ko-KR" sz="1000" u="none" cap="none" strike="noStrike">
                          <a:latin typeface="Noto Sans KR"/>
                          <a:ea typeface="Noto Sans KR"/>
                          <a:cs typeface="Noto Sans KR"/>
                          <a:sym typeface="Noto Sans KR"/>
                        </a:rPr>
                        <a:t>정체성과 브랜드 인지도</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환영 메시지 및 서비스 소개 문구 표시</a:t>
                      </a:r>
                      <a:endParaRPr b="1" sz="1000" u="none" cap="none" strike="noStrike">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 사용자에게 서비스 시작을 안내하고, 모의면접 </a:t>
                      </a:r>
                      <a:endParaRPr sz="1000" u="none" cap="none" strike="noStrike">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서비스의 목적과 핵심 가치를 간략히 전달함</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109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 시작 버튼</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회원 사용자가 모의면접 프로세스를 바로 시작할 수 있도록 입사 지원/면접 시나리오 단계로 이동함</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8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서비스 소개 버튼(더 알아보기)</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서비스 기능, 사용 방법, 진행 절차 등에 </a:t>
                      </a:r>
                      <a:endParaRPr sz="1000" u="none" cap="none" strike="noStrike">
                        <a:latin typeface="Noto Sans KR"/>
                        <a:ea typeface="Noto Sans KR"/>
                        <a:cs typeface="Noto Sans KR"/>
                        <a:sym typeface="Noto Sans KR"/>
                      </a:endParaRPr>
                    </a:p>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대한 안내 화면 또는 설명 페이지로 이동함</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215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면접관리 버튼</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a:t>
                      </a:r>
                      <a:r>
                        <a:rPr lang="ko-KR" sz="1000" u="none" cap="none" strike="noStrike"/>
                        <a:t>사용자가 수행한 면접 기록을 조회할 수 있도록 제공하는 드롭다운 버튼</a:t>
                      </a:r>
                      <a:endParaRPr sz="1000" u="none" cap="none" strike="noStrike"/>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마우스를 올리면  </a:t>
                      </a:r>
                      <a:r>
                        <a:rPr lang="ko-KR" sz="1000" u="none" cap="none" strike="noStrike">
                          <a:latin typeface="Noto Sans KR"/>
                          <a:ea typeface="Noto Sans KR"/>
                          <a:cs typeface="Noto Sans KR"/>
                          <a:sym typeface="Noto Sans KR"/>
                        </a:rPr>
                        <a:t>면접 이력 메뉴 제공 활성화</a:t>
                      </a:r>
                      <a:endParaRPr sz="1000" u="none" cap="none" strike="noStrike">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면접이력 진입 시 </a:t>
                      </a:r>
                      <a:r>
                        <a:rPr b="0" lang="ko-KR" sz="1000" u="none" cap="none" strike="noStrike">
                          <a:solidFill>
                            <a:schemeClr val="dk1"/>
                          </a:solidFill>
                          <a:latin typeface="Noto Sans KR"/>
                          <a:ea typeface="Noto Sans KR"/>
                          <a:cs typeface="Noto Sans KR"/>
                          <a:sym typeface="Noto Sans KR"/>
                        </a:rPr>
                        <a:t>SCR-27으로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78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내정보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사용자 개인 계정 정보를 관리할 수 있도록 제공하는 드롭다운 버튼</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마우스를 올리면 프로필 관리,계정 설정 메뉴 제공 활성화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75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로그아웃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로그인된 사용자 세션을 종료하는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서비스 메인 로그인 화면으로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61300">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159" name="Google Shape;159;p9"/>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SCR-00-1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로그인 후 시작(메인)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로그인 후 서비스 진입 경로 및 제공</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cxnSp>
        <p:nvCxnSpPr>
          <p:cNvPr id="160" name="Google Shape;160;p9"/>
          <p:cNvCxnSpPr/>
          <p:nvPr/>
        </p:nvCxnSpPr>
        <p:spPr>
          <a:xfrm flipH="1" rot="10800000">
            <a:off x="6027947" y="1518342"/>
            <a:ext cx="2277237" cy="8706"/>
          </a:xfrm>
          <a:prstGeom prst="straightConnector1">
            <a:avLst/>
          </a:prstGeom>
          <a:noFill/>
          <a:ln cap="flat" cmpd="sng" w="9525">
            <a:solidFill>
              <a:schemeClr val="dk1"/>
            </a:solidFill>
            <a:prstDash val="solid"/>
            <a:miter lim="8000"/>
            <a:headEnd len="sm" w="sm" type="none"/>
            <a:tailEnd len="sm" w="sm" type="none"/>
          </a:ln>
        </p:spPr>
      </p:cxnSp>
      <p:sp>
        <p:nvSpPr>
          <p:cNvPr id="161" name="Google Shape;161;p9"/>
          <p:cNvSpPr txBox="1"/>
          <p:nvPr/>
        </p:nvSpPr>
        <p:spPr>
          <a:xfrm>
            <a:off x="6027947" y="1223746"/>
            <a:ext cx="247131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 면접관리   |   내 정보  |   로그아웃</a:t>
            </a:r>
            <a:endParaRPr sz="1100">
              <a:solidFill>
                <a:schemeClr val="dk1"/>
              </a:solidFill>
              <a:latin typeface="Noto Sans KR"/>
              <a:ea typeface="Noto Sans KR"/>
              <a:cs typeface="Noto Sans KR"/>
              <a:sym typeface="Noto Sans KR"/>
            </a:endParaRPr>
          </a:p>
        </p:txBody>
      </p:sp>
      <p:sp>
        <p:nvSpPr>
          <p:cNvPr id="162" name="Google Shape;162;p9"/>
          <p:cNvSpPr/>
          <p:nvPr/>
        </p:nvSpPr>
        <p:spPr>
          <a:xfrm>
            <a:off x="5866663" y="124583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63" name="Google Shape;163;p9"/>
          <p:cNvSpPr/>
          <p:nvPr/>
        </p:nvSpPr>
        <p:spPr>
          <a:xfrm>
            <a:off x="6782138" y="106512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64" name="Google Shape;164;p9"/>
          <p:cNvSpPr/>
          <p:nvPr/>
        </p:nvSpPr>
        <p:spPr>
          <a:xfrm>
            <a:off x="7437613" y="106512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65" name="Google Shape;165;p9"/>
          <p:cNvSpPr/>
          <p:nvPr/>
        </p:nvSpPr>
        <p:spPr>
          <a:xfrm>
            <a:off x="6084037" y="1451573"/>
            <a:ext cx="667255" cy="202786"/>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면접 이력</a:t>
            </a:r>
            <a:endParaRPr sz="900">
              <a:solidFill>
                <a:schemeClr val="dk1"/>
              </a:solidFill>
              <a:latin typeface="Noto Sans KR"/>
              <a:ea typeface="Noto Sans KR"/>
              <a:cs typeface="Noto Sans KR"/>
              <a:sym typeface="Noto Sans KR"/>
            </a:endParaRPr>
          </a:p>
        </p:txBody>
      </p:sp>
      <p:sp>
        <p:nvSpPr>
          <p:cNvPr id="166" name="Google Shape;166;p9"/>
          <p:cNvSpPr/>
          <p:nvPr/>
        </p:nvSpPr>
        <p:spPr>
          <a:xfrm>
            <a:off x="6798432" y="1450929"/>
            <a:ext cx="736265" cy="20343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프로필 관리</a:t>
            </a:r>
            <a:endParaRPr sz="900">
              <a:solidFill>
                <a:schemeClr val="dk1"/>
              </a:solidFill>
              <a:latin typeface="Noto Sans KR"/>
              <a:ea typeface="Noto Sans KR"/>
              <a:cs typeface="Noto Sans KR"/>
              <a:sym typeface="Noto Sans KR"/>
            </a:endParaRPr>
          </a:p>
        </p:txBody>
      </p:sp>
      <p:sp>
        <p:nvSpPr>
          <p:cNvPr id="167" name="Google Shape;167;p9"/>
          <p:cNvSpPr/>
          <p:nvPr/>
        </p:nvSpPr>
        <p:spPr>
          <a:xfrm>
            <a:off x="6793854" y="1659046"/>
            <a:ext cx="736265" cy="203430"/>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계정 설정</a:t>
            </a:r>
            <a:endParaRPr sz="900">
              <a:solidFill>
                <a:schemeClr val="dk1"/>
              </a:solidFill>
              <a:latin typeface="Noto Sans KR"/>
              <a:ea typeface="Noto Sans KR"/>
              <a:cs typeface="Noto Sans KR"/>
              <a:sym typeface="Noto Sans KR"/>
            </a:endParaRPr>
          </a:p>
        </p:txBody>
      </p:sp>
      <p:pic>
        <p:nvPicPr>
          <p:cNvPr id="168" name="Google Shape;168;p9"/>
          <p:cNvPicPr preferRelativeResize="0"/>
          <p:nvPr/>
        </p:nvPicPr>
        <p:blipFill rotWithShape="1">
          <a:blip r:embed="rId3">
            <a:alphaModFix/>
          </a:blip>
          <a:srcRect b="0" l="0" r="0" t="0"/>
          <a:stretch/>
        </p:blipFill>
        <p:spPr>
          <a:xfrm>
            <a:off x="3347220" y="1607975"/>
            <a:ext cx="1878844" cy="1110934"/>
          </a:xfrm>
          <a:prstGeom prst="rect">
            <a:avLst/>
          </a:prstGeom>
          <a:noFill/>
          <a:ln>
            <a:noFill/>
          </a:ln>
        </p:spPr>
      </p:pic>
      <p:sp>
        <p:nvSpPr>
          <p:cNvPr id="169" name="Google Shape;169;p9"/>
          <p:cNvSpPr txBox="1"/>
          <p:nvPr/>
        </p:nvSpPr>
        <p:spPr>
          <a:xfrm>
            <a:off x="2867965" y="2639646"/>
            <a:ext cx="3212750" cy="24237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AI가 함께 준비하는, 더 정확한 면접 경험</a:t>
            </a:r>
            <a:endParaRPr b="1" sz="105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225개 기업의 인재상과 핵심역량을 반영한,</a:t>
            </a:r>
            <a:br>
              <a:rPr b="1" lang="ko-KR" sz="1050">
                <a:solidFill>
                  <a:schemeClr val="dk1"/>
                </a:solidFill>
                <a:latin typeface="Noto Sans KR"/>
                <a:ea typeface="Noto Sans KR"/>
                <a:cs typeface="Noto Sans KR"/>
                <a:sym typeface="Noto Sans KR"/>
              </a:rPr>
            </a:br>
            <a:r>
              <a:rPr b="1" lang="ko-KR" sz="1050">
                <a:solidFill>
                  <a:schemeClr val="dk1"/>
                </a:solidFill>
                <a:latin typeface="Noto Sans KR"/>
                <a:ea typeface="Noto Sans KR"/>
                <a:cs typeface="Noto Sans KR"/>
                <a:sym typeface="Noto Sans KR"/>
              </a:rPr>
              <a:t>개인 맞춤형 AI 면접</a:t>
            </a:r>
            <a:endParaRPr b="1" sz="105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VicterView는</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225개 기업의 인재상·핵심역량·비전을 분석하여 구축한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데이터 기반 면접 시스템을 통해 공통 질문이 아닌,</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지원자의 이력·경험·직무·답변 내용에 맞춰</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실시간으로 질문이 달라지는</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맞춤형 인터뷰를 제공합니다.</a:t>
            </a:r>
            <a:endParaRPr/>
          </a:p>
          <a:p>
            <a:pPr indent="0" lvl="0" marL="0" marR="0" rtl="0" algn="l">
              <a:spcBef>
                <a:spcPts val="0"/>
              </a:spcBef>
              <a:spcAft>
                <a:spcPts val="0"/>
              </a:spcAft>
              <a:buNone/>
            </a:pPr>
            <a:r>
              <a:t/>
            </a:r>
            <a:endParaRPr b="1" sz="1000">
              <a:solidFill>
                <a:schemeClr val="dk1"/>
              </a:solidFill>
              <a:latin typeface="Noto Sans KR"/>
              <a:ea typeface="Noto Sans KR"/>
              <a:cs typeface="Noto Sans KR"/>
              <a:sym typeface="Noto Sans K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“질문은 같지 않습니다. 당신이 다르니까.”</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“기업에 맞추고, 당신에게 맞춘다.”</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“정답이 아닌 사고를 평가합니다.”</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“공통 질문이 아닌, 당신만의 면접.”</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“225개 기업 데이터 기반 맞춤 인터뷰.”</a:t>
            </a:r>
            <a:endParaRPr b="1" sz="1000">
              <a:solidFill>
                <a:schemeClr val="dk1"/>
              </a:solidFill>
              <a:latin typeface="Noto Sans KR"/>
              <a:ea typeface="Noto Sans KR"/>
              <a:cs typeface="Noto Sans KR"/>
              <a:sym typeface="Noto Sans K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브랜드 소개</a:t>
            </a:r>
            <a:endParaRPr sz="2400"/>
          </a:p>
        </p:txBody>
      </p:sp>
      <p:sp>
        <p:nvSpPr>
          <p:cNvPr id="176" name="Google Shape;176;p10"/>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77" name="Google Shape;177;p10"/>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78" name="Google Shape;178;p10"/>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79" name="Google Shape;179;p1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80" name="Google Shape;180;p10"/>
          <p:cNvGraphicFramePr/>
          <p:nvPr/>
        </p:nvGraphicFramePr>
        <p:xfrm>
          <a:off x="8561828" y="1054742"/>
          <a:ext cx="3000000" cy="3000000"/>
        </p:xfrm>
        <a:graphic>
          <a:graphicData uri="http://schemas.openxmlformats.org/drawingml/2006/table">
            <a:tbl>
              <a:tblPr bandRow="1" firstRow="1">
                <a:noFill/>
                <a:tableStyleId>{C61F204E-A15B-47D6-BEBB-6A886D3283EB}</a:tableStyleId>
              </a:tblPr>
              <a:tblGrid>
                <a:gridCol w="563125"/>
                <a:gridCol w="2713100"/>
              </a:tblGrid>
              <a:tr h="860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브랜드 소개 영역</a:t>
                      </a:r>
                      <a:br>
                        <a:rPr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각 구간으로 나눠 브랜드 소개, 개인 맞춤형 면접 시스템, 기업 맞춤형 HR 연동 솔루션, AI 멀티모달 역량 분석, VictorView 미래 확장 방향 각 소개 및 안내</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38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관련 이미지 출력</a:t>
                      </a:r>
                      <a:endParaRPr b="1" sz="1000" u="none" cap="none" strike="noStrike">
                        <a:latin typeface="Noto Sans KR"/>
                        <a:ea typeface="Noto Sans KR"/>
                        <a:cs typeface="Noto Sans KR"/>
                        <a:sym typeface="Noto Sans KR"/>
                      </a:endParaRPr>
                    </a:p>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브랜드 로고과 소개 관련 이미지를 제공하며 동적으로 움직임 효과 제공</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40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181" name="Google Shape;181;p10"/>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305650"/>
                <a:gridCol w="957525"/>
                <a:gridCol w="367090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SCR-00-2</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브랜드 소개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메인에서 제공하는 더 알아보기 버튼으로 인입된 후 회사 소개 제공</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pic>
        <p:nvPicPr>
          <p:cNvPr id="182" name="Google Shape;182;p10"/>
          <p:cNvPicPr preferRelativeResize="0"/>
          <p:nvPr/>
        </p:nvPicPr>
        <p:blipFill rotWithShape="1">
          <a:blip r:embed="rId3">
            <a:alphaModFix/>
          </a:blip>
          <a:srcRect b="0" l="0" r="0" t="0"/>
          <a:stretch/>
        </p:blipFill>
        <p:spPr>
          <a:xfrm>
            <a:off x="4415651" y="1189433"/>
            <a:ext cx="2518913" cy="1204651"/>
          </a:xfrm>
          <a:prstGeom prst="rect">
            <a:avLst/>
          </a:prstGeom>
          <a:noFill/>
          <a:ln>
            <a:noFill/>
          </a:ln>
        </p:spPr>
      </p:pic>
      <p:cxnSp>
        <p:nvCxnSpPr>
          <p:cNvPr id="183" name="Google Shape;183;p10"/>
          <p:cNvCxnSpPr/>
          <p:nvPr/>
        </p:nvCxnSpPr>
        <p:spPr>
          <a:xfrm>
            <a:off x="335379" y="2291547"/>
            <a:ext cx="8132343" cy="43132"/>
          </a:xfrm>
          <a:prstGeom prst="straightConnector1">
            <a:avLst/>
          </a:prstGeom>
          <a:noFill/>
          <a:ln cap="flat" cmpd="sng" w="9525">
            <a:solidFill>
              <a:srgbClr val="BFBFBF"/>
            </a:solidFill>
            <a:prstDash val="solid"/>
            <a:miter lim="8000"/>
            <a:headEnd len="sm" w="sm" type="none"/>
            <a:tailEnd len="sm" w="sm" type="none"/>
          </a:ln>
        </p:spPr>
      </p:cxnSp>
      <p:cxnSp>
        <p:nvCxnSpPr>
          <p:cNvPr id="184" name="Google Shape;184;p10"/>
          <p:cNvCxnSpPr/>
          <p:nvPr/>
        </p:nvCxnSpPr>
        <p:spPr>
          <a:xfrm>
            <a:off x="335379" y="3399285"/>
            <a:ext cx="8132343" cy="43132"/>
          </a:xfrm>
          <a:prstGeom prst="straightConnector1">
            <a:avLst/>
          </a:prstGeom>
          <a:noFill/>
          <a:ln cap="flat" cmpd="sng" w="9525">
            <a:solidFill>
              <a:srgbClr val="BFBFBF"/>
            </a:solidFill>
            <a:prstDash val="solid"/>
            <a:miter lim="8000"/>
            <a:headEnd len="sm" w="sm" type="none"/>
            <a:tailEnd len="sm" w="sm" type="none"/>
          </a:ln>
        </p:spPr>
      </p:cxnSp>
      <p:cxnSp>
        <p:nvCxnSpPr>
          <p:cNvPr id="185" name="Google Shape;185;p10"/>
          <p:cNvCxnSpPr/>
          <p:nvPr/>
        </p:nvCxnSpPr>
        <p:spPr>
          <a:xfrm>
            <a:off x="335379" y="4447618"/>
            <a:ext cx="8132343" cy="43132"/>
          </a:xfrm>
          <a:prstGeom prst="straightConnector1">
            <a:avLst/>
          </a:prstGeom>
          <a:noFill/>
          <a:ln cap="flat" cmpd="sng" w="9525">
            <a:solidFill>
              <a:srgbClr val="BFBFBF"/>
            </a:solidFill>
            <a:prstDash val="solid"/>
            <a:miter lim="8000"/>
            <a:headEnd len="sm" w="sm" type="none"/>
            <a:tailEnd len="sm" w="sm" type="none"/>
          </a:ln>
        </p:spPr>
      </p:cxnSp>
      <p:cxnSp>
        <p:nvCxnSpPr>
          <p:cNvPr id="186" name="Google Shape;186;p10"/>
          <p:cNvCxnSpPr/>
          <p:nvPr/>
        </p:nvCxnSpPr>
        <p:spPr>
          <a:xfrm>
            <a:off x="335379" y="5536324"/>
            <a:ext cx="8132343" cy="43132"/>
          </a:xfrm>
          <a:prstGeom prst="straightConnector1">
            <a:avLst/>
          </a:prstGeom>
          <a:noFill/>
          <a:ln cap="flat" cmpd="sng" w="9525">
            <a:solidFill>
              <a:srgbClr val="BFBFBF"/>
            </a:solidFill>
            <a:prstDash val="solid"/>
            <a:miter lim="8000"/>
            <a:headEnd len="sm" w="sm" type="none"/>
            <a:tailEnd len="sm" w="sm" type="none"/>
          </a:ln>
        </p:spPr>
      </p:cxnSp>
      <p:sp>
        <p:nvSpPr>
          <p:cNvPr id="187" name="Google Shape;187;p10"/>
          <p:cNvSpPr/>
          <p:nvPr/>
        </p:nvSpPr>
        <p:spPr>
          <a:xfrm>
            <a:off x="6934564" y="1226941"/>
            <a:ext cx="1364047" cy="1005201"/>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로고/면접 관련 이미지</a:t>
            </a:r>
            <a:endParaRPr sz="1000">
              <a:solidFill>
                <a:schemeClr val="dk1"/>
              </a:solidFill>
              <a:latin typeface="Noto Sans KR"/>
              <a:ea typeface="Noto Sans KR"/>
              <a:cs typeface="Noto Sans KR"/>
              <a:sym typeface="Noto Sans KR"/>
            </a:endParaRPr>
          </a:p>
        </p:txBody>
      </p:sp>
      <p:sp>
        <p:nvSpPr>
          <p:cNvPr id="188" name="Google Shape;188;p10"/>
          <p:cNvSpPr txBox="1"/>
          <p:nvPr/>
        </p:nvSpPr>
        <p:spPr>
          <a:xfrm>
            <a:off x="417308" y="2366509"/>
            <a:ext cx="4970575" cy="10002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개인 맞춤형 면접 시스템</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VictorView는 지원자의 이력·경험·답변 패턴을 분석하여 개인 맞춤 질문을 생성합니다.</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이력서 기반 질문 자동 생성</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답변 흐름 기반 꼬리 질문 생성</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성향 및 커뮤니케이션 패턴 분석</a:t>
            </a:r>
            <a:endParaRPr/>
          </a:p>
          <a:p>
            <a:pPr indent="0" lvl="0" marL="0" marR="0" rtl="0" algn="l">
              <a:spcBef>
                <a:spcPts val="0"/>
              </a:spcBef>
              <a:spcAft>
                <a:spcPts val="0"/>
              </a:spcAft>
              <a:buNone/>
            </a:pPr>
            <a:r>
              <a:t/>
            </a:r>
            <a:endParaRPr sz="900">
              <a:solidFill>
                <a:schemeClr val="dk1"/>
              </a:solidFill>
              <a:latin typeface="Noto Sans KR"/>
              <a:ea typeface="Noto Sans KR"/>
              <a:cs typeface="Noto Sans KR"/>
              <a:sym typeface="Noto Sans KR"/>
            </a:endParaRPr>
          </a:p>
        </p:txBody>
      </p:sp>
      <p:sp>
        <p:nvSpPr>
          <p:cNvPr id="189" name="Google Shape;189;p10"/>
          <p:cNvSpPr/>
          <p:nvPr/>
        </p:nvSpPr>
        <p:spPr>
          <a:xfrm>
            <a:off x="5997224" y="2378639"/>
            <a:ext cx="1968783" cy="1005201"/>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개인 맞춤 면접 관련 이미지</a:t>
            </a:r>
            <a:endParaRPr sz="1000">
              <a:solidFill>
                <a:schemeClr val="dk1"/>
              </a:solidFill>
              <a:latin typeface="Noto Sans KR"/>
              <a:ea typeface="Noto Sans KR"/>
              <a:cs typeface="Noto Sans KR"/>
              <a:sym typeface="Noto Sans KR"/>
            </a:endParaRPr>
          </a:p>
        </p:txBody>
      </p:sp>
      <p:sp>
        <p:nvSpPr>
          <p:cNvPr id="190" name="Google Shape;190;p10"/>
          <p:cNvSpPr txBox="1"/>
          <p:nvPr/>
        </p:nvSpPr>
        <p:spPr>
          <a:xfrm>
            <a:off x="335376" y="3383199"/>
            <a:ext cx="4970575"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기업 맞춤형 HR 연동 솔루션</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VictorView는 향후기업 HR 시스템과 연동 가능한 구조로 설계되어 있습니다.</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ATS(채용 관리 시스템) 연동 가능</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기업 맞춤 평가 루브릭 설정</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대규모 지원자 선별 자동화</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채용 데이터 분석 지원</a:t>
            </a:r>
            <a:endParaRPr/>
          </a:p>
        </p:txBody>
      </p:sp>
      <p:sp>
        <p:nvSpPr>
          <p:cNvPr id="191" name="Google Shape;191;p10"/>
          <p:cNvSpPr/>
          <p:nvPr/>
        </p:nvSpPr>
        <p:spPr>
          <a:xfrm>
            <a:off x="5994096" y="3468946"/>
            <a:ext cx="1968783" cy="1005201"/>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기업 맞춤 면접 관련 이미지</a:t>
            </a:r>
            <a:endParaRPr sz="1000">
              <a:solidFill>
                <a:schemeClr val="dk1"/>
              </a:solidFill>
              <a:latin typeface="Noto Sans KR"/>
              <a:ea typeface="Noto Sans KR"/>
              <a:cs typeface="Noto Sans KR"/>
              <a:sym typeface="Noto Sans KR"/>
            </a:endParaRPr>
          </a:p>
        </p:txBody>
      </p:sp>
      <p:sp>
        <p:nvSpPr>
          <p:cNvPr id="192" name="Google Shape;192;p10"/>
          <p:cNvSpPr txBox="1"/>
          <p:nvPr/>
        </p:nvSpPr>
        <p:spPr>
          <a:xfrm>
            <a:off x="376342" y="4499343"/>
            <a:ext cx="4970575"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AI 멀티모달 역량 분석</a:t>
            </a:r>
            <a:endParaRPr b="1"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VictorView는 단순 답변 평가가 아닌다양한 신호를 종합 분석합니다.</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193" name="Google Shape;193;p10"/>
          <p:cNvSpPr txBox="1"/>
          <p:nvPr/>
        </p:nvSpPr>
        <p:spPr>
          <a:xfrm>
            <a:off x="1949258" y="4914208"/>
            <a:ext cx="1500996"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 음성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발화 속도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음성 안정성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긴장도 및 자신감 추정</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194" name="Google Shape;194;p10"/>
          <p:cNvSpPr txBox="1"/>
          <p:nvPr/>
        </p:nvSpPr>
        <p:spPr>
          <a:xfrm>
            <a:off x="3549233" y="4914208"/>
            <a:ext cx="1229824"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 비언어 행동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표정 변화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시선 처리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태도 및 몰입도 평가</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195" name="Google Shape;195;p10"/>
          <p:cNvSpPr txBox="1"/>
          <p:nvPr/>
        </p:nvSpPr>
        <p:spPr>
          <a:xfrm>
            <a:off x="385216" y="4856672"/>
            <a:ext cx="1564042"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 비언어 행동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표정 변화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시선 처리 분석</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태도 및 몰입도 평가</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196" name="Google Shape;196;p10"/>
          <p:cNvSpPr/>
          <p:nvPr/>
        </p:nvSpPr>
        <p:spPr>
          <a:xfrm>
            <a:off x="6004213" y="4510839"/>
            <a:ext cx="1968783" cy="1005201"/>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AI 멀티모달  관련 이미지</a:t>
            </a:r>
            <a:endParaRPr sz="1000">
              <a:solidFill>
                <a:schemeClr val="dk1"/>
              </a:solidFill>
              <a:latin typeface="Noto Sans KR"/>
              <a:ea typeface="Noto Sans KR"/>
              <a:cs typeface="Noto Sans KR"/>
              <a:sym typeface="Noto Sans KR"/>
            </a:endParaRPr>
          </a:p>
        </p:txBody>
      </p:sp>
      <p:sp>
        <p:nvSpPr>
          <p:cNvPr id="197" name="Google Shape;197;p10"/>
          <p:cNvSpPr txBox="1"/>
          <p:nvPr/>
        </p:nvSpPr>
        <p:spPr>
          <a:xfrm>
            <a:off x="376342" y="5554338"/>
            <a:ext cx="4598585" cy="4078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VictorView 미래 확장 방향</a:t>
            </a:r>
            <a:endParaRPr b="1" sz="105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VictorView는 AI 면접 플랫폼을 넘어 지능형 채용 평가 솔루션으로 확장됩니다.</a:t>
            </a:r>
            <a:endParaRPr sz="1000">
              <a:solidFill>
                <a:schemeClr val="dk1"/>
              </a:solidFill>
              <a:latin typeface="Noto Sans KR"/>
              <a:ea typeface="Noto Sans KR"/>
              <a:cs typeface="Noto Sans KR"/>
              <a:sym typeface="Noto Sans KR"/>
            </a:endParaRPr>
          </a:p>
        </p:txBody>
      </p:sp>
      <p:sp>
        <p:nvSpPr>
          <p:cNvPr id="198" name="Google Shape;198;p10"/>
          <p:cNvSpPr/>
          <p:nvPr/>
        </p:nvSpPr>
        <p:spPr>
          <a:xfrm>
            <a:off x="3755696" y="3699569"/>
            <a:ext cx="199567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 기업 맞춤 AI 면접관 구축</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기업별 LLM 파인튜닝</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채용 데이터 분석 플랫폼 확장</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 HR 시스템 통합 솔루션 제공</a:t>
            </a:r>
            <a:endParaRPr/>
          </a:p>
        </p:txBody>
      </p:sp>
      <p:sp>
        <p:nvSpPr>
          <p:cNvPr id="199" name="Google Shape;199;p10"/>
          <p:cNvSpPr/>
          <p:nvPr/>
        </p:nvSpPr>
        <p:spPr>
          <a:xfrm>
            <a:off x="6029194" y="5600493"/>
            <a:ext cx="1968783" cy="906950"/>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AI 멀티모달  관련 이미지</a:t>
            </a:r>
            <a:endParaRPr sz="1000">
              <a:solidFill>
                <a:schemeClr val="dk1"/>
              </a:solidFill>
              <a:latin typeface="Noto Sans KR"/>
              <a:ea typeface="Noto Sans KR"/>
              <a:cs typeface="Noto Sans KR"/>
              <a:sym typeface="Noto Sans KR"/>
            </a:endParaRPr>
          </a:p>
        </p:txBody>
      </p:sp>
      <p:sp>
        <p:nvSpPr>
          <p:cNvPr id="200" name="Google Shape;200;p10"/>
          <p:cNvSpPr/>
          <p:nvPr/>
        </p:nvSpPr>
        <p:spPr>
          <a:xfrm>
            <a:off x="503159" y="5963382"/>
            <a:ext cx="1328156" cy="476094"/>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기업 맞춤 AI 면접관 구축</a:t>
            </a:r>
            <a:endParaRPr/>
          </a:p>
        </p:txBody>
      </p:sp>
      <p:sp>
        <p:nvSpPr>
          <p:cNvPr id="201" name="Google Shape;201;p10"/>
          <p:cNvSpPr/>
          <p:nvPr/>
        </p:nvSpPr>
        <p:spPr>
          <a:xfrm>
            <a:off x="1872275" y="5963382"/>
            <a:ext cx="1328156" cy="476094"/>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기업 인재상 기반 맞춤 면접 시스템</a:t>
            </a:r>
            <a:endParaRPr/>
          </a:p>
        </p:txBody>
      </p:sp>
      <p:sp>
        <p:nvSpPr>
          <p:cNvPr id="202" name="Google Shape;202;p10"/>
          <p:cNvSpPr/>
          <p:nvPr/>
        </p:nvSpPr>
        <p:spPr>
          <a:xfrm>
            <a:off x="3241391" y="5963382"/>
            <a:ext cx="1328156" cy="476094"/>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dk1"/>
              </a:solidFill>
              <a:latin typeface="Noto Sans KR"/>
              <a:ea typeface="Noto Sans KR"/>
              <a:cs typeface="Noto Sans KR"/>
              <a:sym typeface="Noto Sans KR"/>
            </a:endParaRPr>
          </a:p>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채용 데이터 분석 플랫폼 확장</a:t>
            </a:r>
            <a:br>
              <a:rPr lang="ko-KR" sz="1000">
                <a:solidFill>
                  <a:schemeClr val="dk1"/>
                </a:solidFill>
                <a:latin typeface="Noto Sans KR"/>
                <a:ea typeface="Noto Sans KR"/>
                <a:cs typeface="Noto Sans KR"/>
                <a:sym typeface="Noto Sans KR"/>
              </a:rPr>
            </a:br>
            <a:endParaRPr sz="1000">
              <a:solidFill>
                <a:schemeClr val="dk1"/>
              </a:solidFill>
              <a:latin typeface="Noto Sans KR"/>
              <a:ea typeface="Noto Sans KR"/>
              <a:cs typeface="Noto Sans KR"/>
              <a:sym typeface="Noto Sans KR"/>
            </a:endParaRPr>
          </a:p>
        </p:txBody>
      </p:sp>
      <p:sp>
        <p:nvSpPr>
          <p:cNvPr id="203" name="Google Shape;203;p10"/>
          <p:cNvSpPr/>
          <p:nvPr/>
        </p:nvSpPr>
        <p:spPr>
          <a:xfrm>
            <a:off x="4606935" y="5969489"/>
            <a:ext cx="1328156" cy="476094"/>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dk1"/>
              </a:solidFill>
              <a:latin typeface="Noto Sans KR"/>
              <a:ea typeface="Noto Sans KR"/>
              <a:cs typeface="Noto Sans KR"/>
              <a:sym typeface="Noto Sans KR"/>
            </a:endParaRPr>
          </a:p>
          <a:p>
            <a:pPr indent="0" lvl="0" marL="0" marR="0" rtl="0" algn="ctr">
              <a:spcBef>
                <a:spcPts val="0"/>
              </a:spcBef>
              <a:spcAft>
                <a:spcPts val="0"/>
              </a:spcAft>
              <a:buNone/>
            </a:pPr>
            <a:r>
              <a:t/>
            </a:r>
            <a:endParaRPr sz="1000">
              <a:solidFill>
                <a:schemeClr val="dk1"/>
              </a:solidFill>
              <a:latin typeface="Noto Sans KR"/>
              <a:ea typeface="Noto Sans KR"/>
              <a:cs typeface="Noto Sans KR"/>
              <a:sym typeface="Noto Sans KR"/>
            </a:endParaRPr>
          </a:p>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HR 시스템 통합 솔루션 제공</a:t>
            </a:r>
            <a:endParaRPr/>
          </a:p>
          <a:p>
            <a:pPr indent="0" lvl="0" marL="0" marR="0" rtl="0" algn="ctr">
              <a:spcBef>
                <a:spcPts val="0"/>
              </a:spcBef>
              <a:spcAft>
                <a:spcPts val="0"/>
              </a:spcAft>
              <a:buNone/>
            </a:pPr>
            <a:br>
              <a:rPr lang="ko-KR" sz="1000">
                <a:solidFill>
                  <a:schemeClr val="dk1"/>
                </a:solidFill>
                <a:latin typeface="Noto Sans KR"/>
                <a:ea typeface="Noto Sans KR"/>
                <a:cs typeface="Noto Sans KR"/>
                <a:sym typeface="Noto Sans KR"/>
              </a:rPr>
            </a:br>
            <a:endParaRPr sz="1000">
              <a:solidFill>
                <a:schemeClr val="dk1"/>
              </a:solidFill>
              <a:latin typeface="Noto Sans KR"/>
              <a:ea typeface="Noto Sans KR"/>
              <a:cs typeface="Noto Sans KR"/>
              <a:sym typeface="Noto Sans KR"/>
            </a:endParaRPr>
          </a:p>
        </p:txBody>
      </p:sp>
      <p:sp>
        <p:nvSpPr>
          <p:cNvPr id="204" name="Google Shape;204;p10"/>
          <p:cNvSpPr txBox="1"/>
          <p:nvPr/>
        </p:nvSpPr>
        <p:spPr>
          <a:xfrm>
            <a:off x="378014" y="1193755"/>
            <a:ext cx="500986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VictorView는 무엇인가?</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VictorView는 AI 기반 멀티모달 면접 분석 기술을 활용하여</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지원자의 역량을 객관적으로 평가하는 지능형 인터뷰 플랫폼입니다.</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공통 질문 중심의 기존 모의면접을 넘어,</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기업 인재상과 지원자의 경험 데이터를 결합하여</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맞춤형 면접 환경을 제공합니다.</a:t>
            </a:r>
            <a:endParaRPr/>
          </a:p>
          <a:p>
            <a:pPr indent="0" lvl="0" marL="0" marR="0" rtl="0" algn="l">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205" name="Google Shape;205;p10"/>
          <p:cNvSpPr/>
          <p:nvPr/>
        </p:nvSpPr>
        <p:spPr>
          <a:xfrm>
            <a:off x="172428" y="111414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06" name="Google Shape;206;p10"/>
          <p:cNvSpPr/>
          <p:nvPr/>
        </p:nvSpPr>
        <p:spPr>
          <a:xfrm>
            <a:off x="4318605" y="112110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회원 가입</a:t>
            </a:r>
            <a:endParaRPr sz="2400"/>
          </a:p>
        </p:txBody>
      </p:sp>
      <p:sp>
        <p:nvSpPr>
          <p:cNvPr id="213" name="Google Shape;213;p11"/>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14" name="Google Shape;214;p11"/>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15" name="Google Shape;215;p11"/>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16" name="Google Shape;216;p1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7" name="Google Shape;217;p11"/>
          <p:cNvSpPr/>
          <p:nvPr/>
        </p:nvSpPr>
        <p:spPr>
          <a:xfrm>
            <a:off x="3537360" y="178332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graphicFrame>
        <p:nvGraphicFramePr>
          <p:cNvPr id="218" name="Google Shape;218;p11"/>
          <p:cNvGraphicFramePr/>
          <p:nvPr/>
        </p:nvGraphicFramePr>
        <p:xfrm>
          <a:off x="8619208" y="1051986"/>
          <a:ext cx="3000000" cy="3000000"/>
        </p:xfrm>
        <a:graphic>
          <a:graphicData uri="http://schemas.openxmlformats.org/drawingml/2006/table">
            <a:tbl>
              <a:tblPr bandRow="1" firstRow="1">
                <a:noFill/>
                <a:tableStyleId>{C61F204E-A15B-47D6-BEBB-6A886D3283EB}</a:tableStyleId>
              </a:tblPr>
              <a:tblGrid>
                <a:gridCol w="578825"/>
                <a:gridCol w="2788800"/>
              </a:tblGrid>
              <a:tr h="489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프로필 이미지 영역</a:t>
                      </a:r>
                      <a:endParaRPr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사용자의 기본 프로필 이미지를 표시하는 영역으로,이미지 업로드 전에는 기본 아이콘이 노출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24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업로드 버튼</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사용자가 프로필 이미지를 선택하여 업로드할 수 있는 버튼</a:t>
                      </a:r>
                      <a:endParaRPr sz="1000" u="none" cap="none" strike="noStrike">
                        <a:latin typeface="Noto Sans KR"/>
                        <a:ea typeface="Noto Sans KR"/>
                        <a:cs typeface="Noto Sans KR"/>
                        <a:sym typeface="Noto Sans KR"/>
                      </a:endParaRPr>
                    </a:p>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 이미지 파일 선택 후 즉시 미리보기가 반영됨</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24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수정 버튼</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a:t>
                      </a:r>
                      <a:r>
                        <a:rPr lang="ko-KR" sz="1000" u="none" cap="none" strike="noStrike">
                          <a:latin typeface="Noto Sans KR"/>
                          <a:ea typeface="Noto Sans KR"/>
                          <a:cs typeface="Noto Sans KR"/>
                          <a:sym typeface="Noto Sans KR"/>
                        </a:rPr>
                        <a:t>이미 업로드된 프로필 이미지를 변경할 수 있는 버튼</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기존 이미지를 다른 이미지로 교체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24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이메일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로그인 계정으로 사용할 이메일 주소를 입력하는 필드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중복 여부 및 형식 유효성 검증이 수행</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9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비밀번호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계정 비밀번호를 입력하는 필드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보안 강화를 위해 입력 값은 마스킹 처리</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24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비밀번호 확인 입력 필드</a:t>
                      </a:r>
                      <a:br>
                        <a:rPr b="0"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a:t>
                      </a:r>
                      <a:r>
                        <a:rPr lang="ko-KR" sz="1000" u="none" cap="none" strike="noStrike">
                          <a:latin typeface="Noto Sans KR"/>
                          <a:ea typeface="Noto Sans KR"/>
                          <a:cs typeface="Noto Sans KR"/>
                          <a:sym typeface="Noto Sans KR"/>
                        </a:rPr>
                        <a:t>비밀번호 입력 오류를 방지하기 위해</a:t>
                      </a:r>
                      <a:endParaRPr sz="1000" u="none" cap="none" strike="noStrike">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⑤번 비밀번호와 동일한 값을 다시 입력하는 필드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9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이름 입력 필드</a:t>
                      </a:r>
                      <a:br>
                        <a:rPr b="0"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사용자의 실명 또는 서비스 이용 시 표시될 이름을 입력하는 필드</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9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생년월일 입력 필드</a:t>
                      </a:r>
                      <a:br>
                        <a:rPr b="0"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a:t>
                      </a:r>
                      <a:r>
                        <a:rPr lang="ko-KR" sz="1000" u="none" cap="none" strike="noStrike">
                          <a:latin typeface="Noto Sans KR"/>
                          <a:ea typeface="Noto Sans KR"/>
                          <a:cs typeface="Noto Sans KR"/>
                          <a:sym typeface="Noto Sans KR"/>
                        </a:rPr>
                        <a:t>사용자의 생년월일을 입력하는 필드</a:t>
                      </a:r>
                      <a:endParaRPr sz="1000" u="none" cap="none" strike="noStrike">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-연령 확인 및 서비스 제공 기준에 활용</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24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이용약관 및 개인정보 처리 방침 동의 체크박스</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서비스 이용을 위해 필수적으로 동의해야 하는 항목</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미동의 시 회원가입이 제한</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9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회원가입 버튼</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모든 필수 입력 항목 및 약관 동의가 완료된 후신규 사용자 계정을 생성하는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19" name="Google Shape;219;p11"/>
          <p:cNvGraphicFramePr/>
          <p:nvPr/>
        </p:nvGraphicFramePr>
        <p:xfrm>
          <a:off x="156656" y="836311"/>
          <a:ext cx="3000000" cy="3000000"/>
        </p:xfrm>
        <a:graphic>
          <a:graphicData uri="http://schemas.openxmlformats.org/drawingml/2006/table">
            <a:tbl>
              <a:tblPr bandRow="1" firstRow="1">
                <a:noFill/>
                <a:tableStyleId>{C61F204E-A15B-47D6-BEBB-6A886D3283EB}</a:tableStyleId>
              </a:tblPr>
              <a:tblGrid>
                <a:gridCol w="751825"/>
                <a:gridCol w="890950"/>
                <a:gridCol w="704925"/>
                <a:gridCol w="1615475"/>
                <a:gridCol w="979075"/>
                <a:gridCol w="3505075"/>
                <a:gridCol w="587450"/>
                <a:gridCol w="27888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회원가입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신규 사용자 계정 생성</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20" name="Google Shape;220;p11"/>
          <p:cNvSpPr/>
          <p:nvPr/>
        </p:nvSpPr>
        <p:spPr>
          <a:xfrm>
            <a:off x="3537360" y="1879185"/>
            <a:ext cx="1181100" cy="1171575"/>
          </a:xfrm>
          <a:prstGeom prst="ellipse">
            <a:avLst/>
          </a:pr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dk1"/>
              </a:solidFill>
              <a:latin typeface="Noto Sans KR"/>
              <a:ea typeface="Noto Sans KR"/>
              <a:cs typeface="Noto Sans KR"/>
              <a:sym typeface="Noto Sans KR"/>
            </a:endParaRPr>
          </a:p>
        </p:txBody>
      </p:sp>
      <p:sp>
        <p:nvSpPr>
          <p:cNvPr id="221" name="Google Shape;221;p11"/>
          <p:cNvSpPr/>
          <p:nvPr/>
        </p:nvSpPr>
        <p:spPr>
          <a:xfrm>
            <a:off x="4913481" y="2707860"/>
            <a:ext cx="723900" cy="314325"/>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업로드</a:t>
            </a:r>
            <a:endParaRPr sz="1000">
              <a:solidFill>
                <a:schemeClr val="dk1"/>
              </a:solidFill>
              <a:latin typeface="Noto Sans KR"/>
              <a:ea typeface="Noto Sans KR"/>
              <a:cs typeface="Noto Sans KR"/>
              <a:sym typeface="Noto Sans KR"/>
            </a:endParaRPr>
          </a:p>
        </p:txBody>
      </p:sp>
      <p:sp>
        <p:nvSpPr>
          <p:cNvPr id="222" name="Google Shape;222;p11"/>
          <p:cNvSpPr/>
          <p:nvPr/>
        </p:nvSpPr>
        <p:spPr>
          <a:xfrm>
            <a:off x="5701414" y="2707860"/>
            <a:ext cx="723900" cy="314325"/>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수정</a:t>
            </a:r>
            <a:endParaRPr sz="1000">
              <a:solidFill>
                <a:schemeClr val="dk1"/>
              </a:solidFill>
              <a:latin typeface="Noto Sans KR"/>
              <a:ea typeface="Noto Sans KR"/>
              <a:cs typeface="Noto Sans KR"/>
              <a:sym typeface="Noto Sans KR"/>
            </a:endParaRPr>
          </a:p>
        </p:txBody>
      </p:sp>
      <p:pic>
        <p:nvPicPr>
          <p:cNvPr id="223" name="Google Shape;223;p11"/>
          <p:cNvPicPr preferRelativeResize="0"/>
          <p:nvPr/>
        </p:nvPicPr>
        <p:blipFill rotWithShape="1">
          <a:blip r:embed="rId3">
            <a:alphaModFix/>
          </a:blip>
          <a:srcRect b="0" l="0" r="0" t="0"/>
          <a:stretch/>
        </p:blipFill>
        <p:spPr>
          <a:xfrm>
            <a:off x="3692728" y="2035270"/>
            <a:ext cx="870363" cy="944891"/>
          </a:xfrm>
          <a:prstGeom prst="rect">
            <a:avLst/>
          </a:prstGeom>
          <a:noFill/>
          <a:ln>
            <a:noFill/>
          </a:ln>
        </p:spPr>
      </p:pic>
      <p:grpSp>
        <p:nvGrpSpPr>
          <p:cNvPr id="224" name="Google Shape;224;p11"/>
          <p:cNvGrpSpPr/>
          <p:nvPr/>
        </p:nvGrpSpPr>
        <p:grpSpPr>
          <a:xfrm>
            <a:off x="2127659" y="3314738"/>
            <a:ext cx="3375610" cy="206255"/>
            <a:chOff x="1386891" y="3456699"/>
            <a:chExt cx="3375610" cy="314325"/>
          </a:xfrm>
        </p:grpSpPr>
        <p:sp>
          <p:nvSpPr>
            <p:cNvPr id="225" name="Google Shape;225;p11"/>
            <p:cNvSpPr/>
            <p:nvPr/>
          </p:nvSpPr>
          <p:spPr>
            <a:xfrm>
              <a:off x="2032669" y="3456699"/>
              <a:ext cx="2729832" cy="31432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26" name="Google Shape;226;p11"/>
            <p:cNvSpPr txBox="1"/>
            <p:nvPr/>
          </p:nvSpPr>
          <p:spPr>
            <a:xfrm>
              <a:off x="1386891" y="3456699"/>
              <a:ext cx="60007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이메일</a:t>
              </a:r>
              <a:endParaRPr sz="1000">
                <a:solidFill>
                  <a:schemeClr val="dk1"/>
                </a:solidFill>
                <a:latin typeface="Noto Sans KR"/>
                <a:ea typeface="Noto Sans KR"/>
                <a:cs typeface="Noto Sans KR"/>
                <a:sym typeface="Noto Sans KR"/>
              </a:endParaRPr>
            </a:p>
          </p:txBody>
        </p:sp>
      </p:grpSp>
      <p:grpSp>
        <p:nvGrpSpPr>
          <p:cNvPr id="227" name="Google Shape;227;p11"/>
          <p:cNvGrpSpPr/>
          <p:nvPr/>
        </p:nvGrpSpPr>
        <p:grpSpPr>
          <a:xfrm>
            <a:off x="2036168" y="3703531"/>
            <a:ext cx="3467100" cy="213144"/>
            <a:chOff x="1295401" y="3449478"/>
            <a:chExt cx="3467100" cy="321546"/>
          </a:xfrm>
        </p:grpSpPr>
        <p:sp>
          <p:nvSpPr>
            <p:cNvPr id="228" name="Google Shape;228;p11"/>
            <p:cNvSpPr/>
            <p:nvPr/>
          </p:nvSpPr>
          <p:spPr>
            <a:xfrm>
              <a:off x="2032669" y="3456699"/>
              <a:ext cx="2729832" cy="31432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29" name="Google Shape;229;p11"/>
            <p:cNvSpPr txBox="1"/>
            <p:nvPr/>
          </p:nvSpPr>
          <p:spPr>
            <a:xfrm>
              <a:off x="1295401" y="3449478"/>
              <a:ext cx="691566"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비밀번호</a:t>
              </a:r>
              <a:endParaRPr sz="1000">
                <a:solidFill>
                  <a:schemeClr val="dk1"/>
                </a:solidFill>
                <a:latin typeface="Noto Sans KR"/>
                <a:ea typeface="Noto Sans KR"/>
                <a:cs typeface="Noto Sans KR"/>
                <a:sym typeface="Noto Sans KR"/>
              </a:endParaRPr>
            </a:p>
          </p:txBody>
        </p:sp>
      </p:grpSp>
      <p:grpSp>
        <p:nvGrpSpPr>
          <p:cNvPr id="230" name="Google Shape;230;p11"/>
          <p:cNvGrpSpPr/>
          <p:nvPr/>
        </p:nvGrpSpPr>
        <p:grpSpPr>
          <a:xfrm>
            <a:off x="1798043" y="4117203"/>
            <a:ext cx="3705225" cy="223628"/>
            <a:chOff x="1057276" y="3424220"/>
            <a:chExt cx="3705225" cy="346804"/>
          </a:xfrm>
        </p:grpSpPr>
        <p:sp>
          <p:nvSpPr>
            <p:cNvPr id="231" name="Google Shape;231;p11"/>
            <p:cNvSpPr/>
            <p:nvPr/>
          </p:nvSpPr>
          <p:spPr>
            <a:xfrm>
              <a:off x="2032669" y="3456699"/>
              <a:ext cx="2729832" cy="31432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2" name="Google Shape;232;p11"/>
            <p:cNvSpPr txBox="1"/>
            <p:nvPr/>
          </p:nvSpPr>
          <p:spPr>
            <a:xfrm>
              <a:off x="1057276" y="3424220"/>
              <a:ext cx="92969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비밀번호 확인</a:t>
              </a:r>
              <a:endParaRPr sz="1000">
                <a:solidFill>
                  <a:schemeClr val="dk1"/>
                </a:solidFill>
                <a:latin typeface="Noto Sans KR"/>
                <a:ea typeface="Noto Sans KR"/>
                <a:cs typeface="Noto Sans KR"/>
                <a:sym typeface="Noto Sans KR"/>
              </a:endParaRPr>
            </a:p>
          </p:txBody>
        </p:sp>
      </p:grpSp>
      <p:grpSp>
        <p:nvGrpSpPr>
          <p:cNvPr id="233" name="Google Shape;233;p11"/>
          <p:cNvGrpSpPr/>
          <p:nvPr/>
        </p:nvGrpSpPr>
        <p:grpSpPr>
          <a:xfrm>
            <a:off x="2262888" y="4475937"/>
            <a:ext cx="3240380" cy="246221"/>
            <a:chOff x="1522121" y="3422939"/>
            <a:chExt cx="3240380" cy="381841"/>
          </a:xfrm>
        </p:grpSpPr>
        <p:sp>
          <p:nvSpPr>
            <p:cNvPr id="234" name="Google Shape;234;p11"/>
            <p:cNvSpPr/>
            <p:nvPr/>
          </p:nvSpPr>
          <p:spPr>
            <a:xfrm>
              <a:off x="2032669" y="3456699"/>
              <a:ext cx="2729832" cy="31432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5" name="Google Shape;235;p11"/>
            <p:cNvSpPr txBox="1"/>
            <p:nvPr/>
          </p:nvSpPr>
          <p:spPr>
            <a:xfrm>
              <a:off x="1522121" y="3422939"/>
              <a:ext cx="929691" cy="3818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이름</a:t>
              </a:r>
              <a:endParaRPr sz="1000">
                <a:solidFill>
                  <a:schemeClr val="dk1"/>
                </a:solidFill>
                <a:latin typeface="Noto Sans KR"/>
                <a:ea typeface="Noto Sans KR"/>
                <a:cs typeface="Noto Sans KR"/>
                <a:sym typeface="Noto Sans KR"/>
              </a:endParaRPr>
            </a:p>
          </p:txBody>
        </p:sp>
      </p:grpSp>
      <p:grpSp>
        <p:nvGrpSpPr>
          <p:cNvPr id="236" name="Google Shape;236;p11"/>
          <p:cNvGrpSpPr/>
          <p:nvPr/>
        </p:nvGrpSpPr>
        <p:grpSpPr>
          <a:xfrm>
            <a:off x="2734286" y="5364179"/>
            <a:ext cx="2727321" cy="246221"/>
            <a:chOff x="2727733" y="4916308"/>
            <a:chExt cx="2727321" cy="246221"/>
          </a:xfrm>
        </p:grpSpPr>
        <p:sp>
          <p:nvSpPr>
            <p:cNvPr id="237" name="Google Shape;237;p11"/>
            <p:cNvSpPr/>
            <p:nvPr/>
          </p:nvSpPr>
          <p:spPr>
            <a:xfrm>
              <a:off x="2727733" y="4974811"/>
              <a:ext cx="127586" cy="121262"/>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8" name="Google Shape;238;p11"/>
            <p:cNvSpPr txBox="1"/>
            <p:nvPr/>
          </p:nvSpPr>
          <p:spPr>
            <a:xfrm>
              <a:off x="2837030" y="4916308"/>
              <a:ext cx="261802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이용약관 및 개인정보 취급 방침에 동의합니다.</a:t>
              </a:r>
              <a:endParaRPr sz="1000">
                <a:solidFill>
                  <a:schemeClr val="dk1"/>
                </a:solidFill>
                <a:latin typeface="Noto Sans KR"/>
                <a:ea typeface="Noto Sans KR"/>
                <a:cs typeface="Noto Sans KR"/>
                <a:sym typeface="Noto Sans KR"/>
              </a:endParaRPr>
            </a:p>
          </p:txBody>
        </p:sp>
      </p:grpSp>
      <p:sp>
        <p:nvSpPr>
          <p:cNvPr id="239" name="Google Shape;239;p11"/>
          <p:cNvSpPr/>
          <p:nvPr/>
        </p:nvSpPr>
        <p:spPr>
          <a:xfrm>
            <a:off x="3537360" y="5711781"/>
            <a:ext cx="723900" cy="314325"/>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회원가입</a:t>
            </a:r>
            <a:endParaRPr sz="1000">
              <a:solidFill>
                <a:schemeClr val="dk1"/>
              </a:solidFill>
              <a:latin typeface="Noto Sans KR"/>
              <a:ea typeface="Noto Sans KR"/>
              <a:cs typeface="Noto Sans KR"/>
              <a:sym typeface="Noto Sans KR"/>
            </a:endParaRPr>
          </a:p>
        </p:txBody>
      </p:sp>
      <p:sp>
        <p:nvSpPr>
          <p:cNvPr id="240" name="Google Shape;240;p11"/>
          <p:cNvSpPr/>
          <p:nvPr/>
        </p:nvSpPr>
        <p:spPr>
          <a:xfrm>
            <a:off x="4783481" y="255752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41" name="Google Shape;241;p11"/>
          <p:cNvSpPr/>
          <p:nvPr/>
        </p:nvSpPr>
        <p:spPr>
          <a:xfrm>
            <a:off x="5668778" y="256122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42" name="Google Shape;242;p11"/>
          <p:cNvSpPr/>
          <p:nvPr/>
        </p:nvSpPr>
        <p:spPr>
          <a:xfrm>
            <a:off x="1903556" y="328251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43" name="Google Shape;243;p11"/>
          <p:cNvSpPr/>
          <p:nvPr/>
        </p:nvSpPr>
        <p:spPr>
          <a:xfrm>
            <a:off x="1812065" y="369158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44" name="Google Shape;244;p11"/>
          <p:cNvSpPr/>
          <p:nvPr/>
        </p:nvSpPr>
        <p:spPr>
          <a:xfrm>
            <a:off x="1523611" y="41172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45" name="Google Shape;245;p11"/>
          <p:cNvSpPr/>
          <p:nvPr/>
        </p:nvSpPr>
        <p:spPr>
          <a:xfrm>
            <a:off x="2002888" y="448294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46" name="Google Shape;246;p11"/>
          <p:cNvSpPr/>
          <p:nvPr/>
        </p:nvSpPr>
        <p:spPr>
          <a:xfrm>
            <a:off x="1867659" y="485884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pSp>
        <p:nvGrpSpPr>
          <p:cNvPr id="247" name="Google Shape;247;p11"/>
          <p:cNvGrpSpPr/>
          <p:nvPr/>
        </p:nvGrpSpPr>
        <p:grpSpPr>
          <a:xfrm>
            <a:off x="2072065" y="4837078"/>
            <a:ext cx="3431203" cy="246221"/>
            <a:chOff x="1331298" y="3422939"/>
            <a:chExt cx="3431203" cy="381841"/>
          </a:xfrm>
        </p:grpSpPr>
        <p:sp>
          <p:nvSpPr>
            <p:cNvPr id="248" name="Google Shape;248;p11"/>
            <p:cNvSpPr/>
            <p:nvPr/>
          </p:nvSpPr>
          <p:spPr>
            <a:xfrm>
              <a:off x="2032669" y="3456699"/>
              <a:ext cx="2729832" cy="314325"/>
            </a:xfrm>
            <a:prstGeom prst="rect">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9" name="Google Shape;249;p11"/>
            <p:cNvSpPr txBox="1"/>
            <p:nvPr/>
          </p:nvSpPr>
          <p:spPr>
            <a:xfrm>
              <a:off x="1331298" y="3422939"/>
              <a:ext cx="929691" cy="3818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생년월일</a:t>
              </a:r>
              <a:endParaRPr sz="1000">
                <a:solidFill>
                  <a:schemeClr val="dk1"/>
                </a:solidFill>
                <a:latin typeface="Noto Sans KR"/>
                <a:ea typeface="Noto Sans KR"/>
                <a:cs typeface="Noto Sans KR"/>
                <a:sym typeface="Noto Sans KR"/>
              </a:endParaRPr>
            </a:p>
          </p:txBody>
        </p:sp>
      </p:grpSp>
      <p:sp>
        <p:nvSpPr>
          <p:cNvPr id="250" name="Google Shape;250;p11"/>
          <p:cNvSpPr/>
          <p:nvPr/>
        </p:nvSpPr>
        <p:spPr>
          <a:xfrm>
            <a:off x="2408969" y="537459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251" name="Google Shape;251;p11"/>
          <p:cNvSpPr/>
          <p:nvPr/>
        </p:nvSpPr>
        <p:spPr>
          <a:xfrm>
            <a:off x="3313257" y="56515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2"/>
          <p:cNvSpPr/>
          <p:nvPr/>
        </p:nvSpPr>
        <p:spPr>
          <a:xfrm>
            <a:off x="2564490" y="1913056"/>
            <a:ext cx="3295156" cy="4005072"/>
          </a:xfrm>
          <a:prstGeom prst="rect">
            <a:avLst/>
          </a:prstGeom>
          <a:solidFill>
            <a:schemeClr val="lt1"/>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id="258" name="Google Shape;258;p12"/>
          <p:cNvPicPr preferRelativeResize="0"/>
          <p:nvPr/>
        </p:nvPicPr>
        <p:blipFill rotWithShape="1">
          <a:blip r:embed="rId3">
            <a:alphaModFix/>
          </a:blip>
          <a:srcRect b="0" l="0" r="0" t="0"/>
          <a:stretch/>
        </p:blipFill>
        <p:spPr>
          <a:xfrm>
            <a:off x="3464240" y="2092221"/>
            <a:ext cx="1461444" cy="864132"/>
          </a:xfrm>
          <a:prstGeom prst="rect">
            <a:avLst/>
          </a:prstGeom>
          <a:noFill/>
          <a:ln>
            <a:noFill/>
          </a:ln>
        </p:spPr>
      </p:pic>
      <p:sp>
        <p:nvSpPr>
          <p:cNvPr id="259" name="Google Shape;259;p12"/>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sz="2400"/>
              <a:t>로그인</a:t>
            </a:r>
            <a:endParaRPr sz="2400"/>
          </a:p>
        </p:txBody>
      </p:sp>
      <p:sp>
        <p:nvSpPr>
          <p:cNvPr id="260" name="Google Shape;260;p12"/>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61" name="Google Shape;261;p12"/>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62" name="Google Shape;262;p12"/>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63" name="Google Shape;263;p1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64" name="Google Shape;264;p12"/>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563125"/>
                <a:gridCol w="2713100"/>
              </a:tblGrid>
              <a:tr h="4474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서비스 로고 영역</a:t>
                      </a:r>
                      <a:endParaRPr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 </a:t>
                      </a:r>
                      <a:r>
                        <a:rPr b="0" lang="ko-KR" sz="1000" u="none" cap="none" strike="noStrike">
                          <a:solidFill>
                            <a:schemeClr val="dk1"/>
                          </a:solidFill>
                          <a:latin typeface="Noto Sans KR"/>
                          <a:ea typeface="Noto Sans KR"/>
                          <a:cs typeface="Noto Sans KR"/>
                          <a:sym typeface="Noto Sans KR"/>
                        </a:rPr>
                        <a:t>서비스의 브랜드 로고를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911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이메일 입력 필드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사용자가 회원가입 시 등록한 이메일 주소를 입력하는 필드</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입력된 이메일은 사용자 인증을 위한 식별 정보로 사용</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21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비밀번호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계정 비밀번호를 입력하는 필드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보안 강화를 위해 입력 값은 마스킹 처리</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014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로그인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이메일과 비밀번호 정보를 기반으로 사용자 인증을 수행</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인증 성공 시 서비스 메인 화면으로 진입하는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rgbClr val="FF0000"/>
                        </a:buClr>
                        <a:buSzPts val="1000"/>
                        <a:buFont typeface="Noto Sans KR"/>
                        <a:buChar char="-"/>
                      </a:pPr>
                      <a:r>
                        <a:rPr b="0" lang="ko-KR" sz="1000" u="none" cap="none" strike="noStrike">
                          <a:solidFill>
                            <a:srgbClr val="FF0000"/>
                          </a:solidFill>
                          <a:latin typeface="Noto Sans KR"/>
                          <a:ea typeface="Noto Sans KR"/>
                          <a:cs typeface="Noto Sans KR"/>
                          <a:sym typeface="Noto Sans KR"/>
                        </a:rPr>
                        <a:t>사용자 계정에 설정된 권한 확인 후 권한에 맞는 서비스 화면으로 자동 이동 처리</a:t>
                      </a:r>
                      <a:endParaRPr b="0" sz="1000" u="none" cap="none" strike="noStrike">
                        <a:solidFill>
                          <a:srgbClr val="FF0000"/>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645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계정 관련 보조 메뉴 영역</a:t>
                      </a:r>
                      <a:br>
                        <a:rPr b="1"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아이디 찾기, 비밀번호 찾기, 회원가입 화면으로 이동할 수 있는 링크를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사용자의 계정 관리 및 신규 가입을 지원</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92750">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265" name="Google Shape;265;p12"/>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SCR-02</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로그인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사용자 인증 및 서비스 진입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66" name="Google Shape;266;p12"/>
          <p:cNvSpPr/>
          <p:nvPr/>
        </p:nvSpPr>
        <p:spPr>
          <a:xfrm>
            <a:off x="3131623" y="2999847"/>
            <a:ext cx="2142602" cy="384048"/>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emeil</a:t>
            </a:r>
            <a:endParaRPr sz="1000">
              <a:solidFill>
                <a:schemeClr val="dk1"/>
              </a:solidFill>
              <a:latin typeface="Noto Sans KR"/>
              <a:ea typeface="Noto Sans KR"/>
              <a:cs typeface="Noto Sans KR"/>
              <a:sym typeface="Noto Sans KR"/>
            </a:endParaRPr>
          </a:p>
        </p:txBody>
      </p:sp>
      <p:sp>
        <p:nvSpPr>
          <p:cNvPr id="267" name="Google Shape;267;p12"/>
          <p:cNvSpPr/>
          <p:nvPr/>
        </p:nvSpPr>
        <p:spPr>
          <a:xfrm>
            <a:off x="3131623" y="3531544"/>
            <a:ext cx="2142602" cy="384048"/>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password</a:t>
            </a:r>
            <a:endParaRPr sz="1000">
              <a:solidFill>
                <a:schemeClr val="dk1"/>
              </a:solidFill>
              <a:latin typeface="Noto Sans KR"/>
              <a:ea typeface="Noto Sans KR"/>
              <a:cs typeface="Noto Sans KR"/>
              <a:sym typeface="Noto Sans KR"/>
            </a:endParaRPr>
          </a:p>
        </p:txBody>
      </p:sp>
      <p:sp>
        <p:nvSpPr>
          <p:cNvPr id="268" name="Google Shape;268;p12"/>
          <p:cNvSpPr/>
          <p:nvPr/>
        </p:nvSpPr>
        <p:spPr>
          <a:xfrm>
            <a:off x="3600048" y="4109676"/>
            <a:ext cx="1205752" cy="313262"/>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로그인</a:t>
            </a:r>
            <a:endParaRPr sz="1000">
              <a:solidFill>
                <a:schemeClr val="dk1"/>
              </a:solidFill>
              <a:latin typeface="Noto Sans KR"/>
              <a:ea typeface="Noto Sans KR"/>
              <a:cs typeface="Noto Sans KR"/>
              <a:sym typeface="Noto Sans KR"/>
            </a:endParaRPr>
          </a:p>
        </p:txBody>
      </p:sp>
      <p:sp>
        <p:nvSpPr>
          <p:cNvPr id="269" name="Google Shape;269;p12"/>
          <p:cNvSpPr/>
          <p:nvPr/>
        </p:nvSpPr>
        <p:spPr>
          <a:xfrm>
            <a:off x="3001623" y="286755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70" name="Google Shape;270;p12"/>
          <p:cNvSpPr/>
          <p:nvPr/>
        </p:nvSpPr>
        <p:spPr>
          <a:xfrm>
            <a:off x="3001623" y="34228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71" name="Google Shape;271;p12"/>
          <p:cNvSpPr/>
          <p:nvPr/>
        </p:nvSpPr>
        <p:spPr>
          <a:xfrm>
            <a:off x="3470048" y="403384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72" name="Google Shape;272;p12"/>
          <p:cNvSpPr txBox="1"/>
          <p:nvPr/>
        </p:nvSpPr>
        <p:spPr>
          <a:xfrm>
            <a:off x="3099463" y="4516390"/>
            <a:ext cx="25756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아이디 찾기 | 비밀번호 찾기 | 회원가입</a:t>
            </a:r>
            <a:endParaRPr sz="1000">
              <a:solidFill>
                <a:schemeClr val="dk1"/>
              </a:solidFill>
              <a:latin typeface="Noto Sans KR"/>
              <a:ea typeface="Noto Sans KR"/>
              <a:cs typeface="Noto Sans KR"/>
              <a:sym typeface="Noto Sans KR"/>
            </a:endParaRPr>
          </a:p>
        </p:txBody>
      </p:sp>
      <p:sp>
        <p:nvSpPr>
          <p:cNvPr id="273" name="Google Shape;273;p12"/>
          <p:cNvSpPr/>
          <p:nvPr/>
        </p:nvSpPr>
        <p:spPr>
          <a:xfrm>
            <a:off x="2953774" y="436094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74" name="Google Shape;274;p12"/>
          <p:cNvSpPr/>
          <p:nvPr/>
        </p:nvSpPr>
        <p:spPr>
          <a:xfrm>
            <a:off x="3237108" y="233021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8"/>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메인 화면</a:t>
            </a:r>
            <a:endParaRPr sz="2400"/>
          </a:p>
        </p:txBody>
      </p:sp>
      <p:sp>
        <p:nvSpPr>
          <p:cNvPr id="281" name="Google Shape;281;p8"/>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82" name="Google Shape;282;p8"/>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83" name="Google Shape;283;p8"/>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84" name="Google Shape;284;p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85" name="Google Shape;285;p8"/>
          <p:cNvSpPr/>
          <p:nvPr/>
        </p:nvSpPr>
        <p:spPr>
          <a:xfrm>
            <a:off x="5896340" y="1440811"/>
            <a:ext cx="876835" cy="415153"/>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로그인</a:t>
            </a:r>
            <a:endParaRPr sz="1000">
              <a:solidFill>
                <a:schemeClr val="dk1"/>
              </a:solidFill>
              <a:latin typeface="Noto Sans KR"/>
              <a:ea typeface="Noto Sans KR"/>
              <a:cs typeface="Noto Sans KR"/>
              <a:sym typeface="Noto Sans KR"/>
            </a:endParaRPr>
          </a:p>
        </p:txBody>
      </p:sp>
      <p:sp>
        <p:nvSpPr>
          <p:cNvPr id="286" name="Google Shape;286;p8"/>
          <p:cNvSpPr/>
          <p:nvPr/>
        </p:nvSpPr>
        <p:spPr>
          <a:xfrm>
            <a:off x="6867278" y="1440811"/>
            <a:ext cx="876835" cy="415153"/>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회원가입</a:t>
            </a:r>
            <a:endParaRPr sz="1000">
              <a:solidFill>
                <a:schemeClr val="dk1"/>
              </a:solidFill>
              <a:latin typeface="Noto Sans KR"/>
              <a:ea typeface="Noto Sans KR"/>
              <a:cs typeface="Noto Sans KR"/>
              <a:sym typeface="Noto Sans KR"/>
            </a:endParaRPr>
          </a:p>
        </p:txBody>
      </p:sp>
      <p:sp>
        <p:nvSpPr>
          <p:cNvPr id="287" name="Google Shape;287;p8"/>
          <p:cNvSpPr/>
          <p:nvPr/>
        </p:nvSpPr>
        <p:spPr>
          <a:xfrm>
            <a:off x="2925197" y="5142507"/>
            <a:ext cx="876835" cy="465703"/>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면접 시작</a:t>
            </a:r>
            <a:endParaRPr sz="1000">
              <a:solidFill>
                <a:schemeClr val="dk1"/>
              </a:solidFill>
              <a:latin typeface="Noto Sans KR"/>
              <a:ea typeface="Noto Sans KR"/>
              <a:cs typeface="Noto Sans KR"/>
              <a:sym typeface="Noto Sans KR"/>
            </a:endParaRPr>
          </a:p>
        </p:txBody>
      </p:sp>
      <p:sp>
        <p:nvSpPr>
          <p:cNvPr id="288" name="Google Shape;288;p8"/>
          <p:cNvSpPr/>
          <p:nvPr/>
        </p:nvSpPr>
        <p:spPr>
          <a:xfrm>
            <a:off x="4142714" y="5142507"/>
            <a:ext cx="1047417" cy="465703"/>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더 알아보기</a:t>
            </a:r>
            <a:endParaRPr sz="1000">
              <a:solidFill>
                <a:schemeClr val="dk1"/>
              </a:solidFill>
              <a:latin typeface="Noto Sans KR"/>
              <a:ea typeface="Noto Sans KR"/>
              <a:cs typeface="Noto Sans KR"/>
              <a:sym typeface="Noto Sans KR"/>
            </a:endParaRPr>
          </a:p>
        </p:txBody>
      </p:sp>
      <p:sp>
        <p:nvSpPr>
          <p:cNvPr id="289" name="Google Shape;289;p8"/>
          <p:cNvSpPr/>
          <p:nvPr/>
        </p:nvSpPr>
        <p:spPr>
          <a:xfrm>
            <a:off x="2810523" y="5018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90" name="Google Shape;290;p8"/>
          <p:cNvSpPr/>
          <p:nvPr/>
        </p:nvSpPr>
        <p:spPr>
          <a:xfrm>
            <a:off x="4048611" y="503378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91" name="Google Shape;291;p8"/>
          <p:cNvSpPr/>
          <p:nvPr/>
        </p:nvSpPr>
        <p:spPr>
          <a:xfrm>
            <a:off x="5785256" y="133209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92" name="Google Shape;292;p8"/>
          <p:cNvSpPr/>
          <p:nvPr/>
        </p:nvSpPr>
        <p:spPr>
          <a:xfrm>
            <a:off x="6773175" y="133209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graphicFrame>
        <p:nvGraphicFramePr>
          <p:cNvPr id="293" name="Google Shape;293;p8"/>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563125"/>
                <a:gridCol w="2713100"/>
              </a:tblGrid>
              <a:tr h="602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브랜드 로고 표시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로고 로고를 노출하여 서비스 정체성과 브랜드 인지도를 제공함</a:t>
                      </a:r>
                      <a:r>
                        <a:rPr lang="ko-KR" sz="1000" u="none" cap="none" strike="noStrike">
                          <a:latin typeface="Noto Sans KR"/>
                          <a:ea typeface="Noto Sans KR"/>
                          <a:cs typeface="Noto Sans KR"/>
                          <a:sym typeface="Noto Sans KR"/>
                        </a:rPr>
                        <a:t>정체성과 브랜드 인지도</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93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환영 메시지 및 서비스 소개 문구 표시</a:t>
                      </a:r>
                      <a:endParaRPr b="1" sz="1000" u="none" cap="none" strike="noStrike">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 사용자에게 서비스 시작을 안내하고, 모의면접 </a:t>
                      </a:r>
                      <a:endParaRPr sz="1000" u="none" cap="none" strike="noStrike">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서비스의 목적과 핵심 가치를 간략히 전달함</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98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 시작 버튼</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비회원 또는 회원 사용자가 모의면접 프로세스를 바로 시작할 수 있도록 입사 지원/면접</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시나리오 단계로 이동함</a:t>
                      </a:r>
                      <a:endParaRPr sz="1000" u="none" cap="none" strike="noStrike">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a:t>
                      </a:r>
                      <a:r>
                        <a:rPr b="0" lang="ko-KR" sz="1000" u="none" cap="none" strike="noStrike">
                          <a:solidFill>
                            <a:srgbClr val="FF0000"/>
                          </a:solidFill>
                          <a:latin typeface="Noto Sans KR"/>
                          <a:ea typeface="Noto Sans KR"/>
                          <a:cs typeface="Noto Sans KR"/>
                          <a:sym typeface="Noto Sans KR"/>
                        </a:rPr>
                        <a:t>로그인 후 활성화, 로그인 전 로그인 후 이용 가능 안내 제공</a:t>
                      </a:r>
                      <a:endParaRPr b="0" sz="1000" u="none" cap="none" strike="noStrike">
                        <a:solidFill>
                          <a:srgbClr val="FF0000"/>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65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서비스 소개 버튼(더 알아보기)</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서비스 기능, 사용 방법, 진행 절차 등에 </a:t>
                      </a:r>
                      <a:endParaRPr sz="1000" u="none" cap="none" strike="noStrike">
                        <a:latin typeface="Noto Sans KR"/>
                        <a:ea typeface="Noto Sans KR"/>
                        <a:cs typeface="Noto Sans KR"/>
                        <a:sym typeface="Noto Sans KR"/>
                      </a:endParaRPr>
                    </a:p>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대한 안내 화면 또는 설명 페이지로 이동함</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15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로그인 버튼</a:t>
                      </a:r>
                      <a:br>
                        <a:rPr lang="ko-KR" sz="1000" u="none" cap="none" strike="noStrike">
                          <a:latin typeface="Noto Sans KR"/>
                          <a:ea typeface="Noto Sans KR"/>
                          <a:cs typeface="Noto Sans KR"/>
                          <a:sym typeface="Noto Sans KR"/>
                        </a:rPr>
                      </a:br>
                      <a:r>
                        <a:rPr lang="ko-KR" sz="1000" u="none" cap="none" strike="noStrike">
                          <a:latin typeface="Noto Sans KR"/>
                          <a:ea typeface="Noto Sans KR"/>
                          <a:cs typeface="Noto Sans KR"/>
                          <a:sym typeface="Noto Sans KR"/>
                        </a:rPr>
                        <a:t>- 기존 회원이 계정 인증을 통해 로그인 화면으로 이동하여 개인화된 서비스 이용이 가능하도록 함</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98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회원가입 버튼</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신규 사용자가 회원가입 화면으로 이동하여 계정을 생성하고 서비스 이용을 시작할 수 있도록 함</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6400">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294" name="Google Shape;294;p8"/>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SCR-00</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로그인 전 시작(메인)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로그인 전 서비스 진입 경로 및 제공</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pic>
        <p:nvPicPr>
          <p:cNvPr id="295" name="Google Shape;295;p8"/>
          <p:cNvPicPr preferRelativeResize="0"/>
          <p:nvPr/>
        </p:nvPicPr>
        <p:blipFill rotWithShape="1">
          <a:blip r:embed="rId3">
            <a:alphaModFix/>
          </a:blip>
          <a:srcRect b="0" l="0" r="0" t="0"/>
          <a:stretch/>
        </p:blipFill>
        <p:spPr>
          <a:xfrm>
            <a:off x="3130497" y="1391411"/>
            <a:ext cx="2245102" cy="1327498"/>
          </a:xfrm>
          <a:prstGeom prst="rect">
            <a:avLst/>
          </a:prstGeom>
          <a:noFill/>
          <a:ln>
            <a:noFill/>
          </a:ln>
        </p:spPr>
      </p:pic>
      <p:sp>
        <p:nvSpPr>
          <p:cNvPr id="296" name="Google Shape;296;p8"/>
          <p:cNvSpPr/>
          <p:nvPr/>
        </p:nvSpPr>
        <p:spPr>
          <a:xfrm>
            <a:off x="2953446" y="17900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97" name="Google Shape;297;p8"/>
          <p:cNvSpPr txBox="1"/>
          <p:nvPr/>
        </p:nvSpPr>
        <p:spPr>
          <a:xfrm>
            <a:off x="2818327" y="2546734"/>
            <a:ext cx="5663891" cy="24237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AI가 함께 준비하는, 더 정확한 면접 경험</a:t>
            </a:r>
            <a:endParaRPr b="1" sz="105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50">
                <a:solidFill>
                  <a:schemeClr val="dk1"/>
                </a:solidFill>
                <a:latin typeface="Noto Sans KR"/>
                <a:ea typeface="Noto Sans KR"/>
                <a:cs typeface="Noto Sans KR"/>
                <a:sym typeface="Noto Sans KR"/>
              </a:rPr>
              <a:t>225개 기업의 인재상과 핵심역량을 반영한,</a:t>
            </a:r>
            <a:br>
              <a:rPr b="1" lang="ko-KR" sz="1050">
                <a:solidFill>
                  <a:schemeClr val="dk1"/>
                </a:solidFill>
                <a:latin typeface="Noto Sans KR"/>
                <a:ea typeface="Noto Sans KR"/>
                <a:cs typeface="Noto Sans KR"/>
                <a:sym typeface="Noto Sans KR"/>
              </a:rPr>
            </a:br>
            <a:r>
              <a:rPr b="1" lang="ko-KR" sz="1050">
                <a:solidFill>
                  <a:schemeClr val="dk1"/>
                </a:solidFill>
                <a:latin typeface="Noto Sans KR"/>
                <a:ea typeface="Noto Sans KR"/>
                <a:cs typeface="Noto Sans KR"/>
                <a:sym typeface="Noto Sans KR"/>
              </a:rPr>
              <a:t>개인 맞춤형 AI 면접</a:t>
            </a:r>
            <a:endParaRPr b="1" sz="105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VicterView는</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225개 기업의 인재상·핵심역량·비전을 분석하여 구축한 </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데이터 기반 면접 시스템을 통해 공통 질문이 아닌,</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지원자의 이력·경험·직무·답변 내용에 맞춰</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실시간으로 질문이 달라지는</a:t>
            </a:r>
            <a:br>
              <a:rPr lang="ko-KR" sz="1000">
                <a:solidFill>
                  <a:schemeClr val="dk1"/>
                </a:solidFill>
                <a:latin typeface="Noto Sans KR"/>
                <a:ea typeface="Noto Sans KR"/>
                <a:cs typeface="Noto Sans KR"/>
                <a:sym typeface="Noto Sans KR"/>
              </a:rPr>
            </a:br>
            <a:r>
              <a:rPr lang="ko-KR" sz="1000">
                <a:solidFill>
                  <a:schemeClr val="dk1"/>
                </a:solidFill>
                <a:latin typeface="Noto Sans KR"/>
                <a:ea typeface="Noto Sans KR"/>
                <a:cs typeface="Noto Sans KR"/>
                <a:sym typeface="Noto Sans KR"/>
              </a:rPr>
              <a:t>맞춤형 인터뷰를 제공합니다.</a:t>
            </a:r>
            <a:endParaRPr/>
          </a:p>
          <a:p>
            <a:pPr indent="0" lvl="0" marL="0" marR="0" rtl="0" algn="l">
              <a:spcBef>
                <a:spcPts val="0"/>
              </a:spcBef>
              <a:spcAft>
                <a:spcPts val="0"/>
              </a:spcAft>
              <a:buNone/>
            </a:pPr>
            <a:r>
              <a:t/>
            </a:r>
            <a:endParaRPr b="1" sz="1000">
              <a:solidFill>
                <a:schemeClr val="dk1"/>
              </a:solidFill>
              <a:latin typeface="Noto Sans KR"/>
              <a:ea typeface="Noto Sans KR"/>
              <a:cs typeface="Noto Sans KR"/>
              <a:sym typeface="Noto Sans K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“질문은 같지 않습니다. 당신이 다르니까.”</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“기업에 맞추고, 당신에게 맞춘다.”</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“정답이 아닌 사고를 평가합니다.”</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“공통 질문이 아닌, 당신만의 면접.”</a:t>
            </a:r>
            <a:endParaRPr/>
          </a:p>
          <a:p>
            <a:pPr indent="-63500" lvl="0" marL="0" marR="0" rtl="0" algn="l">
              <a:spcBef>
                <a:spcPts val="0"/>
              </a:spcBef>
              <a:spcAft>
                <a:spcPts val="0"/>
              </a:spcAft>
              <a:buClr>
                <a:schemeClr val="dk1"/>
              </a:buClr>
              <a:buSzPts val="1000"/>
              <a:buFont typeface="Noto Sans KR"/>
              <a:buChar char="•"/>
            </a:pPr>
            <a:r>
              <a:rPr b="1" lang="ko-KR" sz="1000">
                <a:solidFill>
                  <a:schemeClr val="dk1"/>
                </a:solidFill>
                <a:latin typeface="Noto Sans KR"/>
                <a:ea typeface="Noto Sans KR"/>
                <a:cs typeface="Noto Sans KR"/>
                <a:sym typeface="Noto Sans KR"/>
              </a:rPr>
              <a:t>“225개 기업 데이터 기반 맞춤 인터뷰.”</a:t>
            </a:r>
            <a:endParaRPr b="1" sz="1000">
              <a:solidFill>
                <a:schemeClr val="dk1"/>
              </a:solidFill>
              <a:latin typeface="Noto Sans KR"/>
              <a:ea typeface="Noto Sans KR"/>
              <a:cs typeface="Noto Sans KR"/>
              <a:sym typeface="Noto Sans KR"/>
            </a:endParaRPr>
          </a:p>
        </p:txBody>
      </p:sp>
      <p:sp>
        <p:nvSpPr>
          <p:cNvPr id="298" name="Google Shape;298;p8"/>
          <p:cNvSpPr/>
          <p:nvPr/>
        </p:nvSpPr>
        <p:spPr>
          <a:xfrm>
            <a:off x="2631879" y="254673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3"/>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면접 시작</a:t>
            </a:r>
            <a:endParaRPr sz="2400"/>
          </a:p>
        </p:txBody>
      </p:sp>
      <p:sp>
        <p:nvSpPr>
          <p:cNvPr id="305" name="Google Shape;305;p13"/>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306" name="Google Shape;306;p13"/>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307" name="Google Shape;307;p13"/>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308" name="Google Shape;308;p1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309" name="Google Shape;309;p13"/>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563125"/>
                <a:gridCol w="2713100"/>
              </a:tblGrid>
              <a:tr h="39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서비스 로고 영역</a:t>
                      </a:r>
                      <a:endParaRPr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 </a:t>
                      </a:r>
                      <a:r>
                        <a:rPr b="0" lang="ko-KR" sz="1000" u="none" cap="none" strike="noStrike">
                          <a:solidFill>
                            <a:schemeClr val="dk1"/>
                          </a:solidFill>
                          <a:latin typeface="Noto Sans KR"/>
                          <a:ea typeface="Noto Sans KR"/>
                          <a:cs typeface="Noto Sans KR"/>
                          <a:sym typeface="Noto Sans KR"/>
                        </a:rPr>
                        <a:t>서비스의 브랜드 로고를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70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 시작 안내 문구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모의면접이 시작됨을 사용자에게 안내하는 문구 영역</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진행 전 주의사항 확인을 유도</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760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진행 안내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진행과 관련된 주요 정보를 요약하여 제공하는 영역</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예상 소요 시간 안내, 면접 진행 방식(영상면접 진행 방식을 사전에 인지하도록 제공 또는 음성 응답) 안내, 중간 종료 가능 여부 안내 등 사용자가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608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시작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안내 내용을 확인한 사용자가 실제 면접을 시작할 수 있도록 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클릭 시 환경 테스트 또는 첫 질문 화면으로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3436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310" name="Google Shape;310;p13"/>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SCR-03</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시작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사용자가 면접을 시작하기 위한 진입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311" name="Google Shape;311;p13"/>
          <p:cNvSpPr/>
          <p:nvPr/>
        </p:nvSpPr>
        <p:spPr>
          <a:xfrm>
            <a:off x="2081973" y="1281185"/>
            <a:ext cx="4288536" cy="5102352"/>
          </a:xfrm>
          <a:prstGeom prst="rect">
            <a:avLst/>
          </a:prstGeom>
          <a:solidFill>
            <a:schemeClr val="lt1"/>
          </a:solidFill>
          <a:ln cap="flat" cmpd="sng" w="127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
        <p:nvSpPr>
          <p:cNvPr id="312" name="Google Shape;312;p13"/>
          <p:cNvSpPr txBox="1"/>
          <p:nvPr/>
        </p:nvSpPr>
        <p:spPr>
          <a:xfrm>
            <a:off x="2440015" y="2386766"/>
            <a:ext cx="3572445"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1800">
                <a:solidFill>
                  <a:schemeClr val="dk1"/>
                </a:solidFill>
                <a:latin typeface="Noto Sans KR"/>
                <a:ea typeface="Noto Sans KR"/>
                <a:cs typeface="Noto Sans KR"/>
                <a:sym typeface="Noto Sans KR"/>
              </a:rPr>
              <a:t>지금부터 모의면접을 시작합니다.</a:t>
            </a:r>
            <a:endParaRPr/>
          </a:p>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아래 안내사항을 확인해주세요.</a:t>
            </a:r>
            <a:endParaRPr sz="1200">
              <a:solidFill>
                <a:schemeClr val="dk1"/>
              </a:solidFill>
              <a:latin typeface="Noto Sans KR"/>
              <a:ea typeface="Noto Sans KR"/>
              <a:cs typeface="Noto Sans KR"/>
              <a:sym typeface="Noto Sans KR"/>
            </a:endParaRPr>
          </a:p>
        </p:txBody>
      </p:sp>
      <p:sp>
        <p:nvSpPr>
          <p:cNvPr id="313" name="Google Shape;313;p13"/>
          <p:cNvSpPr/>
          <p:nvPr/>
        </p:nvSpPr>
        <p:spPr>
          <a:xfrm>
            <a:off x="2568747" y="3269021"/>
            <a:ext cx="3314983" cy="1111628"/>
          </a:xfrm>
          <a:prstGeom prst="roundRect">
            <a:avLst>
              <a:gd fmla="val 16667" name="adj"/>
            </a:avLst>
          </a:prstGeom>
          <a:noFill/>
          <a:ln cap="flat" cmpd="sng" w="12700">
            <a:solidFill>
              <a:srgbClr val="D0CECE"/>
            </a:solidFill>
            <a:prstDash val="solid"/>
            <a:miter lim="8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예상 소요시간 : 20분 </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진행 방식 : 영상 또는 음성 응답</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중간 종료  가능</a:t>
            </a:r>
            <a:endParaRPr sz="1200">
              <a:solidFill>
                <a:schemeClr val="dk1"/>
              </a:solidFill>
              <a:latin typeface="Noto Sans KR"/>
              <a:ea typeface="Noto Sans KR"/>
              <a:cs typeface="Noto Sans KR"/>
              <a:sym typeface="Noto Sans KR"/>
            </a:endParaRPr>
          </a:p>
        </p:txBody>
      </p:sp>
      <p:sp>
        <p:nvSpPr>
          <p:cNvPr id="314" name="Google Shape;314;p13"/>
          <p:cNvSpPr/>
          <p:nvPr/>
        </p:nvSpPr>
        <p:spPr>
          <a:xfrm>
            <a:off x="3026664" y="4773168"/>
            <a:ext cx="2331720" cy="438912"/>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800">
                <a:solidFill>
                  <a:schemeClr val="lt1"/>
                </a:solidFill>
                <a:latin typeface="Noto Sans KR"/>
                <a:ea typeface="Noto Sans KR"/>
                <a:cs typeface="Noto Sans KR"/>
                <a:sym typeface="Noto Sans KR"/>
              </a:rPr>
              <a:t>면접 시작</a:t>
            </a:r>
            <a:endParaRPr b="1" sz="1800">
              <a:solidFill>
                <a:schemeClr val="lt1"/>
              </a:solidFill>
              <a:latin typeface="Noto Sans KR"/>
              <a:ea typeface="Noto Sans KR"/>
              <a:cs typeface="Noto Sans KR"/>
              <a:sym typeface="Noto Sans KR"/>
            </a:endParaRPr>
          </a:p>
        </p:txBody>
      </p:sp>
      <p:sp>
        <p:nvSpPr>
          <p:cNvPr id="315" name="Google Shape;315;p13"/>
          <p:cNvSpPr/>
          <p:nvPr/>
        </p:nvSpPr>
        <p:spPr>
          <a:xfrm>
            <a:off x="2443739" y="226996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316" name="Google Shape;316;p13"/>
          <p:cNvSpPr/>
          <p:nvPr/>
        </p:nvSpPr>
        <p:spPr>
          <a:xfrm>
            <a:off x="2416243" y="315094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317" name="Google Shape;317;p13"/>
          <p:cNvSpPr/>
          <p:nvPr/>
        </p:nvSpPr>
        <p:spPr>
          <a:xfrm>
            <a:off x="2896664" y="466444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pic>
        <p:nvPicPr>
          <p:cNvPr id="318" name="Google Shape;318;p13"/>
          <p:cNvPicPr preferRelativeResize="0"/>
          <p:nvPr/>
        </p:nvPicPr>
        <p:blipFill rotWithShape="1">
          <a:blip r:embed="rId3">
            <a:alphaModFix/>
          </a:blip>
          <a:srcRect b="0" l="0" r="0" t="0"/>
          <a:stretch/>
        </p:blipFill>
        <p:spPr>
          <a:xfrm>
            <a:off x="3514899" y="1468620"/>
            <a:ext cx="1355249" cy="801340"/>
          </a:xfrm>
          <a:prstGeom prst="rect">
            <a:avLst/>
          </a:prstGeom>
          <a:noFill/>
          <a:ln>
            <a:noFill/>
          </a:ln>
        </p:spPr>
      </p:pic>
      <p:sp>
        <p:nvSpPr>
          <p:cNvPr id="319" name="Google Shape;319;p13"/>
          <p:cNvSpPr/>
          <p:nvPr/>
        </p:nvSpPr>
        <p:spPr>
          <a:xfrm>
            <a:off x="3307222" y="171596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4"/>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이력서 업로드</a:t>
            </a:r>
            <a:endParaRPr sz="2400"/>
          </a:p>
        </p:txBody>
      </p:sp>
      <p:sp>
        <p:nvSpPr>
          <p:cNvPr id="326" name="Google Shape;326;p14"/>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327" name="Google Shape;327;p14"/>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328" name="Google Shape;328;p14"/>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329" name="Google Shape;329;p1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30" name="Google Shape;330;p14"/>
          <p:cNvSpPr/>
          <p:nvPr/>
        </p:nvSpPr>
        <p:spPr>
          <a:xfrm>
            <a:off x="2928108" y="180912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graphicFrame>
        <p:nvGraphicFramePr>
          <p:cNvPr id="331" name="Google Shape;331;p14"/>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481600"/>
                <a:gridCol w="2794650"/>
              </a:tblGrid>
              <a:tr h="5340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이력서 업로드 안내 문구 영역</a:t>
                      </a:r>
                      <a:endParaRPr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면접 진행을 위해 이력서 업로드가 필요함을 사용자에게 안내하는 문구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307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파일 업로드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드래그 앤 드롭 박스</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이력서를 드래그 앤 드롭 방식으로 업로드할 수 있는 영역</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클릭 시 파일 선택 창을 통해 업로드도 가능</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307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문서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업로드 전 또는 업로드된 이력서 파일을 이미지 형태로 표시하는 영역</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선택한 파일을 시각적으로 확인할 수 있도록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2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업로드 안내 문구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이력서를 지정된 영역에 드래그하여 업로드하도록 안내하는 보조 문구 영역</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파일 업로드 방식을 명확히 설명</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2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파일 업로드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이력서 파일을 선택하여 업로드를 실행하는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파일 선택 후 업로드 처리를 시작</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2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파일 형식 안내 문구</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 가능한 파일 형식을 안내하는 문구 영역</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PDF 형식의 이력서만 업로드 가능함을 사용자에게 고지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332" name="Google Shape;332;p14"/>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480825"/>
                <a:gridCol w="28038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SCR-04</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이력서 업로드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지원자 면접 진행을 위한 이력서  PDF 업로드 </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333" name="Google Shape;333;p14"/>
          <p:cNvSpPr/>
          <p:nvPr/>
        </p:nvSpPr>
        <p:spPr>
          <a:xfrm>
            <a:off x="2331720" y="1216152"/>
            <a:ext cx="4014216" cy="5212080"/>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34" name="Google Shape;334;p14"/>
          <p:cNvSpPr txBox="1"/>
          <p:nvPr/>
        </p:nvSpPr>
        <p:spPr>
          <a:xfrm>
            <a:off x="3022211" y="1944895"/>
            <a:ext cx="26332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Noto Sans KR"/>
                <a:ea typeface="Noto Sans KR"/>
                <a:cs typeface="Noto Sans KR"/>
                <a:sym typeface="Noto Sans KR"/>
              </a:rPr>
              <a:t>이력서를 업로드 해주세요.</a:t>
            </a:r>
            <a:endParaRPr sz="1800">
              <a:solidFill>
                <a:schemeClr val="dk1"/>
              </a:solidFill>
              <a:latin typeface="Noto Sans KR"/>
              <a:ea typeface="Noto Sans KR"/>
              <a:cs typeface="Noto Sans KR"/>
              <a:sym typeface="Noto Sans KR"/>
            </a:endParaRPr>
          </a:p>
        </p:txBody>
      </p:sp>
      <p:sp>
        <p:nvSpPr>
          <p:cNvPr id="335" name="Google Shape;335;p14"/>
          <p:cNvSpPr/>
          <p:nvPr/>
        </p:nvSpPr>
        <p:spPr>
          <a:xfrm>
            <a:off x="2798064" y="2505456"/>
            <a:ext cx="3081528" cy="1728216"/>
          </a:xfrm>
          <a:prstGeom prst="roundRect">
            <a:avLst>
              <a:gd fmla="val 16667" name="adj"/>
            </a:avLst>
          </a:prstGeom>
          <a:noFill/>
          <a:ln cap="flat" cmpd="sng" w="13950">
            <a:solidFill>
              <a:srgbClr val="7F7F7F">
                <a:alpha val="50196"/>
              </a:srgbClr>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36" name="Google Shape;336;p14"/>
          <p:cNvSpPr txBox="1"/>
          <p:nvPr/>
        </p:nvSpPr>
        <p:spPr>
          <a:xfrm>
            <a:off x="3177291" y="3845824"/>
            <a:ext cx="2323072"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이력서를 이곳에 드래그하여 놓아주세요.</a:t>
            </a:r>
            <a:endParaRPr sz="1000">
              <a:solidFill>
                <a:schemeClr val="dk1"/>
              </a:solidFill>
              <a:latin typeface="Noto Sans KR"/>
              <a:ea typeface="Noto Sans KR"/>
              <a:cs typeface="Noto Sans KR"/>
              <a:sym typeface="Noto Sans KR"/>
            </a:endParaRPr>
          </a:p>
        </p:txBody>
      </p:sp>
      <p:sp>
        <p:nvSpPr>
          <p:cNvPr id="337" name="Google Shape;337;p14"/>
          <p:cNvSpPr/>
          <p:nvPr/>
        </p:nvSpPr>
        <p:spPr>
          <a:xfrm>
            <a:off x="3937045" y="2725499"/>
            <a:ext cx="803564" cy="951346"/>
          </a:xfrm>
          <a:prstGeom prst="rect">
            <a:avLst/>
          </a:prstGeom>
          <a:solidFill>
            <a:schemeClr val="lt1"/>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문서 이미지</a:t>
            </a:r>
            <a:endParaRPr sz="1000">
              <a:solidFill>
                <a:schemeClr val="dk1"/>
              </a:solidFill>
              <a:latin typeface="Noto Sans KR"/>
              <a:ea typeface="Noto Sans KR"/>
              <a:cs typeface="Noto Sans KR"/>
              <a:sym typeface="Noto Sans KR"/>
            </a:endParaRPr>
          </a:p>
        </p:txBody>
      </p:sp>
      <p:sp>
        <p:nvSpPr>
          <p:cNvPr id="338" name="Google Shape;338;p14"/>
          <p:cNvSpPr/>
          <p:nvPr/>
        </p:nvSpPr>
        <p:spPr>
          <a:xfrm>
            <a:off x="3235693" y="4578301"/>
            <a:ext cx="2331720" cy="438912"/>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800">
                <a:solidFill>
                  <a:schemeClr val="lt1"/>
                </a:solidFill>
                <a:latin typeface="Noto Sans KR"/>
                <a:ea typeface="Noto Sans KR"/>
                <a:cs typeface="Noto Sans KR"/>
                <a:sym typeface="Noto Sans KR"/>
              </a:rPr>
              <a:t>파일 업로드</a:t>
            </a:r>
            <a:endParaRPr b="1" sz="1800">
              <a:solidFill>
                <a:schemeClr val="lt1"/>
              </a:solidFill>
              <a:latin typeface="Noto Sans KR"/>
              <a:ea typeface="Noto Sans KR"/>
              <a:cs typeface="Noto Sans KR"/>
              <a:sym typeface="Noto Sans KR"/>
            </a:endParaRPr>
          </a:p>
        </p:txBody>
      </p:sp>
      <p:sp>
        <p:nvSpPr>
          <p:cNvPr id="339" name="Google Shape;339;p14"/>
          <p:cNvSpPr txBox="1"/>
          <p:nvPr/>
        </p:nvSpPr>
        <p:spPr>
          <a:xfrm>
            <a:off x="3263394" y="5037113"/>
            <a:ext cx="203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rgbClr val="7F7F7F"/>
                </a:solidFill>
                <a:latin typeface="Noto Sans KR"/>
                <a:ea typeface="Noto Sans KR"/>
                <a:cs typeface="Noto Sans KR"/>
                <a:sym typeface="Noto Sans KR"/>
              </a:rPr>
              <a:t>PDF 형식만 지원합니다.</a:t>
            </a:r>
            <a:endParaRPr sz="900">
              <a:solidFill>
                <a:srgbClr val="7F7F7F"/>
              </a:solidFill>
              <a:latin typeface="Noto Sans KR"/>
              <a:ea typeface="Noto Sans KR"/>
              <a:cs typeface="Noto Sans KR"/>
              <a:sym typeface="Noto Sans KR"/>
            </a:endParaRPr>
          </a:p>
        </p:txBody>
      </p:sp>
      <p:sp>
        <p:nvSpPr>
          <p:cNvPr id="340" name="Google Shape;340;p14"/>
          <p:cNvSpPr/>
          <p:nvPr/>
        </p:nvSpPr>
        <p:spPr>
          <a:xfrm>
            <a:off x="2648704" y="24073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341" name="Google Shape;341;p14"/>
          <p:cNvSpPr/>
          <p:nvPr/>
        </p:nvSpPr>
        <p:spPr>
          <a:xfrm>
            <a:off x="3787685" y="256095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342" name="Google Shape;342;p14"/>
          <p:cNvSpPr/>
          <p:nvPr/>
        </p:nvSpPr>
        <p:spPr>
          <a:xfrm>
            <a:off x="3058108" y="369364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343" name="Google Shape;343;p14"/>
          <p:cNvSpPr/>
          <p:nvPr/>
        </p:nvSpPr>
        <p:spPr>
          <a:xfrm>
            <a:off x="3041288" y="445963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344" name="Google Shape;344;p14"/>
          <p:cNvSpPr/>
          <p:nvPr/>
        </p:nvSpPr>
        <p:spPr>
          <a:xfrm>
            <a:off x="3063754" y="501721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5"/>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이력서 재업로드</a:t>
            </a:r>
            <a:endParaRPr sz="2400"/>
          </a:p>
        </p:txBody>
      </p:sp>
      <p:sp>
        <p:nvSpPr>
          <p:cNvPr id="351" name="Google Shape;351;p15"/>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352" name="Google Shape;352;p15"/>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353" name="Google Shape;353;p15"/>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354" name="Google Shape;354;p1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355" name="Google Shape;355;p15"/>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3276225"/>
              </a:tblGrid>
              <a:tr h="5479400">
                <a:tc>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356" name="Google Shape;356;p15"/>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SCR-05</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이력서 재업로드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이력서 수정 및 재업로드</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357" name="Google Shape;357;p15"/>
          <p:cNvSpPr/>
          <p:nvPr/>
        </p:nvSpPr>
        <p:spPr>
          <a:xfrm>
            <a:off x="3325103" y="2887718"/>
            <a:ext cx="142699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1800">
                <a:solidFill>
                  <a:schemeClr val="dk1"/>
                </a:solidFill>
                <a:latin typeface="Noto Sans KR"/>
                <a:ea typeface="Noto Sans KR"/>
                <a:cs typeface="Noto Sans KR"/>
                <a:sym typeface="Noto Sans KR"/>
              </a:rPr>
              <a:t>SCR-04 이동</a:t>
            </a:r>
            <a:endParaRPr sz="1800">
              <a:solidFill>
                <a:schemeClr val="dk1"/>
              </a:solidFill>
              <a:latin typeface="Noto Sans KR"/>
              <a:ea typeface="Noto Sans KR"/>
              <a:cs typeface="Noto Sans KR"/>
              <a:sym typeface="Noto Sans K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6"/>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이력서 내역 확인</a:t>
            </a:r>
            <a:endParaRPr sz="2400"/>
          </a:p>
        </p:txBody>
      </p:sp>
      <p:sp>
        <p:nvSpPr>
          <p:cNvPr id="364" name="Google Shape;364;p16"/>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365" name="Google Shape;365;p16"/>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366" name="Google Shape;366;p16"/>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367" name="Google Shape;367;p1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368" name="Google Shape;368;p16"/>
          <p:cNvGraphicFramePr/>
          <p:nvPr/>
        </p:nvGraphicFramePr>
        <p:xfrm>
          <a:off x="8561828" y="1054742"/>
          <a:ext cx="3000000" cy="3000000"/>
        </p:xfrm>
        <a:graphic>
          <a:graphicData uri="http://schemas.openxmlformats.org/drawingml/2006/table">
            <a:tbl>
              <a:tblPr bandRow="1" firstRow="1">
                <a:noFill/>
                <a:tableStyleId>{C61F204E-A15B-47D6-BEBB-6A886D3283EB}</a:tableStyleId>
              </a:tblPr>
              <a:tblGrid>
                <a:gridCol w="563125"/>
                <a:gridCol w="2713100"/>
              </a:tblGrid>
              <a:tr h="10980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이력서 추출 내용 안내 문구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업로드된 이력서에서 자동으로 추출된 정보를 안내</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내용의 정확성을 확인하도록 유도하는 문구 영역</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내용이 맞을 경우 면접 진행을 안내</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980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latin typeface="Noto Sans KR"/>
                          <a:ea typeface="Noto Sans KR"/>
                          <a:cs typeface="Noto Sans KR"/>
                          <a:sym typeface="Noto Sans KR"/>
                        </a:rPr>
                        <a:t>지원 정보 확인 영역</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이력서에서 추출된 지원 정보를 요약하여 표시하는 영역</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지원 회사, 지원 직무, 경력 요약, 전공관련, 기술 및 자격 등 </a:t>
                      </a:r>
                      <a:r>
                        <a:rPr lang="ko-KR" sz="1000" u="none" cap="none" strike="noStrike"/>
                        <a:t>사용자가 면접 진행 전 자신의 지원 정보를 최종 확인</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31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면접 진행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표시된 지원 정보가 정확한 경우,면접 절차를 계속 진행하기 위한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클릭 시 다음 단계(환경 테스트 또는 질문 화면)로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611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이력서 재업로드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이력서 정보가 정확하지 않거나 수정이 필요한 경우,이력서를 다시 업로드할 수 있도록 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클릭 시 이력서 업로드 화면(SCR-05)으로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9037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369" name="Google Shape;369;p16"/>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SCR-06</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지원 정보 확인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지원 회사·직무등 지원 정보 확인</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grpSp>
        <p:nvGrpSpPr>
          <p:cNvPr id="370" name="Google Shape;370;p16"/>
          <p:cNvGrpSpPr/>
          <p:nvPr/>
        </p:nvGrpSpPr>
        <p:grpSpPr>
          <a:xfrm>
            <a:off x="2124364" y="1225997"/>
            <a:ext cx="4184073" cy="5227781"/>
            <a:chOff x="2124364" y="1225997"/>
            <a:chExt cx="4184073" cy="5227781"/>
          </a:xfrm>
        </p:grpSpPr>
        <p:sp>
          <p:nvSpPr>
            <p:cNvPr id="371" name="Google Shape;371;p16"/>
            <p:cNvSpPr/>
            <p:nvPr/>
          </p:nvSpPr>
          <p:spPr>
            <a:xfrm>
              <a:off x="2205190" y="14095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372" name="Google Shape;372;p16"/>
            <p:cNvSpPr/>
            <p:nvPr/>
          </p:nvSpPr>
          <p:spPr>
            <a:xfrm>
              <a:off x="2124364" y="1225997"/>
              <a:ext cx="4184073" cy="5227781"/>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73" name="Google Shape;373;p16"/>
            <p:cNvSpPr txBox="1"/>
            <p:nvPr/>
          </p:nvSpPr>
          <p:spPr>
            <a:xfrm>
              <a:off x="2124364" y="1588279"/>
              <a:ext cx="418407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업로드하신 이력서에서 아래와 같은 내용을 추출하였습니다.</a:t>
              </a:r>
              <a:endParaRPr/>
            </a:p>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내용이 맞는지 확인해 주세요.</a:t>
              </a:r>
              <a:endParaRPr/>
            </a:p>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내용이 맞다면 하단에 면접 진행 버튼을 눌러주세요.</a:t>
              </a:r>
              <a:endParaRPr sz="1200">
                <a:solidFill>
                  <a:schemeClr val="dk1"/>
                </a:solidFill>
                <a:latin typeface="Noto Sans KR"/>
                <a:ea typeface="Noto Sans KR"/>
                <a:cs typeface="Noto Sans KR"/>
                <a:sym typeface="Noto Sans KR"/>
              </a:endParaRPr>
            </a:p>
          </p:txBody>
        </p:sp>
        <p:grpSp>
          <p:nvGrpSpPr>
            <p:cNvPr id="374" name="Google Shape;374;p16"/>
            <p:cNvGrpSpPr/>
            <p:nvPr/>
          </p:nvGrpSpPr>
          <p:grpSpPr>
            <a:xfrm>
              <a:off x="2465190" y="2412226"/>
              <a:ext cx="3502420" cy="2002249"/>
              <a:chOff x="2465190" y="2394260"/>
              <a:chExt cx="3502420" cy="2002249"/>
            </a:xfrm>
          </p:grpSpPr>
          <p:sp>
            <p:nvSpPr>
              <p:cNvPr id="375" name="Google Shape;375;p16"/>
              <p:cNvSpPr/>
              <p:nvPr/>
            </p:nvSpPr>
            <p:spPr>
              <a:xfrm>
                <a:off x="2465190" y="2412226"/>
                <a:ext cx="3502420" cy="1984283"/>
              </a:xfrm>
              <a:prstGeom prst="roundRect">
                <a:avLst>
                  <a:gd fmla="val 9219" name="adj"/>
                </a:avLst>
              </a:prstGeom>
              <a:solidFill>
                <a:schemeClr val="lt1"/>
              </a:solidFill>
              <a:ln cap="flat" cmpd="sng" w="13950">
                <a:solidFill>
                  <a:srgbClr val="7F7F7F">
                    <a:alpha val="50196"/>
                  </a:srgbClr>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지원 회사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지원 직무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경력 요약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전공  </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관련  기술 </a:t>
                </a:r>
                <a:endParaRPr sz="1200">
                  <a:solidFill>
                    <a:schemeClr val="dk1"/>
                  </a:solidFill>
                  <a:latin typeface="Noto Sans KR"/>
                  <a:ea typeface="Noto Sans KR"/>
                  <a:cs typeface="Noto Sans KR"/>
                  <a:sym typeface="Noto Sans KR"/>
                </a:endParaRPr>
              </a:p>
            </p:txBody>
          </p:sp>
          <p:sp>
            <p:nvSpPr>
              <p:cNvPr id="376" name="Google Shape;376;p16"/>
              <p:cNvSpPr/>
              <p:nvPr/>
            </p:nvSpPr>
            <p:spPr>
              <a:xfrm>
                <a:off x="2465190" y="2394260"/>
                <a:ext cx="3502420" cy="552647"/>
              </a:xfrm>
              <a:prstGeom prst="roundRect">
                <a:avLst>
                  <a:gd fmla="val 19587" name="adj"/>
                </a:avLst>
              </a:prstGeom>
              <a:solidFill>
                <a:schemeClr val="lt2"/>
              </a:solidFill>
              <a:ln cap="flat" cmpd="sng" w="13950">
                <a:solidFill>
                  <a:srgbClr val="7F7F7F">
                    <a:alpha val="50196"/>
                  </a:srgbClr>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dk1"/>
                    </a:solidFill>
                    <a:latin typeface="Noto Sans KR"/>
                    <a:ea typeface="Noto Sans KR"/>
                    <a:cs typeface="Noto Sans KR"/>
                    <a:sym typeface="Noto Sans KR"/>
                  </a:rPr>
                  <a:t>지원 정보 확인</a:t>
                </a:r>
                <a:endParaRPr sz="1800">
                  <a:solidFill>
                    <a:schemeClr val="dk1"/>
                  </a:solidFill>
                  <a:latin typeface="Noto Sans KR"/>
                  <a:ea typeface="Noto Sans KR"/>
                  <a:cs typeface="Noto Sans KR"/>
                  <a:sym typeface="Noto Sans KR"/>
                </a:endParaRPr>
              </a:p>
            </p:txBody>
          </p:sp>
        </p:grpSp>
        <p:sp>
          <p:nvSpPr>
            <p:cNvPr id="377" name="Google Shape;377;p16"/>
            <p:cNvSpPr txBox="1"/>
            <p:nvPr/>
          </p:nvSpPr>
          <p:spPr>
            <a:xfrm>
              <a:off x="3315462" y="3186375"/>
              <a:ext cx="2367886"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삼성전자</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S/W 개발</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AWS 인턴십 6개월</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컴퓨터공학 학사</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정보처리기사, 네트워크관리사 2급</a:t>
              </a:r>
              <a:endParaRPr sz="1200">
                <a:solidFill>
                  <a:schemeClr val="dk1"/>
                </a:solidFill>
                <a:latin typeface="Noto Sans KR"/>
                <a:ea typeface="Noto Sans KR"/>
                <a:cs typeface="Noto Sans KR"/>
                <a:sym typeface="Noto Sans KR"/>
              </a:endParaRPr>
            </a:p>
          </p:txBody>
        </p:sp>
        <p:sp>
          <p:nvSpPr>
            <p:cNvPr id="378" name="Google Shape;378;p16"/>
            <p:cNvSpPr/>
            <p:nvPr/>
          </p:nvSpPr>
          <p:spPr>
            <a:xfrm>
              <a:off x="3050540" y="4621874"/>
              <a:ext cx="2331720" cy="438912"/>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800">
                  <a:solidFill>
                    <a:schemeClr val="lt1"/>
                  </a:solidFill>
                  <a:latin typeface="Noto Sans KR"/>
                  <a:ea typeface="Noto Sans KR"/>
                  <a:cs typeface="Noto Sans KR"/>
                  <a:sym typeface="Noto Sans KR"/>
                </a:rPr>
                <a:t>면접 진행</a:t>
              </a:r>
              <a:endParaRPr b="1" sz="1800">
                <a:solidFill>
                  <a:schemeClr val="lt1"/>
                </a:solidFill>
                <a:latin typeface="Noto Sans KR"/>
                <a:ea typeface="Noto Sans KR"/>
                <a:cs typeface="Noto Sans KR"/>
                <a:sym typeface="Noto Sans KR"/>
              </a:endParaRPr>
            </a:p>
          </p:txBody>
        </p:sp>
        <p:sp>
          <p:nvSpPr>
            <p:cNvPr id="379" name="Google Shape;379;p16"/>
            <p:cNvSpPr/>
            <p:nvPr/>
          </p:nvSpPr>
          <p:spPr>
            <a:xfrm>
              <a:off x="3050540" y="5214670"/>
              <a:ext cx="2331720" cy="438912"/>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800">
                  <a:solidFill>
                    <a:srgbClr val="7F7F7F"/>
                  </a:solidFill>
                  <a:latin typeface="Noto Sans KR"/>
                  <a:ea typeface="Noto Sans KR"/>
                  <a:cs typeface="Noto Sans KR"/>
                  <a:sym typeface="Noto Sans KR"/>
                </a:rPr>
                <a:t>이력서 재업로드</a:t>
              </a:r>
              <a:endParaRPr b="1" sz="1800">
                <a:solidFill>
                  <a:srgbClr val="7F7F7F"/>
                </a:solidFill>
                <a:latin typeface="Noto Sans KR"/>
                <a:ea typeface="Noto Sans KR"/>
                <a:cs typeface="Noto Sans KR"/>
                <a:sym typeface="Noto Sans KR"/>
              </a:endParaRPr>
            </a:p>
          </p:txBody>
        </p:sp>
        <p:sp>
          <p:nvSpPr>
            <p:cNvPr id="380" name="Google Shape;380;p16"/>
            <p:cNvSpPr/>
            <p:nvPr/>
          </p:nvSpPr>
          <p:spPr>
            <a:xfrm>
              <a:off x="2279723" y="223664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381" name="Google Shape;381;p16"/>
            <p:cNvSpPr/>
            <p:nvPr/>
          </p:nvSpPr>
          <p:spPr>
            <a:xfrm>
              <a:off x="2893424" y="448840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382" name="Google Shape;382;p16"/>
            <p:cNvSpPr/>
            <p:nvPr/>
          </p:nvSpPr>
          <p:spPr>
            <a:xfrm>
              <a:off x="2893424" y="51237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7"/>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환경테스트-오디오</a:t>
            </a:r>
            <a:endParaRPr sz="2400"/>
          </a:p>
        </p:txBody>
      </p:sp>
      <p:sp>
        <p:nvSpPr>
          <p:cNvPr id="389" name="Google Shape;389;p17"/>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390" name="Google Shape;390;p17"/>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391" name="Google Shape;391;p17"/>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392" name="Google Shape;392;p1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393" name="Google Shape;393;p17"/>
          <p:cNvGraphicFramePr/>
          <p:nvPr/>
        </p:nvGraphicFramePr>
        <p:xfrm>
          <a:off x="8561828" y="1044783"/>
          <a:ext cx="3000000" cy="3000000"/>
        </p:xfrm>
        <a:graphic>
          <a:graphicData uri="http://schemas.openxmlformats.org/drawingml/2006/table">
            <a:tbl>
              <a:tblPr bandRow="1" firstRow="1">
                <a:noFill/>
                <a:tableStyleId>{C61F204E-A15B-47D6-BEBB-6A886D3283EB}</a:tableStyleId>
              </a:tblPr>
              <a:tblGrid>
                <a:gridCol w="563125"/>
                <a:gridCol w="2713100"/>
              </a:tblGrid>
              <a:tr h="552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음성 테스트 시작 안내 영역</a:t>
                      </a:r>
                      <a:endParaRPr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단계가 오디오 환경 테스트임을 명확히 안내하는 헤더 메시지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586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마이크 입력 감지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사용자의 실시간 음성 입력 상태를 시각적으로 마이크 모양과 사운드바로 표시</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입력이 감지되면 아이콘 애니메이션 또는 활성 상태로 변경</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586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테스트 안내 문구</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어떻게 말해야 하는지를 명확히 안내</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테스트 문장을 그대로 읽도록 유도하여발음, 볼륨, 끊김 여부를 표준화된 조건으로 점검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5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테스트용 기준 문장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STT 정확도 검증을 위한 고정 기준 문장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발화와 STT 결과를 비교하기 위한 기준 텍스트</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586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STT 인식 결과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음성을 STT로 변환한 실시간 또는 완료 결과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기준 문장과 비교하여 누락·왜곡 여부를 사용자가 직접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86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상태 표시 영역</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현재 STT 처리 상태를 표시 </a:t>
                      </a:r>
                      <a:r>
                        <a:rPr b="0" lang="ko-KR" sz="800" u="none" cap="none" strike="noStrike">
                          <a:solidFill>
                            <a:schemeClr val="dk1"/>
                          </a:solidFill>
                          <a:latin typeface="Noto Sans KR"/>
                          <a:ea typeface="Noto Sans KR"/>
                          <a:cs typeface="Noto Sans KR"/>
                          <a:sym typeface="Noto Sans KR"/>
                        </a:rPr>
                        <a:t>예: 인식 중 / 완료 / 실패</a:t>
                      </a:r>
                      <a:endParaRPr b="0" sz="8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5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t>테스트 재진행 버튼</a:t>
                      </a:r>
                      <a:endParaRPr b="1" sz="1000" u="none" cap="none" strike="noStrike"/>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음성 테스트를 처음부터 다시 수행</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STT 결과가 만족스럽지 않을 경우 반복 테스트 가능</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다음 단계 진행 버튼</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a:t>
                      </a:r>
                      <a:r>
                        <a:rPr b="0" lang="ko-KR" sz="1000" u="none" cap="none" strike="noStrike">
                          <a:latin typeface="Noto Sans KR"/>
                          <a:ea typeface="Noto Sans KR"/>
                          <a:cs typeface="Noto Sans KR"/>
                          <a:sym typeface="Noto Sans KR"/>
                        </a:rPr>
                        <a:t>오디오 테스트 통과 후 다음 환경 테스트 또는 면접 단계로 이동하는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394" name="Google Shape;394;p17"/>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SCR-07</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오디오 테스트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음성 입력 및 STT 점검</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395" name="Google Shape;395;p17"/>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96" name="Google Shape;396;p17"/>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397" name="Google Shape;397;p17"/>
          <p:cNvSpPr txBox="1"/>
          <p:nvPr/>
        </p:nvSpPr>
        <p:spPr>
          <a:xfrm>
            <a:off x="1496593" y="1262124"/>
            <a:ext cx="33698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Noto Sans KR"/>
                <a:ea typeface="Noto Sans KR"/>
                <a:cs typeface="Noto Sans KR"/>
                <a:sym typeface="Noto Sans KR"/>
              </a:rPr>
              <a:t>음성테스트를 시작합니다.</a:t>
            </a:r>
            <a:endParaRPr sz="1800">
              <a:solidFill>
                <a:schemeClr val="dk1"/>
              </a:solidFill>
              <a:latin typeface="Noto Sans KR"/>
              <a:ea typeface="Noto Sans KR"/>
              <a:cs typeface="Noto Sans KR"/>
              <a:sym typeface="Noto Sans KR"/>
            </a:endParaRPr>
          </a:p>
        </p:txBody>
      </p:sp>
      <p:pic>
        <p:nvPicPr>
          <p:cNvPr id="398" name="Google Shape;398;p17"/>
          <p:cNvPicPr preferRelativeResize="0"/>
          <p:nvPr/>
        </p:nvPicPr>
        <p:blipFill rotWithShape="1">
          <a:blip r:embed="rId3">
            <a:alphaModFix/>
          </a:blip>
          <a:srcRect b="0" l="0" r="0" t="0"/>
          <a:stretch/>
        </p:blipFill>
        <p:spPr>
          <a:xfrm>
            <a:off x="3065364" y="1907630"/>
            <a:ext cx="1958113" cy="1958113"/>
          </a:xfrm>
          <a:prstGeom prst="rect">
            <a:avLst/>
          </a:prstGeom>
          <a:noFill/>
          <a:ln>
            <a:noFill/>
          </a:ln>
        </p:spPr>
      </p:pic>
      <p:pic>
        <p:nvPicPr>
          <p:cNvPr id="399" name="Google Shape;399;p17"/>
          <p:cNvPicPr preferRelativeResize="0"/>
          <p:nvPr/>
        </p:nvPicPr>
        <p:blipFill rotWithShape="1">
          <a:blip r:embed="rId4">
            <a:alphaModFix/>
          </a:blip>
          <a:srcRect b="0" l="0" r="0" t="0"/>
          <a:stretch/>
        </p:blipFill>
        <p:spPr>
          <a:xfrm>
            <a:off x="2198888" y="3628427"/>
            <a:ext cx="4405321" cy="352474"/>
          </a:xfrm>
          <a:prstGeom prst="rect">
            <a:avLst/>
          </a:prstGeom>
          <a:noFill/>
          <a:ln>
            <a:noFill/>
          </a:ln>
        </p:spPr>
      </p:pic>
      <p:sp>
        <p:nvSpPr>
          <p:cNvPr id="400" name="Google Shape;400;p17"/>
          <p:cNvSpPr txBox="1"/>
          <p:nvPr/>
        </p:nvSpPr>
        <p:spPr>
          <a:xfrm>
            <a:off x="1932336" y="4158944"/>
            <a:ext cx="493842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1400">
                <a:solidFill>
                  <a:schemeClr val="dk1"/>
                </a:solidFill>
                <a:latin typeface="Noto Sans KR"/>
                <a:ea typeface="Noto Sans KR"/>
                <a:cs typeface="Noto Sans KR"/>
                <a:sym typeface="Noto Sans KR"/>
              </a:rPr>
              <a:t>아래 문장을 정확하게 읽어 주세요.</a:t>
            </a:r>
            <a:endParaRPr sz="1400">
              <a:solidFill>
                <a:schemeClr val="dk1"/>
              </a:solidFill>
              <a:latin typeface="Noto Sans KR"/>
              <a:ea typeface="Noto Sans KR"/>
              <a:cs typeface="Noto Sans KR"/>
              <a:sym typeface="Noto Sans KR"/>
            </a:endParaRPr>
          </a:p>
        </p:txBody>
      </p:sp>
      <p:sp>
        <p:nvSpPr>
          <p:cNvPr id="401" name="Google Shape;401;p17"/>
          <p:cNvSpPr/>
          <p:nvPr/>
        </p:nvSpPr>
        <p:spPr>
          <a:xfrm>
            <a:off x="1867135" y="4520588"/>
            <a:ext cx="5068825" cy="309857"/>
          </a:xfrm>
          <a:prstGeom prst="rect">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rgbClr val="7F7F7F"/>
                </a:solidFill>
                <a:latin typeface="Noto Sans KR"/>
                <a:ea typeface="Noto Sans KR"/>
                <a:cs typeface="Noto Sans KR"/>
                <a:sym typeface="Noto Sans KR"/>
              </a:rPr>
              <a:t> AI 모의면접 진행할 준비가 되었습니다. </a:t>
            </a:r>
            <a:endParaRPr sz="1800">
              <a:solidFill>
                <a:srgbClr val="7F7F7F"/>
              </a:solidFill>
              <a:latin typeface="Noto Sans KR"/>
              <a:ea typeface="Noto Sans KR"/>
              <a:cs typeface="Noto Sans KR"/>
              <a:sym typeface="Noto Sans KR"/>
            </a:endParaRPr>
          </a:p>
        </p:txBody>
      </p:sp>
      <p:sp>
        <p:nvSpPr>
          <p:cNvPr id="402" name="Google Shape;402;p17"/>
          <p:cNvSpPr/>
          <p:nvPr/>
        </p:nvSpPr>
        <p:spPr>
          <a:xfrm>
            <a:off x="1867135" y="5158357"/>
            <a:ext cx="5068825" cy="309857"/>
          </a:xfrm>
          <a:prstGeom prst="rect">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dk1"/>
                </a:solidFill>
                <a:latin typeface="Noto Sans KR"/>
                <a:ea typeface="Noto Sans KR"/>
                <a:cs typeface="Noto Sans KR"/>
                <a:sym typeface="Noto Sans KR"/>
              </a:rPr>
              <a:t> AI 모의면접 진행할 준… </a:t>
            </a:r>
            <a:endParaRPr sz="1800">
              <a:solidFill>
                <a:schemeClr val="dk1"/>
              </a:solidFill>
              <a:latin typeface="Noto Sans KR"/>
              <a:ea typeface="Noto Sans KR"/>
              <a:cs typeface="Noto Sans KR"/>
              <a:sym typeface="Noto Sans KR"/>
            </a:endParaRPr>
          </a:p>
        </p:txBody>
      </p:sp>
      <p:grpSp>
        <p:nvGrpSpPr>
          <p:cNvPr id="403" name="Google Shape;403;p17"/>
          <p:cNvGrpSpPr/>
          <p:nvPr/>
        </p:nvGrpSpPr>
        <p:grpSpPr>
          <a:xfrm>
            <a:off x="3857153" y="5526850"/>
            <a:ext cx="1088787" cy="246221"/>
            <a:chOff x="3857153" y="5526850"/>
            <a:chExt cx="1088787" cy="246221"/>
          </a:xfrm>
        </p:grpSpPr>
        <p:sp>
          <p:nvSpPr>
            <p:cNvPr id="404" name="Google Shape;404;p17"/>
            <p:cNvSpPr/>
            <p:nvPr/>
          </p:nvSpPr>
          <p:spPr>
            <a:xfrm>
              <a:off x="3904212" y="5586540"/>
              <a:ext cx="196733" cy="115158"/>
            </a:xfrm>
            <a:prstGeom prst="ellipse">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05" name="Google Shape;405;p17"/>
            <p:cNvSpPr txBox="1"/>
            <p:nvPr/>
          </p:nvSpPr>
          <p:spPr>
            <a:xfrm>
              <a:off x="3857153" y="5526850"/>
              <a:ext cx="108878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v     </a:t>
              </a:r>
              <a:r>
                <a:rPr lang="ko-KR" sz="1000">
                  <a:solidFill>
                    <a:srgbClr val="006600"/>
                  </a:solidFill>
                  <a:latin typeface="Noto Sans KR"/>
                  <a:ea typeface="Noto Sans KR"/>
                  <a:cs typeface="Noto Sans KR"/>
                  <a:sym typeface="Noto Sans KR"/>
                </a:rPr>
                <a:t>입력중…</a:t>
              </a:r>
              <a:endParaRPr sz="1000">
                <a:solidFill>
                  <a:srgbClr val="006600"/>
                </a:solidFill>
                <a:latin typeface="Noto Sans KR"/>
                <a:ea typeface="Noto Sans KR"/>
                <a:cs typeface="Noto Sans KR"/>
                <a:sym typeface="Noto Sans KR"/>
              </a:endParaRPr>
            </a:p>
          </p:txBody>
        </p:sp>
      </p:grpSp>
      <p:sp>
        <p:nvSpPr>
          <p:cNvPr id="406" name="Google Shape;406;p17"/>
          <p:cNvSpPr txBox="1"/>
          <p:nvPr/>
        </p:nvSpPr>
        <p:spPr>
          <a:xfrm>
            <a:off x="1867135" y="4941455"/>
            <a:ext cx="2233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407" name="Google Shape;407;p17"/>
          <p:cNvSpPr/>
          <p:nvPr/>
        </p:nvSpPr>
        <p:spPr>
          <a:xfrm>
            <a:off x="2575116" y="5842188"/>
            <a:ext cx="1549549" cy="239764"/>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rgbClr val="7F7F7F"/>
                </a:solidFill>
                <a:latin typeface="Noto Sans KR"/>
                <a:ea typeface="Noto Sans KR"/>
                <a:cs typeface="Noto Sans KR"/>
                <a:sym typeface="Noto Sans KR"/>
              </a:rPr>
              <a:t>테스트 다시 진행</a:t>
            </a:r>
            <a:endParaRPr b="1" sz="1000">
              <a:solidFill>
                <a:srgbClr val="7F7F7F"/>
              </a:solidFill>
              <a:latin typeface="Noto Sans KR"/>
              <a:ea typeface="Noto Sans KR"/>
              <a:cs typeface="Noto Sans KR"/>
              <a:sym typeface="Noto Sans KR"/>
            </a:endParaRPr>
          </a:p>
        </p:txBody>
      </p:sp>
      <p:sp>
        <p:nvSpPr>
          <p:cNvPr id="408" name="Google Shape;408;p17"/>
          <p:cNvSpPr/>
          <p:nvPr/>
        </p:nvSpPr>
        <p:spPr>
          <a:xfrm>
            <a:off x="4401546" y="5842188"/>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다음 진행</a:t>
            </a:r>
            <a:endParaRPr b="1" sz="1000">
              <a:solidFill>
                <a:schemeClr val="lt1"/>
              </a:solidFill>
              <a:latin typeface="Noto Sans KR"/>
              <a:ea typeface="Noto Sans KR"/>
              <a:cs typeface="Noto Sans KR"/>
              <a:sym typeface="Noto Sans KR"/>
            </a:endParaRPr>
          </a:p>
        </p:txBody>
      </p:sp>
      <p:sp>
        <p:nvSpPr>
          <p:cNvPr id="409" name="Google Shape;409;p17"/>
          <p:cNvSpPr/>
          <p:nvPr/>
        </p:nvSpPr>
        <p:spPr>
          <a:xfrm>
            <a:off x="1351713" y="119601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410" name="Google Shape;410;p17"/>
          <p:cNvSpPr/>
          <p:nvPr/>
        </p:nvSpPr>
        <p:spPr>
          <a:xfrm>
            <a:off x="3349890" y="211798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411" name="Google Shape;411;p17"/>
          <p:cNvSpPr/>
          <p:nvPr/>
        </p:nvSpPr>
        <p:spPr>
          <a:xfrm>
            <a:off x="2808441" y="409191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412" name="Google Shape;412;p17"/>
          <p:cNvSpPr/>
          <p:nvPr/>
        </p:nvSpPr>
        <p:spPr>
          <a:xfrm>
            <a:off x="1755285" y="441454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413" name="Google Shape;413;p17"/>
          <p:cNvSpPr/>
          <p:nvPr/>
        </p:nvSpPr>
        <p:spPr>
          <a:xfrm>
            <a:off x="2985513" y="506747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414" name="Google Shape;414;p17"/>
          <p:cNvSpPr/>
          <p:nvPr/>
        </p:nvSpPr>
        <p:spPr>
          <a:xfrm>
            <a:off x="3599209" y="552102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415" name="Google Shape;415;p17"/>
          <p:cNvSpPr/>
          <p:nvPr/>
        </p:nvSpPr>
        <p:spPr>
          <a:xfrm>
            <a:off x="2457364" y="576635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416" name="Google Shape;416;p17"/>
          <p:cNvSpPr/>
          <p:nvPr/>
        </p:nvSpPr>
        <p:spPr>
          <a:xfrm>
            <a:off x="4307443" y="578355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8"/>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환경테스트-영상</a:t>
            </a:r>
            <a:endParaRPr sz="2400"/>
          </a:p>
        </p:txBody>
      </p:sp>
      <p:sp>
        <p:nvSpPr>
          <p:cNvPr id="423" name="Google Shape;423;p18"/>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424" name="Google Shape;424;p18"/>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425" name="Google Shape;425;p18"/>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426" name="Google Shape;426;p1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427" name="Google Shape;427;p18"/>
          <p:cNvGraphicFramePr/>
          <p:nvPr/>
        </p:nvGraphicFramePr>
        <p:xfrm>
          <a:off x="8561828" y="1054742"/>
          <a:ext cx="3000000" cy="3000000"/>
        </p:xfrm>
        <a:graphic>
          <a:graphicData uri="http://schemas.openxmlformats.org/drawingml/2006/table">
            <a:tbl>
              <a:tblPr bandRow="1" firstRow="1">
                <a:noFill/>
                <a:tableStyleId>{C61F204E-A15B-47D6-BEBB-6A886D3283EB}</a:tableStyleId>
              </a:tblPr>
              <a:tblGrid>
                <a:gridCol w="563125"/>
                <a:gridCol w="2713100"/>
              </a:tblGrid>
              <a:tr h="6040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영상 테스트 시작 안내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단계가 영상(카메라) 환경 테스트임을 안내하는 헤더 메시지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41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카메라 위치 안내 문구</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카메라가 정상적으로 연결되었는지 확인하도록 안내</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얼굴이 인식 프레임 영역 안에 들어오도록 위치·거리 조정 유도하는 사용자 행동 가이드</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732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카메라 미리보기 및 얼굴 인식 프레임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실시간 카메라 영상 미리보기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얼굴 인식 가능 영역을 프레임(박스)으로 시각화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451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얼굴 인식 결과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얼굴 인식 성공 여부를 상태 메시지로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성공 시 정상 상태를 시각적으로 강조 실패 시 재조정 또는 재시도 필요 판단 기준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41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테스트 재진행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카메라 위치·조명·각도 조정 후 영상 테스트를 다시 수행</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얼굴 인식이 원활하지 않을 경우 반복 테스트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732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다음 단계 진행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영상 환경 테스트 통과 후 다음 단계(면접 진행 또는 다음 테스트)로 이동하는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얼굴 인식 성공 상태 후 활성화</a:t>
                      </a:r>
                      <a:endParaRPr b="0" sz="9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1100">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428" name="Google Shape;428;p18"/>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SCR-08</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영상 테스트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카메라·얼굴 인식 점검</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429" name="Google Shape;429;p18"/>
          <p:cNvSpPr/>
          <p:nvPr/>
        </p:nvSpPr>
        <p:spPr>
          <a:xfrm>
            <a:off x="1413588" y="1064257"/>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30" name="Google Shape;430;p18"/>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31" name="Google Shape;431;p18"/>
          <p:cNvSpPr txBox="1"/>
          <p:nvPr/>
        </p:nvSpPr>
        <p:spPr>
          <a:xfrm>
            <a:off x="1502903" y="1278570"/>
            <a:ext cx="28986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Noto Sans KR"/>
                <a:ea typeface="Noto Sans KR"/>
                <a:cs typeface="Noto Sans KR"/>
                <a:sym typeface="Noto Sans KR"/>
              </a:rPr>
              <a:t>영상테스트를</a:t>
            </a:r>
            <a:r>
              <a:rPr lang="ko-KR" sz="1800">
                <a:solidFill>
                  <a:schemeClr val="dk1"/>
                </a:solidFill>
                <a:latin typeface="Malgun Gothic"/>
                <a:ea typeface="Malgun Gothic"/>
                <a:cs typeface="Malgun Gothic"/>
                <a:sym typeface="Malgun Gothic"/>
              </a:rPr>
              <a:t> 시작합니다.</a:t>
            </a:r>
            <a:endParaRPr sz="1800">
              <a:solidFill>
                <a:schemeClr val="dk1"/>
              </a:solidFill>
              <a:latin typeface="Malgun Gothic"/>
              <a:ea typeface="Malgun Gothic"/>
              <a:cs typeface="Malgun Gothic"/>
              <a:sym typeface="Malgun Gothic"/>
            </a:endParaRPr>
          </a:p>
        </p:txBody>
      </p:sp>
      <p:sp>
        <p:nvSpPr>
          <p:cNvPr id="432" name="Google Shape;432;p18"/>
          <p:cNvSpPr txBox="1"/>
          <p:nvPr/>
        </p:nvSpPr>
        <p:spPr>
          <a:xfrm>
            <a:off x="1502903" y="1829851"/>
            <a:ext cx="554712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카메라를 확인하고, 얼굴이 화면의 인식 프레임 영역 안에 들어오도록 맞춰주세요.</a:t>
            </a:r>
            <a:endParaRPr sz="1200">
              <a:solidFill>
                <a:schemeClr val="dk1"/>
              </a:solidFill>
              <a:latin typeface="Noto Sans KR"/>
              <a:ea typeface="Noto Sans KR"/>
              <a:cs typeface="Noto Sans KR"/>
              <a:sym typeface="Noto Sans KR"/>
            </a:endParaRPr>
          </a:p>
        </p:txBody>
      </p:sp>
      <p:sp>
        <p:nvSpPr>
          <p:cNvPr id="433" name="Google Shape;433;p18"/>
          <p:cNvSpPr/>
          <p:nvPr/>
        </p:nvSpPr>
        <p:spPr>
          <a:xfrm>
            <a:off x="1781795" y="2317990"/>
            <a:ext cx="5239512" cy="2464322"/>
          </a:xfrm>
          <a:prstGeom prst="roundRect">
            <a:avLst>
              <a:gd fmla="val 11472" name="adj"/>
            </a:avLst>
          </a:prstGeom>
          <a:blipFill rotWithShape="1">
            <a:blip r:embed="rId3">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34" name="Google Shape;434;p18"/>
          <p:cNvSpPr/>
          <p:nvPr/>
        </p:nvSpPr>
        <p:spPr>
          <a:xfrm>
            <a:off x="3622600" y="2438027"/>
            <a:ext cx="1557901" cy="1147586"/>
          </a:xfrm>
          <a:prstGeom prst="rect">
            <a:avLst/>
          </a:prstGeom>
          <a:noFill/>
          <a:ln cap="flat" cmpd="sng" w="38100">
            <a:solidFill>
              <a:srgbClr val="92D05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435" name="Google Shape;435;p18"/>
          <p:cNvGrpSpPr/>
          <p:nvPr/>
        </p:nvGrpSpPr>
        <p:grpSpPr>
          <a:xfrm>
            <a:off x="2612255" y="4902349"/>
            <a:ext cx="3328416" cy="246221"/>
            <a:chOff x="2612255" y="4902349"/>
            <a:chExt cx="3328416" cy="246221"/>
          </a:xfrm>
        </p:grpSpPr>
        <p:sp>
          <p:nvSpPr>
            <p:cNvPr id="436" name="Google Shape;436;p18"/>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grpSp>
          <p:nvGrpSpPr>
            <p:cNvPr id="437" name="Google Shape;437;p18"/>
            <p:cNvGrpSpPr/>
            <p:nvPr/>
          </p:nvGrpSpPr>
          <p:grpSpPr>
            <a:xfrm>
              <a:off x="3267717" y="4902349"/>
              <a:ext cx="2406371" cy="246221"/>
              <a:chOff x="3857153" y="5526850"/>
              <a:chExt cx="2406371" cy="246221"/>
            </a:xfrm>
          </p:grpSpPr>
          <p:sp>
            <p:nvSpPr>
              <p:cNvPr id="438" name="Google Shape;438;p18"/>
              <p:cNvSpPr/>
              <p:nvPr/>
            </p:nvSpPr>
            <p:spPr>
              <a:xfrm>
                <a:off x="3904212" y="5586540"/>
                <a:ext cx="196733" cy="115158"/>
              </a:xfrm>
              <a:prstGeom prst="ellipse">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39" name="Google Shape;439;p18"/>
              <p:cNvSpPr txBox="1"/>
              <p:nvPr/>
            </p:nvSpPr>
            <p:spPr>
              <a:xfrm>
                <a:off x="3857153" y="5526850"/>
                <a:ext cx="240637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v     </a:t>
                </a:r>
                <a:r>
                  <a:rPr lang="ko-KR" sz="1000">
                    <a:solidFill>
                      <a:srgbClr val="006600"/>
                    </a:solidFill>
                    <a:latin typeface="Noto Sans KR"/>
                    <a:ea typeface="Noto Sans KR"/>
                    <a:cs typeface="Noto Sans KR"/>
                    <a:sym typeface="Noto Sans KR"/>
                  </a:rPr>
                  <a:t>얼굴 인식에 성공하였습니다.</a:t>
                </a:r>
                <a:endParaRPr sz="1000">
                  <a:solidFill>
                    <a:srgbClr val="006600"/>
                  </a:solidFill>
                  <a:latin typeface="Noto Sans KR"/>
                  <a:ea typeface="Noto Sans KR"/>
                  <a:cs typeface="Noto Sans KR"/>
                  <a:sym typeface="Noto Sans KR"/>
                </a:endParaRPr>
              </a:p>
            </p:txBody>
          </p:sp>
        </p:grpSp>
      </p:grpSp>
      <p:sp>
        <p:nvSpPr>
          <p:cNvPr id="440" name="Google Shape;440;p18"/>
          <p:cNvSpPr/>
          <p:nvPr/>
        </p:nvSpPr>
        <p:spPr>
          <a:xfrm>
            <a:off x="2736734" y="5406004"/>
            <a:ext cx="1549549" cy="239764"/>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rgbClr val="7F7F7F"/>
                </a:solidFill>
                <a:latin typeface="Noto Sans KR"/>
                <a:ea typeface="Noto Sans KR"/>
                <a:cs typeface="Noto Sans KR"/>
                <a:sym typeface="Noto Sans KR"/>
              </a:rPr>
              <a:t>테스트 다시 진행</a:t>
            </a:r>
            <a:endParaRPr b="1" sz="1000">
              <a:solidFill>
                <a:srgbClr val="7F7F7F"/>
              </a:solidFill>
              <a:latin typeface="Noto Sans KR"/>
              <a:ea typeface="Noto Sans KR"/>
              <a:cs typeface="Noto Sans KR"/>
              <a:sym typeface="Noto Sans KR"/>
            </a:endParaRPr>
          </a:p>
        </p:txBody>
      </p:sp>
      <p:sp>
        <p:nvSpPr>
          <p:cNvPr id="441" name="Google Shape;441;p18"/>
          <p:cNvSpPr/>
          <p:nvPr/>
        </p:nvSpPr>
        <p:spPr>
          <a:xfrm>
            <a:off x="4563164" y="5406004"/>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다음 진행</a:t>
            </a:r>
            <a:endParaRPr b="1" sz="1000">
              <a:solidFill>
                <a:schemeClr val="lt1"/>
              </a:solidFill>
              <a:latin typeface="Noto Sans KR"/>
              <a:ea typeface="Noto Sans KR"/>
              <a:cs typeface="Noto Sans KR"/>
              <a:sym typeface="Noto Sans KR"/>
            </a:endParaRPr>
          </a:p>
        </p:txBody>
      </p:sp>
      <p:sp>
        <p:nvSpPr>
          <p:cNvPr id="442" name="Google Shape;442;p18"/>
          <p:cNvSpPr/>
          <p:nvPr/>
        </p:nvSpPr>
        <p:spPr>
          <a:xfrm>
            <a:off x="2618982" y="533017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443" name="Google Shape;443;p18"/>
          <p:cNvSpPr/>
          <p:nvPr/>
        </p:nvSpPr>
        <p:spPr>
          <a:xfrm>
            <a:off x="4469061" y="534736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444" name="Google Shape;444;p18"/>
          <p:cNvSpPr/>
          <p:nvPr/>
        </p:nvSpPr>
        <p:spPr>
          <a:xfrm>
            <a:off x="1372903" y="1187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445" name="Google Shape;445;p18"/>
          <p:cNvSpPr/>
          <p:nvPr/>
        </p:nvSpPr>
        <p:spPr>
          <a:xfrm>
            <a:off x="1346561" y="177121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446" name="Google Shape;446;p18"/>
          <p:cNvSpPr/>
          <p:nvPr/>
        </p:nvSpPr>
        <p:spPr>
          <a:xfrm>
            <a:off x="1781794" y="222692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447" name="Google Shape;447;p18"/>
          <p:cNvSpPr/>
          <p:nvPr/>
        </p:nvSpPr>
        <p:spPr>
          <a:xfrm>
            <a:off x="2551561" y="481921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9"/>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sz="2400"/>
              <a:t>면접 시작 </a:t>
            </a:r>
            <a:endParaRPr sz="2400"/>
          </a:p>
        </p:txBody>
      </p:sp>
      <p:sp>
        <p:nvSpPr>
          <p:cNvPr id="454" name="Google Shape;454;p19"/>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455" name="Google Shape;455;p19"/>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456" name="Google Shape;456;p19"/>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457" name="Google Shape;457;p1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458" name="Google Shape;458;p19"/>
          <p:cNvGraphicFramePr/>
          <p:nvPr/>
        </p:nvGraphicFramePr>
        <p:xfrm>
          <a:off x="8561828" y="1054740"/>
          <a:ext cx="3000000" cy="3000000"/>
        </p:xfrm>
        <a:graphic>
          <a:graphicData uri="http://schemas.openxmlformats.org/drawingml/2006/table">
            <a:tbl>
              <a:tblPr bandRow="1" firstRow="1">
                <a:noFill/>
                <a:tableStyleId>{C61F204E-A15B-47D6-BEBB-6A886D3283EB}</a:tableStyleId>
              </a:tblPr>
              <a:tblGrid>
                <a:gridCol w="563125"/>
                <a:gridCol w="2713100"/>
              </a:tblGrid>
              <a:tr h="73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시작 헤더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화면이 면접 시작 단계임을 표시하는 상단 타이틀</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ㄷ</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90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 시작 안내 문구</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모든 환경 테스트가 완료되었음을 사용자에게 안내</a:t>
                      </a:r>
                      <a:endParaRPr sz="1000" u="none" cap="none" strike="noStrike"/>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오디오·영상 점검 이후 면접이 곧 시작됨을 선언하는 메시지</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90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환경 테스트 결과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진행을 위한 필수 환경 테스트 결과를 요약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환경 상태를 한눈에 확인 가능하도록 안내</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면접 준비 상태 표시 영역</a:t>
                      </a:r>
                      <a:br>
                        <a:rPr b="1"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시스템 기준으로 면접 진행 조건이 충족되었음을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준비 완료  문구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이전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환경을 다시 점검하거나 설정을 수정하고 싶을 경우 이전 단계(환경 테스트 화면)로 돌아갈 수 있는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23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시작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실제 면접 시나리오로 진입하는 핵심 트리거</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본 서비스의 실질적인 메인 플로우 진입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32800">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459" name="Google Shape;459;p19"/>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275975"/>
                <a:gridCol w="932700"/>
                <a:gridCol w="3725425"/>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SCR-09</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시작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 시작 버튼을 통해 진입한 사용자에게 면접 시작 전 최종 안내 제공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460" name="Google Shape;460;p19"/>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61" name="Google Shape;461;p19"/>
          <p:cNvSpPr txBox="1"/>
          <p:nvPr/>
        </p:nvSpPr>
        <p:spPr>
          <a:xfrm>
            <a:off x="1911398" y="1257420"/>
            <a:ext cx="188366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2000">
                <a:solidFill>
                  <a:schemeClr val="dk1"/>
                </a:solidFill>
                <a:latin typeface="Noto Sans KR"/>
                <a:ea typeface="Noto Sans KR"/>
                <a:cs typeface="Noto Sans KR"/>
                <a:sym typeface="Noto Sans KR"/>
              </a:rPr>
              <a:t>면접 시작</a:t>
            </a:r>
            <a:endParaRPr b="1" sz="2000">
              <a:solidFill>
                <a:schemeClr val="dk1"/>
              </a:solidFill>
              <a:latin typeface="Noto Sans KR"/>
              <a:ea typeface="Noto Sans KR"/>
              <a:cs typeface="Noto Sans KR"/>
              <a:sym typeface="Noto Sans KR"/>
            </a:endParaRPr>
          </a:p>
        </p:txBody>
      </p:sp>
      <p:grpSp>
        <p:nvGrpSpPr>
          <p:cNvPr id="462" name="Google Shape;462;p19"/>
          <p:cNvGrpSpPr/>
          <p:nvPr/>
        </p:nvGrpSpPr>
        <p:grpSpPr>
          <a:xfrm>
            <a:off x="1576094" y="1326676"/>
            <a:ext cx="327369" cy="251446"/>
            <a:chOff x="2168943" y="1984248"/>
            <a:chExt cx="391377" cy="333742"/>
          </a:xfrm>
        </p:grpSpPr>
        <p:sp>
          <p:nvSpPr>
            <p:cNvPr id="463" name="Google Shape;463;p19"/>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64" name="Google Shape;464;p19"/>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465" name="Google Shape;465;p19"/>
          <p:cNvSpPr txBox="1"/>
          <p:nvPr/>
        </p:nvSpPr>
        <p:spPr>
          <a:xfrm>
            <a:off x="1923678" y="1944618"/>
            <a:ext cx="4955746"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ko-KR" sz="1800">
                <a:solidFill>
                  <a:schemeClr val="dk1"/>
                </a:solidFill>
                <a:latin typeface="Noto Sans KR"/>
                <a:ea typeface="Noto Sans KR"/>
                <a:cs typeface="Noto Sans KR"/>
                <a:sym typeface="Noto Sans KR"/>
              </a:rPr>
              <a:t>모든 환경테스트가 완료되었습니다.</a:t>
            </a:r>
            <a:endParaRPr/>
          </a:p>
          <a:p>
            <a:pPr indent="0" lvl="0" marL="0" marR="0" rtl="0" algn="ctr">
              <a:spcBef>
                <a:spcPts val="0"/>
              </a:spcBef>
              <a:spcAft>
                <a:spcPts val="0"/>
              </a:spcAft>
              <a:buNone/>
            </a:pPr>
            <a:r>
              <a:rPr lang="ko-KR" sz="1800">
                <a:solidFill>
                  <a:schemeClr val="dk1"/>
                </a:solidFill>
                <a:latin typeface="Noto Sans KR"/>
                <a:ea typeface="Noto Sans KR"/>
                <a:cs typeface="Noto Sans KR"/>
                <a:sym typeface="Noto Sans KR"/>
              </a:rPr>
              <a:t>이제 면접을 시작합니다.</a:t>
            </a:r>
            <a:endParaRPr sz="1800">
              <a:solidFill>
                <a:schemeClr val="dk1"/>
              </a:solidFill>
              <a:latin typeface="Noto Sans KR"/>
              <a:ea typeface="Noto Sans KR"/>
              <a:cs typeface="Noto Sans KR"/>
              <a:sym typeface="Noto Sans KR"/>
            </a:endParaRPr>
          </a:p>
        </p:txBody>
      </p:sp>
      <p:sp>
        <p:nvSpPr>
          <p:cNvPr id="466" name="Google Shape;466;p19"/>
          <p:cNvSpPr/>
          <p:nvPr/>
        </p:nvSpPr>
        <p:spPr>
          <a:xfrm>
            <a:off x="2611743" y="2939550"/>
            <a:ext cx="3544585" cy="1115569"/>
          </a:xfrm>
          <a:prstGeom prst="roundRect">
            <a:avLst>
              <a:gd fmla="val 16667" name="adj"/>
            </a:avLst>
          </a:prstGeom>
          <a:solidFill>
            <a:srgbClr val="F9F9F9"/>
          </a:solidFill>
          <a:ln cap="flat" cmpd="sng" w="127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2400">
                <a:solidFill>
                  <a:schemeClr val="dk1"/>
                </a:solidFill>
                <a:latin typeface="Noto Sans KR"/>
                <a:ea typeface="Noto Sans KR"/>
                <a:cs typeface="Noto Sans KR"/>
                <a:sym typeface="Noto Sans KR"/>
              </a:rPr>
              <a:t>    </a:t>
            </a:r>
            <a:r>
              <a:rPr lang="ko-KR" sz="1600">
                <a:solidFill>
                  <a:schemeClr val="dk1"/>
                </a:solidFill>
                <a:latin typeface="Noto Sans KR"/>
                <a:ea typeface="Noto Sans KR"/>
                <a:cs typeface="Noto Sans KR"/>
                <a:sym typeface="Noto Sans KR"/>
              </a:rPr>
              <a:t>환경 테스트 완료</a:t>
            </a:r>
            <a:endParaRPr sz="16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음성 입력 정상</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영상 인식 정상   </a:t>
            </a:r>
            <a:endParaRPr sz="1200">
              <a:solidFill>
                <a:schemeClr val="dk1"/>
              </a:solidFill>
              <a:latin typeface="Noto Sans KR"/>
              <a:ea typeface="Noto Sans KR"/>
              <a:cs typeface="Noto Sans KR"/>
              <a:sym typeface="Noto Sans KR"/>
            </a:endParaRPr>
          </a:p>
        </p:txBody>
      </p:sp>
      <p:sp>
        <p:nvSpPr>
          <p:cNvPr id="467" name="Google Shape;467;p19"/>
          <p:cNvSpPr/>
          <p:nvPr/>
        </p:nvSpPr>
        <p:spPr>
          <a:xfrm>
            <a:off x="2738930" y="3294058"/>
            <a:ext cx="118872" cy="124857"/>
          </a:xfrm>
          <a:prstGeom prst="ellipse">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468" name="Google Shape;468;p19"/>
          <p:cNvGrpSpPr/>
          <p:nvPr/>
        </p:nvGrpSpPr>
        <p:grpSpPr>
          <a:xfrm>
            <a:off x="2719827" y="4250110"/>
            <a:ext cx="3328416" cy="246221"/>
            <a:chOff x="2612255" y="4902349"/>
            <a:chExt cx="3328416" cy="246221"/>
          </a:xfrm>
        </p:grpSpPr>
        <p:sp>
          <p:nvSpPr>
            <p:cNvPr id="469" name="Google Shape;469;p19"/>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grpSp>
          <p:nvGrpSpPr>
            <p:cNvPr id="470" name="Google Shape;470;p19"/>
            <p:cNvGrpSpPr/>
            <p:nvPr/>
          </p:nvGrpSpPr>
          <p:grpSpPr>
            <a:xfrm>
              <a:off x="3314776" y="4902349"/>
              <a:ext cx="2603104" cy="246221"/>
              <a:chOff x="3904212" y="5526850"/>
              <a:chExt cx="2603104" cy="246221"/>
            </a:xfrm>
          </p:grpSpPr>
          <p:sp>
            <p:nvSpPr>
              <p:cNvPr id="471" name="Google Shape;471;p19"/>
              <p:cNvSpPr/>
              <p:nvPr/>
            </p:nvSpPr>
            <p:spPr>
              <a:xfrm>
                <a:off x="3904212" y="5586540"/>
                <a:ext cx="196733" cy="115158"/>
              </a:xfrm>
              <a:prstGeom prst="ellipse">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50">
                    <a:solidFill>
                      <a:schemeClr val="lt1"/>
                    </a:solidFill>
                    <a:latin typeface="Noto Sans KR"/>
                    <a:ea typeface="Noto Sans KR"/>
                    <a:cs typeface="Noto Sans KR"/>
                    <a:sym typeface="Noto Sans KR"/>
                  </a:rPr>
                  <a:t>V</a:t>
                </a:r>
                <a:endParaRPr sz="1050">
                  <a:solidFill>
                    <a:schemeClr val="lt1"/>
                  </a:solidFill>
                  <a:latin typeface="Noto Sans KR"/>
                  <a:ea typeface="Noto Sans KR"/>
                  <a:cs typeface="Noto Sans KR"/>
                  <a:sym typeface="Noto Sans KR"/>
                </a:endParaRPr>
              </a:p>
            </p:txBody>
          </p:sp>
          <p:sp>
            <p:nvSpPr>
              <p:cNvPr id="472" name="Google Shape;472;p19"/>
              <p:cNvSpPr txBox="1"/>
              <p:nvPr/>
            </p:nvSpPr>
            <p:spPr>
              <a:xfrm>
                <a:off x="4100945" y="5526850"/>
                <a:ext cx="240637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a:t>
                </a:r>
                <a:r>
                  <a:rPr lang="ko-KR" sz="1000">
                    <a:solidFill>
                      <a:srgbClr val="006600"/>
                    </a:solidFill>
                    <a:latin typeface="Noto Sans KR"/>
                    <a:ea typeface="Noto Sans KR"/>
                    <a:cs typeface="Noto Sans KR"/>
                    <a:sym typeface="Noto Sans KR"/>
                  </a:rPr>
                  <a:t>면접 준비가 완료되었습니다.</a:t>
                </a:r>
                <a:endParaRPr sz="1000">
                  <a:solidFill>
                    <a:srgbClr val="006600"/>
                  </a:solidFill>
                  <a:latin typeface="Noto Sans KR"/>
                  <a:ea typeface="Noto Sans KR"/>
                  <a:cs typeface="Noto Sans KR"/>
                  <a:sym typeface="Noto Sans KR"/>
                </a:endParaRPr>
              </a:p>
            </p:txBody>
          </p:sp>
        </p:grpSp>
      </p:grpSp>
      <p:sp>
        <p:nvSpPr>
          <p:cNvPr id="473" name="Google Shape;473;p19"/>
          <p:cNvSpPr/>
          <p:nvPr/>
        </p:nvSpPr>
        <p:spPr>
          <a:xfrm>
            <a:off x="2719827" y="4905670"/>
            <a:ext cx="1549549" cy="239764"/>
          </a:xfrm>
          <a:prstGeom prst="roundRect">
            <a:avLst>
              <a:gd fmla="val 16667" name="adj"/>
            </a:avLst>
          </a:prstGeom>
          <a:no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rgbClr val="7F7F7F"/>
                </a:solidFill>
                <a:latin typeface="Noto Sans KR"/>
                <a:ea typeface="Noto Sans KR"/>
                <a:cs typeface="Noto Sans KR"/>
                <a:sym typeface="Noto Sans KR"/>
              </a:rPr>
              <a:t>이전</a:t>
            </a:r>
            <a:endParaRPr b="1" sz="1000">
              <a:solidFill>
                <a:srgbClr val="7F7F7F"/>
              </a:solidFill>
              <a:latin typeface="Noto Sans KR"/>
              <a:ea typeface="Noto Sans KR"/>
              <a:cs typeface="Noto Sans KR"/>
              <a:sym typeface="Noto Sans KR"/>
            </a:endParaRPr>
          </a:p>
        </p:txBody>
      </p:sp>
      <p:sp>
        <p:nvSpPr>
          <p:cNvPr id="474" name="Google Shape;474;p19"/>
          <p:cNvSpPr/>
          <p:nvPr/>
        </p:nvSpPr>
        <p:spPr>
          <a:xfrm>
            <a:off x="4537173" y="4905670"/>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시작</a:t>
            </a:r>
            <a:endParaRPr b="1" sz="1000">
              <a:solidFill>
                <a:schemeClr val="lt1"/>
              </a:solidFill>
              <a:latin typeface="Noto Sans KR"/>
              <a:ea typeface="Noto Sans KR"/>
              <a:cs typeface="Noto Sans KR"/>
              <a:sym typeface="Noto Sans KR"/>
            </a:endParaRPr>
          </a:p>
        </p:txBody>
      </p:sp>
      <p:sp>
        <p:nvSpPr>
          <p:cNvPr id="475" name="Google Shape;475;p19"/>
          <p:cNvSpPr/>
          <p:nvPr/>
        </p:nvSpPr>
        <p:spPr>
          <a:xfrm>
            <a:off x="2450920" y="185373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476" name="Google Shape;476;p19"/>
          <p:cNvSpPr/>
          <p:nvPr/>
        </p:nvSpPr>
        <p:spPr>
          <a:xfrm>
            <a:off x="2580920" y="282235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477" name="Google Shape;477;p19"/>
          <p:cNvSpPr/>
          <p:nvPr/>
        </p:nvSpPr>
        <p:spPr>
          <a:xfrm>
            <a:off x="3130212" y="415530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478" name="Google Shape;478;p19"/>
          <p:cNvSpPr/>
          <p:nvPr/>
        </p:nvSpPr>
        <p:spPr>
          <a:xfrm>
            <a:off x="2611743" y="478847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479" name="Google Shape;479;p19"/>
          <p:cNvSpPr/>
          <p:nvPr/>
        </p:nvSpPr>
        <p:spPr>
          <a:xfrm>
            <a:off x="4443070" y="482984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480" name="Google Shape;480;p19"/>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81" name="Google Shape;481;p19"/>
          <p:cNvSpPr/>
          <p:nvPr/>
        </p:nvSpPr>
        <p:spPr>
          <a:xfrm>
            <a:off x="1360412" y="12018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0"/>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자기소개</a:t>
            </a:r>
            <a:endParaRPr sz="2400"/>
          </a:p>
        </p:txBody>
      </p:sp>
      <p:sp>
        <p:nvSpPr>
          <p:cNvPr id="488" name="Google Shape;488;p20"/>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489" name="Google Shape;489;p20"/>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490" name="Google Shape;490;p20"/>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491" name="Google Shape;491;p2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492" name="Google Shape;492;p20"/>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463300"/>
                <a:gridCol w="2812925"/>
              </a:tblGrid>
              <a:tr h="5088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6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258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안내 및 유의사항 메시지</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면접종료 버튼에 마우스를 올리면 면접 종료 시 발생하는 결과 처리 규칙 안내 하는 튤팁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중도 종료 시 결과 미제공 또는 재진행 필요 조건 명시</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493" name="Google Shape;493;p20"/>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471675"/>
                <a:gridCol w="28129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SCR-10</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자기소개 응답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사용자가 면접 진행을 위해 1분 자기소개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494" name="Google Shape;494;p20"/>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95" name="Google Shape;495;p20"/>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96" name="Google Shape;496;p20"/>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grpSp>
        <p:nvGrpSpPr>
          <p:cNvPr id="497" name="Google Shape;497;p20"/>
          <p:cNvGrpSpPr/>
          <p:nvPr/>
        </p:nvGrpSpPr>
        <p:grpSpPr>
          <a:xfrm>
            <a:off x="1576094" y="1326676"/>
            <a:ext cx="327369" cy="251446"/>
            <a:chOff x="2168943" y="1984248"/>
            <a:chExt cx="391377" cy="333742"/>
          </a:xfrm>
        </p:grpSpPr>
        <p:sp>
          <p:nvSpPr>
            <p:cNvPr id="498" name="Google Shape;498;p20"/>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499" name="Google Shape;499;p20"/>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500" name="Google Shape;500;p20"/>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501" name="Google Shape;501;p20"/>
          <p:cNvGrpSpPr/>
          <p:nvPr/>
        </p:nvGrpSpPr>
        <p:grpSpPr>
          <a:xfrm>
            <a:off x="1625791" y="2387057"/>
            <a:ext cx="5551520" cy="2130552"/>
            <a:chOff x="1625791" y="2318062"/>
            <a:chExt cx="5551520" cy="2130552"/>
          </a:xfrm>
        </p:grpSpPr>
        <p:sp>
          <p:nvSpPr>
            <p:cNvPr id="502" name="Google Shape;502;p20"/>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03" name="Google Shape;503;p20"/>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04" name="Google Shape;504;p20"/>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a:t>
              </a:r>
              <a:endParaRPr b="1" sz="1800">
                <a:solidFill>
                  <a:schemeClr val="dk1"/>
                </a:solidFill>
                <a:latin typeface="Noto Sans KR"/>
                <a:ea typeface="Noto Sans KR"/>
                <a:cs typeface="Noto Sans KR"/>
                <a:sym typeface="Noto Sans KR"/>
              </a:endParaRPr>
            </a:p>
          </p:txBody>
        </p:sp>
        <p:sp>
          <p:nvSpPr>
            <p:cNvPr id="505" name="Google Shape;505;p20"/>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긴장하지 마시고, 1분 정도로 본인을 자연스럽게 소개해 주세요.</a:t>
              </a:r>
              <a:endParaRPr b="1" sz="1400">
                <a:solidFill>
                  <a:schemeClr val="dk1"/>
                </a:solidFill>
                <a:latin typeface="Noto Sans KR"/>
                <a:ea typeface="Noto Sans KR"/>
                <a:cs typeface="Noto Sans KR"/>
                <a:sym typeface="Noto Sans KR"/>
              </a:endParaRPr>
            </a:p>
          </p:txBody>
        </p:sp>
      </p:grpSp>
      <p:grpSp>
        <p:nvGrpSpPr>
          <p:cNvPr id="506" name="Google Shape;506;p20"/>
          <p:cNvGrpSpPr/>
          <p:nvPr/>
        </p:nvGrpSpPr>
        <p:grpSpPr>
          <a:xfrm>
            <a:off x="5811153" y="1877609"/>
            <a:ext cx="1411645" cy="390175"/>
            <a:chOff x="5746618" y="1881436"/>
            <a:chExt cx="1411645" cy="390175"/>
          </a:xfrm>
        </p:grpSpPr>
        <p:sp>
          <p:nvSpPr>
            <p:cNvPr id="507" name="Google Shape;507;p20"/>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508" name="Google Shape;508;p20"/>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509" name="Google Shape;509;p20"/>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00:58</a:t>
              </a:r>
              <a:endParaRPr b="1" sz="1800">
                <a:solidFill>
                  <a:schemeClr val="dk1"/>
                </a:solidFill>
                <a:latin typeface="Noto Sans KR"/>
                <a:ea typeface="Noto Sans KR"/>
                <a:cs typeface="Noto Sans KR"/>
                <a:sym typeface="Noto Sans KR"/>
              </a:endParaRPr>
            </a:p>
          </p:txBody>
        </p:sp>
      </p:grpSp>
      <p:sp>
        <p:nvSpPr>
          <p:cNvPr id="510" name="Google Shape;510;p20"/>
          <p:cNvSpPr/>
          <p:nvPr/>
        </p:nvSpPr>
        <p:spPr>
          <a:xfrm>
            <a:off x="1739778" y="4700016"/>
            <a:ext cx="5348123" cy="640080"/>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안녕하세요. 저는 IT직무에 지원한 김철수입니다. 저는 저는 문제를 구조적으로 정리하고, 기술로 해결하는 과정에 강점이 있습니다. 프로젝트 경험을 통해…</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511" name="Google Shape;511;p20"/>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512" name="Google Shape;512;p20"/>
          <p:cNvGrpSpPr/>
          <p:nvPr/>
        </p:nvGrpSpPr>
        <p:grpSpPr>
          <a:xfrm>
            <a:off x="3200400" y="5492306"/>
            <a:ext cx="2390539" cy="276999"/>
            <a:chOff x="2612255" y="4874578"/>
            <a:chExt cx="3523868" cy="276999"/>
          </a:xfrm>
        </p:grpSpPr>
        <p:sp>
          <p:nvSpPr>
            <p:cNvPr id="513" name="Google Shape;513;p20"/>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514" name="Google Shape;514;p20"/>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515" name="Google Shape;515;p20"/>
          <p:cNvSpPr/>
          <p:nvPr/>
        </p:nvSpPr>
        <p:spPr>
          <a:xfrm>
            <a:off x="6336386" y="5329901"/>
            <a:ext cx="1948077" cy="539496"/>
          </a:xfrm>
          <a:prstGeom prst="wedgeRoundRectCallout">
            <a:avLst>
              <a:gd fmla="val -35153" name="adj1"/>
              <a:gd fmla="val 69280" name="adj2"/>
              <a:gd fmla="val 16667" name="adj3"/>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700">
                <a:solidFill>
                  <a:schemeClr val="dk1"/>
                </a:solidFill>
                <a:latin typeface="Malgun Gothic"/>
                <a:ea typeface="Malgun Gothic"/>
                <a:cs typeface="Malgun Gothic"/>
                <a:sym typeface="Malgun Gothic"/>
              </a:rPr>
              <a:t>면접을 종료하면 결과를 확인 수 없며,</a:t>
            </a:r>
            <a:br>
              <a:rPr lang="ko-KR" sz="700">
                <a:solidFill>
                  <a:schemeClr val="dk1"/>
                </a:solidFill>
                <a:latin typeface="Malgun Gothic"/>
                <a:ea typeface="Malgun Gothic"/>
                <a:cs typeface="Malgun Gothic"/>
                <a:sym typeface="Malgun Gothic"/>
              </a:rPr>
            </a:br>
            <a:r>
              <a:rPr lang="ko-KR" sz="700">
                <a:solidFill>
                  <a:schemeClr val="dk1"/>
                </a:solidFill>
                <a:latin typeface="Malgun Gothic"/>
                <a:ea typeface="Malgun Gothic"/>
                <a:cs typeface="Malgun Gothic"/>
                <a:sym typeface="Malgun Gothic"/>
              </a:rPr>
              <a:t>동일한 면접에 대한 재응시는 어렵습니다.</a:t>
            </a:r>
            <a:br>
              <a:rPr lang="ko-KR" sz="700">
                <a:solidFill>
                  <a:schemeClr val="dk1"/>
                </a:solidFill>
                <a:latin typeface="Malgun Gothic"/>
                <a:ea typeface="Malgun Gothic"/>
                <a:cs typeface="Malgun Gothic"/>
                <a:sym typeface="Malgun Gothic"/>
              </a:rPr>
            </a:br>
            <a:r>
              <a:rPr lang="ko-KR" sz="700">
                <a:solidFill>
                  <a:schemeClr val="dk1"/>
                </a:solidFill>
                <a:latin typeface="Malgun Gothic"/>
                <a:ea typeface="Malgun Gothic"/>
                <a:cs typeface="Malgun Gothic"/>
                <a:sym typeface="Malgun Gothic"/>
              </a:rPr>
              <a:t>면접을 다시 진행하려면 처음부터 다시 시작해야 합니다.</a:t>
            </a:r>
            <a:endParaRPr sz="700">
              <a:solidFill>
                <a:schemeClr val="dk1"/>
              </a:solidFill>
              <a:latin typeface="Malgun Gothic"/>
              <a:ea typeface="Malgun Gothic"/>
              <a:cs typeface="Malgun Gothic"/>
              <a:sym typeface="Malgun Gothic"/>
            </a:endParaRPr>
          </a:p>
        </p:txBody>
      </p:sp>
      <p:sp>
        <p:nvSpPr>
          <p:cNvPr id="516" name="Google Shape;516;p20"/>
          <p:cNvSpPr/>
          <p:nvPr/>
        </p:nvSpPr>
        <p:spPr>
          <a:xfrm>
            <a:off x="1413588" y="126131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517" name="Google Shape;517;p20"/>
          <p:cNvSpPr/>
          <p:nvPr/>
        </p:nvSpPr>
        <p:spPr>
          <a:xfrm>
            <a:off x="5681152" y="17434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518" name="Google Shape;518;p20"/>
          <p:cNvSpPr/>
          <p:nvPr/>
        </p:nvSpPr>
        <p:spPr>
          <a:xfrm>
            <a:off x="3131025" y="121391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519" name="Google Shape;519;p20"/>
          <p:cNvSpPr/>
          <p:nvPr/>
        </p:nvSpPr>
        <p:spPr>
          <a:xfrm>
            <a:off x="1609778" y="233963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520" name="Google Shape;520;p20"/>
          <p:cNvSpPr/>
          <p:nvPr/>
        </p:nvSpPr>
        <p:spPr>
          <a:xfrm>
            <a:off x="5084384" y="250672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521" name="Google Shape;521;p20"/>
          <p:cNvSpPr/>
          <p:nvPr/>
        </p:nvSpPr>
        <p:spPr>
          <a:xfrm>
            <a:off x="1609778" y="462418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522" name="Google Shape;522;p20"/>
          <p:cNvSpPr/>
          <p:nvPr/>
        </p:nvSpPr>
        <p:spPr>
          <a:xfrm>
            <a:off x="3083046" y="544424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523" name="Google Shape;523;p20"/>
          <p:cNvSpPr/>
          <p:nvPr/>
        </p:nvSpPr>
        <p:spPr>
          <a:xfrm>
            <a:off x="5360025" y="587471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524" name="Google Shape;524;p20"/>
          <p:cNvSpPr/>
          <p:nvPr/>
        </p:nvSpPr>
        <p:spPr>
          <a:xfrm>
            <a:off x="6242811" y="523902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1"/>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자기소개</a:t>
            </a:r>
            <a:endParaRPr sz="2400"/>
          </a:p>
        </p:txBody>
      </p:sp>
      <p:sp>
        <p:nvSpPr>
          <p:cNvPr id="531" name="Google Shape;531;p21"/>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532" name="Google Shape;532;p21"/>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533" name="Google Shape;533;p21"/>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534" name="Google Shape;534;p2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535" name="Google Shape;535;p21"/>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445000"/>
                <a:gridCol w="2831225"/>
              </a:tblGrid>
              <a:tr h="3068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 종료3초전 빨간색 변환)</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536" name="Google Shape;536;p21"/>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453400"/>
                <a:gridCol w="2831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SCR-10-1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응답 완료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사용자가 면접 질문에 대한 응답을 완료한 상태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537" name="Google Shape;537;p21"/>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38" name="Google Shape;538;p21"/>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39" name="Google Shape;539;p21"/>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grpSp>
        <p:nvGrpSpPr>
          <p:cNvPr id="540" name="Google Shape;540;p21"/>
          <p:cNvGrpSpPr/>
          <p:nvPr/>
        </p:nvGrpSpPr>
        <p:grpSpPr>
          <a:xfrm>
            <a:off x="1576094" y="1326676"/>
            <a:ext cx="327369" cy="251446"/>
            <a:chOff x="2168943" y="1984248"/>
            <a:chExt cx="391377" cy="333742"/>
          </a:xfrm>
        </p:grpSpPr>
        <p:sp>
          <p:nvSpPr>
            <p:cNvPr id="541" name="Google Shape;541;p21"/>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42" name="Google Shape;542;p21"/>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543" name="Google Shape;543;p21"/>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544" name="Google Shape;544;p21"/>
          <p:cNvGrpSpPr/>
          <p:nvPr/>
        </p:nvGrpSpPr>
        <p:grpSpPr>
          <a:xfrm>
            <a:off x="1625791" y="2387057"/>
            <a:ext cx="5551520" cy="2130552"/>
            <a:chOff x="1625791" y="2318062"/>
            <a:chExt cx="5551520" cy="2130552"/>
          </a:xfrm>
        </p:grpSpPr>
        <p:sp>
          <p:nvSpPr>
            <p:cNvPr id="545" name="Google Shape;545;p21"/>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46" name="Google Shape;546;p21"/>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47" name="Google Shape;547;p21"/>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a:t>
              </a:r>
              <a:endParaRPr b="1" sz="1800">
                <a:solidFill>
                  <a:schemeClr val="dk1"/>
                </a:solidFill>
                <a:latin typeface="Noto Sans KR"/>
                <a:ea typeface="Noto Sans KR"/>
                <a:cs typeface="Noto Sans KR"/>
                <a:sym typeface="Noto Sans KR"/>
              </a:endParaRPr>
            </a:p>
          </p:txBody>
        </p:sp>
        <p:sp>
          <p:nvSpPr>
            <p:cNvPr id="548" name="Google Shape;548;p21"/>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긴장하지 마시고, 1분 정도로 본인을 자연스럽게 소개해 주세요.</a:t>
              </a:r>
              <a:endParaRPr b="1" sz="1400">
                <a:solidFill>
                  <a:schemeClr val="dk1"/>
                </a:solidFill>
                <a:latin typeface="Noto Sans KR"/>
                <a:ea typeface="Noto Sans KR"/>
                <a:cs typeface="Noto Sans KR"/>
                <a:sym typeface="Noto Sans KR"/>
              </a:endParaRPr>
            </a:p>
          </p:txBody>
        </p:sp>
      </p:grpSp>
      <p:grpSp>
        <p:nvGrpSpPr>
          <p:cNvPr id="549" name="Google Shape;549;p21"/>
          <p:cNvGrpSpPr/>
          <p:nvPr/>
        </p:nvGrpSpPr>
        <p:grpSpPr>
          <a:xfrm>
            <a:off x="5811153" y="1877609"/>
            <a:ext cx="1411645" cy="390175"/>
            <a:chOff x="5746618" y="1881436"/>
            <a:chExt cx="1411645" cy="390175"/>
          </a:xfrm>
        </p:grpSpPr>
        <p:sp>
          <p:nvSpPr>
            <p:cNvPr id="550" name="Google Shape;550;p21"/>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551" name="Google Shape;551;p21"/>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552" name="Google Shape;552;p21"/>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rgbClr val="FF0000"/>
                  </a:solidFill>
                  <a:latin typeface="Noto Sans KR"/>
                  <a:ea typeface="Noto Sans KR"/>
                  <a:cs typeface="Noto Sans KR"/>
                  <a:sym typeface="Noto Sans KR"/>
                </a:rPr>
                <a:t>00:01</a:t>
              </a:r>
              <a:endParaRPr b="1" sz="1800">
                <a:solidFill>
                  <a:srgbClr val="FF0000"/>
                </a:solidFill>
                <a:latin typeface="Noto Sans KR"/>
                <a:ea typeface="Noto Sans KR"/>
                <a:cs typeface="Noto Sans KR"/>
                <a:sym typeface="Noto Sans KR"/>
              </a:endParaRPr>
            </a:p>
          </p:txBody>
        </p:sp>
      </p:grpSp>
      <p:sp>
        <p:nvSpPr>
          <p:cNvPr id="553" name="Google Shape;553;p21"/>
          <p:cNvSpPr/>
          <p:nvPr/>
        </p:nvSpPr>
        <p:spPr>
          <a:xfrm>
            <a:off x="1739778" y="4577537"/>
            <a:ext cx="5348123" cy="1269473"/>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안녕하세요. IT 직무에 지원한 김철수입니다.저는 문제를 구조적으로 정리하고, 기술로 해결하는 과정에 강점이 있습니다.프로젝트 경험을 통해 백엔드 구조와 데이터 처리 흐름을 이해했고,팀 내에서는 요구사항 정리와 기능 구현을 맡아 협업 경험을 쌓았습니다.특히 오류를 분석하고 개선 방안을 공유하는 과정에서기술 역량뿐 아니라 소통의 중요성을 배웠습니다.앞으로도 서비스 관점에서 생각하는 IT 인재로 성장하고 싶습니다.감사합니다.</a:t>
            </a:r>
            <a:endParaRPr sz="1200">
              <a:solidFill>
                <a:schemeClr val="dk1"/>
              </a:solidFill>
              <a:latin typeface="Noto Sans KR"/>
              <a:ea typeface="Noto Sans KR"/>
              <a:cs typeface="Noto Sans KR"/>
              <a:sym typeface="Noto Sans KR"/>
            </a:endParaRPr>
          </a:p>
        </p:txBody>
      </p:sp>
      <p:sp>
        <p:nvSpPr>
          <p:cNvPr id="554" name="Google Shape;554;p21"/>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555" name="Google Shape;555;p21"/>
          <p:cNvGrpSpPr/>
          <p:nvPr/>
        </p:nvGrpSpPr>
        <p:grpSpPr>
          <a:xfrm>
            <a:off x="2989174" y="5904817"/>
            <a:ext cx="2390539" cy="265515"/>
            <a:chOff x="2612255" y="4874578"/>
            <a:chExt cx="3523868" cy="265515"/>
          </a:xfrm>
        </p:grpSpPr>
        <p:sp>
          <p:nvSpPr>
            <p:cNvPr id="556" name="Google Shape;556;p21"/>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557" name="Google Shape;557;p21"/>
            <p:cNvSpPr txBox="1"/>
            <p:nvPr/>
          </p:nvSpPr>
          <p:spPr>
            <a:xfrm>
              <a:off x="3729752" y="4874578"/>
              <a:ext cx="240637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006600"/>
                  </a:solidFill>
                  <a:latin typeface="Noto Sans KR"/>
                  <a:ea typeface="Noto Sans KR"/>
                  <a:cs typeface="Noto Sans KR"/>
                  <a:sym typeface="Noto Sans KR"/>
                </a:rPr>
                <a:t> 답변완료</a:t>
              </a:r>
              <a:endParaRPr sz="1000">
                <a:solidFill>
                  <a:srgbClr val="006600"/>
                </a:solidFill>
                <a:latin typeface="Noto Sans KR"/>
                <a:ea typeface="Noto Sans KR"/>
                <a:cs typeface="Noto Sans KR"/>
                <a:sym typeface="Noto Sans KR"/>
              </a:endParaRPr>
            </a:p>
          </p:txBody>
        </p:sp>
      </p:grpSp>
      <p:pic>
        <p:nvPicPr>
          <p:cNvPr id="558" name="Google Shape;558;p21"/>
          <p:cNvPicPr preferRelativeResize="0"/>
          <p:nvPr/>
        </p:nvPicPr>
        <p:blipFill rotWithShape="1">
          <a:blip r:embed="rId5">
            <a:alphaModFix/>
          </a:blip>
          <a:srcRect b="0" l="0" r="0" t="0"/>
          <a:stretch/>
        </p:blipFill>
        <p:spPr>
          <a:xfrm>
            <a:off x="3585916" y="5932085"/>
            <a:ext cx="218953" cy="218953"/>
          </a:xfrm>
          <a:prstGeom prst="rect">
            <a:avLst/>
          </a:prstGeom>
          <a:noFill/>
          <a:ln>
            <a:noFill/>
          </a:ln>
        </p:spPr>
      </p:pic>
      <p:sp>
        <p:nvSpPr>
          <p:cNvPr id="559" name="Google Shape;559;p21"/>
          <p:cNvSpPr/>
          <p:nvPr/>
        </p:nvSpPr>
        <p:spPr>
          <a:xfrm>
            <a:off x="1441664" y="122361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560" name="Google Shape;560;p21"/>
          <p:cNvSpPr/>
          <p:nvPr/>
        </p:nvSpPr>
        <p:spPr>
          <a:xfrm>
            <a:off x="3130462" y="123555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561" name="Google Shape;561;p21"/>
          <p:cNvSpPr/>
          <p:nvPr/>
        </p:nvSpPr>
        <p:spPr>
          <a:xfrm>
            <a:off x="5675108" y="176337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562" name="Google Shape;562;p21"/>
          <p:cNvSpPr/>
          <p:nvPr/>
        </p:nvSpPr>
        <p:spPr>
          <a:xfrm>
            <a:off x="1609778" y="23870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563" name="Google Shape;563;p21"/>
          <p:cNvSpPr/>
          <p:nvPr/>
        </p:nvSpPr>
        <p:spPr>
          <a:xfrm>
            <a:off x="5082853" y="2492481"/>
            <a:ext cx="260000" cy="217442"/>
          </a:xfrm>
          <a:prstGeom prst="ellipse">
            <a:avLst/>
          </a:prstGeom>
          <a:solidFill>
            <a:srgbClr val="C00000"/>
          </a:solidFill>
          <a:ln cap="flat" cmpd="sng" w="12700">
            <a:solidFill>
              <a:srgbClr val="31538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564" name="Google Shape;564;p21"/>
          <p:cNvSpPr/>
          <p:nvPr/>
        </p:nvSpPr>
        <p:spPr>
          <a:xfrm>
            <a:off x="1653611" y="457675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565" name="Google Shape;565;p21"/>
          <p:cNvSpPr/>
          <p:nvPr/>
        </p:nvSpPr>
        <p:spPr>
          <a:xfrm>
            <a:off x="3214720" y="587192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566" name="Google Shape;566;p21"/>
          <p:cNvSpPr/>
          <p:nvPr/>
        </p:nvSpPr>
        <p:spPr>
          <a:xfrm>
            <a:off x="5389668" y="593284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2"/>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573" name="Google Shape;573;p22"/>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지원동기</a:t>
            </a:r>
            <a:endParaRPr sz="2400"/>
          </a:p>
        </p:txBody>
      </p:sp>
      <p:sp>
        <p:nvSpPr>
          <p:cNvPr id="574" name="Google Shape;574;p22"/>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575" name="Google Shape;575;p22"/>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576" name="Google Shape;576;p22"/>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577" name="Google Shape;577;p2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578" name="Google Shape;578;p22"/>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453400"/>
                <a:gridCol w="2831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지원동기 응답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사용자가 면접 진행 중 지원 동기에 대해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579" name="Google Shape;579;p22"/>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80" name="Google Shape;580;p2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81" name="Google Shape;581;p22"/>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82" name="Google Shape;582;p22"/>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583" name="Google Shape;583;p22"/>
          <p:cNvGrpSpPr/>
          <p:nvPr/>
        </p:nvGrpSpPr>
        <p:grpSpPr>
          <a:xfrm>
            <a:off x="1576094" y="1326676"/>
            <a:ext cx="327369" cy="251446"/>
            <a:chOff x="2168943" y="1984248"/>
            <a:chExt cx="391377" cy="333742"/>
          </a:xfrm>
        </p:grpSpPr>
        <p:sp>
          <p:nvSpPr>
            <p:cNvPr id="584" name="Google Shape;584;p22"/>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85" name="Google Shape;585;p22"/>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586" name="Google Shape;586;p22"/>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587" name="Google Shape;587;p22"/>
          <p:cNvGrpSpPr/>
          <p:nvPr/>
        </p:nvGrpSpPr>
        <p:grpSpPr>
          <a:xfrm>
            <a:off x="1625791" y="2387057"/>
            <a:ext cx="5551520" cy="2130552"/>
            <a:chOff x="1625791" y="2318062"/>
            <a:chExt cx="5551520" cy="2130552"/>
          </a:xfrm>
        </p:grpSpPr>
        <p:sp>
          <p:nvSpPr>
            <p:cNvPr id="588" name="Google Shape;588;p22"/>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89" name="Google Shape;589;p22"/>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90" name="Google Shape;590;p22"/>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Q2.</a:t>
              </a:r>
              <a:endParaRPr b="1" sz="1800">
                <a:solidFill>
                  <a:schemeClr val="dk1"/>
                </a:solidFill>
                <a:latin typeface="Noto Sans KR"/>
                <a:ea typeface="Noto Sans KR"/>
                <a:cs typeface="Noto Sans KR"/>
                <a:sym typeface="Noto Sans KR"/>
              </a:endParaRPr>
            </a:p>
          </p:txBody>
        </p:sp>
        <p:sp>
          <p:nvSpPr>
            <p:cNvPr id="591" name="Google Shape;591;p22"/>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해당 직무에 지원하게 된 동기를 말씀해 주세요.</a:t>
              </a:r>
              <a:endParaRPr b="1" sz="1400">
                <a:solidFill>
                  <a:schemeClr val="dk1"/>
                </a:solidFill>
                <a:latin typeface="Noto Sans KR"/>
                <a:ea typeface="Noto Sans KR"/>
                <a:cs typeface="Noto Sans KR"/>
                <a:sym typeface="Noto Sans KR"/>
              </a:endParaRPr>
            </a:p>
          </p:txBody>
        </p:sp>
      </p:grpSp>
      <p:grpSp>
        <p:nvGrpSpPr>
          <p:cNvPr id="592" name="Google Shape;592;p22"/>
          <p:cNvGrpSpPr/>
          <p:nvPr/>
        </p:nvGrpSpPr>
        <p:grpSpPr>
          <a:xfrm>
            <a:off x="5811153" y="1877609"/>
            <a:ext cx="1411645" cy="390175"/>
            <a:chOff x="5746618" y="1881436"/>
            <a:chExt cx="1411645" cy="390175"/>
          </a:xfrm>
        </p:grpSpPr>
        <p:sp>
          <p:nvSpPr>
            <p:cNvPr id="593" name="Google Shape;593;p22"/>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594" name="Google Shape;594;p22"/>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595" name="Google Shape;595;p22"/>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00:58</a:t>
              </a:r>
              <a:endParaRPr b="1" sz="1800">
                <a:solidFill>
                  <a:schemeClr val="dk1"/>
                </a:solidFill>
                <a:latin typeface="Noto Sans KR"/>
                <a:ea typeface="Noto Sans KR"/>
                <a:cs typeface="Noto Sans KR"/>
                <a:sym typeface="Noto Sans KR"/>
              </a:endParaRPr>
            </a:p>
          </p:txBody>
        </p:sp>
      </p:grpSp>
      <p:sp>
        <p:nvSpPr>
          <p:cNvPr id="596" name="Google Shape;596;p22"/>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해당 직무에 관심을 갖게 된 계기는기술을 단순히 구현하는 것을 넘어, 문제를 구조적으로 분석하고 실제 서비스에 적용하는 과정에 매력을 느꼈기 때문입니다. 사용자 요구를 이해하고 시스템 관점에서…</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597" name="Google Shape;597;p22"/>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598" name="Google Shape;598;p22"/>
          <p:cNvGrpSpPr/>
          <p:nvPr/>
        </p:nvGrpSpPr>
        <p:grpSpPr>
          <a:xfrm>
            <a:off x="3200400" y="5492306"/>
            <a:ext cx="2390539" cy="276999"/>
            <a:chOff x="2612255" y="4874578"/>
            <a:chExt cx="3523868" cy="276999"/>
          </a:xfrm>
        </p:grpSpPr>
        <p:sp>
          <p:nvSpPr>
            <p:cNvPr id="599" name="Google Shape;599;p22"/>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600" name="Google Shape;600;p22"/>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601" name="Google Shape;601;p22"/>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602" name="Google Shape;602;p22"/>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603" name="Google Shape;603;p22"/>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604" name="Google Shape;604;p22"/>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605" name="Google Shape;605;p22"/>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606" name="Google Shape;606;p22"/>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607" name="Google Shape;607;p22"/>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608" name="Google Shape;608;p22"/>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609" name="Google Shape;609;p22"/>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23"/>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직무면접</a:t>
            </a:r>
            <a:endParaRPr sz="2400"/>
          </a:p>
        </p:txBody>
      </p:sp>
      <p:sp>
        <p:nvSpPr>
          <p:cNvPr id="616" name="Google Shape;616;p23"/>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617" name="Google Shape;617;p23"/>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618" name="Google Shape;618;p23"/>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619" name="Google Shape;619;p2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620" name="Google Shape;620;p23"/>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453400"/>
                <a:gridCol w="2831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SCR-12</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직무 지식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AI가 생성한 직무 지식 질문에 대해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621" name="Google Shape;621;p23"/>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622" name="Google Shape;622;p2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23" name="Google Shape;623;p23"/>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24" name="Google Shape;624;p2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25" name="Google Shape;625;p23"/>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26" name="Google Shape;626;p23"/>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627" name="Google Shape;627;p23"/>
          <p:cNvGrpSpPr/>
          <p:nvPr/>
        </p:nvGrpSpPr>
        <p:grpSpPr>
          <a:xfrm>
            <a:off x="1576094" y="1326676"/>
            <a:ext cx="327369" cy="251446"/>
            <a:chOff x="2168943" y="1984248"/>
            <a:chExt cx="391377" cy="333742"/>
          </a:xfrm>
        </p:grpSpPr>
        <p:sp>
          <p:nvSpPr>
            <p:cNvPr id="628" name="Google Shape;628;p23"/>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29" name="Google Shape;629;p23"/>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630" name="Google Shape;630;p23"/>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631" name="Google Shape;631;p23"/>
          <p:cNvGrpSpPr/>
          <p:nvPr/>
        </p:nvGrpSpPr>
        <p:grpSpPr>
          <a:xfrm>
            <a:off x="1625791" y="2387057"/>
            <a:ext cx="5551520" cy="2130552"/>
            <a:chOff x="1625791" y="2318062"/>
            <a:chExt cx="5551520" cy="2130552"/>
          </a:xfrm>
        </p:grpSpPr>
        <p:sp>
          <p:nvSpPr>
            <p:cNvPr id="632" name="Google Shape;632;p23"/>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33" name="Google Shape;633;p23"/>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34" name="Google Shape;634;p23"/>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Q3.</a:t>
              </a:r>
              <a:endParaRPr b="1" sz="1800">
                <a:solidFill>
                  <a:schemeClr val="dk1"/>
                </a:solidFill>
                <a:latin typeface="Noto Sans KR"/>
                <a:ea typeface="Noto Sans KR"/>
                <a:cs typeface="Noto Sans KR"/>
                <a:sym typeface="Noto Sans KR"/>
              </a:endParaRPr>
            </a:p>
          </p:txBody>
        </p:sp>
        <p:sp>
          <p:nvSpPr>
            <p:cNvPr id="635" name="Google Shape;635;p23"/>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직무 수행에 필요한 기본 개념은 무엇이라고 생각하나요?</a:t>
              </a:r>
              <a:endParaRPr b="1" sz="1400">
                <a:solidFill>
                  <a:schemeClr val="dk1"/>
                </a:solidFill>
                <a:latin typeface="Noto Sans KR"/>
                <a:ea typeface="Noto Sans KR"/>
                <a:cs typeface="Noto Sans KR"/>
                <a:sym typeface="Noto Sans KR"/>
              </a:endParaRPr>
            </a:p>
          </p:txBody>
        </p:sp>
      </p:grpSp>
      <p:grpSp>
        <p:nvGrpSpPr>
          <p:cNvPr id="636" name="Google Shape;636;p23"/>
          <p:cNvGrpSpPr/>
          <p:nvPr/>
        </p:nvGrpSpPr>
        <p:grpSpPr>
          <a:xfrm>
            <a:off x="5811153" y="1877609"/>
            <a:ext cx="1411645" cy="390175"/>
            <a:chOff x="5746618" y="1881436"/>
            <a:chExt cx="1411645" cy="390175"/>
          </a:xfrm>
        </p:grpSpPr>
        <p:sp>
          <p:nvSpPr>
            <p:cNvPr id="637" name="Google Shape;637;p23"/>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638" name="Google Shape;638;p23"/>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639" name="Google Shape;639;p23"/>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00:22</a:t>
              </a:r>
              <a:endParaRPr b="1" sz="1800">
                <a:solidFill>
                  <a:schemeClr val="dk1"/>
                </a:solidFill>
                <a:latin typeface="Noto Sans KR"/>
                <a:ea typeface="Noto Sans KR"/>
                <a:cs typeface="Noto Sans KR"/>
                <a:sym typeface="Noto Sans KR"/>
              </a:endParaRPr>
            </a:p>
          </p:txBody>
        </p:sp>
      </p:grpSp>
      <p:sp>
        <p:nvSpPr>
          <p:cNvPr id="640" name="Google Shape;640;p23"/>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이 직무를 수행하기 위해 가장 중요한 기본 개념은요구사항을 정확히 이해하고, 이를 시스템 구조와 데이터 흐름으로 연결하는 능력이라고 생각…</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641" name="Google Shape;641;p23"/>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642" name="Google Shape;642;p23"/>
          <p:cNvGrpSpPr/>
          <p:nvPr/>
        </p:nvGrpSpPr>
        <p:grpSpPr>
          <a:xfrm>
            <a:off x="3200400" y="5492306"/>
            <a:ext cx="2390539" cy="276999"/>
            <a:chOff x="2612255" y="4874578"/>
            <a:chExt cx="3523868" cy="276999"/>
          </a:xfrm>
        </p:grpSpPr>
        <p:sp>
          <p:nvSpPr>
            <p:cNvPr id="643" name="Google Shape;643;p23"/>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644" name="Google Shape;644;p23"/>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645" name="Google Shape;645;p23"/>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646" name="Google Shape;646;p23"/>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647" name="Google Shape;647;p23"/>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648" name="Google Shape;648;p23"/>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649" name="Google Shape;649;p23"/>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650" name="Google Shape;650;p23"/>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651" name="Google Shape;651;p23"/>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652" name="Google Shape;652;p23"/>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653" name="Google Shape;653;p23"/>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4"/>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직무면접</a:t>
            </a:r>
            <a:endParaRPr sz="2400"/>
          </a:p>
        </p:txBody>
      </p:sp>
      <p:sp>
        <p:nvSpPr>
          <p:cNvPr id="660" name="Google Shape;660;p24"/>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661" name="Google Shape;661;p24"/>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662" name="Google Shape;662;p24"/>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663" name="Google Shape;663;p2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664" name="Google Shape;664;p24"/>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865625"/>
                <a:gridCol w="3496825"/>
                <a:gridCol w="444250"/>
                <a:gridCol w="28403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SCR-12-1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직무 지식 추가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직무 관련 이전 답변 기반으로 생성된 추가 질문에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665" name="Google Shape;665;p2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66" name="Google Shape;666;p24"/>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667" name="Google Shape;667;p2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68" name="Google Shape;668;p24"/>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69" name="Google Shape;669;p2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70" name="Google Shape;670;p24"/>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71" name="Google Shape;671;p24"/>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672" name="Google Shape;672;p24"/>
          <p:cNvGrpSpPr/>
          <p:nvPr/>
        </p:nvGrpSpPr>
        <p:grpSpPr>
          <a:xfrm>
            <a:off x="1576094" y="1326676"/>
            <a:ext cx="327369" cy="251446"/>
            <a:chOff x="2168943" y="1984248"/>
            <a:chExt cx="391377" cy="333742"/>
          </a:xfrm>
        </p:grpSpPr>
        <p:sp>
          <p:nvSpPr>
            <p:cNvPr id="673" name="Google Shape;673;p24"/>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74" name="Google Shape;674;p24"/>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675" name="Google Shape;675;p24"/>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676" name="Google Shape;676;p24"/>
          <p:cNvGrpSpPr/>
          <p:nvPr/>
        </p:nvGrpSpPr>
        <p:grpSpPr>
          <a:xfrm>
            <a:off x="1625791" y="2387057"/>
            <a:ext cx="5551520" cy="2130552"/>
            <a:chOff x="1625791" y="2318062"/>
            <a:chExt cx="5551520" cy="2130552"/>
          </a:xfrm>
        </p:grpSpPr>
        <p:sp>
          <p:nvSpPr>
            <p:cNvPr id="677" name="Google Shape;677;p24"/>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78" name="Google Shape;678;p24"/>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679" name="Google Shape;679;p24"/>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Q4.</a:t>
              </a:r>
              <a:endParaRPr b="1" sz="1800">
                <a:solidFill>
                  <a:schemeClr val="dk1"/>
                </a:solidFill>
                <a:latin typeface="Noto Sans KR"/>
                <a:ea typeface="Noto Sans KR"/>
                <a:cs typeface="Noto Sans KR"/>
                <a:sym typeface="Noto Sans KR"/>
              </a:endParaRPr>
            </a:p>
          </p:txBody>
        </p:sp>
        <p:sp>
          <p:nvSpPr>
            <p:cNvPr id="680" name="Google Shape;680;p24"/>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요구사항을 정확히 이해하기 위한 본인만의 특별한 방법이 있나요?</a:t>
              </a:r>
              <a:endParaRPr b="1" sz="1400">
                <a:solidFill>
                  <a:schemeClr val="dk1"/>
                </a:solidFill>
                <a:latin typeface="Noto Sans KR"/>
                <a:ea typeface="Noto Sans KR"/>
                <a:cs typeface="Noto Sans KR"/>
                <a:sym typeface="Noto Sans KR"/>
              </a:endParaRPr>
            </a:p>
          </p:txBody>
        </p:sp>
      </p:grpSp>
      <p:grpSp>
        <p:nvGrpSpPr>
          <p:cNvPr id="681" name="Google Shape;681;p24"/>
          <p:cNvGrpSpPr/>
          <p:nvPr/>
        </p:nvGrpSpPr>
        <p:grpSpPr>
          <a:xfrm>
            <a:off x="5811153" y="1877609"/>
            <a:ext cx="1411645" cy="390175"/>
            <a:chOff x="5746618" y="1881436"/>
            <a:chExt cx="1411645" cy="390175"/>
          </a:xfrm>
        </p:grpSpPr>
        <p:sp>
          <p:nvSpPr>
            <p:cNvPr id="682" name="Google Shape;682;p24"/>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683" name="Google Shape;683;p24"/>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684" name="Google Shape;684;p24"/>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00:22</a:t>
              </a:r>
              <a:endParaRPr b="1" sz="1800">
                <a:solidFill>
                  <a:schemeClr val="dk1"/>
                </a:solidFill>
                <a:latin typeface="Noto Sans KR"/>
                <a:ea typeface="Noto Sans KR"/>
                <a:cs typeface="Noto Sans KR"/>
                <a:sym typeface="Noto Sans KR"/>
              </a:endParaRPr>
            </a:p>
          </p:txBody>
        </p:sp>
      </p:grpSp>
      <p:sp>
        <p:nvSpPr>
          <p:cNvPr id="685" name="Google Shape;685;p24"/>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기술 자체보다도 문제의 본질을 파악하고, 어떤 방식으로 구현하는 것이 적절한지를 판단하는 것…</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686" name="Google Shape;686;p24"/>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687" name="Google Shape;687;p24"/>
          <p:cNvGrpSpPr/>
          <p:nvPr/>
        </p:nvGrpSpPr>
        <p:grpSpPr>
          <a:xfrm>
            <a:off x="3200400" y="5492306"/>
            <a:ext cx="2390539" cy="276999"/>
            <a:chOff x="2612255" y="4874578"/>
            <a:chExt cx="3523868" cy="276999"/>
          </a:xfrm>
        </p:grpSpPr>
        <p:sp>
          <p:nvSpPr>
            <p:cNvPr id="688" name="Google Shape;688;p24"/>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689" name="Google Shape;689;p24"/>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690" name="Google Shape;690;p24"/>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691" name="Google Shape;691;p24"/>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692" name="Google Shape;692;p24"/>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693" name="Google Shape;693;p24"/>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694" name="Google Shape;694;p24"/>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695" name="Google Shape;695;p24"/>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696" name="Google Shape;696;p24"/>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697" name="Google Shape;697;p24"/>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698" name="Google Shape;698;p24"/>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25"/>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직무면접</a:t>
            </a:r>
            <a:endParaRPr sz="2400"/>
          </a:p>
        </p:txBody>
      </p:sp>
      <p:sp>
        <p:nvSpPr>
          <p:cNvPr id="705" name="Google Shape;705;p25"/>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706" name="Google Shape;706;p25"/>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707" name="Google Shape;707;p25"/>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708" name="Google Shape;708;p2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709" name="Google Shape;709;p25"/>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85800"/>
                <a:gridCol w="1571625"/>
                <a:gridCol w="952500"/>
                <a:gridCol w="3409950"/>
                <a:gridCol w="462525"/>
                <a:gridCol w="28220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SCR-13</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직무 경험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직무 경험 질문에 대해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710" name="Google Shape;710;p2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11" name="Google Shape;711;p2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12" name="Google Shape;712;p25"/>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713" name="Google Shape;713;p2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14" name="Google Shape;714;p25"/>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15" name="Google Shape;715;p25"/>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16" name="Google Shape;716;p25"/>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717" name="Google Shape;717;p25"/>
          <p:cNvGrpSpPr/>
          <p:nvPr/>
        </p:nvGrpSpPr>
        <p:grpSpPr>
          <a:xfrm>
            <a:off x="1576094" y="1326676"/>
            <a:ext cx="327369" cy="251446"/>
            <a:chOff x="2168943" y="1984248"/>
            <a:chExt cx="391377" cy="333742"/>
          </a:xfrm>
        </p:grpSpPr>
        <p:sp>
          <p:nvSpPr>
            <p:cNvPr id="718" name="Google Shape;718;p25"/>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19" name="Google Shape;719;p25"/>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720" name="Google Shape;720;p25"/>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721" name="Google Shape;721;p25"/>
          <p:cNvGrpSpPr/>
          <p:nvPr/>
        </p:nvGrpSpPr>
        <p:grpSpPr>
          <a:xfrm>
            <a:off x="1625791" y="2387057"/>
            <a:ext cx="5551520" cy="2130552"/>
            <a:chOff x="1625791" y="2318062"/>
            <a:chExt cx="5551520" cy="2130552"/>
          </a:xfrm>
        </p:grpSpPr>
        <p:sp>
          <p:nvSpPr>
            <p:cNvPr id="722" name="Google Shape;722;p25"/>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23" name="Google Shape;723;p25"/>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24" name="Google Shape;724;p25"/>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Q5.</a:t>
              </a:r>
              <a:endParaRPr b="1" sz="1800">
                <a:solidFill>
                  <a:schemeClr val="dk1"/>
                </a:solidFill>
                <a:latin typeface="Noto Sans KR"/>
                <a:ea typeface="Noto Sans KR"/>
                <a:cs typeface="Noto Sans KR"/>
                <a:sym typeface="Noto Sans KR"/>
              </a:endParaRPr>
            </a:p>
          </p:txBody>
        </p:sp>
        <p:sp>
          <p:nvSpPr>
            <p:cNvPr id="725" name="Google Shape;725;p25"/>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방금 설명한 개념을 실제 업무에서 어떻게 활용하나요?</a:t>
              </a:r>
              <a:endParaRPr b="1" sz="1400">
                <a:solidFill>
                  <a:schemeClr val="dk1"/>
                </a:solidFill>
                <a:latin typeface="Noto Sans KR"/>
                <a:ea typeface="Noto Sans KR"/>
                <a:cs typeface="Noto Sans KR"/>
                <a:sym typeface="Noto Sans KR"/>
              </a:endParaRPr>
            </a:p>
          </p:txBody>
        </p:sp>
      </p:grpSp>
      <p:grpSp>
        <p:nvGrpSpPr>
          <p:cNvPr id="726" name="Google Shape;726;p25"/>
          <p:cNvGrpSpPr/>
          <p:nvPr/>
        </p:nvGrpSpPr>
        <p:grpSpPr>
          <a:xfrm>
            <a:off x="5811153" y="1877609"/>
            <a:ext cx="1411645" cy="390175"/>
            <a:chOff x="5746618" y="1881436"/>
            <a:chExt cx="1411645" cy="390175"/>
          </a:xfrm>
        </p:grpSpPr>
        <p:sp>
          <p:nvSpPr>
            <p:cNvPr id="727" name="Google Shape;727;p25"/>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728" name="Google Shape;728;p25"/>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729" name="Google Shape;729;p25"/>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00:09</a:t>
              </a:r>
              <a:endParaRPr b="1" sz="1800">
                <a:solidFill>
                  <a:schemeClr val="dk1"/>
                </a:solidFill>
                <a:latin typeface="Noto Sans KR"/>
                <a:ea typeface="Noto Sans KR"/>
                <a:cs typeface="Noto Sans KR"/>
                <a:sym typeface="Noto Sans KR"/>
              </a:endParaRPr>
            </a:p>
          </p:txBody>
        </p:sp>
      </p:grpSp>
      <p:sp>
        <p:nvSpPr>
          <p:cNvPr id="730" name="Google Shape;730;p25"/>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실제 업무에서는 기능 구현 전에 요구사항을 정리하고,입력과 출력, 예외 상황을 먼저 정의하는 방식으로 활용할 수 있습니다.이를 통해 구현 과정에서 불필요한 수정이나 오류를 줄이고,팀원들과 같은 이해를 공유…</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731" name="Google Shape;731;p25"/>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732" name="Google Shape;732;p25"/>
          <p:cNvGrpSpPr/>
          <p:nvPr/>
        </p:nvGrpSpPr>
        <p:grpSpPr>
          <a:xfrm>
            <a:off x="3200400" y="5492306"/>
            <a:ext cx="2390539" cy="276999"/>
            <a:chOff x="2612255" y="4874578"/>
            <a:chExt cx="3523868" cy="276999"/>
          </a:xfrm>
        </p:grpSpPr>
        <p:sp>
          <p:nvSpPr>
            <p:cNvPr id="733" name="Google Shape;733;p25"/>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734" name="Google Shape;734;p25"/>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735" name="Google Shape;735;p25"/>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736" name="Google Shape;736;p25"/>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737" name="Google Shape;737;p25"/>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738" name="Google Shape;738;p25"/>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739" name="Google Shape;739;p25"/>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740" name="Google Shape;740;p25"/>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741" name="Google Shape;741;p25"/>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742" name="Google Shape;742;p25"/>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743" name="Google Shape;743;p25"/>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26"/>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직무면접</a:t>
            </a:r>
            <a:endParaRPr sz="2400"/>
          </a:p>
        </p:txBody>
      </p:sp>
      <p:sp>
        <p:nvSpPr>
          <p:cNvPr id="750" name="Google Shape;750;p26"/>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751" name="Google Shape;751;p26"/>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752" name="Google Shape;752;p26"/>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753" name="Google Shape;753;p2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754" name="Google Shape;754;p26"/>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635900"/>
                <a:gridCol w="1435600"/>
                <a:gridCol w="822950"/>
                <a:gridCol w="3725425"/>
                <a:gridCol w="444250"/>
                <a:gridCol w="28403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SCR-13-1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직무 경험 추가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직무 경험 관련 이전 답변 기반으로 생성된 추가 질문에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755" name="Google Shape;755;p2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56" name="Google Shape;756;p2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57" name="Google Shape;757;p2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58" name="Google Shape;758;p26"/>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759" name="Google Shape;759;p2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60" name="Google Shape;760;p26"/>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61" name="Google Shape;761;p26"/>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62" name="Google Shape;762;p26"/>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763" name="Google Shape;763;p26"/>
          <p:cNvGrpSpPr/>
          <p:nvPr/>
        </p:nvGrpSpPr>
        <p:grpSpPr>
          <a:xfrm>
            <a:off x="1576094" y="1326676"/>
            <a:ext cx="327369" cy="251446"/>
            <a:chOff x="2168943" y="1984248"/>
            <a:chExt cx="391377" cy="333742"/>
          </a:xfrm>
        </p:grpSpPr>
        <p:sp>
          <p:nvSpPr>
            <p:cNvPr id="764" name="Google Shape;764;p26"/>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65" name="Google Shape;765;p26"/>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766" name="Google Shape;766;p26"/>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767" name="Google Shape;767;p26"/>
          <p:cNvGrpSpPr/>
          <p:nvPr/>
        </p:nvGrpSpPr>
        <p:grpSpPr>
          <a:xfrm>
            <a:off x="1625791" y="2387057"/>
            <a:ext cx="5551520" cy="2130552"/>
            <a:chOff x="1625791" y="2318062"/>
            <a:chExt cx="5551520" cy="2130552"/>
          </a:xfrm>
        </p:grpSpPr>
        <p:sp>
          <p:nvSpPr>
            <p:cNvPr id="768" name="Google Shape;768;p26"/>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69" name="Google Shape;769;p26"/>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70" name="Google Shape;770;p26"/>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Q6.</a:t>
              </a:r>
              <a:endParaRPr b="1" sz="1800">
                <a:solidFill>
                  <a:schemeClr val="dk1"/>
                </a:solidFill>
                <a:latin typeface="Noto Sans KR"/>
                <a:ea typeface="Noto Sans KR"/>
                <a:cs typeface="Noto Sans KR"/>
                <a:sym typeface="Noto Sans KR"/>
              </a:endParaRPr>
            </a:p>
          </p:txBody>
        </p:sp>
        <p:sp>
          <p:nvSpPr>
            <p:cNvPr id="771" name="Google Shape;771;p26"/>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먼저 정의했던 예외상황들에는 구체적으로 어떤 것들이 있었나요 ?</a:t>
              </a:r>
              <a:endParaRPr b="1" sz="1400">
                <a:solidFill>
                  <a:schemeClr val="dk1"/>
                </a:solidFill>
                <a:latin typeface="Noto Sans KR"/>
                <a:ea typeface="Noto Sans KR"/>
                <a:cs typeface="Noto Sans KR"/>
                <a:sym typeface="Noto Sans KR"/>
              </a:endParaRPr>
            </a:p>
          </p:txBody>
        </p:sp>
      </p:grpSp>
      <p:grpSp>
        <p:nvGrpSpPr>
          <p:cNvPr id="772" name="Google Shape;772;p26"/>
          <p:cNvGrpSpPr/>
          <p:nvPr/>
        </p:nvGrpSpPr>
        <p:grpSpPr>
          <a:xfrm>
            <a:off x="5811153" y="1877609"/>
            <a:ext cx="1411645" cy="390175"/>
            <a:chOff x="5746618" y="1881436"/>
            <a:chExt cx="1411645" cy="390175"/>
          </a:xfrm>
        </p:grpSpPr>
        <p:sp>
          <p:nvSpPr>
            <p:cNvPr id="773" name="Google Shape;773;p26"/>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774" name="Google Shape;774;p26"/>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775" name="Google Shape;775;p26"/>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00:09</a:t>
              </a:r>
              <a:endParaRPr b="1" sz="1800">
                <a:solidFill>
                  <a:schemeClr val="dk1"/>
                </a:solidFill>
                <a:latin typeface="Noto Sans KR"/>
                <a:ea typeface="Noto Sans KR"/>
                <a:cs typeface="Noto Sans KR"/>
                <a:sym typeface="Noto Sans KR"/>
              </a:endParaRPr>
            </a:p>
          </p:txBody>
        </p:sp>
      </p:grpSp>
      <p:sp>
        <p:nvSpPr>
          <p:cNvPr id="776" name="Google Shape;776;p26"/>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가장 기억에 남는 예외상황을 정의했던 사례는 사용자 입력 예외입니다. 필수값 누락이나 형식 오류를 사전에 차단하여 데이터의 무결성을 보장…</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777" name="Google Shape;777;p26"/>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778" name="Google Shape;778;p26"/>
          <p:cNvGrpSpPr/>
          <p:nvPr/>
        </p:nvGrpSpPr>
        <p:grpSpPr>
          <a:xfrm>
            <a:off x="3200400" y="5492306"/>
            <a:ext cx="2390539" cy="276999"/>
            <a:chOff x="2612255" y="4874578"/>
            <a:chExt cx="3523868" cy="276999"/>
          </a:xfrm>
        </p:grpSpPr>
        <p:sp>
          <p:nvSpPr>
            <p:cNvPr id="779" name="Google Shape;779;p26"/>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780" name="Google Shape;780;p26"/>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781" name="Google Shape;781;p26"/>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782" name="Google Shape;782;p26"/>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783" name="Google Shape;783;p26"/>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784" name="Google Shape;784;p26"/>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785" name="Google Shape;785;p26"/>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786" name="Google Shape;786;p26"/>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787" name="Google Shape;787;p26"/>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788" name="Google Shape;788;p26"/>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789" name="Google Shape;789;p26"/>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27"/>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직무면접</a:t>
            </a:r>
            <a:endParaRPr sz="2400"/>
          </a:p>
        </p:txBody>
      </p:sp>
      <p:sp>
        <p:nvSpPr>
          <p:cNvPr id="796" name="Google Shape;796;p27"/>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797" name="Google Shape;797;p27"/>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798" name="Google Shape;798;p27"/>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799" name="Google Shape;799;p2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800" name="Google Shape;800;p27"/>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44250"/>
                <a:gridCol w="28403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SCR-14</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문제 해결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문제 해결 질문에 대해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801" name="Google Shape;801;p2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2" name="Google Shape;802;p2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3" name="Google Shape;803;p2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4" name="Google Shape;804;p2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5" name="Google Shape;805;p27"/>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806" name="Google Shape;806;p2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7" name="Google Shape;807;p27"/>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8" name="Google Shape;808;p27"/>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9" name="Google Shape;809;p27"/>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810" name="Google Shape;810;p27"/>
          <p:cNvGrpSpPr/>
          <p:nvPr/>
        </p:nvGrpSpPr>
        <p:grpSpPr>
          <a:xfrm>
            <a:off x="1576094" y="1326676"/>
            <a:ext cx="327369" cy="251446"/>
            <a:chOff x="2168943" y="1984248"/>
            <a:chExt cx="391377" cy="333742"/>
          </a:xfrm>
        </p:grpSpPr>
        <p:sp>
          <p:nvSpPr>
            <p:cNvPr id="811" name="Google Shape;811;p27"/>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12" name="Google Shape;812;p27"/>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813" name="Google Shape;813;p27"/>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814" name="Google Shape;814;p27"/>
          <p:cNvGrpSpPr/>
          <p:nvPr/>
        </p:nvGrpSpPr>
        <p:grpSpPr>
          <a:xfrm>
            <a:off x="1625791" y="2387057"/>
            <a:ext cx="5551520" cy="2130552"/>
            <a:chOff x="1625791" y="2318062"/>
            <a:chExt cx="5551520" cy="2130552"/>
          </a:xfrm>
        </p:grpSpPr>
        <p:sp>
          <p:nvSpPr>
            <p:cNvPr id="815" name="Google Shape;815;p27"/>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16" name="Google Shape;816;p27"/>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17" name="Google Shape;817;p27"/>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Q7.</a:t>
              </a:r>
              <a:endParaRPr b="1" sz="1800">
                <a:solidFill>
                  <a:schemeClr val="dk1"/>
                </a:solidFill>
                <a:latin typeface="Noto Sans KR"/>
                <a:ea typeface="Noto Sans KR"/>
                <a:cs typeface="Noto Sans KR"/>
                <a:sym typeface="Noto Sans KR"/>
              </a:endParaRPr>
            </a:p>
          </p:txBody>
        </p:sp>
        <p:sp>
          <p:nvSpPr>
            <p:cNvPr id="818" name="Google Shape;818;p27"/>
            <p:cNvSpPr txBox="1"/>
            <p:nvPr/>
          </p:nvSpPr>
          <p:spPr>
            <a:xfrm>
              <a:off x="1903463" y="3008376"/>
              <a:ext cx="297028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기능이 정상적으로 동작하지 않는 문제가 발생했을 때,요구사항이 불명확한 상황이라면 어떤 절차로 문제를 해결하시겠습니까?</a:t>
              </a:r>
              <a:endParaRPr b="1" sz="1400">
                <a:solidFill>
                  <a:schemeClr val="dk1"/>
                </a:solidFill>
                <a:latin typeface="Noto Sans KR"/>
                <a:ea typeface="Noto Sans KR"/>
                <a:cs typeface="Noto Sans KR"/>
                <a:sym typeface="Noto Sans KR"/>
              </a:endParaRPr>
            </a:p>
          </p:txBody>
        </p:sp>
      </p:grpSp>
      <p:grpSp>
        <p:nvGrpSpPr>
          <p:cNvPr id="819" name="Google Shape;819;p27"/>
          <p:cNvGrpSpPr/>
          <p:nvPr/>
        </p:nvGrpSpPr>
        <p:grpSpPr>
          <a:xfrm>
            <a:off x="5811153" y="1877609"/>
            <a:ext cx="1411645" cy="390175"/>
            <a:chOff x="5746618" y="1881436"/>
            <a:chExt cx="1411645" cy="390175"/>
          </a:xfrm>
        </p:grpSpPr>
        <p:sp>
          <p:nvSpPr>
            <p:cNvPr id="820" name="Google Shape;820;p27"/>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821" name="Google Shape;821;p27"/>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822" name="Google Shape;822;p27"/>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823" name="Google Shape;823;p27"/>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정의된 기준을 바탕으로 문제가 재현되는지 확인하고,각 단계별로 입력 → 처리 → 출력 흐름을 분리해 어디에서 기대와 실제가 달라지는지를 검증…</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824" name="Google Shape;824;p27"/>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825" name="Google Shape;825;p27"/>
          <p:cNvGrpSpPr/>
          <p:nvPr/>
        </p:nvGrpSpPr>
        <p:grpSpPr>
          <a:xfrm>
            <a:off x="3200400" y="5492306"/>
            <a:ext cx="2390539" cy="276999"/>
            <a:chOff x="2612255" y="4874578"/>
            <a:chExt cx="3523868" cy="276999"/>
          </a:xfrm>
        </p:grpSpPr>
        <p:sp>
          <p:nvSpPr>
            <p:cNvPr id="826" name="Google Shape;826;p27"/>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827" name="Google Shape;827;p27"/>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828" name="Google Shape;828;p27"/>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829" name="Google Shape;829;p27"/>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830" name="Google Shape;830;p27"/>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831" name="Google Shape;831;p27"/>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832" name="Google Shape;832;p27"/>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833" name="Google Shape;833;p27"/>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834" name="Google Shape;834;p27"/>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835" name="Google Shape;835;p27"/>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836" name="Google Shape;836;p27"/>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28"/>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직무면접</a:t>
            </a:r>
            <a:endParaRPr sz="2400"/>
          </a:p>
        </p:txBody>
      </p:sp>
      <p:sp>
        <p:nvSpPr>
          <p:cNvPr id="843" name="Google Shape;843;p28"/>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844" name="Google Shape;844;p28"/>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845" name="Google Shape;845;p28"/>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846" name="Google Shape;846;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847" name="Google Shape;847;p28"/>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44250"/>
                <a:gridCol w="28403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SCR-14-1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문제 해결 추가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문제 해결 관련 이전 답변 기반으로 생성된 추가 질문에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848" name="Google Shape;848;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49" name="Google Shape;849;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0" name="Google Shape;850;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1" name="Google Shape;851;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2" name="Google Shape;852;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3" name="Google Shape;853;p28"/>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854" name="Google Shape;854;p2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5" name="Google Shape;855;p28"/>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6" name="Google Shape;856;p28"/>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57" name="Google Shape;857;p28"/>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858" name="Google Shape;858;p28"/>
          <p:cNvGrpSpPr/>
          <p:nvPr/>
        </p:nvGrpSpPr>
        <p:grpSpPr>
          <a:xfrm>
            <a:off x="1576094" y="1326676"/>
            <a:ext cx="327369" cy="251446"/>
            <a:chOff x="2168943" y="1984248"/>
            <a:chExt cx="391377" cy="333742"/>
          </a:xfrm>
        </p:grpSpPr>
        <p:sp>
          <p:nvSpPr>
            <p:cNvPr id="859" name="Google Shape;859;p28"/>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60" name="Google Shape;860;p28"/>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861" name="Google Shape;861;p28"/>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862" name="Google Shape;862;p28"/>
          <p:cNvGrpSpPr/>
          <p:nvPr/>
        </p:nvGrpSpPr>
        <p:grpSpPr>
          <a:xfrm>
            <a:off x="1625791" y="2387057"/>
            <a:ext cx="5551520" cy="2130552"/>
            <a:chOff x="1625791" y="2318062"/>
            <a:chExt cx="5551520" cy="2130552"/>
          </a:xfrm>
        </p:grpSpPr>
        <p:sp>
          <p:nvSpPr>
            <p:cNvPr id="863" name="Google Shape;863;p28"/>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64" name="Google Shape;864;p28"/>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65" name="Google Shape;865;p28"/>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Q8.</a:t>
              </a:r>
              <a:endParaRPr b="1" sz="1800">
                <a:solidFill>
                  <a:schemeClr val="dk1"/>
                </a:solidFill>
                <a:latin typeface="Noto Sans KR"/>
                <a:ea typeface="Noto Sans KR"/>
                <a:cs typeface="Noto Sans KR"/>
                <a:sym typeface="Noto Sans KR"/>
              </a:endParaRPr>
            </a:p>
          </p:txBody>
        </p:sp>
        <p:sp>
          <p:nvSpPr>
            <p:cNvPr id="866" name="Google Shape;866;p28"/>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해당 순서로 처리하겠다고 정한 이유가 있나요?</a:t>
              </a:r>
              <a:endParaRPr b="1" sz="1400">
                <a:solidFill>
                  <a:schemeClr val="dk1"/>
                </a:solidFill>
                <a:latin typeface="Noto Sans KR"/>
                <a:ea typeface="Noto Sans KR"/>
                <a:cs typeface="Noto Sans KR"/>
                <a:sym typeface="Noto Sans KR"/>
              </a:endParaRPr>
            </a:p>
          </p:txBody>
        </p:sp>
      </p:grpSp>
      <p:grpSp>
        <p:nvGrpSpPr>
          <p:cNvPr id="867" name="Google Shape;867;p28"/>
          <p:cNvGrpSpPr/>
          <p:nvPr/>
        </p:nvGrpSpPr>
        <p:grpSpPr>
          <a:xfrm>
            <a:off x="5811153" y="1877609"/>
            <a:ext cx="1411645" cy="390175"/>
            <a:chOff x="5746618" y="1881436"/>
            <a:chExt cx="1411645" cy="390175"/>
          </a:xfrm>
        </p:grpSpPr>
        <p:sp>
          <p:nvSpPr>
            <p:cNvPr id="868" name="Google Shape;868;p28"/>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869" name="Google Shape;869;p28"/>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870" name="Google Shape;870;p28"/>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871" name="Google Shape;871;p28"/>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문제를 해결하기 전에 기준이 되는 요구사항이 명확하지 않으면,수정이 반복되거나 문제의 원인이 흐려질 수 있기 때문…</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872" name="Google Shape;872;p28"/>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873" name="Google Shape;873;p28"/>
          <p:cNvGrpSpPr/>
          <p:nvPr/>
        </p:nvGrpSpPr>
        <p:grpSpPr>
          <a:xfrm>
            <a:off x="3200400" y="5492306"/>
            <a:ext cx="2390539" cy="276999"/>
            <a:chOff x="2612255" y="4874578"/>
            <a:chExt cx="3523868" cy="276999"/>
          </a:xfrm>
        </p:grpSpPr>
        <p:sp>
          <p:nvSpPr>
            <p:cNvPr id="874" name="Google Shape;874;p28"/>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875" name="Google Shape;875;p28"/>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876" name="Google Shape;876;p28"/>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877" name="Google Shape;877;p28"/>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878" name="Google Shape;878;p28"/>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879" name="Google Shape;879;p28"/>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880" name="Google Shape;880;p28"/>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881" name="Google Shape;881;p28"/>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882" name="Google Shape;882;p28"/>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883" name="Google Shape;883;p28"/>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884" name="Google Shape;884;p28"/>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29"/>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인성면접</a:t>
            </a:r>
            <a:endParaRPr sz="2400"/>
          </a:p>
        </p:txBody>
      </p:sp>
      <p:sp>
        <p:nvSpPr>
          <p:cNvPr id="891" name="Google Shape;891;p29"/>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892" name="Google Shape;892;p29"/>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893" name="Google Shape;893;p29"/>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894" name="Google Shape;894;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895" name="Google Shape;895;p29"/>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62525"/>
                <a:gridCol w="28220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SCR-15</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협업·의사소통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협업 및 의사소통 질문에 대해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896" name="Google Shape;896;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97" name="Google Shape;897;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98" name="Google Shape;898;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99" name="Google Shape;899;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0" name="Google Shape;900;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1" name="Google Shape;901;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2" name="Google Shape;902;p29"/>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903" name="Google Shape;903;p2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4" name="Google Shape;904;p29"/>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5" name="Google Shape;905;p29"/>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6" name="Google Shape;906;p29"/>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907" name="Google Shape;907;p29"/>
          <p:cNvGrpSpPr/>
          <p:nvPr/>
        </p:nvGrpSpPr>
        <p:grpSpPr>
          <a:xfrm>
            <a:off x="1576094" y="1326676"/>
            <a:ext cx="327369" cy="251446"/>
            <a:chOff x="2168943" y="1984248"/>
            <a:chExt cx="391377" cy="333742"/>
          </a:xfrm>
        </p:grpSpPr>
        <p:sp>
          <p:nvSpPr>
            <p:cNvPr id="908" name="Google Shape;908;p29"/>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09" name="Google Shape;909;p29"/>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910" name="Google Shape;910;p29"/>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911" name="Google Shape;911;p29"/>
          <p:cNvGrpSpPr/>
          <p:nvPr/>
        </p:nvGrpSpPr>
        <p:grpSpPr>
          <a:xfrm>
            <a:off x="1625791" y="2387057"/>
            <a:ext cx="5551520" cy="2130552"/>
            <a:chOff x="1625791" y="2318062"/>
            <a:chExt cx="5551520" cy="2130552"/>
          </a:xfrm>
        </p:grpSpPr>
        <p:sp>
          <p:nvSpPr>
            <p:cNvPr id="912" name="Google Shape;912;p29"/>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13" name="Google Shape;913;p29"/>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14" name="Google Shape;914;p29"/>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Q9.</a:t>
              </a:r>
              <a:endParaRPr b="1" sz="1800">
                <a:solidFill>
                  <a:schemeClr val="dk1"/>
                </a:solidFill>
                <a:latin typeface="Noto Sans KR"/>
                <a:ea typeface="Noto Sans KR"/>
                <a:cs typeface="Noto Sans KR"/>
                <a:sym typeface="Noto Sans KR"/>
              </a:endParaRPr>
            </a:p>
          </p:txBody>
        </p:sp>
        <p:sp>
          <p:nvSpPr>
            <p:cNvPr id="915" name="Google Shape;915;p29"/>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협업 과정에서 의견 충돌이 있었을 때 어떻게 했나요?</a:t>
              </a:r>
              <a:endParaRPr b="1" sz="1400">
                <a:solidFill>
                  <a:schemeClr val="dk1"/>
                </a:solidFill>
                <a:latin typeface="Noto Sans KR"/>
                <a:ea typeface="Noto Sans KR"/>
                <a:cs typeface="Noto Sans KR"/>
                <a:sym typeface="Noto Sans KR"/>
              </a:endParaRPr>
            </a:p>
          </p:txBody>
        </p:sp>
      </p:grpSp>
      <p:grpSp>
        <p:nvGrpSpPr>
          <p:cNvPr id="916" name="Google Shape;916;p29"/>
          <p:cNvGrpSpPr/>
          <p:nvPr/>
        </p:nvGrpSpPr>
        <p:grpSpPr>
          <a:xfrm>
            <a:off x="5811153" y="1877609"/>
            <a:ext cx="1411645" cy="390175"/>
            <a:chOff x="5746618" y="1881436"/>
            <a:chExt cx="1411645" cy="390175"/>
          </a:xfrm>
        </p:grpSpPr>
        <p:sp>
          <p:nvSpPr>
            <p:cNvPr id="917" name="Google Shape;917;p29"/>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918" name="Google Shape;918;p29"/>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919" name="Google Shape;919;p29"/>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920" name="Google Shape;920;p29"/>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의견 충돌이 있었을 때는 감정보다 근거를 중심으로 이야기하려고 노력했습니다.각자의 의견을 정리한 뒤, 일정과 목표에 가장 적합한 방향이 무엇인지…</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921" name="Google Shape;921;p29"/>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922" name="Google Shape;922;p29"/>
          <p:cNvGrpSpPr/>
          <p:nvPr/>
        </p:nvGrpSpPr>
        <p:grpSpPr>
          <a:xfrm>
            <a:off x="3200400" y="5492306"/>
            <a:ext cx="2390539" cy="276999"/>
            <a:chOff x="2612255" y="4874578"/>
            <a:chExt cx="3523868" cy="276999"/>
          </a:xfrm>
        </p:grpSpPr>
        <p:sp>
          <p:nvSpPr>
            <p:cNvPr id="923" name="Google Shape;923;p29"/>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924" name="Google Shape;924;p29"/>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925" name="Google Shape;925;p29"/>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926" name="Google Shape;926;p29"/>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927" name="Google Shape;927;p29"/>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928" name="Google Shape;928;p29"/>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929" name="Google Shape;929;p29"/>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930" name="Google Shape;930;p29"/>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931" name="Google Shape;931;p29"/>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932" name="Google Shape;932;p29"/>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933" name="Google Shape;933;p29"/>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30"/>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인성면접</a:t>
            </a:r>
            <a:endParaRPr sz="2400"/>
          </a:p>
        </p:txBody>
      </p:sp>
      <p:sp>
        <p:nvSpPr>
          <p:cNvPr id="940" name="Google Shape;940;p30"/>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941" name="Google Shape;941;p30"/>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942" name="Google Shape;942;p30"/>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943" name="Google Shape;943;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944" name="Google Shape;944;p30"/>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62525"/>
                <a:gridCol w="28220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SCR-15-1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의사 소통 추가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의사 소통 관련 이전 답변 기반으로 생성된 추가 질문에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945" name="Google Shape;945;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46" name="Google Shape;946;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47" name="Google Shape;947;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48" name="Google Shape;948;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49" name="Google Shape;949;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0" name="Google Shape;950;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1" name="Google Shape;951;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2" name="Google Shape;952;p30"/>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953" name="Google Shape;953;p3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4" name="Google Shape;954;p30"/>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5" name="Google Shape;955;p30"/>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6" name="Google Shape;956;p30"/>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957" name="Google Shape;957;p30"/>
          <p:cNvGrpSpPr/>
          <p:nvPr/>
        </p:nvGrpSpPr>
        <p:grpSpPr>
          <a:xfrm>
            <a:off x="1576094" y="1326676"/>
            <a:ext cx="327369" cy="251446"/>
            <a:chOff x="2168943" y="1984248"/>
            <a:chExt cx="391377" cy="333742"/>
          </a:xfrm>
        </p:grpSpPr>
        <p:sp>
          <p:nvSpPr>
            <p:cNvPr id="958" name="Google Shape;958;p30"/>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59" name="Google Shape;959;p30"/>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960" name="Google Shape;960;p30"/>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961" name="Google Shape;961;p30"/>
          <p:cNvGrpSpPr/>
          <p:nvPr/>
        </p:nvGrpSpPr>
        <p:grpSpPr>
          <a:xfrm>
            <a:off x="1625791" y="2387057"/>
            <a:ext cx="5551520" cy="2130552"/>
            <a:chOff x="1625791" y="2318062"/>
            <a:chExt cx="5551520" cy="2130552"/>
          </a:xfrm>
        </p:grpSpPr>
        <p:sp>
          <p:nvSpPr>
            <p:cNvPr id="962" name="Google Shape;962;p30"/>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63" name="Google Shape;963;p30"/>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64" name="Google Shape;964;p30"/>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Q10.</a:t>
              </a:r>
              <a:endParaRPr b="1" sz="1800">
                <a:solidFill>
                  <a:schemeClr val="dk1"/>
                </a:solidFill>
                <a:latin typeface="Noto Sans KR"/>
                <a:ea typeface="Noto Sans KR"/>
                <a:cs typeface="Noto Sans KR"/>
                <a:sym typeface="Noto Sans KR"/>
              </a:endParaRPr>
            </a:p>
          </p:txBody>
        </p:sp>
        <p:sp>
          <p:nvSpPr>
            <p:cNvPr id="965" name="Google Shape;965;p30"/>
            <p:cNvSpPr txBox="1"/>
            <p:nvPr/>
          </p:nvSpPr>
          <p:spPr>
            <a:xfrm>
              <a:off x="1903463" y="3008376"/>
              <a:ext cx="297028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어떤 기준으로 근거를 정리하였나요?</a:t>
              </a:r>
              <a:endParaRPr b="1" sz="1400">
                <a:solidFill>
                  <a:schemeClr val="dk1"/>
                </a:solidFill>
                <a:latin typeface="Noto Sans KR"/>
                <a:ea typeface="Noto Sans KR"/>
                <a:cs typeface="Noto Sans KR"/>
                <a:sym typeface="Noto Sans KR"/>
              </a:endParaRPr>
            </a:p>
          </p:txBody>
        </p:sp>
      </p:grpSp>
      <p:grpSp>
        <p:nvGrpSpPr>
          <p:cNvPr id="966" name="Google Shape;966;p30"/>
          <p:cNvGrpSpPr/>
          <p:nvPr/>
        </p:nvGrpSpPr>
        <p:grpSpPr>
          <a:xfrm>
            <a:off x="5811153" y="1877609"/>
            <a:ext cx="1411645" cy="390175"/>
            <a:chOff x="5746618" y="1881436"/>
            <a:chExt cx="1411645" cy="390175"/>
          </a:xfrm>
        </p:grpSpPr>
        <p:sp>
          <p:nvSpPr>
            <p:cNvPr id="967" name="Google Shape;967;p30"/>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968" name="Google Shape;968;p30"/>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969" name="Google Shape;969;p30"/>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970" name="Google Shape;970;p30"/>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상대방이 왜 그렇게 생각했는지 배경을 먼저 질문했고,그 의견이 프로젝트 목표와 어떻게 연결되는지를 이해하…</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971" name="Google Shape;971;p30"/>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972" name="Google Shape;972;p30"/>
          <p:cNvGrpSpPr/>
          <p:nvPr/>
        </p:nvGrpSpPr>
        <p:grpSpPr>
          <a:xfrm>
            <a:off x="3200400" y="5492306"/>
            <a:ext cx="2390539" cy="276999"/>
            <a:chOff x="2612255" y="4874578"/>
            <a:chExt cx="3523868" cy="276999"/>
          </a:xfrm>
        </p:grpSpPr>
        <p:sp>
          <p:nvSpPr>
            <p:cNvPr id="973" name="Google Shape;973;p30"/>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974" name="Google Shape;974;p30"/>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975" name="Google Shape;975;p30"/>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976" name="Google Shape;976;p30"/>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977" name="Google Shape;977;p30"/>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978" name="Google Shape;978;p30"/>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979" name="Google Shape;979;p30"/>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980" name="Google Shape;980;p30"/>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981" name="Google Shape;981;p30"/>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982" name="Google Shape;982;p30"/>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983" name="Google Shape;983;p30"/>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31"/>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인성면접</a:t>
            </a:r>
            <a:endParaRPr sz="2400"/>
          </a:p>
        </p:txBody>
      </p:sp>
      <p:sp>
        <p:nvSpPr>
          <p:cNvPr id="990" name="Google Shape;990;p31"/>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991" name="Google Shape;991;p31"/>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992" name="Google Shape;992;p31"/>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993" name="Google Shape;993;p3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994" name="Google Shape;994;p31"/>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62525"/>
                <a:gridCol w="28220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SCR-16</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책임감·가치관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책임감 및 가치관 질문에 대해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995" name="Google Shape;995;p31"/>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996" name="Google Shape;996;p31"/>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97" name="Google Shape;997;p31"/>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998" name="Google Shape;998;p31"/>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999" name="Google Shape;999;p31"/>
          <p:cNvGrpSpPr/>
          <p:nvPr/>
        </p:nvGrpSpPr>
        <p:grpSpPr>
          <a:xfrm>
            <a:off x="1576094" y="1326676"/>
            <a:ext cx="327369" cy="251446"/>
            <a:chOff x="2168943" y="1984248"/>
            <a:chExt cx="391377" cy="333742"/>
          </a:xfrm>
        </p:grpSpPr>
        <p:sp>
          <p:nvSpPr>
            <p:cNvPr id="1000" name="Google Shape;1000;p31"/>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01" name="Google Shape;1001;p31"/>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002" name="Google Shape;1002;p31"/>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1003" name="Google Shape;1003;p31"/>
          <p:cNvGrpSpPr/>
          <p:nvPr/>
        </p:nvGrpSpPr>
        <p:grpSpPr>
          <a:xfrm>
            <a:off x="1625791" y="2387057"/>
            <a:ext cx="5551520" cy="2130552"/>
            <a:chOff x="1625791" y="2318062"/>
            <a:chExt cx="5551520" cy="2130552"/>
          </a:xfrm>
        </p:grpSpPr>
        <p:sp>
          <p:nvSpPr>
            <p:cNvPr id="1004" name="Google Shape;1004;p31"/>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05" name="Google Shape;1005;p31"/>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06" name="Google Shape;1006;p31"/>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Q11.</a:t>
              </a:r>
              <a:endParaRPr b="1" sz="1800">
                <a:solidFill>
                  <a:schemeClr val="dk1"/>
                </a:solidFill>
                <a:latin typeface="Noto Sans KR"/>
                <a:ea typeface="Noto Sans KR"/>
                <a:cs typeface="Noto Sans KR"/>
                <a:sym typeface="Noto Sans KR"/>
              </a:endParaRPr>
            </a:p>
          </p:txBody>
        </p:sp>
        <p:sp>
          <p:nvSpPr>
            <p:cNvPr id="1007" name="Google Shape;1007;p31"/>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책임감을 발휘했던 경험을 말씀해 주세요.</a:t>
              </a:r>
              <a:endParaRPr b="1" sz="1400">
                <a:solidFill>
                  <a:schemeClr val="dk1"/>
                </a:solidFill>
                <a:latin typeface="Noto Sans KR"/>
                <a:ea typeface="Noto Sans KR"/>
                <a:cs typeface="Noto Sans KR"/>
                <a:sym typeface="Noto Sans KR"/>
              </a:endParaRPr>
            </a:p>
          </p:txBody>
        </p:sp>
      </p:grpSp>
      <p:grpSp>
        <p:nvGrpSpPr>
          <p:cNvPr id="1008" name="Google Shape;1008;p31"/>
          <p:cNvGrpSpPr/>
          <p:nvPr/>
        </p:nvGrpSpPr>
        <p:grpSpPr>
          <a:xfrm>
            <a:off x="5811153" y="1877609"/>
            <a:ext cx="1411645" cy="390175"/>
            <a:chOff x="5746618" y="1881436"/>
            <a:chExt cx="1411645" cy="390175"/>
          </a:xfrm>
        </p:grpSpPr>
        <p:sp>
          <p:nvSpPr>
            <p:cNvPr id="1009" name="Google Shape;1009;p31"/>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010" name="Google Shape;1010;p31"/>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1011" name="Google Shape;1011;p31"/>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1012" name="Google Shape;1012;p31"/>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프로젝트 일정이 지연될 위기가 있었을 때,제가 맡은 기능을 우선적으로 정리해 핵심 기능부터 완성한 경험이 있습니다.그 결과 전체 일정 조정에 도움이 되었고,맡은 역할에 대한 책임의 중요성을…</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1013" name="Google Shape;1013;p31"/>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1014" name="Google Shape;1014;p31"/>
          <p:cNvGrpSpPr/>
          <p:nvPr/>
        </p:nvGrpSpPr>
        <p:grpSpPr>
          <a:xfrm>
            <a:off x="3200400" y="5492306"/>
            <a:ext cx="2390539" cy="276999"/>
            <a:chOff x="2612255" y="4874578"/>
            <a:chExt cx="3523868" cy="276999"/>
          </a:xfrm>
        </p:grpSpPr>
        <p:sp>
          <p:nvSpPr>
            <p:cNvPr id="1015" name="Google Shape;1015;p31"/>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1016" name="Google Shape;1016;p31"/>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1017" name="Google Shape;1017;p31"/>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018" name="Google Shape;1018;p31"/>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019" name="Google Shape;1019;p31"/>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020" name="Google Shape;1020;p31"/>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021" name="Google Shape;1021;p31"/>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022" name="Google Shape;1022;p31"/>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023" name="Google Shape;1023;p31"/>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024" name="Google Shape;1024;p31"/>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1025" name="Google Shape;1025;p31"/>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32"/>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인성면접</a:t>
            </a:r>
            <a:endParaRPr sz="2400"/>
          </a:p>
        </p:txBody>
      </p:sp>
      <p:sp>
        <p:nvSpPr>
          <p:cNvPr id="1032" name="Google Shape;1032;p32"/>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033" name="Google Shape;1033;p32"/>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034" name="Google Shape;1034;p32"/>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035" name="Google Shape;1035;p3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036" name="Google Shape;1036;p32"/>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62525"/>
                <a:gridCol w="28220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SCR-16-1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가치관 추가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가치관 관련 이전 답변 기반으로 생성된 추가 질문에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037" name="Google Shape;1037;p3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38" name="Google Shape;1038;p32"/>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1039" name="Google Shape;1039;p32"/>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40" name="Google Shape;1040;p32"/>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41" name="Google Shape;1041;p32"/>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042" name="Google Shape;1042;p32"/>
          <p:cNvGrpSpPr/>
          <p:nvPr/>
        </p:nvGrpSpPr>
        <p:grpSpPr>
          <a:xfrm>
            <a:off x="1576094" y="1326676"/>
            <a:ext cx="327369" cy="251446"/>
            <a:chOff x="2168943" y="1984248"/>
            <a:chExt cx="391377" cy="333742"/>
          </a:xfrm>
        </p:grpSpPr>
        <p:sp>
          <p:nvSpPr>
            <p:cNvPr id="1043" name="Google Shape;1043;p32"/>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44" name="Google Shape;1044;p32"/>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045" name="Google Shape;1045;p32"/>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1046" name="Google Shape;1046;p32"/>
          <p:cNvGrpSpPr/>
          <p:nvPr/>
        </p:nvGrpSpPr>
        <p:grpSpPr>
          <a:xfrm>
            <a:off x="1625791" y="2387057"/>
            <a:ext cx="5551520" cy="2130552"/>
            <a:chOff x="1625791" y="2318062"/>
            <a:chExt cx="5551520" cy="2130552"/>
          </a:xfrm>
        </p:grpSpPr>
        <p:sp>
          <p:nvSpPr>
            <p:cNvPr id="1047" name="Google Shape;1047;p32"/>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48" name="Google Shape;1048;p32"/>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49" name="Google Shape;1049;p32"/>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Q12.</a:t>
              </a:r>
              <a:endParaRPr b="1" sz="1800">
                <a:solidFill>
                  <a:schemeClr val="dk1"/>
                </a:solidFill>
                <a:latin typeface="Noto Sans KR"/>
                <a:ea typeface="Noto Sans KR"/>
                <a:cs typeface="Noto Sans KR"/>
                <a:sym typeface="Noto Sans KR"/>
              </a:endParaRPr>
            </a:p>
          </p:txBody>
        </p:sp>
        <p:sp>
          <p:nvSpPr>
            <p:cNvPr id="1050" name="Google Shape;1050;p32"/>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다른 선택지와 비교했을 때, 왜 그 방식을 선택하셨나요?</a:t>
              </a:r>
              <a:endParaRPr b="1" sz="1400">
                <a:solidFill>
                  <a:schemeClr val="dk1"/>
                </a:solidFill>
                <a:latin typeface="Noto Sans KR"/>
                <a:ea typeface="Noto Sans KR"/>
                <a:cs typeface="Noto Sans KR"/>
                <a:sym typeface="Noto Sans KR"/>
              </a:endParaRPr>
            </a:p>
          </p:txBody>
        </p:sp>
      </p:grpSp>
      <p:grpSp>
        <p:nvGrpSpPr>
          <p:cNvPr id="1051" name="Google Shape;1051;p32"/>
          <p:cNvGrpSpPr/>
          <p:nvPr/>
        </p:nvGrpSpPr>
        <p:grpSpPr>
          <a:xfrm>
            <a:off x="5811153" y="1877609"/>
            <a:ext cx="1411645" cy="390175"/>
            <a:chOff x="5746618" y="1881436"/>
            <a:chExt cx="1411645" cy="390175"/>
          </a:xfrm>
        </p:grpSpPr>
        <p:sp>
          <p:nvSpPr>
            <p:cNvPr id="1052" name="Google Shape;1052;p32"/>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053" name="Google Shape;1053;p32"/>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1054" name="Google Shape;1054;p32"/>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1055" name="Google Shape;1055;p32"/>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개인적인 부담보다 팀 전체 일정과 결과에 미치는 영향을 기준으로 판단했습니다.조직의 목표를 우선으로 생각하는 것이…</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1056" name="Google Shape;1056;p32"/>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1057" name="Google Shape;1057;p32"/>
          <p:cNvGrpSpPr/>
          <p:nvPr/>
        </p:nvGrpSpPr>
        <p:grpSpPr>
          <a:xfrm>
            <a:off x="3200400" y="5492306"/>
            <a:ext cx="2390539" cy="276999"/>
            <a:chOff x="2612255" y="4874578"/>
            <a:chExt cx="3523868" cy="276999"/>
          </a:xfrm>
        </p:grpSpPr>
        <p:sp>
          <p:nvSpPr>
            <p:cNvPr id="1058" name="Google Shape;1058;p32"/>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1059" name="Google Shape;1059;p32"/>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1060" name="Google Shape;1060;p32"/>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061" name="Google Shape;1061;p32"/>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062" name="Google Shape;1062;p32"/>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063" name="Google Shape;1063;p32"/>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064" name="Google Shape;1064;p32"/>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065" name="Google Shape;1065;p32"/>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066" name="Google Shape;1066;p32"/>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067" name="Google Shape;1067;p32"/>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1068" name="Google Shape;1068;p32"/>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33"/>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인성면접</a:t>
            </a:r>
            <a:endParaRPr sz="2400"/>
          </a:p>
        </p:txBody>
      </p:sp>
      <p:sp>
        <p:nvSpPr>
          <p:cNvPr id="1075" name="Google Shape;1075;p33"/>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076" name="Google Shape;1076;p33"/>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077" name="Google Shape;1077;p33"/>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078" name="Google Shape;1078;p3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079" name="Google Shape;1079;p33"/>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3400"/>
                <a:gridCol w="2831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SCR-17</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변화·성장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변화 및 성장 관련 질문에 대해 사용자가 응답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080" name="Google Shape;1080;p3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81" name="Google Shape;1081;p3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82" name="Google Shape;1082;p33"/>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1083" name="Google Shape;1083;p33"/>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84" name="Google Shape;1084;p33"/>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85" name="Google Shape;1085;p33"/>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086" name="Google Shape;1086;p33"/>
          <p:cNvGrpSpPr/>
          <p:nvPr/>
        </p:nvGrpSpPr>
        <p:grpSpPr>
          <a:xfrm>
            <a:off x="1576094" y="1326676"/>
            <a:ext cx="327369" cy="251446"/>
            <a:chOff x="2168943" y="1984248"/>
            <a:chExt cx="391377" cy="333742"/>
          </a:xfrm>
        </p:grpSpPr>
        <p:sp>
          <p:nvSpPr>
            <p:cNvPr id="1087" name="Google Shape;1087;p33"/>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88" name="Google Shape;1088;p33"/>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089" name="Google Shape;1089;p33"/>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1090" name="Google Shape;1090;p33"/>
          <p:cNvGrpSpPr/>
          <p:nvPr/>
        </p:nvGrpSpPr>
        <p:grpSpPr>
          <a:xfrm>
            <a:off x="1625791" y="2387057"/>
            <a:ext cx="5551520" cy="2130552"/>
            <a:chOff x="1625791" y="2318062"/>
            <a:chExt cx="5551520" cy="2130552"/>
          </a:xfrm>
        </p:grpSpPr>
        <p:sp>
          <p:nvSpPr>
            <p:cNvPr id="1091" name="Google Shape;1091;p33"/>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92" name="Google Shape;1092;p33"/>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093" name="Google Shape;1093;p33"/>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Q13.</a:t>
              </a:r>
              <a:endParaRPr b="1" sz="1800">
                <a:solidFill>
                  <a:schemeClr val="dk1"/>
                </a:solidFill>
                <a:latin typeface="Noto Sans KR"/>
                <a:ea typeface="Noto Sans KR"/>
                <a:cs typeface="Noto Sans KR"/>
                <a:sym typeface="Noto Sans KR"/>
              </a:endParaRPr>
            </a:p>
          </p:txBody>
        </p:sp>
        <p:sp>
          <p:nvSpPr>
            <p:cNvPr id="1094" name="Google Shape;1094;p33"/>
            <p:cNvSpPr txBox="1"/>
            <p:nvPr/>
          </p:nvSpPr>
          <p:spPr>
            <a:xfrm>
              <a:off x="1903463" y="3008376"/>
              <a:ext cx="297028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새로운 환경 변화에 어떻게 대응하나요?</a:t>
              </a:r>
              <a:endParaRPr b="1" sz="1400">
                <a:solidFill>
                  <a:schemeClr val="dk1"/>
                </a:solidFill>
                <a:latin typeface="Noto Sans KR"/>
                <a:ea typeface="Noto Sans KR"/>
                <a:cs typeface="Noto Sans KR"/>
                <a:sym typeface="Noto Sans KR"/>
              </a:endParaRPr>
            </a:p>
          </p:txBody>
        </p:sp>
      </p:grpSp>
      <p:grpSp>
        <p:nvGrpSpPr>
          <p:cNvPr id="1095" name="Google Shape;1095;p33"/>
          <p:cNvGrpSpPr/>
          <p:nvPr/>
        </p:nvGrpSpPr>
        <p:grpSpPr>
          <a:xfrm>
            <a:off x="5811153" y="1877609"/>
            <a:ext cx="1411645" cy="390175"/>
            <a:chOff x="5746618" y="1881436"/>
            <a:chExt cx="1411645" cy="390175"/>
          </a:xfrm>
        </p:grpSpPr>
        <p:sp>
          <p:nvSpPr>
            <p:cNvPr id="1096" name="Google Shape;1096;p33"/>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097" name="Google Shape;1097;p33"/>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1098" name="Google Shape;1098;p33"/>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1099" name="Google Shape;1099;p33"/>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우선 주변 환경을 먼저 이해하려고 하고,작은 부분부터 점진적으로 적용해 보는 방식을 선호합니다.변화를 부담으로 보기보다는 성장의 기회로 받아들이려고…</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1100" name="Google Shape;1100;p33"/>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1101" name="Google Shape;1101;p33"/>
          <p:cNvGrpSpPr/>
          <p:nvPr/>
        </p:nvGrpSpPr>
        <p:grpSpPr>
          <a:xfrm>
            <a:off x="3200400" y="5492306"/>
            <a:ext cx="2390539" cy="276999"/>
            <a:chOff x="2612255" y="4874578"/>
            <a:chExt cx="3523868" cy="276999"/>
          </a:xfrm>
        </p:grpSpPr>
        <p:sp>
          <p:nvSpPr>
            <p:cNvPr id="1102" name="Google Shape;1102;p33"/>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1103" name="Google Shape;1103;p33"/>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1104" name="Google Shape;1104;p33"/>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105" name="Google Shape;1105;p33"/>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106" name="Google Shape;1106;p33"/>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107" name="Google Shape;1107;p33"/>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108" name="Google Shape;1108;p33"/>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109" name="Google Shape;1109;p33"/>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110" name="Google Shape;1110;p33"/>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111" name="Google Shape;1111;p33"/>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1112" name="Google Shape;1112;p33"/>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34"/>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인성면접</a:t>
            </a:r>
            <a:endParaRPr sz="2400"/>
          </a:p>
        </p:txBody>
      </p:sp>
      <p:sp>
        <p:nvSpPr>
          <p:cNvPr id="1119" name="Google Shape;1119;p34"/>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120" name="Google Shape;1120;p34"/>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121" name="Google Shape;1121;p34"/>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122" name="Google Shape;1122;p3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123" name="Google Shape;1123;p34"/>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762000"/>
                <a:gridCol w="594350"/>
                <a:gridCol w="1618500"/>
                <a:gridCol w="740675"/>
                <a:gridCol w="3771150"/>
                <a:gridCol w="453400"/>
                <a:gridCol w="2831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SCR-17-1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변화·성장 추가 질문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변화 및 성장 관련 이전 답변 기반으로 생성된 추가 질문에 사용자가 응답</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124" name="Google Shape;1124;p34"/>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1125" name="Google Shape;1125;p34"/>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26" name="Google Shape;1126;p34"/>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27" name="Google Shape;1127;p34"/>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128" name="Google Shape;1128;p34"/>
          <p:cNvGrpSpPr/>
          <p:nvPr/>
        </p:nvGrpSpPr>
        <p:grpSpPr>
          <a:xfrm>
            <a:off x="1576094" y="1326676"/>
            <a:ext cx="327369" cy="251446"/>
            <a:chOff x="2168943" y="1984248"/>
            <a:chExt cx="391377" cy="333742"/>
          </a:xfrm>
        </p:grpSpPr>
        <p:sp>
          <p:nvSpPr>
            <p:cNvPr id="1129" name="Google Shape;1129;p34"/>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30" name="Google Shape;1130;p34"/>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131" name="Google Shape;1131;p34"/>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1132" name="Google Shape;1132;p34"/>
          <p:cNvGrpSpPr/>
          <p:nvPr/>
        </p:nvGrpSpPr>
        <p:grpSpPr>
          <a:xfrm>
            <a:off x="1625791" y="2387057"/>
            <a:ext cx="5551520" cy="2130552"/>
            <a:chOff x="1625791" y="2318062"/>
            <a:chExt cx="5551520" cy="2130552"/>
          </a:xfrm>
        </p:grpSpPr>
        <p:sp>
          <p:nvSpPr>
            <p:cNvPr id="1133" name="Google Shape;1133;p34"/>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34" name="Google Shape;1134;p34"/>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35" name="Google Shape;1135;p34"/>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Q14.</a:t>
              </a:r>
              <a:endParaRPr b="1" sz="1800">
                <a:solidFill>
                  <a:schemeClr val="dk1"/>
                </a:solidFill>
                <a:latin typeface="Noto Sans KR"/>
                <a:ea typeface="Noto Sans KR"/>
                <a:cs typeface="Noto Sans KR"/>
                <a:sym typeface="Noto Sans KR"/>
              </a:endParaRPr>
            </a:p>
          </p:txBody>
        </p:sp>
        <p:sp>
          <p:nvSpPr>
            <p:cNvPr id="1136" name="Google Shape;1136;p34"/>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그 과정에서 가장 어려웠던 점은 무엇이라고 생각하나요?</a:t>
              </a:r>
              <a:endParaRPr b="1" sz="1400">
                <a:solidFill>
                  <a:schemeClr val="dk1"/>
                </a:solidFill>
                <a:latin typeface="Noto Sans KR"/>
                <a:ea typeface="Noto Sans KR"/>
                <a:cs typeface="Noto Sans KR"/>
                <a:sym typeface="Noto Sans KR"/>
              </a:endParaRPr>
            </a:p>
          </p:txBody>
        </p:sp>
      </p:grpSp>
      <p:grpSp>
        <p:nvGrpSpPr>
          <p:cNvPr id="1137" name="Google Shape;1137;p34"/>
          <p:cNvGrpSpPr/>
          <p:nvPr/>
        </p:nvGrpSpPr>
        <p:grpSpPr>
          <a:xfrm>
            <a:off x="5811153" y="1877609"/>
            <a:ext cx="1411645" cy="390175"/>
            <a:chOff x="5746618" y="1881436"/>
            <a:chExt cx="1411645" cy="390175"/>
          </a:xfrm>
        </p:grpSpPr>
        <p:sp>
          <p:nvSpPr>
            <p:cNvPr id="1138" name="Google Shape;1138;p34"/>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139" name="Google Shape;1139;p34"/>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1140" name="Google Shape;1140;p34"/>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00:19</a:t>
              </a:r>
              <a:endParaRPr b="1" sz="1800">
                <a:solidFill>
                  <a:schemeClr val="dk1"/>
                </a:solidFill>
                <a:latin typeface="Noto Sans KR"/>
                <a:ea typeface="Noto Sans KR"/>
                <a:cs typeface="Noto Sans KR"/>
                <a:sym typeface="Noto Sans KR"/>
              </a:endParaRPr>
            </a:p>
          </p:txBody>
        </p:sp>
      </p:grpSp>
      <p:sp>
        <p:nvSpPr>
          <p:cNvPr id="1141" name="Google Shape;1141;p34"/>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초기에 이해 속도가 느리다고 느낄 때가 가장 어렵게 느껴질 거 같습니다.하지만 기록과 반복 학습을 통해 점차 익숙해질 수 있었…</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1142" name="Google Shape;1142;p34"/>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1143" name="Google Shape;1143;p34"/>
          <p:cNvGrpSpPr/>
          <p:nvPr/>
        </p:nvGrpSpPr>
        <p:grpSpPr>
          <a:xfrm>
            <a:off x="3200400" y="5492306"/>
            <a:ext cx="2390539" cy="276999"/>
            <a:chOff x="2612255" y="4874578"/>
            <a:chExt cx="3523868" cy="276999"/>
          </a:xfrm>
        </p:grpSpPr>
        <p:sp>
          <p:nvSpPr>
            <p:cNvPr id="1144" name="Google Shape;1144;p34"/>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1145" name="Google Shape;1145;p34"/>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1146" name="Google Shape;1146;p34"/>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147" name="Google Shape;1147;p34"/>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148" name="Google Shape;1148;p34"/>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149" name="Google Shape;1149;p34"/>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150" name="Google Shape;1150;p34"/>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151" name="Google Shape;1151;p34"/>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152" name="Google Shape;1152;p34"/>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153" name="Google Shape;1153;p34"/>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154" name="Google Shape;1154;p34"/>
          <p:cNvSpPr/>
          <p:nvPr/>
        </p:nvSpPr>
        <p:spPr>
          <a:xfrm>
            <a:off x="5935539" y="3244334"/>
            <a:ext cx="32092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800">
                <a:solidFill>
                  <a:schemeClr val="dk1"/>
                </a:solidFill>
                <a:latin typeface="Noto Sans KR"/>
                <a:ea typeface="Noto Sans KR"/>
                <a:cs typeface="Noto Sans KR"/>
                <a:sym typeface="Noto Sans KR"/>
              </a:rPr>
              <a:t>3</a:t>
            </a:r>
            <a:endParaRPr b="1" sz="1800">
              <a:solidFill>
                <a:schemeClr val="dk1"/>
              </a:solidFill>
              <a:latin typeface="Noto Sans KR"/>
              <a:ea typeface="Noto Sans KR"/>
              <a:cs typeface="Noto Sans KR"/>
              <a:sym typeface="Noto Sans KR"/>
            </a:endParaRPr>
          </a:p>
        </p:txBody>
      </p:sp>
      <p:graphicFrame>
        <p:nvGraphicFramePr>
          <p:cNvPr id="1155" name="Google Shape;1155;p34"/>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35"/>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최종 발언</a:t>
            </a:r>
            <a:endParaRPr sz="2400"/>
          </a:p>
        </p:txBody>
      </p:sp>
      <p:sp>
        <p:nvSpPr>
          <p:cNvPr id="1162" name="Google Shape;1162;p35"/>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163" name="Google Shape;1163;p35"/>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164" name="Google Shape;1164;p35"/>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165" name="Google Shape;1165;p3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166" name="Google Shape;1166;p35"/>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3400"/>
                <a:gridCol w="2831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SCR-18</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최종 자유 발언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 종료 직전, 지원자가 자유롭게 발언하며 면접을 마무리</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167" name="Google Shape;1167;p35"/>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68" name="Google Shape;1168;p35"/>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진행중</a:t>
            </a:r>
            <a:endParaRPr b="1" sz="1800">
              <a:solidFill>
                <a:schemeClr val="dk1"/>
              </a:solidFill>
              <a:latin typeface="Noto Sans KR"/>
              <a:ea typeface="Noto Sans KR"/>
              <a:cs typeface="Noto Sans KR"/>
              <a:sym typeface="Noto Sans KR"/>
            </a:endParaRPr>
          </a:p>
        </p:txBody>
      </p:sp>
      <p:sp>
        <p:nvSpPr>
          <p:cNvPr id="1169" name="Google Shape;1169;p35"/>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70" name="Google Shape;1170;p35"/>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71" name="Google Shape;1171;p35"/>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172" name="Google Shape;1172;p35"/>
          <p:cNvGrpSpPr/>
          <p:nvPr/>
        </p:nvGrpSpPr>
        <p:grpSpPr>
          <a:xfrm>
            <a:off x="1576094" y="1326676"/>
            <a:ext cx="327369" cy="251446"/>
            <a:chOff x="2168943" y="1984248"/>
            <a:chExt cx="391377" cy="333742"/>
          </a:xfrm>
        </p:grpSpPr>
        <p:sp>
          <p:nvSpPr>
            <p:cNvPr id="1173" name="Google Shape;1173;p35"/>
            <p:cNvSpPr/>
            <p:nvPr/>
          </p:nvSpPr>
          <p:spPr>
            <a:xfrm>
              <a:off x="2168943" y="1984248"/>
              <a:ext cx="391377" cy="333742"/>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74" name="Google Shape;1174;p35"/>
            <p:cNvSpPr/>
            <p:nvPr/>
          </p:nvSpPr>
          <p:spPr>
            <a:xfrm flipH="1" rot="5400000">
              <a:off x="2278811" y="2088956"/>
              <a:ext cx="199071" cy="118563"/>
            </a:xfrm>
            <a:prstGeom prst="triangle">
              <a:avLst>
                <a:gd fmla="val 50000" name="adj"/>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175" name="Google Shape;1175;p35"/>
          <p:cNvSpPr/>
          <p:nvPr/>
        </p:nvSpPr>
        <p:spPr>
          <a:xfrm>
            <a:off x="3200400" y="1445239"/>
            <a:ext cx="548640" cy="129025"/>
          </a:xfrm>
          <a:prstGeom prst="roundRect">
            <a:avLst>
              <a:gd fmla="val 16667" name="adj"/>
            </a:avLst>
          </a:prstGeom>
          <a:solidFill>
            <a:srgbClr val="006600"/>
          </a:solidFill>
          <a:ln cap="flat" cmpd="sng" w="12700">
            <a:solidFill>
              <a:srgbClr val="0066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Malgun Gothic"/>
                <a:ea typeface="Malgun Gothic"/>
                <a:cs typeface="Malgun Gothic"/>
                <a:sym typeface="Malgun Gothic"/>
              </a:rPr>
              <a:t>LIVE</a:t>
            </a:r>
            <a:endParaRPr sz="1000">
              <a:solidFill>
                <a:schemeClr val="lt1"/>
              </a:solidFill>
              <a:latin typeface="Malgun Gothic"/>
              <a:ea typeface="Malgun Gothic"/>
              <a:cs typeface="Malgun Gothic"/>
              <a:sym typeface="Malgun Gothic"/>
            </a:endParaRPr>
          </a:p>
        </p:txBody>
      </p:sp>
      <p:grpSp>
        <p:nvGrpSpPr>
          <p:cNvPr id="1176" name="Google Shape;1176;p35"/>
          <p:cNvGrpSpPr/>
          <p:nvPr/>
        </p:nvGrpSpPr>
        <p:grpSpPr>
          <a:xfrm>
            <a:off x="1625791" y="2387057"/>
            <a:ext cx="5551520" cy="2130552"/>
            <a:chOff x="1625791" y="2318062"/>
            <a:chExt cx="5551520" cy="2130552"/>
          </a:xfrm>
        </p:grpSpPr>
        <p:sp>
          <p:nvSpPr>
            <p:cNvPr id="1177" name="Google Shape;1177;p35"/>
            <p:cNvSpPr/>
            <p:nvPr/>
          </p:nvSpPr>
          <p:spPr>
            <a:xfrm>
              <a:off x="1625791" y="2318062"/>
              <a:ext cx="5551520" cy="2130552"/>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78" name="Google Shape;1178;p35"/>
            <p:cNvSpPr/>
            <p:nvPr/>
          </p:nvSpPr>
          <p:spPr>
            <a:xfrm>
              <a:off x="5212853" y="2496370"/>
              <a:ext cx="1810512" cy="1773936"/>
            </a:xfrm>
            <a:prstGeom prst="roundRect">
              <a:avLst>
                <a:gd fmla="val 7389" name="adj"/>
              </a:avLst>
            </a:prstGeom>
            <a:blipFill rotWithShape="1">
              <a:blip r:embed="rId3">
                <a:alphaModFix/>
              </a:blip>
              <a:stretch>
                <a:fillRect b="0" l="0" r="0" t="0"/>
              </a:stretch>
            </a:blip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179" name="Google Shape;1179;p35"/>
            <p:cNvSpPr txBox="1"/>
            <p:nvPr/>
          </p:nvSpPr>
          <p:spPr>
            <a:xfrm>
              <a:off x="1903463" y="2564968"/>
              <a:ext cx="978492" cy="3749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Q15.</a:t>
              </a:r>
              <a:endParaRPr b="1" sz="1800">
                <a:solidFill>
                  <a:schemeClr val="dk1"/>
                </a:solidFill>
                <a:latin typeface="Noto Sans KR"/>
                <a:ea typeface="Noto Sans KR"/>
                <a:cs typeface="Noto Sans KR"/>
                <a:sym typeface="Noto Sans KR"/>
              </a:endParaRPr>
            </a:p>
          </p:txBody>
        </p:sp>
        <p:sp>
          <p:nvSpPr>
            <p:cNvPr id="1180" name="Google Shape;1180;p35"/>
            <p:cNvSpPr txBox="1"/>
            <p:nvPr/>
          </p:nvSpPr>
          <p:spPr>
            <a:xfrm>
              <a:off x="1903463" y="3008376"/>
              <a:ext cx="29702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마지막으로 하고 싶은 말이 있다면 자유롭게 말씀해 주세요.</a:t>
              </a:r>
              <a:endParaRPr b="1" sz="1400">
                <a:solidFill>
                  <a:schemeClr val="dk1"/>
                </a:solidFill>
                <a:latin typeface="Noto Sans KR"/>
                <a:ea typeface="Noto Sans KR"/>
                <a:cs typeface="Noto Sans KR"/>
                <a:sym typeface="Noto Sans KR"/>
              </a:endParaRPr>
            </a:p>
          </p:txBody>
        </p:sp>
      </p:grpSp>
      <p:grpSp>
        <p:nvGrpSpPr>
          <p:cNvPr id="1181" name="Google Shape;1181;p35"/>
          <p:cNvGrpSpPr/>
          <p:nvPr/>
        </p:nvGrpSpPr>
        <p:grpSpPr>
          <a:xfrm>
            <a:off x="5811153" y="1877609"/>
            <a:ext cx="1411645" cy="390175"/>
            <a:chOff x="5746618" y="1881436"/>
            <a:chExt cx="1411645" cy="390175"/>
          </a:xfrm>
        </p:grpSpPr>
        <p:sp>
          <p:nvSpPr>
            <p:cNvPr id="1182" name="Google Shape;1182;p35"/>
            <p:cNvSpPr/>
            <p:nvPr/>
          </p:nvSpPr>
          <p:spPr>
            <a:xfrm>
              <a:off x="5746618" y="1881436"/>
              <a:ext cx="1276748" cy="386348"/>
            </a:xfrm>
            <a:prstGeom prst="roundRect">
              <a:avLst>
                <a:gd fmla="val 16667" name="adj"/>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183" name="Google Shape;1183;p35"/>
            <p:cNvPicPr preferRelativeResize="0"/>
            <p:nvPr/>
          </p:nvPicPr>
          <p:blipFill rotWithShape="1">
            <a:blip r:embed="rId4">
              <a:alphaModFix/>
            </a:blip>
            <a:srcRect b="0" l="0" r="0" t="0"/>
            <a:stretch/>
          </p:blipFill>
          <p:spPr>
            <a:xfrm>
              <a:off x="5858122" y="1970325"/>
              <a:ext cx="228600" cy="228600"/>
            </a:xfrm>
            <a:prstGeom prst="rect">
              <a:avLst/>
            </a:prstGeom>
            <a:noFill/>
            <a:ln>
              <a:noFill/>
            </a:ln>
          </p:spPr>
        </p:pic>
        <p:sp>
          <p:nvSpPr>
            <p:cNvPr id="1184" name="Google Shape;1184;p35"/>
            <p:cNvSpPr txBox="1"/>
            <p:nvPr/>
          </p:nvSpPr>
          <p:spPr>
            <a:xfrm>
              <a:off x="6099061" y="1902279"/>
              <a:ext cx="1059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00:39</a:t>
              </a:r>
              <a:endParaRPr b="1" sz="1800">
                <a:solidFill>
                  <a:schemeClr val="dk1"/>
                </a:solidFill>
                <a:latin typeface="Noto Sans KR"/>
                <a:ea typeface="Noto Sans KR"/>
                <a:cs typeface="Noto Sans KR"/>
                <a:sym typeface="Noto Sans KR"/>
              </a:endParaRPr>
            </a:p>
          </p:txBody>
        </p:sp>
      </p:grpSp>
      <p:sp>
        <p:nvSpPr>
          <p:cNvPr id="1185" name="Google Shape;1185;p35"/>
          <p:cNvSpPr/>
          <p:nvPr/>
        </p:nvSpPr>
        <p:spPr>
          <a:xfrm>
            <a:off x="1739778" y="4567815"/>
            <a:ext cx="5348123" cy="772281"/>
          </a:xfrm>
          <a:prstGeom prst="roundRect">
            <a:avLst>
              <a:gd fmla="val 16667" name="adj"/>
            </a:avLst>
          </a:prstGeom>
          <a:solidFill>
            <a:srgbClr val="F9F9F9"/>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이번 면접을 통해 제 경험과 생각을 정리해 말씀드릴 수 있어 뜻깊었습니다.아직 부족한 부분도 많지만, 배우는 속도와 태도만큼은 자신 있다고 생각합니…</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1186" name="Google Shape;1186;p35"/>
          <p:cNvSpPr/>
          <p:nvPr/>
        </p:nvSpPr>
        <p:spPr>
          <a:xfrm>
            <a:off x="5473816" y="5969489"/>
            <a:ext cx="1549549" cy="23976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chemeClr val="lt1"/>
                </a:solidFill>
                <a:latin typeface="Noto Sans KR"/>
                <a:ea typeface="Noto Sans KR"/>
                <a:cs typeface="Noto Sans KR"/>
                <a:sym typeface="Noto Sans KR"/>
              </a:rPr>
              <a:t>면접 종료</a:t>
            </a:r>
            <a:endParaRPr b="1" sz="1000">
              <a:solidFill>
                <a:schemeClr val="lt1"/>
              </a:solidFill>
              <a:latin typeface="Noto Sans KR"/>
              <a:ea typeface="Noto Sans KR"/>
              <a:cs typeface="Noto Sans KR"/>
              <a:sym typeface="Noto Sans KR"/>
            </a:endParaRPr>
          </a:p>
        </p:txBody>
      </p:sp>
      <p:grpSp>
        <p:nvGrpSpPr>
          <p:cNvPr id="1187" name="Google Shape;1187;p35"/>
          <p:cNvGrpSpPr/>
          <p:nvPr/>
        </p:nvGrpSpPr>
        <p:grpSpPr>
          <a:xfrm>
            <a:off x="3200400" y="5492306"/>
            <a:ext cx="2390539" cy="276999"/>
            <a:chOff x="2612255" y="4874578"/>
            <a:chExt cx="3523868" cy="276999"/>
          </a:xfrm>
        </p:grpSpPr>
        <p:sp>
          <p:nvSpPr>
            <p:cNvPr id="1188" name="Google Shape;1188;p35"/>
            <p:cNvSpPr/>
            <p:nvPr/>
          </p:nvSpPr>
          <p:spPr>
            <a:xfrm>
              <a:off x="2612255" y="4902349"/>
              <a:ext cx="3328416"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Noto Sans KR"/>
                  <a:ea typeface="Noto Sans KR"/>
                  <a:cs typeface="Noto Sans KR"/>
                  <a:sym typeface="Noto Sans KR"/>
                </a:rPr>
                <a:t> v </a:t>
              </a:r>
              <a:endParaRPr sz="1800">
                <a:solidFill>
                  <a:schemeClr val="lt1"/>
                </a:solidFill>
                <a:latin typeface="Malgun Gothic"/>
                <a:ea typeface="Malgun Gothic"/>
                <a:cs typeface="Malgun Gothic"/>
                <a:sym typeface="Malgun Gothic"/>
              </a:endParaRPr>
            </a:p>
          </p:txBody>
        </p:sp>
        <p:sp>
          <p:nvSpPr>
            <p:cNvPr id="1189" name="Google Shape;1189;p35"/>
            <p:cNvSpPr txBox="1"/>
            <p:nvPr/>
          </p:nvSpPr>
          <p:spPr>
            <a:xfrm>
              <a:off x="3729752" y="4874578"/>
              <a:ext cx="24063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rgbClr val="006600"/>
                  </a:solidFill>
                  <a:latin typeface="Noto Sans KR"/>
                  <a:ea typeface="Noto Sans KR"/>
                  <a:cs typeface="Noto Sans KR"/>
                  <a:sym typeface="Noto Sans KR"/>
                </a:rPr>
                <a:t>…</a:t>
              </a:r>
              <a:r>
                <a:rPr lang="ko-KR" sz="1000">
                  <a:solidFill>
                    <a:srgbClr val="006600"/>
                  </a:solidFill>
                  <a:latin typeface="Noto Sans KR"/>
                  <a:ea typeface="Noto Sans KR"/>
                  <a:cs typeface="Noto Sans KR"/>
                  <a:sym typeface="Noto Sans KR"/>
                </a:rPr>
                <a:t> 답변중</a:t>
              </a:r>
              <a:endParaRPr sz="1000">
                <a:solidFill>
                  <a:srgbClr val="006600"/>
                </a:solidFill>
                <a:latin typeface="Noto Sans KR"/>
                <a:ea typeface="Noto Sans KR"/>
                <a:cs typeface="Noto Sans KR"/>
                <a:sym typeface="Noto Sans KR"/>
              </a:endParaRPr>
            </a:p>
          </p:txBody>
        </p:sp>
      </p:grpSp>
      <p:sp>
        <p:nvSpPr>
          <p:cNvPr id="1190" name="Google Shape;1190;p35"/>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191" name="Google Shape;1191;p35"/>
          <p:cNvSpPr/>
          <p:nvPr/>
        </p:nvSpPr>
        <p:spPr>
          <a:xfrm>
            <a:off x="3160918" y="124392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192" name="Google Shape;1192;p35"/>
          <p:cNvSpPr/>
          <p:nvPr/>
        </p:nvSpPr>
        <p:spPr>
          <a:xfrm>
            <a:off x="5681153" y="17616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193" name="Google Shape;1193;p35"/>
          <p:cNvSpPr/>
          <p:nvPr/>
        </p:nvSpPr>
        <p:spPr>
          <a:xfrm>
            <a:off x="1643463" y="234792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194" name="Google Shape;1194;p35"/>
          <p:cNvSpPr/>
          <p:nvPr/>
        </p:nvSpPr>
        <p:spPr>
          <a:xfrm>
            <a:off x="5180451" y="248953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195" name="Google Shape;1195;p35"/>
          <p:cNvSpPr/>
          <p:nvPr/>
        </p:nvSpPr>
        <p:spPr>
          <a:xfrm>
            <a:off x="1562906" y="44468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196" name="Google Shape;1196;p35"/>
          <p:cNvSpPr/>
          <p:nvPr/>
        </p:nvSpPr>
        <p:spPr>
          <a:xfrm>
            <a:off x="3698493" y="542150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197" name="Google Shape;1197;p35"/>
          <p:cNvSpPr/>
          <p:nvPr/>
        </p:nvSpPr>
        <p:spPr>
          <a:xfrm>
            <a:off x="5343816" y="584928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graphicFrame>
        <p:nvGraphicFramePr>
          <p:cNvPr id="1198" name="Google Shape;1198;p35"/>
          <p:cNvGraphicFramePr/>
          <p:nvPr/>
        </p:nvGraphicFramePr>
        <p:xfrm>
          <a:off x="8561674" y="1054743"/>
          <a:ext cx="3000000" cy="3000000"/>
        </p:xfrm>
        <a:graphic>
          <a:graphicData uri="http://schemas.openxmlformats.org/drawingml/2006/table">
            <a:tbl>
              <a:tblPr bandRow="1" firstRow="1">
                <a:noFill/>
                <a:tableStyleId>{C61F204E-A15B-47D6-BEBB-6A886D3283EB}</a:tableStyleId>
              </a:tblPr>
              <a:tblGrid>
                <a:gridCol w="445000"/>
                <a:gridCol w="2831225"/>
              </a:tblGrid>
              <a:tr h="549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진행 상태 표시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현재 면접이 실시간 진행 중임을 표시하는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LIVE 상태 표시</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세션이 실시간 녹화·분석 중임을 명확히 안내</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제한 시간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자기소개 응답에 허용된 잔여 시간(카운트다운)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제한 시간 종료 시 자동 종료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질문 표시 영역 (QN)</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질문 번호 및 질문 내용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사용자 영상 미리보기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중 사용자의 실시간 카메라 화면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자세, 시선, 표정 등 비언어적 요소를 사용자 스스로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음성 인식 결과(답변 텍스트)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사용자의 발화를 STT로 변환한 실시간/누적 텍스트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본인의 답변 진행 상황을 확인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12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응답 상태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시스템 상태가 답변 수집 중임을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답변중, 답변완료, 답변중지 등 상태가 표시됨</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4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면접을 중단 또는 종료할 수 있는 버튼</a:t>
                      </a:r>
                      <a:endParaRPr b="0" sz="1000" u="none" cap="none" strike="noStrike">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09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36"/>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면접 종료</a:t>
            </a:r>
            <a:endParaRPr sz="2400"/>
          </a:p>
        </p:txBody>
      </p:sp>
      <p:sp>
        <p:nvSpPr>
          <p:cNvPr id="1205" name="Google Shape;1205;p36"/>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206" name="Google Shape;1206;p36"/>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207" name="Google Shape;1207;p36"/>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208" name="Google Shape;1208;p3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209" name="Google Shape;1209;p36"/>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563125"/>
                <a:gridCol w="2713100"/>
              </a:tblGrid>
              <a:tr h="3068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종료 헤더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면접 세션이 정상적으로 종료되었음을 안내하는 헤더 메시지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 종료 안내 메시지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모든 면접 절차가 완료되었음을 사용자에게 안내</a:t>
                      </a:r>
                      <a:endParaRPr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결과 확인을 위해 결과 확인 화면으로 이동 가능함을 안내</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종료 요약/안내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종료에 따른 안내 사항 또는 간단한 요약 정보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분석 및 평가 진행 현황 안내</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세션을 완전히 종료하고 서비스 메인 또는 종료 화면으로 이동</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결과를 확인하지 않고 나갈 수 있는 선택지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확인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결과 확인 화면으로 이동하는 핵심 버튼</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클릭 시 평가 결과, 피드백, 요약 리포트 화면으로 전환</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07325">
                <a:tc gridSpan="2">
                  <a:txBody>
                    <a:bodyPr/>
                    <a:lstStyle/>
                    <a:p>
                      <a:pPr indent="0" lvl="0" marL="0" marR="0" rtl="0" algn="ctr">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1210" name="Google Shape;1210;p36"/>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SCR-19</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종료 안내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 종료 안내와 결과 확인 이동 제공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211" name="Google Shape;1211;p3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12" name="Google Shape;1212;p3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13" name="Google Shape;1213;p36"/>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종료</a:t>
            </a:r>
            <a:endParaRPr b="1" sz="1800">
              <a:solidFill>
                <a:schemeClr val="dk1"/>
              </a:solidFill>
              <a:latin typeface="Noto Sans KR"/>
              <a:ea typeface="Noto Sans KR"/>
              <a:cs typeface="Noto Sans KR"/>
              <a:sym typeface="Noto Sans KR"/>
            </a:endParaRPr>
          </a:p>
        </p:txBody>
      </p:sp>
      <p:sp>
        <p:nvSpPr>
          <p:cNvPr id="1214" name="Google Shape;1214;p36"/>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15" name="Google Shape;1215;p36"/>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16" name="Google Shape;1216;p36"/>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17" name="Google Shape;1217;p36"/>
          <p:cNvSpPr/>
          <p:nvPr/>
        </p:nvSpPr>
        <p:spPr>
          <a:xfrm>
            <a:off x="1576094" y="1326676"/>
            <a:ext cx="327369" cy="251446"/>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18" name="Google Shape;1218;p36"/>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219" name="Google Shape;1219;p36"/>
          <p:cNvSpPr/>
          <p:nvPr/>
        </p:nvSpPr>
        <p:spPr>
          <a:xfrm>
            <a:off x="1926407" y="18435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220" name="Google Shape;1220;p36"/>
          <p:cNvSpPr/>
          <p:nvPr/>
        </p:nvSpPr>
        <p:spPr>
          <a:xfrm>
            <a:off x="1686763" y="1391239"/>
            <a:ext cx="108000" cy="108000"/>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21" name="Google Shape;1221;p36"/>
          <p:cNvSpPr txBox="1"/>
          <p:nvPr/>
        </p:nvSpPr>
        <p:spPr>
          <a:xfrm>
            <a:off x="2039112" y="1884334"/>
            <a:ext cx="504176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chemeClr val="dk1"/>
                </a:solidFill>
                <a:latin typeface="Noto Sans KR"/>
                <a:ea typeface="Noto Sans KR"/>
                <a:cs typeface="Noto Sans KR"/>
                <a:sym typeface="Noto Sans KR"/>
              </a:rPr>
              <a:t>모든 면접 절차가 완료되었습니다.</a:t>
            </a:r>
            <a:endParaRPr/>
          </a:p>
          <a:p>
            <a:pPr indent="0" lvl="0" marL="0" marR="0" rtl="0" algn="l">
              <a:spcBef>
                <a:spcPts val="0"/>
              </a:spcBef>
              <a:spcAft>
                <a:spcPts val="0"/>
              </a:spcAft>
              <a:buNone/>
            </a:pPr>
            <a:r>
              <a:rPr lang="ko-KR" sz="1600">
                <a:solidFill>
                  <a:schemeClr val="dk1"/>
                </a:solidFill>
                <a:latin typeface="Noto Sans KR"/>
                <a:ea typeface="Noto Sans KR"/>
                <a:cs typeface="Noto Sans KR"/>
                <a:sym typeface="Noto Sans KR"/>
              </a:rPr>
              <a:t>결과 확인을 원하시면 결과 확인 버튼을 눌러</a:t>
            </a:r>
            <a:endParaRPr sz="16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600">
                <a:solidFill>
                  <a:schemeClr val="dk1"/>
                </a:solidFill>
                <a:latin typeface="Noto Sans KR"/>
                <a:ea typeface="Noto Sans KR"/>
                <a:cs typeface="Noto Sans KR"/>
                <a:sym typeface="Noto Sans KR"/>
              </a:rPr>
              <a:t>결과 확인 화면으로 이동하시기 바랍니다.</a:t>
            </a:r>
            <a:endParaRPr/>
          </a:p>
          <a:p>
            <a:pPr indent="0" lvl="0" marL="0" marR="0" rtl="0" algn="l">
              <a:spcBef>
                <a:spcPts val="0"/>
              </a:spcBef>
              <a:spcAft>
                <a:spcPts val="0"/>
              </a:spcAft>
              <a:buNone/>
            </a:pPr>
            <a:r>
              <a:t/>
            </a:r>
            <a:endParaRPr sz="1600">
              <a:solidFill>
                <a:schemeClr val="dk1"/>
              </a:solidFill>
              <a:latin typeface="Noto Sans KR"/>
              <a:ea typeface="Noto Sans KR"/>
              <a:cs typeface="Noto Sans KR"/>
              <a:sym typeface="Noto Sans KR"/>
            </a:endParaRPr>
          </a:p>
        </p:txBody>
      </p:sp>
      <p:sp>
        <p:nvSpPr>
          <p:cNvPr id="1222" name="Google Shape;1222;p36"/>
          <p:cNvSpPr/>
          <p:nvPr/>
        </p:nvSpPr>
        <p:spPr>
          <a:xfrm>
            <a:off x="2532447" y="4883373"/>
            <a:ext cx="1549549" cy="34794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dk1"/>
                </a:solidFill>
                <a:latin typeface="Noto Sans KR"/>
                <a:ea typeface="Noto Sans KR"/>
                <a:cs typeface="Noto Sans KR"/>
                <a:sym typeface="Noto Sans KR"/>
              </a:rPr>
              <a:t>종 료</a:t>
            </a:r>
            <a:endParaRPr b="1" sz="1200">
              <a:solidFill>
                <a:schemeClr val="dk1"/>
              </a:solidFill>
              <a:latin typeface="Noto Sans KR"/>
              <a:ea typeface="Noto Sans KR"/>
              <a:cs typeface="Noto Sans KR"/>
              <a:sym typeface="Noto Sans KR"/>
            </a:endParaRPr>
          </a:p>
        </p:txBody>
      </p:sp>
      <p:sp>
        <p:nvSpPr>
          <p:cNvPr id="1223" name="Google Shape;1223;p36"/>
          <p:cNvSpPr/>
          <p:nvPr/>
        </p:nvSpPr>
        <p:spPr>
          <a:xfrm>
            <a:off x="4537173" y="4883373"/>
            <a:ext cx="1549549" cy="347949"/>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lt1"/>
                </a:solidFill>
                <a:latin typeface="Noto Sans KR"/>
                <a:ea typeface="Noto Sans KR"/>
                <a:cs typeface="Noto Sans KR"/>
                <a:sym typeface="Noto Sans KR"/>
              </a:rPr>
              <a:t>결과 확인</a:t>
            </a:r>
            <a:endParaRPr b="1" sz="1200">
              <a:solidFill>
                <a:schemeClr val="lt1"/>
              </a:solidFill>
              <a:latin typeface="Noto Sans KR"/>
              <a:ea typeface="Noto Sans KR"/>
              <a:cs typeface="Noto Sans KR"/>
              <a:sym typeface="Noto Sans KR"/>
            </a:endParaRPr>
          </a:p>
        </p:txBody>
      </p:sp>
      <p:sp>
        <p:nvSpPr>
          <p:cNvPr id="1224" name="Google Shape;1224;p36"/>
          <p:cNvSpPr/>
          <p:nvPr/>
        </p:nvSpPr>
        <p:spPr>
          <a:xfrm>
            <a:off x="2532447" y="3081396"/>
            <a:ext cx="3544585" cy="1115569"/>
          </a:xfrm>
          <a:prstGeom prst="roundRect">
            <a:avLst>
              <a:gd fmla="val 16667" name="adj"/>
            </a:avLst>
          </a:prstGeom>
          <a:solidFill>
            <a:srgbClr val="F9F9F9"/>
          </a:solidFill>
          <a:ln cap="flat" cmpd="sng" w="127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209550" lvl="0" marL="285750" marR="0" rtl="0" algn="l">
              <a:spcBef>
                <a:spcPts val="0"/>
              </a:spcBef>
              <a:spcAft>
                <a:spcPts val="0"/>
              </a:spcAft>
              <a:buClr>
                <a:schemeClr val="dk1"/>
              </a:buClr>
              <a:buSzPts val="1200"/>
              <a:buFont typeface="Arial"/>
              <a:buNone/>
            </a:pPr>
            <a:r>
              <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면접 결과 전송 완료</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결과 분석 완료 </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면접 내용은   </a:t>
            </a:r>
            <a:endParaRPr sz="1200">
              <a:solidFill>
                <a:schemeClr val="dk1"/>
              </a:solidFill>
              <a:latin typeface="Noto Sans KR"/>
              <a:ea typeface="Noto Sans KR"/>
              <a:cs typeface="Noto Sans KR"/>
              <a:sym typeface="Noto Sans KR"/>
            </a:endParaRPr>
          </a:p>
        </p:txBody>
      </p:sp>
      <p:sp>
        <p:nvSpPr>
          <p:cNvPr id="1225" name="Google Shape;1225;p36"/>
          <p:cNvSpPr/>
          <p:nvPr/>
        </p:nvSpPr>
        <p:spPr>
          <a:xfrm>
            <a:off x="2396957" y="297267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226" name="Google Shape;1226;p36"/>
          <p:cNvSpPr/>
          <p:nvPr/>
        </p:nvSpPr>
        <p:spPr>
          <a:xfrm>
            <a:off x="2396957" y="475289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227" name="Google Shape;1227;p36"/>
          <p:cNvSpPr/>
          <p:nvPr/>
        </p:nvSpPr>
        <p:spPr>
          <a:xfrm>
            <a:off x="4443070" y="479197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37"/>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면접 평가</a:t>
            </a:r>
            <a:endParaRPr sz="2400"/>
          </a:p>
        </p:txBody>
      </p:sp>
      <p:sp>
        <p:nvSpPr>
          <p:cNvPr id="1234" name="Google Shape;1234;p37"/>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235" name="Google Shape;1235;p37"/>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236" name="Google Shape;1236;p37"/>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237" name="Google Shape;1237;p3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238" name="Google Shape;1238;p37"/>
          <p:cNvGraphicFramePr/>
          <p:nvPr/>
        </p:nvGraphicFramePr>
        <p:xfrm>
          <a:off x="8555362" y="1043915"/>
          <a:ext cx="3000000" cy="3000000"/>
        </p:xfrm>
        <a:graphic>
          <a:graphicData uri="http://schemas.openxmlformats.org/drawingml/2006/table">
            <a:tbl>
              <a:tblPr bandRow="1" firstRow="1">
                <a:noFill/>
                <a:tableStyleId>{C61F204E-A15B-47D6-BEBB-6A886D3283EB}</a:tableStyleId>
              </a:tblPr>
              <a:tblGrid>
                <a:gridCol w="378325"/>
                <a:gridCol w="2897900"/>
              </a:tblGrid>
              <a:tr h="5348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ko-KR" sz="1000" u="none" cap="none" strike="noStrike">
                          <a:solidFill>
                            <a:schemeClr val="dk1"/>
                          </a:solidFill>
                          <a:latin typeface="Noto Sans KR"/>
                          <a:ea typeface="Noto Sans KR"/>
                          <a:cs typeface="Noto Sans KR"/>
                          <a:sym typeface="Noto Sans KR"/>
                        </a:rPr>
                        <a:t>면접 분석 결과 헤더 영역</a:t>
                      </a:r>
                      <a:endParaRPr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화면이 면접 평가/분석 결과 화면임을 안내하는 헤더 메시지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48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분석 기준 안내 문구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결과가 지원 회사의 인재상·비전 및 직무 요구 역량을 기준으로 분석되었음을 설명</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29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직무 역량 평가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직무 수행에 필요한 지식, 문제 해결력, 사고 구조 등에 대한 분석 결과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답변 내용에서 드러난 직무 이해도와 논리 전개 수준을 중심으로 평가</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강점과 보완점을 구체적인 문장으로 제시하여 학습 방향 제안</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31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인성 태도 평가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질문 대응 태도, 사고의 일관성, 의사 표현 방식 등 인성·커뮤니케이션 요소 평가</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조직 적합성, 협업 태도, 책임 의식 등을 종합적으로 분석</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54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종합 분석 영역</a:t>
                      </a:r>
                      <a:endParaRPr b="1" sz="105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50"/>
                        <a:buFont typeface="Noto Sans KR"/>
                        <a:buChar char="-"/>
                      </a:pPr>
                      <a:r>
                        <a:rPr b="0" lang="ko-KR" sz="1050" u="none" cap="none" strike="noStrike">
                          <a:solidFill>
                            <a:schemeClr val="dk1"/>
                          </a:solidFill>
                          <a:latin typeface="Noto Sans KR"/>
                          <a:ea typeface="Noto Sans KR"/>
                          <a:cs typeface="Noto Sans KR"/>
                          <a:sym typeface="Noto Sans KR"/>
                        </a:rPr>
                        <a:t>직무 역량과 인성 태도 평가 결과를 통합적으로 요약</a:t>
                      </a:r>
                      <a:endParaRPr b="0" sz="105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50"/>
                        <a:buFont typeface="Noto Sans KR"/>
                        <a:buChar char="-"/>
                      </a:pPr>
                      <a:r>
                        <a:rPr lang="ko-KR" sz="1050" u="none" cap="none" strike="noStrike">
                          <a:latin typeface="Noto Sans KR"/>
                          <a:ea typeface="Noto Sans KR"/>
                          <a:cs typeface="Noto Sans KR"/>
                          <a:sym typeface="Noto Sans KR"/>
                        </a:rPr>
                        <a:t>지원자의 전반적인 강점과 개선 방향을 균형 </a:t>
                      </a:r>
                      <a:r>
                        <a:rPr lang="ko-KR" sz="1000" u="none" cap="none" strike="noStrike">
                          <a:latin typeface="Noto Sans KR"/>
                          <a:ea typeface="Noto Sans KR"/>
                          <a:cs typeface="Noto Sans KR"/>
                          <a:sym typeface="Noto Sans KR"/>
                        </a:rPr>
                        <a:t>있게 면접 전체 맥락 기반 해석 결과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48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피드백 기반 응원 메시지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사용자에게 전달하는 요약 코멘트 및 방향성 을 응원 메시지로 제안</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45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종료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결과 확인을 마친 후 화면을 종료</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서비스 메인 화면 또는 세션 종료 흐름으로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34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저장 버튼</a:t>
                      </a:r>
                      <a:br>
                        <a:rPr b="0"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a:t>
                      </a:r>
                      <a:r>
                        <a:rPr b="0" lang="ko-KR" sz="1000" u="none" cap="none" strike="noStrike">
                          <a:latin typeface="Noto Sans KR"/>
                          <a:ea typeface="Noto Sans KR"/>
                          <a:cs typeface="Noto Sans KR"/>
                          <a:sym typeface="Noto Sans KR"/>
                        </a:rPr>
                        <a:t>면접 평가 결과를 사용자 이력 또는 리포트로 저장</a:t>
                      </a:r>
                      <a:endParaRPr b="0" sz="1000" u="none" cap="none" strike="noStrike">
                        <a:latin typeface="Noto Sans KR"/>
                        <a:ea typeface="Noto Sans KR"/>
                        <a:cs typeface="Noto Sans KR"/>
                        <a:sym typeface="Noto Sans KR"/>
                      </a:endParaRPr>
                    </a:p>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239" name="Google Shape;1239;p37"/>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780300"/>
                <a:gridCol w="576075"/>
                <a:gridCol w="1362450"/>
                <a:gridCol w="813825"/>
                <a:gridCol w="3954025"/>
                <a:gridCol w="380250"/>
                <a:gridCol w="29043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SCR-20</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결과 분석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 응답을 기반으로 직무·인성 역량을 종합 분석한 결과와 피드백을 제공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240" name="Google Shape;1240;p37"/>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41" name="Google Shape;1241;p37"/>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42" name="Google Shape;1242;p37"/>
          <p:cNvSpPr/>
          <p:nvPr/>
        </p:nvSpPr>
        <p:spPr>
          <a:xfrm flipH="1">
            <a:off x="1739778" y="1384203"/>
            <a:ext cx="45719" cy="108721"/>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43" name="Google Shape;1243;p37"/>
          <p:cNvSpPr/>
          <p:nvPr/>
        </p:nvSpPr>
        <p:spPr>
          <a:xfrm flipH="1">
            <a:off x="1645675" y="1444427"/>
            <a:ext cx="94102" cy="45719"/>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244" name="Google Shape;1244;p37"/>
          <p:cNvGrpSpPr/>
          <p:nvPr/>
        </p:nvGrpSpPr>
        <p:grpSpPr>
          <a:xfrm>
            <a:off x="1593228" y="1288406"/>
            <a:ext cx="266424" cy="346459"/>
            <a:chOff x="1745511" y="3762466"/>
            <a:chExt cx="628519" cy="576071"/>
          </a:xfrm>
        </p:grpSpPr>
        <p:sp>
          <p:nvSpPr>
            <p:cNvPr id="1245" name="Google Shape;1245;p37"/>
            <p:cNvSpPr/>
            <p:nvPr/>
          </p:nvSpPr>
          <p:spPr>
            <a:xfrm>
              <a:off x="1745511" y="3762466"/>
              <a:ext cx="628519" cy="576071"/>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246" name="Google Shape;1246;p37"/>
            <p:cNvGrpSpPr/>
            <p:nvPr/>
          </p:nvGrpSpPr>
          <p:grpSpPr>
            <a:xfrm>
              <a:off x="1894162" y="3915072"/>
              <a:ext cx="334572" cy="270858"/>
              <a:chOff x="2027306" y="2953512"/>
              <a:chExt cx="1054222" cy="905256"/>
            </a:xfrm>
          </p:grpSpPr>
          <p:sp>
            <p:nvSpPr>
              <p:cNvPr id="1247" name="Google Shape;1247;p37"/>
              <p:cNvSpPr/>
              <p:nvPr/>
            </p:nvSpPr>
            <p:spPr>
              <a:xfrm>
                <a:off x="2761488" y="2953512"/>
                <a:ext cx="320040" cy="905256"/>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48" name="Google Shape;1248;p37"/>
              <p:cNvSpPr/>
              <p:nvPr/>
            </p:nvSpPr>
            <p:spPr>
              <a:xfrm>
                <a:off x="2394397" y="3118104"/>
                <a:ext cx="320040" cy="740664"/>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49" name="Google Shape;1249;p37"/>
              <p:cNvSpPr/>
              <p:nvPr/>
            </p:nvSpPr>
            <p:spPr>
              <a:xfrm>
                <a:off x="2027306" y="3319272"/>
                <a:ext cx="320040" cy="539496"/>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grpSp>
      <p:sp>
        <p:nvSpPr>
          <p:cNvPr id="1250" name="Google Shape;1250;p37"/>
          <p:cNvSpPr/>
          <p:nvPr/>
        </p:nvSpPr>
        <p:spPr>
          <a:xfrm>
            <a:off x="2036828" y="2395841"/>
            <a:ext cx="2269996" cy="1407325"/>
          </a:xfrm>
          <a:prstGeom prst="roundRect">
            <a:avLst>
              <a:gd fmla="val 16667" name="adj"/>
            </a:avLst>
          </a:prstGeom>
          <a:solidFill>
            <a:srgbClr val="FFEFF4"/>
          </a:solidFill>
          <a:ln cap="flat" cmpd="sng" w="127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직무 역량 평가   </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800"/>
              <a:buFont typeface="Arial"/>
              <a:buChar char="•"/>
            </a:pPr>
            <a:r>
              <a:rPr lang="ko-KR" sz="800">
                <a:solidFill>
                  <a:schemeClr val="dk1"/>
                </a:solidFill>
                <a:latin typeface="Noto Sans KR"/>
                <a:ea typeface="Noto Sans KR"/>
                <a:cs typeface="Noto Sans KR"/>
                <a:sym typeface="Noto Sans KR"/>
              </a:rPr>
              <a:t>직무 수행에 필요한 기본 개념과 역할에 대한 이해도가 전반적으로 확인되었습니다.문제 상황에서 원인을 파악하고 단계적으로 접근하려는 사고 흐름이 비교적 명확하게 나타났습니다</a:t>
            </a:r>
            <a:r>
              <a:rPr lang="ko-KR" sz="1200">
                <a:solidFill>
                  <a:schemeClr val="dk1"/>
                </a:solidFill>
                <a:latin typeface="Noto Sans KR"/>
                <a:ea typeface="Noto Sans KR"/>
                <a:cs typeface="Noto Sans KR"/>
                <a:sym typeface="Noto Sans KR"/>
              </a:rPr>
              <a:t>.</a:t>
            </a:r>
            <a:endParaRPr/>
          </a:p>
          <a:p>
            <a:pPr indent="-285750" lvl="0" marL="285750" marR="0" rtl="0" algn="l">
              <a:spcBef>
                <a:spcPts val="0"/>
              </a:spcBef>
              <a:spcAft>
                <a:spcPts val="0"/>
              </a:spcAft>
              <a:buClr>
                <a:schemeClr val="dk1"/>
              </a:buClr>
              <a:buSzPts val="800"/>
              <a:buFont typeface="Arial"/>
              <a:buChar char="•"/>
            </a:pPr>
            <a:r>
              <a:rPr lang="ko-KR" sz="800">
                <a:solidFill>
                  <a:schemeClr val="dk1"/>
                </a:solidFill>
                <a:latin typeface="Noto Sans KR"/>
                <a:ea typeface="Noto Sans KR"/>
                <a:cs typeface="Noto Sans KR"/>
                <a:sym typeface="Noto Sans KR"/>
              </a:rPr>
              <a:t>일부 질문에서는 개념 설명이 다소 추상적으로 표현되어,실제 업무 상황에 적용하는 구체적인 예시가 추가된다면 이해도가 더욱 잘 드러날 것으로 보입니다.</a:t>
            </a:r>
            <a:endParaRPr sz="800">
              <a:solidFill>
                <a:schemeClr val="dk1"/>
              </a:solidFill>
              <a:latin typeface="Noto Sans KR"/>
              <a:ea typeface="Noto Sans KR"/>
              <a:cs typeface="Noto Sans KR"/>
              <a:sym typeface="Noto Sans KR"/>
            </a:endParaRPr>
          </a:p>
        </p:txBody>
      </p:sp>
      <p:sp>
        <p:nvSpPr>
          <p:cNvPr id="1251" name="Google Shape;1251;p37"/>
          <p:cNvSpPr/>
          <p:nvPr/>
        </p:nvSpPr>
        <p:spPr>
          <a:xfrm>
            <a:off x="4400927" y="2408370"/>
            <a:ext cx="2269996" cy="1394796"/>
          </a:xfrm>
          <a:prstGeom prst="roundRect">
            <a:avLst>
              <a:gd fmla="val 16667" name="adj"/>
            </a:avLst>
          </a:prstGeom>
          <a:solidFill>
            <a:srgbClr val="FFFEE5"/>
          </a:solidFill>
          <a:ln cap="flat" cmpd="sng" w="127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209550" lvl="0" marL="285750" marR="0" rtl="0" algn="l">
              <a:spcBef>
                <a:spcPts val="0"/>
              </a:spcBef>
              <a:spcAft>
                <a:spcPts val="0"/>
              </a:spcAft>
              <a:buClr>
                <a:schemeClr val="dk1"/>
              </a:buClr>
              <a:buSzPts val="1200"/>
              <a:buFont typeface="Arial"/>
              <a:buNone/>
            </a:pPr>
            <a:r>
              <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인성 태도 평가</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800"/>
              <a:buFont typeface="Arial"/>
              <a:buChar char="•"/>
            </a:pPr>
            <a:r>
              <a:rPr lang="ko-KR" sz="800">
                <a:solidFill>
                  <a:schemeClr val="dk1"/>
                </a:solidFill>
                <a:latin typeface="Noto Sans KR"/>
                <a:ea typeface="Noto Sans KR"/>
                <a:cs typeface="Noto Sans KR"/>
                <a:sym typeface="Noto Sans KR"/>
              </a:rPr>
              <a:t>질문에 성실하게 응답하며, 자신의 생각을 정리해 전달하려는 태도가 긍정적으로 평가되었습니다.협업과 책임감을 중요하게 인식하고 있는 점이 면접 전반에서 확인되었습니다.</a:t>
            </a:r>
            <a:endParaRPr/>
          </a:p>
          <a:p>
            <a:pPr indent="-285750" lvl="0" marL="285750" marR="0" rtl="0" algn="l">
              <a:spcBef>
                <a:spcPts val="0"/>
              </a:spcBef>
              <a:spcAft>
                <a:spcPts val="0"/>
              </a:spcAft>
              <a:buClr>
                <a:schemeClr val="dk1"/>
              </a:buClr>
              <a:buSzPts val="800"/>
              <a:buFont typeface="Arial"/>
              <a:buChar char="•"/>
            </a:pPr>
            <a:r>
              <a:rPr lang="ko-KR" sz="800">
                <a:solidFill>
                  <a:schemeClr val="dk1"/>
                </a:solidFill>
                <a:latin typeface="Noto Sans KR"/>
                <a:ea typeface="Noto Sans KR"/>
                <a:cs typeface="Noto Sans KR"/>
                <a:sym typeface="Noto Sans KR"/>
              </a:rPr>
              <a:t>일부 답변에서는 상황 설명 위주로 답변이 구성되어,본인의 판단 기준이나 선택 이유를 조금 더 명확히 드러낼 필요가 있어 보입니다.</a:t>
            </a:r>
            <a:endParaRPr/>
          </a:p>
          <a:p>
            <a:pPr indent="0" lvl="0" marL="0" marR="0" rtl="0" algn="l">
              <a:spcBef>
                <a:spcPts val="0"/>
              </a:spcBef>
              <a:spcAft>
                <a:spcPts val="0"/>
              </a:spcAft>
              <a:buNone/>
            </a:pPr>
            <a:r>
              <a:t/>
            </a:r>
            <a:endParaRPr sz="1200">
              <a:solidFill>
                <a:schemeClr val="dk1"/>
              </a:solidFill>
              <a:latin typeface="Noto Sans KR"/>
              <a:ea typeface="Noto Sans KR"/>
              <a:cs typeface="Noto Sans KR"/>
              <a:sym typeface="Noto Sans KR"/>
            </a:endParaRPr>
          </a:p>
        </p:txBody>
      </p:sp>
      <p:sp>
        <p:nvSpPr>
          <p:cNvPr id="1252" name="Google Shape;1252;p37"/>
          <p:cNvSpPr/>
          <p:nvPr/>
        </p:nvSpPr>
        <p:spPr>
          <a:xfrm>
            <a:off x="2036828" y="3919923"/>
            <a:ext cx="4634095" cy="1261800"/>
          </a:xfrm>
          <a:prstGeom prst="roundRect">
            <a:avLst>
              <a:gd fmla="val 16667" name="adj"/>
            </a:avLst>
          </a:prstGeom>
          <a:solidFill>
            <a:srgbClr val="F2F7FC"/>
          </a:solidFill>
          <a:ln cap="flat" cmpd="sng" w="12700">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200"/>
              <a:buFont typeface="Arial"/>
              <a:buChar char="•"/>
            </a:pPr>
            <a:r>
              <a:rPr lang="ko-KR" sz="1200">
                <a:solidFill>
                  <a:schemeClr val="dk1"/>
                </a:solidFill>
                <a:latin typeface="Noto Sans KR"/>
                <a:ea typeface="Noto Sans KR"/>
                <a:cs typeface="Noto Sans KR"/>
                <a:sym typeface="Noto Sans KR"/>
              </a:rPr>
              <a:t>종합 분석</a:t>
            </a:r>
            <a:endParaRPr sz="1200">
              <a:solidFill>
                <a:schemeClr val="dk1"/>
              </a:solidFill>
              <a:latin typeface="Noto Sans KR"/>
              <a:ea typeface="Noto Sans KR"/>
              <a:cs typeface="Noto Sans KR"/>
              <a:sym typeface="Noto Sans KR"/>
            </a:endParaRPr>
          </a:p>
          <a:p>
            <a:pPr indent="-285750" lvl="0" marL="285750" marR="0" rtl="0" algn="l">
              <a:spcBef>
                <a:spcPts val="0"/>
              </a:spcBef>
              <a:spcAft>
                <a:spcPts val="0"/>
              </a:spcAft>
              <a:buClr>
                <a:schemeClr val="dk1"/>
              </a:buClr>
              <a:buSzPts val="800"/>
              <a:buFont typeface="Arial"/>
              <a:buChar char="•"/>
            </a:pPr>
            <a:r>
              <a:rPr lang="ko-KR" sz="800">
                <a:solidFill>
                  <a:schemeClr val="dk1"/>
                </a:solidFill>
                <a:latin typeface="Noto Sans KR"/>
                <a:ea typeface="Noto Sans KR"/>
                <a:cs typeface="Noto Sans KR"/>
                <a:sym typeface="Noto Sans KR"/>
              </a:rPr>
              <a:t>전반적으로 직무 이해도와 기본적인 문제 해결 역량이 균형 있게 나타났으며,조직 내 협업과 책임을 중요하게 여기는 태도가 확인되었습니다.</a:t>
            </a:r>
            <a:endParaRPr/>
          </a:p>
          <a:p>
            <a:pPr indent="-285750" lvl="0" marL="285750" marR="0" rtl="0" algn="l">
              <a:spcBef>
                <a:spcPts val="0"/>
              </a:spcBef>
              <a:spcAft>
                <a:spcPts val="0"/>
              </a:spcAft>
              <a:buClr>
                <a:schemeClr val="dk1"/>
              </a:buClr>
              <a:buSzPts val="800"/>
              <a:buFont typeface="Arial"/>
              <a:buChar char="•"/>
            </a:pPr>
            <a:r>
              <a:rPr lang="ko-KR" sz="800">
                <a:solidFill>
                  <a:schemeClr val="dk1"/>
                </a:solidFill>
                <a:latin typeface="Noto Sans KR"/>
                <a:ea typeface="Noto Sans KR"/>
                <a:cs typeface="Noto Sans KR"/>
                <a:sym typeface="Noto Sans KR"/>
              </a:rPr>
              <a:t>향후에는 경험을 설명할 때 결과뿐 아니라그 과정에서의 판단 기준과 배운 점을 함께 제시한다면직무 적합성이 더욱 분명하게 드러날 것으로 판단됩니다.</a:t>
            </a:r>
            <a:endParaRPr sz="800">
              <a:solidFill>
                <a:schemeClr val="dk1"/>
              </a:solidFill>
              <a:latin typeface="Noto Sans KR"/>
              <a:ea typeface="Noto Sans KR"/>
              <a:cs typeface="Noto Sans KR"/>
              <a:sym typeface="Noto Sans KR"/>
            </a:endParaRPr>
          </a:p>
        </p:txBody>
      </p:sp>
      <p:sp>
        <p:nvSpPr>
          <p:cNvPr id="1253" name="Google Shape;1253;p37"/>
          <p:cNvSpPr txBox="1"/>
          <p:nvPr/>
        </p:nvSpPr>
        <p:spPr>
          <a:xfrm>
            <a:off x="1972048" y="1848197"/>
            <a:ext cx="4245073"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지원하신 {회사}가 중요하게 여기는 인재상과 비전을 바탕으로,</a:t>
            </a:r>
            <a:endParaRPr/>
          </a:p>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 수행에 필요한 역량과 조직 적합성을 중심으로 분석한 결과입니다.</a:t>
            </a:r>
            <a:endParaRPr sz="1100">
              <a:solidFill>
                <a:schemeClr val="dk1"/>
              </a:solidFill>
              <a:latin typeface="Noto Sans KR"/>
              <a:ea typeface="Noto Sans KR"/>
              <a:cs typeface="Noto Sans KR"/>
              <a:sym typeface="Noto Sans KR"/>
            </a:endParaRPr>
          </a:p>
        </p:txBody>
      </p:sp>
      <p:sp>
        <p:nvSpPr>
          <p:cNvPr id="1254" name="Google Shape;1254;p37"/>
          <p:cNvSpPr txBox="1"/>
          <p:nvPr/>
        </p:nvSpPr>
        <p:spPr>
          <a:xfrm>
            <a:off x="1972048" y="1269220"/>
            <a:ext cx="19659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분석 결과</a:t>
            </a:r>
            <a:endParaRPr b="1" sz="1800">
              <a:solidFill>
                <a:schemeClr val="dk1"/>
              </a:solidFill>
              <a:latin typeface="Noto Sans KR"/>
              <a:ea typeface="Noto Sans KR"/>
              <a:cs typeface="Noto Sans KR"/>
              <a:sym typeface="Noto Sans KR"/>
            </a:endParaRPr>
          </a:p>
        </p:txBody>
      </p:sp>
      <p:sp>
        <p:nvSpPr>
          <p:cNvPr id="1255" name="Google Shape;1255;p37"/>
          <p:cNvSpPr/>
          <p:nvPr/>
        </p:nvSpPr>
        <p:spPr>
          <a:xfrm>
            <a:off x="2083879" y="5239425"/>
            <a:ext cx="4377064" cy="237744"/>
          </a:xfrm>
          <a:prstGeom prst="roundRect">
            <a:avLst>
              <a:gd fmla="val 16667" name="adj"/>
            </a:avLst>
          </a:prstGeom>
          <a:solidFill>
            <a:srgbClr val="F6FAF4"/>
          </a:solidFill>
          <a:ln cap="flat" cmpd="sng" w="12700">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50">
                <a:solidFill>
                  <a:srgbClr val="006600"/>
                </a:solidFill>
                <a:latin typeface="Noto Sans KR"/>
                <a:ea typeface="Noto Sans KR"/>
                <a:cs typeface="Noto Sans KR"/>
                <a:sym typeface="Noto Sans KR"/>
              </a:rPr>
              <a:t> 이미 좋은 방향에 있습니다. 경험을 다듬으면 더 단단해질 수 있습니다.</a:t>
            </a:r>
            <a:endParaRPr sz="1050">
              <a:solidFill>
                <a:srgbClr val="006600"/>
              </a:solidFill>
              <a:latin typeface="Malgun Gothic"/>
              <a:ea typeface="Malgun Gothic"/>
              <a:cs typeface="Malgun Gothic"/>
              <a:sym typeface="Malgun Gothic"/>
            </a:endParaRPr>
          </a:p>
        </p:txBody>
      </p:sp>
      <p:sp>
        <p:nvSpPr>
          <p:cNvPr id="1256" name="Google Shape;1256;p37"/>
          <p:cNvSpPr/>
          <p:nvPr/>
        </p:nvSpPr>
        <p:spPr>
          <a:xfrm>
            <a:off x="2532447" y="5811886"/>
            <a:ext cx="1549549" cy="34794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dk1"/>
                </a:solidFill>
                <a:latin typeface="Noto Sans KR"/>
                <a:ea typeface="Noto Sans KR"/>
                <a:cs typeface="Noto Sans KR"/>
                <a:sym typeface="Noto Sans KR"/>
              </a:rPr>
              <a:t>종 료</a:t>
            </a:r>
            <a:endParaRPr b="1" sz="1200">
              <a:solidFill>
                <a:schemeClr val="dk1"/>
              </a:solidFill>
              <a:latin typeface="Noto Sans KR"/>
              <a:ea typeface="Noto Sans KR"/>
              <a:cs typeface="Noto Sans KR"/>
              <a:sym typeface="Noto Sans KR"/>
            </a:endParaRPr>
          </a:p>
        </p:txBody>
      </p:sp>
      <p:sp>
        <p:nvSpPr>
          <p:cNvPr id="1257" name="Google Shape;1257;p37"/>
          <p:cNvSpPr/>
          <p:nvPr/>
        </p:nvSpPr>
        <p:spPr>
          <a:xfrm>
            <a:off x="4491453" y="5811886"/>
            <a:ext cx="1549549" cy="347949"/>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lt1"/>
                </a:solidFill>
                <a:latin typeface="Noto Sans KR"/>
                <a:ea typeface="Noto Sans KR"/>
                <a:cs typeface="Noto Sans KR"/>
                <a:sym typeface="Noto Sans KR"/>
              </a:rPr>
              <a:t>결과 저장</a:t>
            </a:r>
            <a:endParaRPr b="1" sz="1200">
              <a:solidFill>
                <a:schemeClr val="lt1"/>
              </a:solidFill>
              <a:latin typeface="Noto Sans KR"/>
              <a:ea typeface="Noto Sans KR"/>
              <a:cs typeface="Noto Sans KR"/>
              <a:sym typeface="Noto Sans KR"/>
            </a:endParaRPr>
          </a:p>
        </p:txBody>
      </p:sp>
      <p:sp>
        <p:nvSpPr>
          <p:cNvPr id="1258" name="Google Shape;1258;p37"/>
          <p:cNvSpPr/>
          <p:nvPr/>
        </p:nvSpPr>
        <p:spPr>
          <a:xfrm>
            <a:off x="1296395" y="122112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259" name="Google Shape;1259;p37"/>
          <p:cNvSpPr/>
          <p:nvPr/>
        </p:nvSpPr>
        <p:spPr>
          <a:xfrm>
            <a:off x="1794997" y="181905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260" name="Google Shape;1260;p37"/>
          <p:cNvSpPr/>
          <p:nvPr/>
        </p:nvSpPr>
        <p:spPr>
          <a:xfrm>
            <a:off x="1903162" y="233174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261" name="Google Shape;1261;p37"/>
          <p:cNvSpPr/>
          <p:nvPr/>
        </p:nvSpPr>
        <p:spPr>
          <a:xfrm>
            <a:off x="4400927" y="234829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262" name="Google Shape;1262;p37"/>
          <p:cNvSpPr/>
          <p:nvPr/>
        </p:nvSpPr>
        <p:spPr>
          <a:xfrm>
            <a:off x="1903162" y="388955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263" name="Google Shape;1263;p37"/>
          <p:cNvSpPr/>
          <p:nvPr/>
        </p:nvSpPr>
        <p:spPr>
          <a:xfrm>
            <a:off x="1913477" y="51657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264" name="Google Shape;1264;p37"/>
          <p:cNvSpPr/>
          <p:nvPr/>
        </p:nvSpPr>
        <p:spPr>
          <a:xfrm>
            <a:off x="2402597" y="574440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265" name="Google Shape;1265;p37"/>
          <p:cNvSpPr/>
          <p:nvPr/>
        </p:nvSpPr>
        <p:spPr>
          <a:xfrm>
            <a:off x="4375547" y="5776179"/>
            <a:ext cx="260000" cy="217442"/>
          </a:xfrm>
          <a:prstGeom prst="ellipse">
            <a:avLst/>
          </a:prstGeom>
          <a:solidFill>
            <a:srgbClr val="C00000"/>
          </a:solidFill>
          <a:ln cap="flat" cmpd="sng" w="12700">
            <a:solidFill>
              <a:srgbClr val="31538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38"/>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면접 이력</a:t>
            </a:r>
            <a:endParaRPr sz="2400"/>
          </a:p>
        </p:txBody>
      </p:sp>
      <p:sp>
        <p:nvSpPr>
          <p:cNvPr id="1272" name="Google Shape;1272;p38"/>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273" name="Google Shape;1273;p38"/>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274" name="Google Shape;1274;p38"/>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275" name="Google Shape;1275;p3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276" name="Google Shape;1276;p38"/>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472450"/>
                <a:gridCol w="2803800"/>
              </a:tblGrid>
              <a:tr h="540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이력 헤더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화면이 면접 이력 조회 화면임을 안내하는 헤더 메시지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45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면접 이력 안내  문구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이력과 결과 분석 기능 존재를 사용자에게 안내</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04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내역 조회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이력 조회 기능 시작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04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기간 필터 영역</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전체 기간 또는 사용자 지정 기간 선택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0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지원 회사 필터 영역</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a:t>
                      </a:r>
                      <a:r>
                        <a:rPr lang="ko-KR" sz="1000" u="none" cap="none" strike="noStrike"/>
                        <a:t>지원한 회사 기준으로 면접 기록을 조회할 수 있도록 선택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0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지원 직무 필터 영역</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a:t>
                      </a:r>
                      <a:r>
                        <a:rPr lang="ko-KR" sz="1000" u="none" cap="none" strike="noStrike">
                          <a:latin typeface="Noto Sans KR"/>
                          <a:ea typeface="Noto Sans KR"/>
                          <a:cs typeface="Noto Sans KR"/>
                          <a:sym typeface="Noto Sans KR"/>
                        </a:rPr>
                        <a:t>지원 직무 기준으로 면접 기록을 조회할 수 있도록 선택 가능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0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검색 버튼</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a:t>
                      </a:r>
                      <a:r>
                        <a:rPr lang="ko-KR" sz="1000" u="none" cap="none" strike="noStrike">
                          <a:latin typeface="Noto Sans KR"/>
                          <a:ea typeface="Noto Sans KR"/>
                          <a:cs typeface="Noto Sans KR"/>
                          <a:sym typeface="Noto Sans KR"/>
                        </a:rPr>
                        <a:t>선택된 필터 조건을 적용하여 면접 기록을 조회하는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1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이력 목록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사용자가 수행한 면접 기록을 카드 형태로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지원 회사,지원 직무,면접 수행 날짜, 진행 여부등 제공</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907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상세보기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선택한 면접 기록의 상세 결과 분석 화면으로 이동하는 버튼</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SCR-28로 이동</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0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홈 이동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메인 서비스 화면으로 이동</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SCR-00-1으로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277" name="Google Shape;1277;p38"/>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703325"/>
                <a:gridCol w="475500"/>
                <a:gridCol w="28038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SCR-21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이력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이전 면접 이력 내역 제공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278" name="Google Shape;1278;p3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79" name="Google Shape;1279;p38"/>
          <p:cNvSpPr txBox="1"/>
          <p:nvPr/>
        </p:nvSpPr>
        <p:spPr>
          <a:xfrm>
            <a:off x="1886854" y="1246380"/>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면접 이력</a:t>
            </a:r>
            <a:endParaRPr b="1" sz="1800">
              <a:solidFill>
                <a:schemeClr val="dk1"/>
              </a:solidFill>
              <a:latin typeface="Noto Sans KR"/>
              <a:ea typeface="Noto Sans KR"/>
              <a:cs typeface="Noto Sans KR"/>
              <a:sym typeface="Noto Sans KR"/>
            </a:endParaRPr>
          </a:p>
        </p:txBody>
      </p:sp>
      <p:sp>
        <p:nvSpPr>
          <p:cNvPr id="1280" name="Google Shape;1280;p38"/>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81" name="Google Shape;1281;p38"/>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82" name="Google Shape;1282;p38"/>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83" name="Google Shape;1283;p38"/>
          <p:cNvSpPr/>
          <p:nvPr/>
        </p:nvSpPr>
        <p:spPr>
          <a:xfrm>
            <a:off x="1886854" y="183765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284" name="Google Shape;1284;p38"/>
          <p:cNvSpPr txBox="1"/>
          <p:nvPr/>
        </p:nvSpPr>
        <p:spPr>
          <a:xfrm>
            <a:off x="2146855" y="1889796"/>
            <a:ext cx="276347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Noto Sans KR"/>
                <a:ea typeface="Noto Sans KR"/>
                <a:cs typeface="Noto Sans KR"/>
                <a:sym typeface="Noto Sans KR"/>
              </a:rPr>
              <a:t>이전 모의면접 내역 확인하기 </a:t>
            </a:r>
            <a:endParaRPr/>
          </a:p>
        </p:txBody>
      </p:sp>
      <p:sp>
        <p:nvSpPr>
          <p:cNvPr id="1285" name="Google Shape;1285;p38"/>
          <p:cNvSpPr/>
          <p:nvPr/>
        </p:nvSpPr>
        <p:spPr>
          <a:xfrm>
            <a:off x="1579565" y="1300698"/>
            <a:ext cx="327369" cy="251446"/>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286" name="Google Shape;1286;p38"/>
          <p:cNvSpPr/>
          <p:nvPr/>
        </p:nvSpPr>
        <p:spPr>
          <a:xfrm>
            <a:off x="1399032" y="1280159"/>
            <a:ext cx="230808" cy="172239"/>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pic>
        <p:nvPicPr>
          <p:cNvPr id="1287" name="Google Shape;1287;p38"/>
          <p:cNvPicPr preferRelativeResize="0"/>
          <p:nvPr/>
        </p:nvPicPr>
        <p:blipFill rotWithShape="1">
          <a:blip r:embed="rId3">
            <a:alphaModFix/>
          </a:blip>
          <a:srcRect b="0" l="0" r="0" t="0"/>
          <a:stretch/>
        </p:blipFill>
        <p:spPr>
          <a:xfrm>
            <a:off x="1667556" y="1344023"/>
            <a:ext cx="169121" cy="169121"/>
          </a:xfrm>
          <a:prstGeom prst="rect">
            <a:avLst/>
          </a:prstGeom>
          <a:noFill/>
          <a:ln>
            <a:noFill/>
          </a:ln>
        </p:spPr>
      </p:pic>
      <p:sp>
        <p:nvSpPr>
          <p:cNvPr id="1288" name="Google Shape;1288;p38"/>
          <p:cNvSpPr txBox="1"/>
          <p:nvPr/>
        </p:nvSpPr>
        <p:spPr>
          <a:xfrm>
            <a:off x="2146854" y="2219278"/>
            <a:ext cx="455569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지금까지 진행한 모의면접 기록과 분석결과 을 한눈에 확인해 보세요.</a:t>
            </a:r>
            <a:endParaRPr sz="1200">
              <a:solidFill>
                <a:schemeClr val="dk1"/>
              </a:solidFill>
              <a:latin typeface="Noto Sans KR"/>
              <a:ea typeface="Noto Sans KR"/>
              <a:cs typeface="Noto Sans KR"/>
              <a:sym typeface="Noto Sans KR"/>
            </a:endParaRPr>
          </a:p>
        </p:txBody>
      </p:sp>
      <p:cxnSp>
        <p:nvCxnSpPr>
          <p:cNvPr id="1289" name="Google Shape;1289;p38"/>
          <p:cNvCxnSpPr/>
          <p:nvPr/>
        </p:nvCxnSpPr>
        <p:spPr>
          <a:xfrm>
            <a:off x="2016854" y="2676970"/>
            <a:ext cx="4594258" cy="4635"/>
          </a:xfrm>
          <a:prstGeom prst="straightConnector1">
            <a:avLst/>
          </a:prstGeom>
          <a:noFill/>
          <a:ln cap="flat" cmpd="sng" w="9525">
            <a:solidFill>
              <a:srgbClr val="BFBFBF"/>
            </a:solidFill>
            <a:prstDash val="solid"/>
            <a:miter lim="8000"/>
            <a:headEnd len="sm" w="sm" type="none"/>
            <a:tailEnd len="sm" w="sm" type="none"/>
          </a:ln>
        </p:spPr>
      </p:cxnSp>
      <p:sp>
        <p:nvSpPr>
          <p:cNvPr id="1290" name="Google Shape;1290;p38"/>
          <p:cNvSpPr txBox="1"/>
          <p:nvPr/>
        </p:nvSpPr>
        <p:spPr>
          <a:xfrm>
            <a:off x="1906934" y="2772486"/>
            <a:ext cx="115611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내역 조회</a:t>
            </a:r>
            <a:endParaRPr b="1" sz="1400">
              <a:solidFill>
                <a:schemeClr val="dk1"/>
              </a:solidFill>
              <a:latin typeface="Noto Sans KR"/>
              <a:ea typeface="Noto Sans KR"/>
              <a:cs typeface="Noto Sans KR"/>
              <a:sym typeface="Noto Sans KR"/>
            </a:endParaRPr>
          </a:p>
        </p:txBody>
      </p:sp>
      <p:pic>
        <p:nvPicPr>
          <p:cNvPr id="1291" name="Google Shape;1291;p38"/>
          <p:cNvPicPr preferRelativeResize="0"/>
          <p:nvPr/>
        </p:nvPicPr>
        <p:blipFill rotWithShape="1">
          <a:blip r:embed="rId4">
            <a:alphaModFix/>
          </a:blip>
          <a:srcRect b="0" l="0" r="0" t="0"/>
          <a:stretch/>
        </p:blipFill>
        <p:spPr>
          <a:xfrm>
            <a:off x="1749211" y="2812074"/>
            <a:ext cx="228600" cy="228600"/>
          </a:xfrm>
          <a:prstGeom prst="rect">
            <a:avLst/>
          </a:prstGeom>
          <a:noFill/>
          <a:ln>
            <a:noFill/>
          </a:ln>
        </p:spPr>
      </p:pic>
      <p:sp>
        <p:nvSpPr>
          <p:cNvPr id="1292" name="Google Shape;1292;p38"/>
          <p:cNvSpPr/>
          <p:nvPr/>
        </p:nvSpPr>
        <p:spPr>
          <a:xfrm>
            <a:off x="1836677" y="3163824"/>
            <a:ext cx="3713731" cy="237744"/>
          </a:xfrm>
          <a:prstGeom prst="roundRect">
            <a:avLst>
              <a:gd fmla="val 12821" name="adj"/>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전체 기간               ∨ |    지원 회사                ∨ |   지원 직무              ∨</a:t>
            </a:r>
            <a:endParaRPr/>
          </a:p>
        </p:txBody>
      </p:sp>
      <p:sp>
        <p:nvSpPr>
          <p:cNvPr id="1293" name="Google Shape;1293;p38"/>
          <p:cNvSpPr/>
          <p:nvPr/>
        </p:nvSpPr>
        <p:spPr>
          <a:xfrm>
            <a:off x="5769864" y="3163824"/>
            <a:ext cx="585216" cy="23774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lt1"/>
                </a:solidFill>
                <a:latin typeface="Noto Sans KR"/>
                <a:ea typeface="Noto Sans KR"/>
                <a:cs typeface="Noto Sans KR"/>
                <a:sym typeface="Noto Sans KR"/>
              </a:rPr>
              <a:t>검색</a:t>
            </a:r>
            <a:endParaRPr b="1" sz="1200">
              <a:solidFill>
                <a:schemeClr val="lt1"/>
              </a:solidFill>
              <a:latin typeface="Noto Sans KR"/>
              <a:ea typeface="Noto Sans KR"/>
              <a:cs typeface="Noto Sans KR"/>
              <a:sym typeface="Noto Sans KR"/>
            </a:endParaRPr>
          </a:p>
        </p:txBody>
      </p:sp>
      <p:sp>
        <p:nvSpPr>
          <p:cNvPr id="1294" name="Google Shape;1294;p38"/>
          <p:cNvSpPr/>
          <p:nvPr/>
        </p:nvSpPr>
        <p:spPr>
          <a:xfrm>
            <a:off x="1879503" y="5849433"/>
            <a:ext cx="4550522" cy="344110"/>
          </a:xfrm>
          <a:prstGeom prst="roundRect">
            <a:avLst>
              <a:gd fmla="val 21982"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800">
                <a:solidFill>
                  <a:srgbClr val="FF256E"/>
                </a:solidFill>
                <a:latin typeface="Malgun Gothic"/>
                <a:ea typeface="Malgun Gothic"/>
                <a:cs typeface="Malgun Gothic"/>
                <a:sym typeface="Malgun Gothic"/>
              </a:rPr>
              <a:t>← </a:t>
            </a:r>
            <a:r>
              <a:rPr lang="ko-KR" sz="1600">
                <a:solidFill>
                  <a:schemeClr val="dk1"/>
                </a:solidFill>
                <a:latin typeface="Noto Sans KR"/>
                <a:ea typeface="Noto Sans KR"/>
                <a:cs typeface="Noto Sans KR"/>
                <a:sym typeface="Noto Sans KR"/>
              </a:rPr>
              <a:t>홈으로</a:t>
            </a:r>
            <a:endParaRPr sz="1600">
              <a:solidFill>
                <a:schemeClr val="dk1"/>
              </a:solidFill>
              <a:latin typeface="Noto Sans KR"/>
              <a:ea typeface="Noto Sans KR"/>
              <a:cs typeface="Noto Sans KR"/>
              <a:sym typeface="Noto Sans KR"/>
            </a:endParaRPr>
          </a:p>
        </p:txBody>
      </p:sp>
      <p:grpSp>
        <p:nvGrpSpPr>
          <p:cNvPr id="1295" name="Google Shape;1295;p38"/>
          <p:cNvGrpSpPr/>
          <p:nvPr/>
        </p:nvGrpSpPr>
        <p:grpSpPr>
          <a:xfrm>
            <a:off x="1886854" y="3593592"/>
            <a:ext cx="4550522" cy="960120"/>
            <a:chOff x="1886854" y="3593592"/>
            <a:chExt cx="4550522" cy="960120"/>
          </a:xfrm>
        </p:grpSpPr>
        <p:sp>
          <p:nvSpPr>
            <p:cNvPr id="1296" name="Google Shape;1296;p38"/>
            <p:cNvSpPr/>
            <p:nvPr/>
          </p:nvSpPr>
          <p:spPr>
            <a:xfrm>
              <a:off x="1886854" y="3593592"/>
              <a:ext cx="4550522" cy="960120"/>
            </a:xfrm>
            <a:prstGeom prst="roundRect">
              <a:avLst>
                <a:gd fmla="val 1285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삼성전자 / SW 개발자</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yyyy-mm-dd</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1297" name="Google Shape;1297;p38"/>
            <p:cNvSpPr/>
            <p:nvPr/>
          </p:nvSpPr>
          <p:spPr>
            <a:xfrm>
              <a:off x="5023477" y="4073652"/>
              <a:ext cx="1157867" cy="335315"/>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600">
                  <a:solidFill>
                    <a:schemeClr val="lt1"/>
                  </a:solidFill>
                  <a:latin typeface="Noto Sans KR"/>
                  <a:ea typeface="Noto Sans KR"/>
                  <a:cs typeface="Noto Sans KR"/>
                  <a:sym typeface="Noto Sans KR"/>
                </a:rPr>
                <a:t>상세보기</a:t>
              </a:r>
              <a:endParaRPr b="1" sz="1600">
                <a:solidFill>
                  <a:schemeClr val="lt1"/>
                </a:solidFill>
                <a:latin typeface="Noto Sans KR"/>
                <a:ea typeface="Noto Sans KR"/>
                <a:cs typeface="Noto Sans KR"/>
                <a:sym typeface="Noto Sans KR"/>
              </a:endParaRPr>
            </a:p>
          </p:txBody>
        </p:sp>
      </p:grpSp>
      <p:grpSp>
        <p:nvGrpSpPr>
          <p:cNvPr id="1298" name="Google Shape;1298;p38"/>
          <p:cNvGrpSpPr/>
          <p:nvPr/>
        </p:nvGrpSpPr>
        <p:grpSpPr>
          <a:xfrm>
            <a:off x="1879503" y="4676215"/>
            <a:ext cx="4550522" cy="960120"/>
            <a:chOff x="1886854" y="3593592"/>
            <a:chExt cx="4550522" cy="960120"/>
          </a:xfrm>
        </p:grpSpPr>
        <p:sp>
          <p:nvSpPr>
            <p:cNvPr id="1299" name="Google Shape;1299;p38"/>
            <p:cNvSpPr/>
            <p:nvPr/>
          </p:nvSpPr>
          <p:spPr>
            <a:xfrm>
              <a:off x="1886854" y="3593592"/>
              <a:ext cx="4550522" cy="960120"/>
            </a:xfrm>
            <a:prstGeom prst="roundRect">
              <a:avLst>
                <a:gd fmla="val 1285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NAVER / 백엔드 개발자</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yyyy-mm-dd</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1300" name="Google Shape;1300;p38"/>
            <p:cNvSpPr/>
            <p:nvPr/>
          </p:nvSpPr>
          <p:spPr>
            <a:xfrm>
              <a:off x="5023477" y="4073652"/>
              <a:ext cx="1157867" cy="335315"/>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600">
                  <a:solidFill>
                    <a:schemeClr val="lt1"/>
                  </a:solidFill>
                  <a:latin typeface="Noto Sans KR"/>
                  <a:ea typeface="Noto Sans KR"/>
                  <a:cs typeface="Noto Sans KR"/>
                  <a:sym typeface="Noto Sans KR"/>
                </a:rPr>
                <a:t>상세보기</a:t>
              </a:r>
              <a:endParaRPr b="1" sz="1600">
                <a:solidFill>
                  <a:schemeClr val="lt1"/>
                </a:solidFill>
                <a:latin typeface="Noto Sans KR"/>
                <a:ea typeface="Noto Sans KR"/>
                <a:cs typeface="Noto Sans KR"/>
                <a:sym typeface="Noto Sans KR"/>
              </a:endParaRPr>
            </a:p>
          </p:txBody>
        </p:sp>
      </p:grpSp>
      <p:sp>
        <p:nvSpPr>
          <p:cNvPr id="1301" name="Google Shape;1301;p38"/>
          <p:cNvSpPr/>
          <p:nvPr/>
        </p:nvSpPr>
        <p:spPr>
          <a:xfrm>
            <a:off x="1516934" y="267697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302" name="Google Shape;1302;p38"/>
          <p:cNvSpPr/>
          <p:nvPr/>
        </p:nvSpPr>
        <p:spPr>
          <a:xfrm>
            <a:off x="1578732" y="30585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303" name="Google Shape;1303;p38"/>
          <p:cNvSpPr/>
          <p:nvPr/>
        </p:nvSpPr>
        <p:spPr>
          <a:xfrm>
            <a:off x="3022504" y="29834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304" name="Google Shape;1304;p38"/>
          <p:cNvSpPr/>
          <p:nvPr/>
        </p:nvSpPr>
        <p:spPr>
          <a:xfrm>
            <a:off x="4266184" y="29799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305" name="Google Shape;1305;p38"/>
          <p:cNvSpPr/>
          <p:nvPr/>
        </p:nvSpPr>
        <p:spPr>
          <a:xfrm>
            <a:off x="5699512" y="297849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306" name="Google Shape;1306;p38"/>
          <p:cNvSpPr/>
          <p:nvPr/>
        </p:nvSpPr>
        <p:spPr>
          <a:xfrm>
            <a:off x="1769190" y="350619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307" name="Google Shape;1307;p38"/>
          <p:cNvSpPr/>
          <p:nvPr/>
        </p:nvSpPr>
        <p:spPr>
          <a:xfrm>
            <a:off x="1756854" y="575855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1308" name="Google Shape;1308;p38"/>
          <p:cNvSpPr/>
          <p:nvPr/>
        </p:nvSpPr>
        <p:spPr>
          <a:xfrm>
            <a:off x="4889320" y="396493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309" name="Google Shape;1309;p38"/>
          <p:cNvSpPr txBox="1"/>
          <p:nvPr/>
        </p:nvSpPr>
        <p:spPr>
          <a:xfrm>
            <a:off x="2962383" y="5342537"/>
            <a:ext cx="485431"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rgbClr val="FF0000"/>
                </a:solidFill>
                <a:latin typeface="Noto Sans KR"/>
                <a:ea typeface="Noto Sans KR"/>
                <a:cs typeface="Noto Sans KR"/>
                <a:sym typeface="Noto Sans KR"/>
              </a:rPr>
              <a:t>중단</a:t>
            </a:r>
            <a:endParaRPr sz="1050">
              <a:solidFill>
                <a:srgbClr val="FF0000"/>
              </a:solidFill>
              <a:latin typeface="Noto Sans KR"/>
              <a:ea typeface="Noto Sans KR"/>
              <a:cs typeface="Noto Sans KR"/>
              <a:sym typeface="Noto Sans KR"/>
            </a:endParaRPr>
          </a:p>
        </p:txBody>
      </p:sp>
      <p:sp>
        <p:nvSpPr>
          <p:cNvPr id="1310" name="Google Shape;1310;p38"/>
          <p:cNvSpPr txBox="1"/>
          <p:nvPr/>
        </p:nvSpPr>
        <p:spPr>
          <a:xfrm>
            <a:off x="2962382" y="4301355"/>
            <a:ext cx="485431"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rgbClr val="006600"/>
                </a:solidFill>
                <a:latin typeface="Noto Sans KR"/>
                <a:ea typeface="Noto Sans KR"/>
                <a:cs typeface="Noto Sans KR"/>
                <a:sym typeface="Noto Sans KR"/>
              </a:rPr>
              <a:t>완료</a:t>
            </a:r>
            <a:endParaRPr sz="1050">
              <a:solidFill>
                <a:srgbClr val="006600"/>
              </a:solidFill>
              <a:latin typeface="Noto Sans KR"/>
              <a:ea typeface="Noto Sans KR"/>
              <a:cs typeface="Noto Sans KR"/>
              <a:sym typeface="Noto Sans K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39"/>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면접 결과</a:t>
            </a:r>
            <a:endParaRPr sz="2400"/>
          </a:p>
        </p:txBody>
      </p:sp>
      <p:sp>
        <p:nvSpPr>
          <p:cNvPr id="1317" name="Google Shape;1317;p39"/>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318" name="Google Shape;1318;p39"/>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319" name="Google Shape;1319;p39"/>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320" name="Google Shape;1320;p39"/>
          <p:cNvSpPr/>
          <p:nvPr/>
        </p:nvSpPr>
        <p:spPr>
          <a:xfrm>
            <a:off x="1413586" y="1123949"/>
            <a:ext cx="5975927"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321" name="Google Shape;1321;p39"/>
          <p:cNvGraphicFramePr/>
          <p:nvPr/>
        </p:nvGraphicFramePr>
        <p:xfrm>
          <a:off x="8561828" y="1055031"/>
          <a:ext cx="3000000" cy="3000000"/>
        </p:xfrm>
        <a:graphic>
          <a:graphicData uri="http://schemas.openxmlformats.org/drawingml/2006/table">
            <a:tbl>
              <a:tblPr bandRow="1" firstRow="1">
                <a:noFill/>
                <a:tableStyleId>{C61F204E-A15B-47D6-BEBB-6A886D3283EB}</a:tableStyleId>
              </a:tblPr>
              <a:tblGrid>
                <a:gridCol w="472450"/>
                <a:gridCol w="2803800"/>
              </a:tblGrid>
              <a:tr h="536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결과 헤더 영역</a:t>
                      </a:r>
                      <a:br>
                        <a:rPr b="1"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 현재 화면이 면접 결과 확인 화면임을 안내하는 헤더 메시지</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61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지원 정보 표시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사용자가 지원한 회사 및 직무 정보를 표시</a:t>
                      </a:r>
                      <a:endParaRPr b="0" sz="1000" u="none" cap="none" strike="noStrike">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지원 회사,지원 직무,면접 수행 날짜, 진행 여부 등 제공</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6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분석 안내 문구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결과가 지원 회사의 인재상·비전 및 직무 요구 역량을 기준으로 분석되었음을 설명</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61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직무 역량 평가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직무 수행 능력 관련 평가 결과 제공</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기술 이해도, 직무 관련 경험, 문제 해결 능력</a:t>
                      </a:r>
                      <a:endParaRPr b="0" sz="10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chemeClr val="dk1"/>
                        </a:buClr>
                        <a:buSzPts val="1000"/>
                        <a:buFont typeface="Noto Sans KR"/>
                        <a:buNone/>
                      </a:pPr>
                      <a:r>
                        <a:rPr lang="ko-KR" sz="1000" u="none" cap="none" strike="noStrike">
                          <a:latin typeface="Noto Sans KR"/>
                          <a:ea typeface="Noto Sans KR"/>
                          <a:cs typeface="Noto Sans KR"/>
                          <a:sym typeface="Noto Sans KR"/>
                        </a:rPr>
                        <a:t>각 항목별 평가 결과 설명 카드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353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인성 태도 평가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과정에서 나타난 태도 및 인성 역량 평가 결과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의사소통 능력, 책임감, 성장 의지 등 기업 인재상 및 핵심 역량에 맞춰 분석한 결과  카드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6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종합 평가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직무 역량 및 인성 평가 결과를 종합하여 분석한 결과를 제공하는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75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역량 레이더 차트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평가 결과를 다차원 역량 기준으로 시각화하여 제공하는 그래프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75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종합 피드백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분석 결과를 기반으로 사용자 면접 수행 결과에 대한 종합 피드백을 제공하는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83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결과 PDF 저장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면접 진행 내역과 분석 결과를 PDF 리포트 형태로 생성하여 저장하거나 다운로드할 수 있도록 제공하는 버튼</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11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닫기 버튼</a:t>
                      </a:r>
                      <a:endParaRPr b="1" sz="10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결과 화면을 종료하고 이전 화면 SCR-27</a:t>
                      </a:r>
                      <a:endParaRPr b="0"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으로 이동하는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322" name="Google Shape;1322;p39"/>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703325"/>
                <a:gridCol w="475500"/>
                <a:gridCol w="28038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SCR-22</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결과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이전 면접 결과 내역 제공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323" name="Google Shape;1323;p39"/>
          <p:cNvSpPr/>
          <p:nvPr/>
        </p:nvSpPr>
        <p:spPr>
          <a:xfrm>
            <a:off x="1413586" y="1472147"/>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24" name="Google Shape;1324;p39"/>
          <p:cNvSpPr/>
          <p:nvPr/>
        </p:nvSpPr>
        <p:spPr>
          <a:xfrm>
            <a:off x="1209824" y="117784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325" name="Google Shape;1325;p39"/>
          <p:cNvSpPr txBox="1"/>
          <p:nvPr/>
        </p:nvSpPr>
        <p:spPr>
          <a:xfrm>
            <a:off x="1540085" y="1512836"/>
            <a:ext cx="21189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100">
                <a:solidFill>
                  <a:schemeClr val="dk1"/>
                </a:solidFill>
                <a:latin typeface="Noto Sans KR"/>
                <a:ea typeface="Noto Sans KR"/>
                <a:cs typeface="Noto Sans KR"/>
                <a:sym typeface="Noto Sans KR"/>
              </a:rPr>
              <a:t>삼성전자 / SW 개발자</a:t>
            </a:r>
            <a:endParaRPr b="1" sz="11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rgbClr val="A5A5A5"/>
                </a:solidFill>
                <a:latin typeface="Noto Sans KR"/>
                <a:ea typeface="Noto Sans KR"/>
                <a:cs typeface="Noto Sans KR"/>
                <a:sym typeface="Noto Sans KR"/>
              </a:rPr>
              <a:t>yyyy-mm-dd </a:t>
            </a:r>
            <a:endParaRPr sz="700">
              <a:solidFill>
                <a:srgbClr val="A5A5A5"/>
              </a:solidFill>
              <a:latin typeface="Noto Sans KR"/>
              <a:ea typeface="Noto Sans KR"/>
              <a:cs typeface="Noto Sans KR"/>
              <a:sym typeface="Noto Sans KR"/>
            </a:endParaRPr>
          </a:p>
        </p:txBody>
      </p:sp>
      <p:grpSp>
        <p:nvGrpSpPr>
          <p:cNvPr id="1326" name="Google Shape;1326;p39"/>
          <p:cNvGrpSpPr/>
          <p:nvPr/>
        </p:nvGrpSpPr>
        <p:grpSpPr>
          <a:xfrm>
            <a:off x="1488196" y="1160763"/>
            <a:ext cx="2134352" cy="318795"/>
            <a:chOff x="1611643" y="1268263"/>
            <a:chExt cx="2134352" cy="307777"/>
          </a:xfrm>
        </p:grpSpPr>
        <p:sp>
          <p:nvSpPr>
            <p:cNvPr id="1327" name="Google Shape;1327;p39"/>
            <p:cNvSpPr txBox="1"/>
            <p:nvPr/>
          </p:nvSpPr>
          <p:spPr>
            <a:xfrm>
              <a:off x="1834899" y="1268263"/>
              <a:ext cx="191109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면접 결과</a:t>
              </a:r>
              <a:endParaRPr b="1" sz="1400">
                <a:solidFill>
                  <a:schemeClr val="dk1"/>
                </a:solidFill>
                <a:latin typeface="Noto Sans KR"/>
                <a:ea typeface="Noto Sans KR"/>
                <a:cs typeface="Noto Sans KR"/>
                <a:sym typeface="Noto Sans KR"/>
              </a:endParaRPr>
            </a:p>
          </p:txBody>
        </p:sp>
        <p:sp>
          <p:nvSpPr>
            <p:cNvPr id="1328" name="Google Shape;1328;p39"/>
            <p:cNvSpPr/>
            <p:nvPr/>
          </p:nvSpPr>
          <p:spPr>
            <a:xfrm>
              <a:off x="1611643" y="1330010"/>
              <a:ext cx="275211" cy="178865"/>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Malgun Gothic"/>
                <a:ea typeface="Malgun Gothic"/>
                <a:cs typeface="Malgun Gothic"/>
                <a:sym typeface="Malgun Gothic"/>
              </a:endParaRPr>
            </a:p>
          </p:txBody>
        </p:sp>
        <p:pic>
          <p:nvPicPr>
            <p:cNvPr id="1329" name="Google Shape;1329;p39"/>
            <p:cNvPicPr preferRelativeResize="0"/>
            <p:nvPr/>
          </p:nvPicPr>
          <p:blipFill rotWithShape="1">
            <a:blip r:embed="rId3">
              <a:alphaModFix/>
            </a:blip>
            <a:srcRect b="0" l="0" r="0" t="0"/>
            <a:stretch/>
          </p:blipFill>
          <p:spPr>
            <a:xfrm>
              <a:off x="1676981" y="1356621"/>
              <a:ext cx="144535" cy="144535"/>
            </a:xfrm>
            <a:prstGeom prst="rect">
              <a:avLst/>
            </a:prstGeom>
            <a:noFill/>
            <a:ln>
              <a:noFill/>
            </a:ln>
          </p:spPr>
        </p:pic>
      </p:grpSp>
      <p:sp>
        <p:nvSpPr>
          <p:cNvPr id="1330" name="Google Shape;1330;p39"/>
          <p:cNvSpPr txBox="1"/>
          <p:nvPr/>
        </p:nvSpPr>
        <p:spPr>
          <a:xfrm>
            <a:off x="1857342" y="1888978"/>
            <a:ext cx="2874505" cy="4462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지원하신 {회사}가 중요하게 여기는 인재상과</a:t>
            </a:r>
            <a:r>
              <a:rPr lang="ko-KR" sz="900">
                <a:solidFill>
                  <a:schemeClr val="dk1"/>
                </a:solidFill>
                <a:latin typeface="Noto Sans KR"/>
                <a:ea typeface="Noto Sans KR"/>
                <a:cs typeface="Noto Sans KR"/>
                <a:sym typeface="Noto Sans KR"/>
              </a:rPr>
              <a:t> </a:t>
            </a:r>
            <a:r>
              <a:rPr lang="ko-KR" sz="700">
                <a:solidFill>
                  <a:schemeClr val="dk1"/>
                </a:solidFill>
                <a:latin typeface="Noto Sans KR"/>
                <a:ea typeface="Noto Sans KR"/>
                <a:cs typeface="Noto Sans KR"/>
                <a:sym typeface="Noto Sans KR"/>
              </a:rPr>
              <a:t>비전을 바탕으로,</a:t>
            </a: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직무 수행에 필요한 역량과 조직 적합성을 중심으로 분석한 결과입니다.</a:t>
            </a: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PDF로 결과를 저장하시면 먼접진행 대화와 결과를 확인 하실 수 있습니다.</a:t>
            </a:r>
            <a:endParaRPr/>
          </a:p>
        </p:txBody>
      </p:sp>
      <p:cxnSp>
        <p:nvCxnSpPr>
          <p:cNvPr id="1331" name="Google Shape;1331;p39"/>
          <p:cNvCxnSpPr/>
          <p:nvPr/>
        </p:nvCxnSpPr>
        <p:spPr>
          <a:xfrm>
            <a:off x="1886007" y="1904442"/>
            <a:ext cx="4594258" cy="4635"/>
          </a:xfrm>
          <a:prstGeom prst="straightConnector1">
            <a:avLst/>
          </a:prstGeom>
          <a:noFill/>
          <a:ln cap="flat" cmpd="sng" w="9525">
            <a:solidFill>
              <a:srgbClr val="BFBFBF"/>
            </a:solidFill>
            <a:prstDash val="solid"/>
            <a:miter lim="8000"/>
            <a:headEnd len="sm" w="sm" type="none"/>
            <a:tailEnd len="sm" w="sm" type="none"/>
          </a:ln>
        </p:spPr>
      </p:cxnSp>
      <p:cxnSp>
        <p:nvCxnSpPr>
          <p:cNvPr id="1332" name="Google Shape;1332;p39"/>
          <p:cNvCxnSpPr/>
          <p:nvPr/>
        </p:nvCxnSpPr>
        <p:spPr>
          <a:xfrm>
            <a:off x="1886007" y="2290646"/>
            <a:ext cx="4594258" cy="4635"/>
          </a:xfrm>
          <a:prstGeom prst="straightConnector1">
            <a:avLst/>
          </a:prstGeom>
          <a:noFill/>
          <a:ln cap="flat" cmpd="sng" w="9525">
            <a:solidFill>
              <a:srgbClr val="BFBFBF"/>
            </a:solidFill>
            <a:prstDash val="solid"/>
            <a:miter lim="8000"/>
            <a:headEnd len="sm" w="sm" type="none"/>
            <a:tailEnd len="sm" w="sm" type="none"/>
          </a:ln>
        </p:spPr>
      </p:cxnSp>
      <p:grpSp>
        <p:nvGrpSpPr>
          <p:cNvPr id="1333" name="Google Shape;1333;p39"/>
          <p:cNvGrpSpPr/>
          <p:nvPr/>
        </p:nvGrpSpPr>
        <p:grpSpPr>
          <a:xfrm>
            <a:off x="1698069" y="2294490"/>
            <a:ext cx="4685627" cy="1346859"/>
            <a:chOff x="1925485" y="2964941"/>
            <a:chExt cx="4557611" cy="1474440"/>
          </a:xfrm>
        </p:grpSpPr>
        <p:sp>
          <p:nvSpPr>
            <p:cNvPr id="1334" name="Google Shape;1334;p39"/>
            <p:cNvSpPr txBox="1"/>
            <p:nvPr/>
          </p:nvSpPr>
          <p:spPr>
            <a:xfrm>
              <a:off x="1925485" y="2964941"/>
              <a:ext cx="2763474" cy="2695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직무 역량 평가</a:t>
              </a:r>
              <a:endParaRPr b="1" sz="1000">
                <a:solidFill>
                  <a:schemeClr val="dk1"/>
                </a:solidFill>
                <a:latin typeface="Noto Sans KR"/>
                <a:ea typeface="Noto Sans KR"/>
                <a:cs typeface="Noto Sans KR"/>
                <a:sym typeface="Noto Sans KR"/>
              </a:endParaRPr>
            </a:p>
          </p:txBody>
        </p:sp>
        <p:sp>
          <p:nvSpPr>
            <p:cNvPr id="1335" name="Google Shape;1335;p39"/>
            <p:cNvSpPr/>
            <p:nvPr/>
          </p:nvSpPr>
          <p:spPr>
            <a:xfrm>
              <a:off x="2016854" y="3241940"/>
              <a:ext cx="4466242" cy="354691"/>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900">
                  <a:solidFill>
                    <a:schemeClr val="dk1"/>
                  </a:solidFill>
                  <a:latin typeface="Noto Sans KR"/>
                  <a:ea typeface="Noto Sans KR"/>
                  <a:cs typeface="Noto Sans KR"/>
                  <a:sym typeface="Noto Sans KR"/>
                </a:rPr>
                <a:t>기술 이해도</a:t>
              </a:r>
              <a:endParaRPr b="1"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 - 직무 수행에 필요한 기본 개념과 역할에 대한 이해도가 전반적으로 확인되었습니다</a:t>
              </a:r>
              <a:endParaRPr sz="700">
                <a:solidFill>
                  <a:schemeClr val="dk1"/>
                </a:solidFill>
                <a:latin typeface="Noto Sans KR"/>
                <a:ea typeface="Noto Sans KR"/>
                <a:cs typeface="Noto Sans KR"/>
                <a:sym typeface="Noto Sans KR"/>
              </a:endParaRPr>
            </a:p>
          </p:txBody>
        </p:sp>
        <p:sp>
          <p:nvSpPr>
            <p:cNvPr id="1336" name="Google Shape;1336;p39"/>
            <p:cNvSpPr/>
            <p:nvPr/>
          </p:nvSpPr>
          <p:spPr>
            <a:xfrm>
              <a:off x="2016854" y="3660621"/>
              <a:ext cx="4466242" cy="354691"/>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900">
                  <a:solidFill>
                    <a:schemeClr val="dk1"/>
                  </a:solidFill>
                  <a:latin typeface="Noto Sans KR"/>
                  <a:ea typeface="Noto Sans KR"/>
                  <a:cs typeface="Noto Sans KR"/>
                  <a:sym typeface="Noto Sans KR"/>
                </a:rPr>
                <a:t>직무 관련 경험</a:t>
              </a:r>
              <a:endParaRPr b="1"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 - 직무 관련 경험에서 지원하신 직무와 유사한 직무 내용 경험이 확인되었습니다.</a:t>
              </a:r>
              <a:endParaRPr sz="700">
                <a:solidFill>
                  <a:schemeClr val="dk1"/>
                </a:solidFill>
                <a:latin typeface="Noto Sans KR"/>
                <a:ea typeface="Noto Sans KR"/>
                <a:cs typeface="Noto Sans KR"/>
                <a:sym typeface="Noto Sans KR"/>
              </a:endParaRPr>
            </a:p>
          </p:txBody>
        </p:sp>
        <p:sp>
          <p:nvSpPr>
            <p:cNvPr id="1337" name="Google Shape;1337;p39"/>
            <p:cNvSpPr/>
            <p:nvPr/>
          </p:nvSpPr>
          <p:spPr>
            <a:xfrm>
              <a:off x="2003267" y="4084690"/>
              <a:ext cx="4479828" cy="354691"/>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900">
                  <a:solidFill>
                    <a:schemeClr val="dk1"/>
                  </a:solidFill>
                  <a:latin typeface="Noto Sans KR"/>
                  <a:ea typeface="Noto Sans KR"/>
                  <a:cs typeface="Noto Sans KR"/>
                  <a:sym typeface="Noto Sans KR"/>
                </a:rPr>
                <a:t>문제 해결 능력</a:t>
              </a:r>
              <a:endParaRPr b="1"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 - 문제 상황에서 원인을 파악하고 단계적으로 접근하려는 사고 흐름이 비교적 명확하게 나타났습니다.</a:t>
              </a:r>
              <a:endParaRPr sz="700">
                <a:solidFill>
                  <a:schemeClr val="dk1"/>
                </a:solidFill>
                <a:latin typeface="Noto Sans KR"/>
                <a:ea typeface="Noto Sans KR"/>
                <a:cs typeface="Noto Sans KR"/>
                <a:sym typeface="Noto Sans KR"/>
              </a:endParaRPr>
            </a:p>
          </p:txBody>
        </p:sp>
      </p:grpSp>
      <p:grpSp>
        <p:nvGrpSpPr>
          <p:cNvPr id="1338" name="Google Shape;1338;p39"/>
          <p:cNvGrpSpPr/>
          <p:nvPr/>
        </p:nvGrpSpPr>
        <p:grpSpPr>
          <a:xfrm>
            <a:off x="1763407" y="3717178"/>
            <a:ext cx="5126015" cy="1111250"/>
            <a:chOff x="1838543" y="3921871"/>
            <a:chExt cx="5126015" cy="1111250"/>
          </a:xfrm>
        </p:grpSpPr>
        <p:sp>
          <p:nvSpPr>
            <p:cNvPr id="1339" name="Google Shape;1339;p39"/>
            <p:cNvSpPr/>
            <p:nvPr/>
          </p:nvSpPr>
          <p:spPr>
            <a:xfrm>
              <a:off x="1838543" y="3921871"/>
              <a:ext cx="5126015" cy="1111250"/>
            </a:xfrm>
            <a:prstGeom prst="roundRect">
              <a:avLst>
                <a:gd fmla="val 16667" name="adj"/>
              </a:avLst>
            </a:prstGeom>
            <a:solidFill>
              <a:srgbClr val="FFEFEF"/>
            </a:solidFill>
            <a:ln cap="flat" cmpd="sng" w="12700">
              <a:solidFill>
                <a:srgbClr val="FFEFE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40" name="Google Shape;1340;p39"/>
            <p:cNvSpPr txBox="1"/>
            <p:nvPr/>
          </p:nvSpPr>
          <p:spPr>
            <a:xfrm>
              <a:off x="1890481" y="3921871"/>
              <a:ext cx="2841096"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인성 태도 평가</a:t>
              </a:r>
              <a:endParaRPr b="1" sz="1000">
                <a:solidFill>
                  <a:schemeClr val="dk1"/>
                </a:solidFill>
                <a:latin typeface="Noto Sans KR"/>
                <a:ea typeface="Noto Sans KR"/>
                <a:cs typeface="Noto Sans KR"/>
                <a:sym typeface="Noto Sans KR"/>
              </a:endParaRPr>
            </a:p>
          </p:txBody>
        </p:sp>
        <p:sp>
          <p:nvSpPr>
            <p:cNvPr id="1341" name="Google Shape;1341;p39"/>
            <p:cNvSpPr/>
            <p:nvPr/>
          </p:nvSpPr>
          <p:spPr>
            <a:xfrm>
              <a:off x="1927119" y="4166082"/>
              <a:ext cx="1616548" cy="772208"/>
            </a:xfrm>
            <a:prstGeom prst="roundRect">
              <a:avLst>
                <a:gd fmla="val 16667" name="adj"/>
              </a:avLst>
            </a:prstGeom>
            <a:solidFill>
              <a:schemeClr val="lt1"/>
            </a:solidFill>
            <a:ln cap="flat" cmpd="sng" w="12700">
              <a:solidFill>
                <a:srgbClr val="D0CEC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900">
                  <a:solidFill>
                    <a:schemeClr val="dk1"/>
                  </a:solidFill>
                  <a:latin typeface="Noto Sans KR"/>
                  <a:ea typeface="Noto Sans KR"/>
                  <a:cs typeface="Noto Sans KR"/>
                  <a:sym typeface="Noto Sans KR"/>
                </a:rPr>
                <a:t>의사소통 능력</a:t>
              </a:r>
              <a:endParaRPr b="1"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 의사소통에 대한 긍적적인 평가가 확인되었습니다.</a:t>
              </a:r>
              <a:endParaRPr sz="700">
                <a:solidFill>
                  <a:schemeClr val="dk1"/>
                </a:solidFill>
                <a:latin typeface="Noto Sans KR"/>
                <a:ea typeface="Noto Sans KR"/>
                <a:cs typeface="Noto Sans KR"/>
                <a:sym typeface="Noto Sans KR"/>
              </a:endParaRPr>
            </a:p>
          </p:txBody>
        </p:sp>
        <p:sp>
          <p:nvSpPr>
            <p:cNvPr id="1342" name="Google Shape;1342;p39"/>
            <p:cNvSpPr/>
            <p:nvPr/>
          </p:nvSpPr>
          <p:spPr>
            <a:xfrm>
              <a:off x="3604201" y="4157598"/>
              <a:ext cx="1616548" cy="772208"/>
            </a:xfrm>
            <a:prstGeom prst="roundRect">
              <a:avLst>
                <a:gd fmla="val 16667" name="adj"/>
              </a:avLst>
            </a:prstGeom>
            <a:solidFill>
              <a:schemeClr val="lt1"/>
            </a:solidFill>
            <a:ln cap="flat" cmpd="sng" w="12700">
              <a:solidFill>
                <a:srgbClr val="D0CEC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900">
                  <a:solidFill>
                    <a:schemeClr val="dk1"/>
                  </a:solidFill>
                  <a:latin typeface="Noto Sans KR"/>
                  <a:ea typeface="Noto Sans KR"/>
                  <a:cs typeface="Noto Sans KR"/>
                  <a:sym typeface="Noto Sans KR"/>
                </a:rPr>
                <a:t>책임감</a:t>
              </a:r>
              <a:endParaRPr b="1"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 책임감에 대한 긍적적인 평가가 확인되었습니다.</a:t>
              </a:r>
              <a:endParaRPr sz="7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t/>
              </a:r>
              <a:endParaRPr b="1" sz="900">
                <a:solidFill>
                  <a:schemeClr val="dk1"/>
                </a:solidFill>
                <a:latin typeface="Noto Sans KR"/>
                <a:ea typeface="Noto Sans KR"/>
                <a:cs typeface="Noto Sans KR"/>
                <a:sym typeface="Noto Sans KR"/>
              </a:endParaRPr>
            </a:p>
          </p:txBody>
        </p:sp>
        <p:sp>
          <p:nvSpPr>
            <p:cNvPr id="1343" name="Google Shape;1343;p39"/>
            <p:cNvSpPr/>
            <p:nvPr/>
          </p:nvSpPr>
          <p:spPr>
            <a:xfrm>
              <a:off x="5295254" y="4160731"/>
              <a:ext cx="1616548" cy="772208"/>
            </a:xfrm>
            <a:prstGeom prst="roundRect">
              <a:avLst>
                <a:gd fmla="val 16667" name="adj"/>
              </a:avLst>
            </a:prstGeom>
            <a:solidFill>
              <a:schemeClr val="lt1"/>
            </a:solidFill>
            <a:ln cap="flat" cmpd="sng" w="12700">
              <a:solidFill>
                <a:srgbClr val="D0CEC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900">
                  <a:solidFill>
                    <a:schemeClr val="dk1"/>
                  </a:solidFill>
                  <a:latin typeface="Noto Sans KR"/>
                  <a:ea typeface="Noto Sans KR"/>
                  <a:cs typeface="Noto Sans KR"/>
                  <a:sym typeface="Noto Sans KR"/>
                </a:rPr>
                <a:t>성장의지</a:t>
              </a:r>
              <a:endParaRPr b="1"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 성장의지에 대한 긍적적인 평가가 확인되었습니다</a:t>
              </a:r>
              <a:r>
                <a:rPr lang="ko-KR" sz="800">
                  <a:solidFill>
                    <a:schemeClr val="dk1"/>
                  </a:solidFill>
                  <a:latin typeface="Noto Sans KR"/>
                  <a:ea typeface="Noto Sans KR"/>
                  <a:cs typeface="Noto Sans KR"/>
                  <a:sym typeface="Noto Sans KR"/>
                </a:rPr>
                <a:t>.</a:t>
              </a:r>
              <a:endParaRPr/>
            </a:p>
            <a:p>
              <a:pPr indent="0" lvl="0" marL="0" marR="0" rtl="0" algn="l">
                <a:spcBef>
                  <a:spcPts val="0"/>
                </a:spcBef>
                <a:spcAft>
                  <a:spcPts val="0"/>
                </a:spcAft>
                <a:buNone/>
              </a:pPr>
              <a:r>
                <a:t/>
              </a:r>
              <a:endParaRPr b="1" sz="900">
                <a:solidFill>
                  <a:schemeClr val="dk1"/>
                </a:solidFill>
                <a:latin typeface="Noto Sans KR"/>
                <a:ea typeface="Noto Sans KR"/>
                <a:cs typeface="Noto Sans KR"/>
                <a:sym typeface="Noto Sans KR"/>
              </a:endParaRPr>
            </a:p>
          </p:txBody>
        </p:sp>
      </p:grpSp>
      <p:grpSp>
        <p:nvGrpSpPr>
          <p:cNvPr id="1344" name="Google Shape;1344;p39"/>
          <p:cNvGrpSpPr/>
          <p:nvPr/>
        </p:nvGrpSpPr>
        <p:grpSpPr>
          <a:xfrm>
            <a:off x="1722951" y="4831481"/>
            <a:ext cx="5025795" cy="1313034"/>
            <a:chOff x="1886007" y="5044806"/>
            <a:chExt cx="5025795" cy="1313034"/>
          </a:xfrm>
        </p:grpSpPr>
        <p:graphicFrame>
          <p:nvGraphicFramePr>
            <p:cNvPr id="1345" name="Google Shape;1345;p39"/>
            <p:cNvGraphicFramePr/>
            <p:nvPr/>
          </p:nvGraphicFramePr>
          <p:xfrm>
            <a:off x="1990100" y="5244063"/>
            <a:ext cx="1896099" cy="1113777"/>
          </p:xfrm>
          <a:graphic>
            <a:graphicData uri="http://schemas.openxmlformats.org/drawingml/2006/chart">
              <c:chart r:id="rId4"/>
            </a:graphicData>
          </a:graphic>
        </p:graphicFrame>
        <p:sp>
          <p:nvSpPr>
            <p:cNvPr id="1346" name="Google Shape;1346;p39"/>
            <p:cNvSpPr txBox="1"/>
            <p:nvPr/>
          </p:nvSpPr>
          <p:spPr>
            <a:xfrm>
              <a:off x="1886007" y="5044806"/>
              <a:ext cx="780993"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종합 평가</a:t>
              </a:r>
              <a:endParaRPr b="1" sz="1000">
                <a:solidFill>
                  <a:schemeClr val="dk1"/>
                </a:solidFill>
                <a:latin typeface="Noto Sans KR"/>
                <a:ea typeface="Noto Sans KR"/>
                <a:cs typeface="Noto Sans KR"/>
                <a:sym typeface="Noto Sans KR"/>
              </a:endParaRPr>
            </a:p>
          </p:txBody>
        </p:sp>
        <p:sp>
          <p:nvSpPr>
            <p:cNvPr id="1347" name="Google Shape;1347;p39"/>
            <p:cNvSpPr/>
            <p:nvPr/>
          </p:nvSpPr>
          <p:spPr>
            <a:xfrm>
              <a:off x="4059238" y="5236065"/>
              <a:ext cx="2852564" cy="1113777"/>
            </a:xfrm>
            <a:prstGeom prst="roundRect">
              <a:avLst>
                <a:gd fmla="val 16667" name="adj"/>
              </a:avLst>
            </a:prstGeom>
            <a:solidFill>
              <a:srgbClr val="FFFEF3"/>
            </a:solidFill>
            <a:ln cap="flat" cmpd="sng" w="12700">
              <a:solidFill>
                <a:srgbClr val="D0CEC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900">
                  <a:solidFill>
                    <a:srgbClr val="006600"/>
                  </a:solidFill>
                  <a:latin typeface="Noto Sans KR"/>
                  <a:ea typeface="Noto Sans KR"/>
                  <a:cs typeface="Noto Sans KR"/>
                  <a:sym typeface="Noto Sans KR"/>
                </a:rPr>
                <a:t>강점</a:t>
              </a:r>
              <a:endParaRPr b="1" sz="900">
                <a:solidFill>
                  <a:srgbClr val="006600"/>
                </a:solidFill>
                <a:latin typeface="Noto Sans KR"/>
                <a:ea typeface="Noto Sans KR"/>
                <a:cs typeface="Noto Sans KR"/>
                <a:sym typeface="Noto Sans KR"/>
              </a:endParaRPr>
            </a:p>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직무 수행에 필요한 핵심 개념 이해도가 높고 문제 해결 과정이 논리적으로 전개되는 점이 강점으로 확인되었습니다</a:t>
              </a:r>
              <a:endParaRPr sz="9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900">
                  <a:solidFill>
                    <a:srgbClr val="C00000"/>
                  </a:solidFill>
                  <a:latin typeface="Noto Sans KR"/>
                  <a:ea typeface="Noto Sans KR"/>
                  <a:cs typeface="Noto Sans KR"/>
                  <a:sym typeface="Noto Sans KR"/>
                </a:rPr>
                <a:t>보완필요</a:t>
              </a:r>
              <a:endParaRPr b="1" sz="900">
                <a:solidFill>
                  <a:srgbClr val="C00000"/>
                </a:solidFill>
                <a:latin typeface="Noto Sans KR"/>
                <a:ea typeface="Noto Sans KR"/>
                <a:cs typeface="Noto Sans KR"/>
                <a:sym typeface="Noto Sans KR"/>
              </a:endParaRPr>
            </a:p>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경험 사례 설명 시 상황–행동–결과 구조가 다소 부족하여 답변의 설득력이 낮아질 수 있습니다.</a:t>
              </a:r>
              <a:endParaRPr sz="900">
                <a:solidFill>
                  <a:schemeClr val="dk1"/>
                </a:solidFill>
                <a:latin typeface="Noto Sans KR"/>
                <a:ea typeface="Noto Sans KR"/>
                <a:cs typeface="Noto Sans KR"/>
                <a:sym typeface="Noto Sans KR"/>
              </a:endParaRPr>
            </a:p>
          </p:txBody>
        </p:sp>
      </p:grpSp>
      <p:sp>
        <p:nvSpPr>
          <p:cNvPr id="1348" name="Google Shape;1348;p3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49" name="Google Shape;1349;p39"/>
          <p:cNvSpPr/>
          <p:nvPr/>
        </p:nvSpPr>
        <p:spPr>
          <a:xfrm>
            <a:off x="1346836" y="153274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350" name="Google Shape;1350;p39"/>
          <p:cNvSpPr/>
          <p:nvPr/>
        </p:nvSpPr>
        <p:spPr>
          <a:xfrm>
            <a:off x="1611675" y="18963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351" name="Google Shape;1351;p39"/>
          <p:cNvSpPr/>
          <p:nvPr/>
        </p:nvSpPr>
        <p:spPr>
          <a:xfrm>
            <a:off x="1477000" y="230887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352" name="Google Shape;1352;p39"/>
          <p:cNvSpPr/>
          <p:nvPr/>
        </p:nvSpPr>
        <p:spPr>
          <a:xfrm>
            <a:off x="1581452" y="36819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353" name="Google Shape;1353;p39"/>
          <p:cNvSpPr/>
          <p:nvPr/>
        </p:nvSpPr>
        <p:spPr>
          <a:xfrm>
            <a:off x="1506432" y="483158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354" name="Google Shape;1354;p39"/>
          <p:cNvSpPr/>
          <p:nvPr/>
        </p:nvSpPr>
        <p:spPr>
          <a:xfrm>
            <a:off x="1792004" y="504733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355" name="Google Shape;1355;p39"/>
          <p:cNvSpPr/>
          <p:nvPr/>
        </p:nvSpPr>
        <p:spPr>
          <a:xfrm>
            <a:off x="3766182" y="499184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356" name="Google Shape;1356;p39"/>
          <p:cNvSpPr/>
          <p:nvPr/>
        </p:nvSpPr>
        <p:spPr>
          <a:xfrm>
            <a:off x="2503944" y="6229350"/>
            <a:ext cx="1522238" cy="20955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900">
                <a:solidFill>
                  <a:schemeClr val="lt1"/>
                </a:solidFill>
                <a:latin typeface="Noto Sans KR"/>
                <a:ea typeface="Noto Sans KR"/>
                <a:cs typeface="Noto Sans KR"/>
                <a:sym typeface="Noto Sans KR"/>
              </a:rPr>
              <a:t>결과  PDF  저장</a:t>
            </a:r>
            <a:endParaRPr b="1" sz="900">
              <a:solidFill>
                <a:schemeClr val="lt1"/>
              </a:solidFill>
              <a:latin typeface="Noto Sans KR"/>
              <a:ea typeface="Noto Sans KR"/>
              <a:cs typeface="Noto Sans KR"/>
              <a:sym typeface="Noto Sans KR"/>
            </a:endParaRPr>
          </a:p>
        </p:txBody>
      </p:sp>
      <p:sp>
        <p:nvSpPr>
          <p:cNvPr id="1357" name="Google Shape;1357;p39"/>
          <p:cNvSpPr/>
          <p:nvPr/>
        </p:nvSpPr>
        <p:spPr>
          <a:xfrm>
            <a:off x="4209762" y="6229350"/>
            <a:ext cx="1522238" cy="20955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000">
                <a:solidFill>
                  <a:srgbClr val="A5A5A5"/>
                </a:solidFill>
                <a:latin typeface="Noto Sans KR"/>
                <a:ea typeface="Noto Sans KR"/>
                <a:cs typeface="Noto Sans KR"/>
                <a:sym typeface="Noto Sans KR"/>
              </a:rPr>
              <a:t>닫기</a:t>
            </a:r>
            <a:endParaRPr b="1" sz="1000">
              <a:solidFill>
                <a:srgbClr val="A5A5A5"/>
              </a:solidFill>
              <a:latin typeface="Noto Sans KR"/>
              <a:ea typeface="Noto Sans KR"/>
              <a:cs typeface="Noto Sans KR"/>
              <a:sym typeface="Noto Sans KR"/>
            </a:endParaRPr>
          </a:p>
        </p:txBody>
      </p:sp>
      <p:sp>
        <p:nvSpPr>
          <p:cNvPr id="1358" name="Google Shape;1358;p39"/>
          <p:cNvSpPr/>
          <p:nvPr/>
        </p:nvSpPr>
        <p:spPr>
          <a:xfrm>
            <a:off x="2293874" y="615352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359" name="Google Shape;1359;p39"/>
          <p:cNvSpPr/>
          <p:nvPr/>
        </p:nvSpPr>
        <p:spPr>
          <a:xfrm>
            <a:off x="4114902" y="616157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40"/>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프로필 관리</a:t>
            </a:r>
            <a:endParaRPr sz="2400"/>
          </a:p>
        </p:txBody>
      </p:sp>
      <p:sp>
        <p:nvSpPr>
          <p:cNvPr id="1366" name="Google Shape;1366;p40"/>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367" name="Google Shape;1367;p40"/>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368" name="Google Shape;1368;p40"/>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369" name="Google Shape;1369;p4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370" name="Google Shape;1370;p40"/>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563125"/>
                <a:gridCol w="2713100"/>
              </a:tblGrid>
              <a:tr h="3068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프로필 관리 헤더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0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안내 문구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프로필 정보 수정 가능 안내 제공 </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5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프로필 관리 정보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프로필 정보를 입력 및 수정할 수 있는 영역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33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프로필 이미지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프로필 이미지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업로드 전 기본 프로필 이미지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이미지 업로드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프로필 이미지 변경 기능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희망 지원 정보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희망 기업 유형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지원을 희망하는 기업 유형 입력</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 전 빈값</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희망 직무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이름 조회 및 수정</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 전 빈값</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이름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이름 조회 및 입력 수정</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회원가입 시 입력한 정보 디폴트</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생년월일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사용자 생년월일 정보 입력 수정</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회원가입 시 입력한 정보 디폴트</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이메일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이메일 정보 입력 및 수정</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회원가입 시 입력한 정보 디폴트</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86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12</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연락처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연락처 정보 입력 및 수정</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회원가입 시 입력한 정보 디폴트</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13</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자기소개 입력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사용자 자기소개 내용 입력</a:t>
                      </a:r>
                      <a:endParaRPr sz="1000" u="none" cap="none" strike="noStrike"/>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 전 빈값</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14</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저장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Malgun Gothic"/>
                        <a:buChar char="-"/>
                      </a:pPr>
                      <a:r>
                        <a:rPr lang="ko-KR" sz="1000" u="none" cap="none" strike="noStrike"/>
                        <a:t>수정된 프로필 정보 저장하는 버튼</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16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취소 버튼</a:t>
                      </a:r>
                      <a:endParaRPr b="1" sz="10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 수정을 취소,중단하고 SCR-00-1 메인으로 다시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371" name="Google Shape;1371;p40"/>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SCR-23</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프로필 관리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프로필 확인 및 수정을 제공</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372" name="Google Shape;1372;p4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73" name="Google Shape;1373;p4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74" name="Google Shape;1374;p40"/>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프로필 관리</a:t>
            </a:r>
            <a:endParaRPr b="1" sz="1800">
              <a:solidFill>
                <a:schemeClr val="dk1"/>
              </a:solidFill>
              <a:latin typeface="Noto Sans KR"/>
              <a:ea typeface="Noto Sans KR"/>
              <a:cs typeface="Noto Sans KR"/>
              <a:sym typeface="Noto Sans KR"/>
            </a:endParaRPr>
          </a:p>
        </p:txBody>
      </p:sp>
      <p:sp>
        <p:nvSpPr>
          <p:cNvPr id="1375" name="Google Shape;1375;p40"/>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76" name="Google Shape;1376;p40"/>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77" name="Google Shape;1377;p40"/>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78" name="Google Shape;1378;p40"/>
          <p:cNvSpPr/>
          <p:nvPr/>
        </p:nvSpPr>
        <p:spPr>
          <a:xfrm>
            <a:off x="1576094" y="1326676"/>
            <a:ext cx="327369" cy="251446"/>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79" name="Google Shape;1379;p40"/>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pic>
        <p:nvPicPr>
          <p:cNvPr id="1380" name="Google Shape;1380;p40"/>
          <p:cNvPicPr preferRelativeResize="0"/>
          <p:nvPr/>
        </p:nvPicPr>
        <p:blipFill rotWithShape="1">
          <a:blip r:embed="rId3">
            <a:alphaModFix/>
          </a:blip>
          <a:srcRect b="0" l="0" r="0" t="0"/>
          <a:stretch/>
        </p:blipFill>
        <p:spPr>
          <a:xfrm>
            <a:off x="1663823" y="1368158"/>
            <a:ext cx="168481" cy="168481"/>
          </a:xfrm>
          <a:prstGeom prst="rect">
            <a:avLst/>
          </a:prstGeom>
          <a:noFill/>
          <a:ln>
            <a:noFill/>
          </a:ln>
        </p:spPr>
      </p:pic>
      <p:sp>
        <p:nvSpPr>
          <p:cNvPr id="1381" name="Google Shape;1381;p40"/>
          <p:cNvSpPr txBox="1"/>
          <p:nvPr/>
        </p:nvSpPr>
        <p:spPr>
          <a:xfrm>
            <a:off x="1495672" y="1858102"/>
            <a:ext cx="459105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사용자 기본 정보를 확인하고 수정할 수 있습니다.</a:t>
            </a:r>
            <a:endParaRPr sz="1000">
              <a:solidFill>
                <a:schemeClr val="dk1"/>
              </a:solidFill>
              <a:latin typeface="Noto Sans KR"/>
              <a:ea typeface="Noto Sans KR"/>
              <a:cs typeface="Noto Sans KR"/>
              <a:sym typeface="Noto Sans KR"/>
            </a:endParaRPr>
          </a:p>
        </p:txBody>
      </p:sp>
      <p:sp>
        <p:nvSpPr>
          <p:cNvPr id="1382" name="Google Shape;1382;p40"/>
          <p:cNvSpPr/>
          <p:nvPr/>
        </p:nvSpPr>
        <p:spPr>
          <a:xfrm>
            <a:off x="1560573" y="2223455"/>
            <a:ext cx="5681956" cy="3962400"/>
          </a:xfrm>
          <a:prstGeom prst="roundRect">
            <a:avLst>
              <a:gd fmla="val 2965"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383" name="Google Shape;1383;p40"/>
          <p:cNvCxnSpPr/>
          <p:nvPr/>
        </p:nvCxnSpPr>
        <p:spPr>
          <a:xfrm flipH="1" rot="10800000">
            <a:off x="1576094" y="2581276"/>
            <a:ext cx="5672431" cy="14806"/>
          </a:xfrm>
          <a:prstGeom prst="straightConnector1">
            <a:avLst/>
          </a:prstGeom>
          <a:noFill/>
          <a:ln cap="flat" cmpd="sng" w="9525">
            <a:solidFill>
              <a:srgbClr val="BFBFBF"/>
            </a:solidFill>
            <a:prstDash val="solid"/>
            <a:miter lim="8000"/>
            <a:headEnd len="sm" w="sm" type="none"/>
            <a:tailEnd len="sm" w="sm" type="none"/>
          </a:ln>
        </p:spPr>
      </p:cxnSp>
      <p:cxnSp>
        <p:nvCxnSpPr>
          <p:cNvPr id="1384" name="Google Shape;1384;p40"/>
          <p:cNvCxnSpPr/>
          <p:nvPr/>
        </p:nvCxnSpPr>
        <p:spPr>
          <a:xfrm>
            <a:off x="1576094" y="5781675"/>
            <a:ext cx="5666435" cy="9525"/>
          </a:xfrm>
          <a:prstGeom prst="straightConnector1">
            <a:avLst/>
          </a:prstGeom>
          <a:noFill/>
          <a:ln cap="flat" cmpd="sng" w="9525">
            <a:solidFill>
              <a:srgbClr val="BFBFBF"/>
            </a:solidFill>
            <a:prstDash val="solid"/>
            <a:miter lim="8000"/>
            <a:headEnd len="sm" w="sm" type="none"/>
            <a:tailEnd len="sm" w="sm" type="none"/>
          </a:ln>
        </p:spPr>
      </p:cxnSp>
      <p:cxnSp>
        <p:nvCxnSpPr>
          <p:cNvPr id="1385" name="Google Shape;1385;p40"/>
          <p:cNvCxnSpPr/>
          <p:nvPr/>
        </p:nvCxnSpPr>
        <p:spPr>
          <a:xfrm>
            <a:off x="3228975" y="2596082"/>
            <a:ext cx="0" cy="3185593"/>
          </a:xfrm>
          <a:prstGeom prst="straightConnector1">
            <a:avLst/>
          </a:prstGeom>
          <a:noFill/>
          <a:ln cap="flat" cmpd="sng" w="9525">
            <a:solidFill>
              <a:srgbClr val="BFBFBF"/>
            </a:solidFill>
            <a:prstDash val="solid"/>
            <a:miter lim="8000"/>
            <a:headEnd len="sm" w="sm" type="none"/>
            <a:tailEnd len="sm" w="sm" type="none"/>
          </a:ln>
        </p:spPr>
      </p:cxnSp>
      <p:cxnSp>
        <p:nvCxnSpPr>
          <p:cNvPr id="1386" name="Google Shape;1386;p40"/>
          <p:cNvCxnSpPr/>
          <p:nvPr/>
        </p:nvCxnSpPr>
        <p:spPr>
          <a:xfrm>
            <a:off x="1663823" y="4188878"/>
            <a:ext cx="1422277" cy="0"/>
          </a:xfrm>
          <a:prstGeom prst="straightConnector1">
            <a:avLst/>
          </a:prstGeom>
          <a:noFill/>
          <a:ln cap="flat" cmpd="sng" w="9525">
            <a:solidFill>
              <a:srgbClr val="BFBFBF"/>
            </a:solidFill>
            <a:prstDash val="solid"/>
            <a:miter lim="8000"/>
            <a:headEnd len="sm" w="sm" type="none"/>
            <a:tailEnd len="sm" w="sm" type="none"/>
          </a:ln>
        </p:spPr>
      </p:cxnSp>
      <p:sp>
        <p:nvSpPr>
          <p:cNvPr id="1387" name="Google Shape;1387;p40"/>
          <p:cNvSpPr txBox="1"/>
          <p:nvPr/>
        </p:nvSpPr>
        <p:spPr>
          <a:xfrm>
            <a:off x="1663823" y="2257845"/>
            <a:ext cx="156744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프로필 관리</a:t>
            </a:r>
            <a:endParaRPr sz="1400">
              <a:solidFill>
                <a:schemeClr val="dk1"/>
              </a:solidFill>
              <a:latin typeface="Noto Sans KR"/>
              <a:ea typeface="Noto Sans KR"/>
              <a:cs typeface="Noto Sans KR"/>
              <a:sym typeface="Noto Sans KR"/>
            </a:endParaRPr>
          </a:p>
        </p:txBody>
      </p:sp>
      <p:sp>
        <p:nvSpPr>
          <p:cNvPr id="1388" name="Google Shape;1388;p40"/>
          <p:cNvSpPr/>
          <p:nvPr/>
        </p:nvSpPr>
        <p:spPr>
          <a:xfrm>
            <a:off x="1925494" y="2765627"/>
            <a:ext cx="938561" cy="812251"/>
          </a:xfrm>
          <a:prstGeom prst="ellipse">
            <a:avLst/>
          </a:prstGeom>
          <a:blipFill rotWithShape="1">
            <a:blip r:embed="rId3">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89" name="Google Shape;1389;p40"/>
          <p:cNvSpPr/>
          <p:nvPr/>
        </p:nvSpPr>
        <p:spPr>
          <a:xfrm>
            <a:off x="1775153" y="3777185"/>
            <a:ext cx="1271362" cy="251393"/>
          </a:xfrm>
          <a:prstGeom prst="roundRect">
            <a:avLst>
              <a:gd fmla="val 16667" name="adj"/>
            </a:avLst>
          </a:prstGeom>
          <a:no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이미지 업로드 </a:t>
            </a:r>
            <a:endParaRPr sz="1000">
              <a:solidFill>
                <a:schemeClr val="dk1"/>
              </a:solidFill>
              <a:latin typeface="Noto Sans KR"/>
              <a:ea typeface="Noto Sans KR"/>
              <a:cs typeface="Noto Sans KR"/>
              <a:sym typeface="Noto Sans KR"/>
            </a:endParaRPr>
          </a:p>
        </p:txBody>
      </p:sp>
      <p:sp>
        <p:nvSpPr>
          <p:cNvPr id="1390" name="Google Shape;1390;p40"/>
          <p:cNvSpPr txBox="1"/>
          <p:nvPr/>
        </p:nvSpPr>
        <p:spPr>
          <a:xfrm>
            <a:off x="1576094" y="4221395"/>
            <a:ext cx="139290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희망 지원 정보</a:t>
            </a:r>
            <a:endParaRPr sz="1100">
              <a:solidFill>
                <a:schemeClr val="dk1"/>
              </a:solidFill>
              <a:latin typeface="Noto Sans KR"/>
              <a:ea typeface="Noto Sans KR"/>
              <a:cs typeface="Noto Sans KR"/>
              <a:sym typeface="Noto Sans KR"/>
            </a:endParaRPr>
          </a:p>
        </p:txBody>
      </p:sp>
      <p:grpSp>
        <p:nvGrpSpPr>
          <p:cNvPr id="1391" name="Google Shape;1391;p40"/>
          <p:cNvGrpSpPr/>
          <p:nvPr/>
        </p:nvGrpSpPr>
        <p:grpSpPr>
          <a:xfrm>
            <a:off x="1589660" y="4583174"/>
            <a:ext cx="1446800" cy="490210"/>
            <a:chOff x="1589660" y="4513063"/>
            <a:chExt cx="1446800" cy="490210"/>
          </a:xfrm>
        </p:grpSpPr>
        <p:sp>
          <p:nvSpPr>
            <p:cNvPr id="1392" name="Google Shape;1392;p40"/>
            <p:cNvSpPr/>
            <p:nvPr/>
          </p:nvSpPr>
          <p:spPr>
            <a:xfrm>
              <a:off x="1690138" y="4774673"/>
              <a:ext cx="1346322" cy="22860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93" name="Google Shape;1393;p40"/>
            <p:cNvSpPr txBox="1"/>
            <p:nvPr/>
          </p:nvSpPr>
          <p:spPr>
            <a:xfrm>
              <a:off x="1589660" y="4513063"/>
              <a:ext cx="114244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희망 기업 유형</a:t>
              </a:r>
              <a:endParaRPr sz="1100">
                <a:solidFill>
                  <a:schemeClr val="dk1"/>
                </a:solidFill>
                <a:latin typeface="Noto Sans KR"/>
                <a:ea typeface="Noto Sans KR"/>
                <a:cs typeface="Noto Sans KR"/>
                <a:sym typeface="Noto Sans KR"/>
              </a:endParaRPr>
            </a:p>
          </p:txBody>
        </p:sp>
      </p:grpSp>
      <p:grpSp>
        <p:nvGrpSpPr>
          <p:cNvPr id="1394" name="Google Shape;1394;p40"/>
          <p:cNvGrpSpPr/>
          <p:nvPr/>
        </p:nvGrpSpPr>
        <p:grpSpPr>
          <a:xfrm>
            <a:off x="1589660" y="5122405"/>
            <a:ext cx="1446800" cy="490210"/>
            <a:chOff x="1589660" y="4513063"/>
            <a:chExt cx="1446800" cy="490210"/>
          </a:xfrm>
        </p:grpSpPr>
        <p:sp>
          <p:nvSpPr>
            <p:cNvPr id="1395" name="Google Shape;1395;p40"/>
            <p:cNvSpPr/>
            <p:nvPr/>
          </p:nvSpPr>
          <p:spPr>
            <a:xfrm>
              <a:off x="1690138" y="4774673"/>
              <a:ext cx="1346322" cy="22860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96" name="Google Shape;1396;p40"/>
            <p:cNvSpPr txBox="1"/>
            <p:nvPr/>
          </p:nvSpPr>
          <p:spPr>
            <a:xfrm>
              <a:off x="1589660" y="4513063"/>
              <a:ext cx="114244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희망 직무</a:t>
              </a:r>
              <a:endParaRPr sz="1100">
                <a:solidFill>
                  <a:schemeClr val="dk1"/>
                </a:solidFill>
                <a:latin typeface="Noto Sans KR"/>
                <a:ea typeface="Noto Sans KR"/>
                <a:cs typeface="Noto Sans KR"/>
                <a:sym typeface="Noto Sans KR"/>
              </a:endParaRPr>
            </a:p>
          </p:txBody>
        </p:sp>
      </p:grpSp>
      <p:grpSp>
        <p:nvGrpSpPr>
          <p:cNvPr id="1397" name="Google Shape;1397;p40"/>
          <p:cNvGrpSpPr/>
          <p:nvPr/>
        </p:nvGrpSpPr>
        <p:grpSpPr>
          <a:xfrm>
            <a:off x="3299580" y="2715214"/>
            <a:ext cx="3754769" cy="506372"/>
            <a:chOff x="3326108" y="2751178"/>
            <a:chExt cx="3754769" cy="506372"/>
          </a:xfrm>
        </p:grpSpPr>
        <p:sp>
          <p:nvSpPr>
            <p:cNvPr id="1398" name="Google Shape;1398;p40"/>
            <p:cNvSpPr/>
            <p:nvPr/>
          </p:nvSpPr>
          <p:spPr>
            <a:xfrm>
              <a:off x="3409950" y="2981325"/>
              <a:ext cx="3670927" cy="27622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99" name="Google Shape;1399;p40"/>
            <p:cNvSpPr txBox="1"/>
            <p:nvPr/>
          </p:nvSpPr>
          <p:spPr>
            <a:xfrm>
              <a:off x="3326108" y="2751178"/>
              <a:ext cx="9810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이름</a:t>
              </a:r>
              <a:endParaRPr sz="1200">
                <a:solidFill>
                  <a:schemeClr val="dk1"/>
                </a:solidFill>
                <a:latin typeface="Noto Sans KR"/>
                <a:ea typeface="Noto Sans KR"/>
                <a:cs typeface="Noto Sans KR"/>
                <a:sym typeface="Noto Sans KR"/>
              </a:endParaRPr>
            </a:p>
          </p:txBody>
        </p:sp>
      </p:grpSp>
      <p:grpSp>
        <p:nvGrpSpPr>
          <p:cNvPr id="1400" name="Google Shape;1400;p40"/>
          <p:cNvGrpSpPr/>
          <p:nvPr/>
        </p:nvGrpSpPr>
        <p:grpSpPr>
          <a:xfrm>
            <a:off x="3307222" y="3202039"/>
            <a:ext cx="3754769" cy="506372"/>
            <a:chOff x="3326108" y="2751178"/>
            <a:chExt cx="3754769" cy="506372"/>
          </a:xfrm>
        </p:grpSpPr>
        <p:sp>
          <p:nvSpPr>
            <p:cNvPr id="1401" name="Google Shape;1401;p40"/>
            <p:cNvSpPr/>
            <p:nvPr/>
          </p:nvSpPr>
          <p:spPr>
            <a:xfrm>
              <a:off x="3409950" y="2981325"/>
              <a:ext cx="3670927" cy="27622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02" name="Google Shape;1402;p40"/>
            <p:cNvSpPr txBox="1"/>
            <p:nvPr/>
          </p:nvSpPr>
          <p:spPr>
            <a:xfrm>
              <a:off x="3326108" y="2751178"/>
              <a:ext cx="9810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생년월일</a:t>
              </a:r>
              <a:endParaRPr sz="1200">
                <a:solidFill>
                  <a:schemeClr val="dk1"/>
                </a:solidFill>
                <a:latin typeface="Noto Sans KR"/>
                <a:ea typeface="Noto Sans KR"/>
                <a:cs typeface="Noto Sans KR"/>
                <a:sym typeface="Noto Sans KR"/>
              </a:endParaRPr>
            </a:p>
          </p:txBody>
        </p:sp>
      </p:grpSp>
      <p:grpSp>
        <p:nvGrpSpPr>
          <p:cNvPr id="1403" name="Google Shape;1403;p40"/>
          <p:cNvGrpSpPr/>
          <p:nvPr/>
        </p:nvGrpSpPr>
        <p:grpSpPr>
          <a:xfrm>
            <a:off x="3307222" y="3706071"/>
            <a:ext cx="3754769" cy="506372"/>
            <a:chOff x="3326108" y="2751178"/>
            <a:chExt cx="3754769" cy="506372"/>
          </a:xfrm>
        </p:grpSpPr>
        <p:sp>
          <p:nvSpPr>
            <p:cNvPr id="1404" name="Google Shape;1404;p40"/>
            <p:cNvSpPr/>
            <p:nvPr/>
          </p:nvSpPr>
          <p:spPr>
            <a:xfrm>
              <a:off x="3409950" y="2981325"/>
              <a:ext cx="3670927" cy="27622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05" name="Google Shape;1405;p40"/>
            <p:cNvSpPr txBox="1"/>
            <p:nvPr/>
          </p:nvSpPr>
          <p:spPr>
            <a:xfrm>
              <a:off x="3326108" y="2751178"/>
              <a:ext cx="9810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이메일</a:t>
              </a:r>
              <a:endParaRPr sz="1200">
                <a:solidFill>
                  <a:schemeClr val="dk1"/>
                </a:solidFill>
                <a:latin typeface="Noto Sans KR"/>
                <a:ea typeface="Noto Sans KR"/>
                <a:cs typeface="Noto Sans KR"/>
                <a:sym typeface="Noto Sans KR"/>
              </a:endParaRPr>
            </a:p>
          </p:txBody>
        </p:sp>
      </p:grpSp>
      <p:grpSp>
        <p:nvGrpSpPr>
          <p:cNvPr id="1406" name="Google Shape;1406;p40"/>
          <p:cNvGrpSpPr/>
          <p:nvPr/>
        </p:nvGrpSpPr>
        <p:grpSpPr>
          <a:xfrm>
            <a:off x="3296714" y="4210285"/>
            <a:ext cx="3754769" cy="506372"/>
            <a:chOff x="3326108" y="2751178"/>
            <a:chExt cx="3754769" cy="506372"/>
          </a:xfrm>
        </p:grpSpPr>
        <p:sp>
          <p:nvSpPr>
            <p:cNvPr id="1407" name="Google Shape;1407;p40"/>
            <p:cNvSpPr/>
            <p:nvPr/>
          </p:nvSpPr>
          <p:spPr>
            <a:xfrm>
              <a:off x="3409950" y="2981325"/>
              <a:ext cx="3670927" cy="27622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08" name="Google Shape;1408;p40"/>
            <p:cNvSpPr txBox="1"/>
            <p:nvPr/>
          </p:nvSpPr>
          <p:spPr>
            <a:xfrm>
              <a:off x="3326108" y="2751178"/>
              <a:ext cx="9810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연락처</a:t>
              </a:r>
              <a:endParaRPr sz="1200">
                <a:solidFill>
                  <a:schemeClr val="dk1"/>
                </a:solidFill>
                <a:latin typeface="Noto Sans KR"/>
                <a:ea typeface="Noto Sans KR"/>
                <a:cs typeface="Noto Sans KR"/>
                <a:sym typeface="Noto Sans KR"/>
              </a:endParaRPr>
            </a:p>
          </p:txBody>
        </p:sp>
      </p:grpSp>
      <p:grpSp>
        <p:nvGrpSpPr>
          <p:cNvPr id="1409" name="Google Shape;1409;p40"/>
          <p:cNvGrpSpPr/>
          <p:nvPr/>
        </p:nvGrpSpPr>
        <p:grpSpPr>
          <a:xfrm>
            <a:off x="3307222" y="4720954"/>
            <a:ext cx="3754769" cy="831348"/>
            <a:chOff x="3326108" y="2751178"/>
            <a:chExt cx="3754769" cy="831348"/>
          </a:xfrm>
        </p:grpSpPr>
        <p:sp>
          <p:nvSpPr>
            <p:cNvPr id="1410" name="Google Shape;1410;p40"/>
            <p:cNvSpPr/>
            <p:nvPr/>
          </p:nvSpPr>
          <p:spPr>
            <a:xfrm>
              <a:off x="3409950" y="2981325"/>
              <a:ext cx="3670927" cy="601201"/>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11" name="Google Shape;1411;p40"/>
            <p:cNvSpPr txBox="1"/>
            <p:nvPr/>
          </p:nvSpPr>
          <p:spPr>
            <a:xfrm>
              <a:off x="3326108" y="2751178"/>
              <a:ext cx="9810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자기소개</a:t>
              </a:r>
              <a:endParaRPr sz="1200">
                <a:solidFill>
                  <a:schemeClr val="dk1"/>
                </a:solidFill>
                <a:latin typeface="Noto Sans KR"/>
                <a:ea typeface="Noto Sans KR"/>
                <a:cs typeface="Noto Sans KR"/>
                <a:sym typeface="Noto Sans KR"/>
              </a:endParaRPr>
            </a:p>
          </p:txBody>
        </p:sp>
      </p:grpSp>
      <p:sp>
        <p:nvSpPr>
          <p:cNvPr id="1412" name="Google Shape;1412;p40"/>
          <p:cNvSpPr/>
          <p:nvPr/>
        </p:nvSpPr>
        <p:spPr>
          <a:xfrm>
            <a:off x="5898657" y="5850982"/>
            <a:ext cx="724147" cy="242794"/>
          </a:xfrm>
          <a:prstGeom prst="roundRect">
            <a:avLst>
              <a:gd fmla="val 16667" name="adj"/>
            </a:avLst>
          </a:prstGeom>
          <a:solidFill>
            <a:srgbClr val="FF256E"/>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lt1"/>
                </a:solidFill>
                <a:latin typeface="Noto Sans KR"/>
                <a:ea typeface="Noto Sans KR"/>
                <a:cs typeface="Noto Sans KR"/>
                <a:sym typeface="Noto Sans KR"/>
              </a:rPr>
              <a:t>저 장</a:t>
            </a:r>
            <a:endParaRPr b="1" sz="1200">
              <a:solidFill>
                <a:schemeClr val="lt1"/>
              </a:solidFill>
              <a:latin typeface="Noto Sans KR"/>
              <a:ea typeface="Noto Sans KR"/>
              <a:cs typeface="Noto Sans KR"/>
              <a:sym typeface="Noto Sans KR"/>
            </a:endParaRPr>
          </a:p>
        </p:txBody>
      </p:sp>
      <p:sp>
        <p:nvSpPr>
          <p:cNvPr id="1413" name="Google Shape;1413;p40"/>
          <p:cNvSpPr/>
          <p:nvPr/>
        </p:nvSpPr>
        <p:spPr>
          <a:xfrm>
            <a:off x="1365672" y="175902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414" name="Google Shape;1414;p40"/>
          <p:cNvSpPr/>
          <p:nvPr/>
        </p:nvSpPr>
        <p:spPr>
          <a:xfrm>
            <a:off x="1466559" y="225409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415" name="Google Shape;1415;p40"/>
          <p:cNvSpPr/>
          <p:nvPr/>
        </p:nvSpPr>
        <p:spPr>
          <a:xfrm>
            <a:off x="1831391" y="283530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416" name="Google Shape;1416;p40"/>
          <p:cNvSpPr/>
          <p:nvPr/>
        </p:nvSpPr>
        <p:spPr>
          <a:xfrm>
            <a:off x="1619650" y="365249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417" name="Google Shape;1417;p40"/>
          <p:cNvSpPr/>
          <p:nvPr/>
        </p:nvSpPr>
        <p:spPr>
          <a:xfrm>
            <a:off x="1383522" y="414666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418" name="Google Shape;1418;p40"/>
          <p:cNvSpPr/>
          <p:nvPr/>
        </p:nvSpPr>
        <p:spPr>
          <a:xfrm>
            <a:off x="1422449" y="458526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419" name="Google Shape;1419;p40"/>
          <p:cNvSpPr/>
          <p:nvPr/>
        </p:nvSpPr>
        <p:spPr>
          <a:xfrm>
            <a:off x="1393611" y="517237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420" name="Google Shape;1420;p40"/>
          <p:cNvSpPr/>
          <p:nvPr/>
        </p:nvSpPr>
        <p:spPr>
          <a:xfrm>
            <a:off x="3125232" y="269310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421" name="Google Shape;1421;p40"/>
          <p:cNvSpPr/>
          <p:nvPr/>
        </p:nvSpPr>
        <p:spPr>
          <a:xfrm>
            <a:off x="3125068" y="321805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1422" name="Google Shape;1422;p40"/>
          <p:cNvSpPr/>
          <p:nvPr/>
        </p:nvSpPr>
        <p:spPr>
          <a:xfrm>
            <a:off x="3124761" y="369482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11</a:t>
            </a:r>
            <a:endParaRPr sz="1000">
              <a:solidFill>
                <a:schemeClr val="lt1"/>
              </a:solidFill>
              <a:latin typeface="Noto Sans KR"/>
              <a:ea typeface="Noto Sans KR"/>
              <a:cs typeface="Noto Sans KR"/>
              <a:sym typeface="Noto Sans KR"/>
            </a:endParaRPr>
          </a:p>
        </p:txBody>
      </p:sp>
      <p:sp>
        <p:nvSpPr>
          <p:cNvPr id="1423" name="Google Shape;1423;p40"/>
          <p:cNvSpPr/>
          <p:nvPr/>
        </p:nvSpPr>
        <p:spPr>
          <a:xfrm>
            <a:off x="3107122" y="421889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12</a:t>
            </a:r>
            <a:endParaRPr sz="1000">
              <a:solidFill>
                <a:schemeClr val="lt1"/>
              </a:solidFill>
              <a:latin typeface="Noto Sans KR"/>
              <a:ea typeface="Noto Sans KR"/>
              <a:cs typeface="Noto Sans KR"/>
              <a:sym typeface="Noto Sans KR"/>
            </a:endParaRPr>
          </a:p>
        </p:txBody>
      </p:sp>
      <p:sp>
        <p:nvSpPr>
          <p:cNvPr id="1424" name="Google Shape;1424;p40"/>
          <p:cNvSpPr/>
          <p:nvPr/>
        </p:nvSpPr>
        <p:spPr>
          <a:xfrm>
            <a:off x="3114752" y="471396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13</a:t>
            </a:r>
            <a:endParaRPr/>
          </a:p>
        </p:txBody>
      </p:sp>
      <p:sp>
        <p:nvSpPr>
          <p:cNvPr id="1425" name="Google Shape;1425;p40"/>
          <p:cNvSpPr/>
          <p:nvPr/>
        </p:nvSpPr>
        <p:spPr>
          <a:xfrm>
            <a:off x="5804554" y="565303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14</a:t>
            </a:r>
            <a:endParaRPr sz="1000">
              <a:solidFill>
                <a:schemeClr val="lt1"/>
              </a:solidFill>
              <a:latin typeface="Noto Sans KR"/>
              <a:ea typeface="Noto Sans KR"/>
              <a:cs typeface="Noto Sans KR"/>
              <a:sym typeface="Noto Sans KR"/>
            </a:endParaRPr>
          </a:p>
        </p:txBody>
      </p:sp>
      <p:sp>
        <p:nvSpPr>
          <p:cNvPr id="1426" name="Google Shape;1426;p40"/>
          <p:cNvSpPr txBox="1"/>
          <p:nvPr/>
        </p:nvSpPr>
        <p:spPr>
          <a:xfrm>
            <a:off x="6842397" y="2219347"/>
            <a:ext cx="4391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BFBFBF"/>
                </a:solidFill>
                <a:latin typeface="Malgun Gothic"/>
                <a:ea typeface="Malgun Gothic"/>
                <a:cs typeface="Malgun Gothic"/>
                <a:sym typeface="Malgun Gothic"/>
              </a:rPr>
              <a:t>X</a:t>
            </a:r>
            <a:endParaRPr sz="1800">
              <a:solidFill>
                <a:srgbClr val="BFBFBF"/>
              </a:solidFill>
              <a:latin typeface="Malgun Gothic"/>
              <a:ea typeface="Malgun Gothic"/>
              <a:cs typeface="Malgun Gothic"/>
              <a:sym typeface="Malgun Gothic"/>
            </a:endParaRPr>
          </a:p>
        </p:txBody>
      </p:sp>
      <p:sp>
        <p:nvSpPr>
          <p:cNvPr id="1427" name="Google Shape;1427;p40"/>
          <p:cNvSpPr/>
          <p:nvPr/>
        </p:nvSpPr>
        <p:spPr>
          <a:xfrm>
            <a:off x="6697364" y="209941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15</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41"/>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계정 설정</a:t>
            </a:r>
            <a:endParaRPr sz="2400"/>
          </a:p>
        </p:txBody>
      </p:sp>
      <p:sp>
        <p:nvSpPr>
          <p:cNvPr id="1434" name="Google Shape;1434;p41"/>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435" name="Google Shape;1435;p41"/>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436" name="Google Shape;1436;p41"/>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437" name="Google Shape;1437;p4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438" name="Google Shape;1438;p41"/>
          <p:cNvGraphicFramePr/>
          <p:nvPr/>
        </p:nvGraphicFramePr>
        <p:xfrm>
          <a:off x="8561828" y="1054745"/>
          <a:ext cx="3000000" cy="3000000"/>
        </p:xfrm>
        <a:graphic>
          <a:graphicData uri="http://schemas.openxmlformats.org/drawingml/2006/table">
            <a:tbl>
              <a:tblPr bandRow="1" firstRow="1">
                <a:noFill/>
                <a:tableStyleId>{C61F204E-A15B-47D6-BEBB-6A886D3283EB}</a:tableStyleId>
              </a:tblPr>
              <a:tblGrid>
                <a:gridCol w="563125"/>
                <a:gridCol w="2713100"/>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계정 설정 헤더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안내 문구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현재 화면이 계정 설정 화면임을 안내</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비밀번호 변경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현재 비밀번호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기존 비밀번호 입력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새 비밀번호 입력 필드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변경할 새로운 비밀번호 입력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비밀번호 확인 입력 필드</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0" lang="ko-KR" sz="1000" u="none" cap="none" strike="noStrike">
                          <a:solidFill>
                            <a:schemeClr val="dk1"/>
                          </a:solidFill>
                          <a:latin typeface="Noto Sans KR"/>
                          <a:ea typeface="Noto Sans KR"/>
                          <a:cs typeface="Noto Sans KR"/>
                          <a:sym typeface="Noto Sans KR"/>
                        </a:rPr>
                        <a:t>- 새 비밀번호 재입력 확인 입력 값 일치 여부 검증</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96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알림 설정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사용자 서비스 알림 수신 여부 설정 체크박스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이메일 알림, SMS 알림, 서비스 알림 사용자 맞춤 알림 환경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계정 관리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계정 휴면 설정 및 회원 탈퇴 기능 체크 박스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서비스 이용 정보 및 약관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서비스 이용 약관 조회,</a:t>
                      </a:r>
                      <a:r>
                        <a:rPr lang="ko-KR" sz="1000" u="none" cap="none" strike="noStrike"/>
                        <a:t> 개인정보 처리 방침 영역 클릭 시 내용 안내</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취소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변경된 설정 내용 취소 및 이전 화면 SCR-00-1 메인으로 다시 이동하는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저장 버튼</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변경된 계정 설정 정보 저장하는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439" name="Google Shape;1439;p41"/>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SCR-24</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계정 설정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440" name="Google Shape;1440;p4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41" name="Google Shape;1441;p4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42" name="Google Shape;1442;p41"/>
          <p:cNvSpPr txBox="1"/>
          <p:nvPr/>
        </p:nvSpPr>
        <p:spPr>
          <a:xfrm>
            <a:off x="1926407" y="1264431"/>
            <a:ext cx="19110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계정 설정</a:t>
            </a:r>
            <a:endParaRPr b="1" sz="1800">
              <a:solidFill>
                <a:schemeClr val="dk1"/>
              </a:solidFill>
              <a:latin typeface="Noto Sans KR"/>
              <a:ea typeface="Noto Sans KR"/>
              <a:cs typeface="Noto Sans KR"/>
              <a:sym typeface="Noto Sans KR"/>
            </a:endParaRPr>
          </a:p>
        </p:txBody>
      </p:sp>
      <p:sp>
        <p:nvSpPr>
          <p:cNvPr id="1443" name="Google Shape;1443;p41"/>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44" name="Google Shape;1444;p41"/>
          <p:cNvSpPr/>
          <p:nvPr/>
        </p:nvSpPr>
        <p:spPr>
          <a:xfrm>
            <a:off x="1413589" y="1174156"/>
            <a:ext cx="5975927" cy="5301358"/>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45" name="Google Shape;1445;p41"/>
          <p:cNvSpPr/>
          <p:nvPr/>
        </p:nvSpPr>
        <p:spPr>
          <a:xfrm>
            <a:off x="1413588" y="1702970"/>
            <a:ext cx="5975927" cy="36000"/>
          </a:xfrm>
          <a:prstGeom prst="rect">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46" name="Google Shape;1446;p41"/>
          <p:cNvSpPr/>
          <p:nvPr/>
        </p:nvSpPr>
        <p:spPr>
          <a:xfrm>
            <a:off x="1576094" y="1326676"/>
            <a:ext cx="327369" cy="251446"/>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47" name="Google Shape;1447;p41"/>
          <p:cNvSpPr/>
          <p:nvPr/>
        </p:nvSpPr>
        <p:spPr>
          <a:xfrm>
            <a:off x="1369840" y="12349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448" name="Google Shape;1448;p41"/>
          <p:cNvSpPr txBox="1"/>
          <p:nvPr/>
        </p:nvSpPr>
        <p:spPr>
          <a:xfrm>
            <a:off x="1495672" y="1858102"/>
            <a:ext cx="459105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계정 보안 및 환경 설정을 관리할 수 있습니다.</a:t>
            </a:r>
            <a:endParaRPr sz="1000">
              <a:solidFill>
                <a:schemeClr val="dk1"/>
              </a:solidFill>
              <a:latin typeface="Noto Sans KR"/>
              <a:ea typeface="Noto Sans KR"/>
              <a:cs typeface="Noto Sans KR"/>
              <a:sym typeface="Noto Sans KR"/>
            </a:endParaRPr>
          </a:p>
        </p:txBody>
      </p:sp>
      <p:sp>
        <p:nvSpPr>
          <p:cNvPr id="1449" name="Google Shape;1449;p41"/>
          <p:cNvSpPr/>
          <p:nvPr/>
        </p:nvSpPr>
        <p:spPr>
          <a:xfrm>
            <a:off x="1365672" y="175902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pic>
        <p:nvPicPr>
          <p:cNvPr id="1450" name="Google Shape;1450;p41"/>
          <p:cNvPicPr preferRelativeResize="0"/>
          <p:nvPr/>
        </p:nvPicPr>
        <p:blipFill rotWithShape="1">
          <a:blip r:embed="rId3">
            <a:alphaModFix/>
          </a:blip>
          <a:srcRect b="0" l="0" r="0" t="0"/>
          <a:stretch/>
        </p:blipFill>
        <p:spPr>
          <a:xfrm>
            <a:off x="1643522" y="1341191"/>
            <a:ext cx="217777" cy="217777"/>
          </a:xfrm>
          <a:prstGeom prst="rect">
            <a:avLst/>
          </a:prstGeom>
          <a:noFill/>
          <a:ln>
            <a:noFill/>
          </a:ln>
        </p:spPr>
      </p:pic>
      <p:grpSp>
        <p:nvGrpSpPr>
          <p:cNvPr id="1451" name="Google Shape;1451;p41"/>
          <p:cNvGrpSpPr/>
          <p:nvPr/>
        </p:nvGrpSpPr>
        <p:grpSpPr>
          <a:xfrm>
            <a:off x="1561651" y="2143519"/>
            <a:ext cx="5679800" cy="1630813"/>
            <a:chOff x="1561651" y="2143519"/>
            <a:chExt cx="5679800" cy="1630813"/>
          </a:xfrm>
        </p:grpSpPr>
        <p:sp>
          <p:nvSpPr>
            <p:cNvPr id="1452" name="Google Shape;1452;p41"/>
            <p:cNvSpPr/>
            <p:nvPr/>
          </p:nvSpPr>
          <p:spPr>
            <a:xfrm>
              <a:off x="1561651" y="2143519"/>
              <a:ext cx="5679800" cy="1630813"/>
            </a:xfrm>
            <a:prstGeom prst="roundRect">
              <a:avLst>
                <a:gd fmla="val 6806"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453" name="Google Shape;1453;p41"/>
            <p:cNvGrpSpPr/>
            <p:nvPr/>
          </p:nvGrpSpPr>
          <p:grpSpPr>
            <a:xfrm>
              <a:off x="1576094" y="2195204"/>
              <a:ext cx="5641829" cy="1496245"/>
              <a:chOff x="1576094" y="2195204"/>
              <a:chExt cx="5641829" cy="1496245"/>
            </a:xfrm>
          </p:grpSpPr>
          <p:cxnSp>
            <p:nvCxnSpPr>
              <p:cNvPr id="1454" name="Google Shape;1454;p41"/>
              <p:cNvCxnSpPr/>
              <p:nvPr/>
            </p:nvCxnSpPr>
            <p:spPr>
              <a:xfrm>
                <a:off x="1576094" y="2485870"/>
                <a:ext cx="5641829" cy="0"/>
              </a:xfrm>
              <a:prstGeom prst="straightConnector1">
                <a:avLst/>
              </a:prstGeom>
              <a:noFill/>
              <a:ln cap="flat" cmpd="sng" w="9525">
                <a:solidFill>
                  <a:srgbClr val="BFBFBF"/>
                </a:solidFill>
                <a:prstDash val="solid"/>
                <a:miter lim="8000"/>
                <a:headEnd len="sm" w="sm" type="none"/>
                <a:tailEnd len="sm" w="sm" type="none"/>
              </a:ln>
            </p:spPr>
          </p:cxnSp>
          <p:sp>
            <p:nvSpPr>
              <p:cNvPr id="1455" name="Google Shape;1455;p41"/>
              <p:cNvSpPr txBox="1"/>
              <p:nvPr/>
            </p:nvSpPr>
            <p:spPr>
              <a:xfrm>
                <a:off x="1861299" y="2195204"/>
                <a:ext cx="249354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비밀번호 변경</a:t>
                </a:r>
                <a:endParaRPr b="1" sz="1200">
                  <a:solidFill>
                    <a:schemeClr val="dk1"/>
                  </a:solidFill>
                  <a:latin typeface="Noto Sans KR"/>
                  <a:ea typeface="Noto Sans KR"/>
                  <a:cs typeface="Noto Sans KR"/>
                  <a:sym typeface="Noto Sans KR"/>
                </a:endParaRPr>
              </a:p>
            </p:txBody>
          </p:sp>
          <p:pic>
            <p:nvPicPr>
              <p:cNvPr id="1456" name="Google Shape;1456;p41"/>
              <p:cNvPicPr preferRelativeResize="0"/>
              <p:nvPr/>
            </p:nvPicPr>
            <p:blipFill rotWithShape="1">
              <a:blip r:embed="rId4">
                <a:alphaModFix/>
              </a:blip>
              <a:srcRect b="0" l="0" r="0" t="0"/>
              <a:stretch/>
            </p:blipFill>
            <p:spPr>
              <a:xfrm>
                <a:off x="1687427" y="2203396"/>
                <a:ext cx="228600" cy="228600"/>
              </a:xfrm>
              <a:prstGeom prst="rect">
                <a:avLst/>
              </a:prstGeom>
              <a:noFill/>
              <a:ln>
                <a:noFill/>
              </a:ln>
            </p:spPr>
          </p:pic>
          <p:grpSp>
            <p:nvGrpSpPr>
              <p:cNvPr id="1457" name="Google Shape;1457;p41"/>
              <p:cNvGrpSpPr/>
              <p:nvPr/>
            </p:nvGrpSpPr>
            <p:grpSpPr>
              <a:xfrm>
                <a:off x="1861299" y="2561700"/>
                <a:ext cx="5067818" cy="321013"/>
                <a:chOff x="1861299" y="2561700"/>
                <a:chExt cx="5067818" cy="321013"/>
              </a:xfrm>
            </p:grpSpPr>
            <p:sp>
              <p:nvSpPr>
                <p:cNvPr id="1458" name="Google Shape;1458;p41"/>
                <p:cNvSpPr/>
                <p:nvPr/>
              </p:nvSpPr>
              <p:spPr>
                <a:xfrm>
                  <a:off x="2950504" y="2561700"/>
                  <a:ext cx="3978613" cy="32101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59" name="Google Shape;1459;p41"/>
                <p:cNvSpPr txBox="1"/>
                <p:nvPr/>
              </p:nvSpPr>
              <p:spPr>
                <a:xfrm>
                  <a:off x="1861299" y="2576752"/>
                  <a:ext cx="13556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현재 비밀번호</a:t>
                  </a:r>
                  <a:endParaRPr sz="1100">
                    <a:solidFill>
                      <a:schemeClr val="dk1"/>
                    </a:solidFill>
                    <a:latin typeface="Noto Sans KR"/>
                    <a:ea typeface="Noto Sans KR"/>
                    <a:cs typeface="Noto Sans KR"/>
                    <a:sym typeface="Noto Sans KR"/>
                  </a:endParaRPr>
                </a:p>
              </p:txBody>
            </p:sp>
          </p:grpSp>
          <p:grpSp>
            <p:nvGrpSpPr>
              <p:cNvPr id="1460" name="Google Shape;1460;p41"/>
              <p:cNvGrpSpPr/>
              <p:nvPr/>
            </p:nvGrpSpPr>
            <p:grpSpPr>
              <a:xfrm>
                <a:off x="1863099" y="2958542"/>
                <a:ext cx="5067818" cy="321013"/>
                <a:chOff x="1861299" y="2561700"/>
                <a:chExt cx="5067818" cy="321013"/>
              </a:xfrm>
            </p:grpSpPr>
            <p:sp>
              <p:nvSpPr>
                <p:cNvPr id="1461" name="Google Shape;1461;p41"/>
                <p:cNvSpPr/>
                <p:nvPr/>
              </p:nvSpPr>
              <p:spPr>
                <a:xfrm>
                  <a:off x="2950504" y="2561700"/>
                  <a:ext cx="3978613" cy="32101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62" name="Google Shape;1462;p41"/>
                <p:cNvSpPr txBox="1"/>
                <p:nvPr/>
              </p:nvSpPr>
              <p:spPr>
                <a:xfrm>
                  <a:off x="1861299" y="2576752"/>
                  <a:ext cx="13556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새 비밀번호</a:t>
                  </a:r>
                  <a:endParaRPr sz="1100">
                    <a:solidFill>
                      <a:schemeClr val="dk1"/>
                    </a:solidFill>
                    <a:latin typeface="Noto Sans KR"/>
                    <a:ea typeface="Noto Sans KR"/>
                    <a:cs typeface="Noto Sans KR"/>
                    <a:sym typeface="Noto Sans KR"/>
                  </a:endParaRPr>
                </a:p>
              </p:txBody>
            </p:sp>
          </p:grpSp>
          <p:grpSp>
            <p:nvGrpSpPr>
              <p:cNvPr id="1463" name="Google Shape;1463;p41"/>
              <p:cNvGrpSpPr/>
              <p:nvPr/>
            </p:nvGrpSpPr>
            <p:grpSpPr>
              <a:xfrm>
                <a:off x="1863099" y="3370436"/>
                <a:ext cx="5067818" cy="321013"/>
                <a:chOff x="1861299" y="2561700"/>
                <a:chExt cx="5067818" cy="321013"/>
              </a:xfrm>
            </p:grpSpPr>
            <p:sp>
              <p:nvSpPr>
                <p:cNvPr id="1464" name="Google Shape;1464;p41"/>
                <p:cNvSpPr/>
                <p:nvPr/>
              </p:nvSpPr>
              <p:spPr>
                <a:xfrm>
                  <a:off x="2950504" y="2561700"/>
                  <a:ext cx="3978613" cy="32101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65" name="Google Shape;1465;p41"/>
                <p:cNvSpPr txBox="1"/>
                <p:nvPr/>
              </p:nvSpPr>
              <p:spPr>
                <a:xfrm>
                  <a:off x="1861299" y="2576752"/>
                  <a:ext cx="13556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비밀번호 확인</a:t>
                  </a:r>
                  <a:endParaRPr sz="1100">
                    <a:solidFill>
                      <a:schemeClr val="dk1"/>
                    </a:solidFill>
                    <a:latin typeface="Noto Sans KR"/>
                    <a:ea typeface="Noto Sans KR"/>
                    <a:cs typeface="Noto Sans KR"/>
                    <a:sym typeface="Noto Sans KR"/>
                  </a:endParaRPr>
                </a:p>
              </p:txBody>
            </p:sp>
          </p:grpSp>
        </p:grpSp>
      </p:grpSp>
      <p:grpSp>
        <p:nvGrpSpPr>
          <p:cNvPr id="1466" name="Google Shape;1466;p41"/>
          <p:cNvGrpSpPr/>
          <p:nvPr/>
        </p:nvGrpSpPr>
        <p:grpSpPr>
          <a:xfrm>
            <a:off x="1776056" y="3880265"/>
            <a:ext cx="2459945" cy="1119752"/>
            <a:chOff x="1584129" y="3880265"/>
            <a:chExt cx="2459945" cy="1119752"/>
          </a:xfrm>
        </p:grpSpPr>
        <p:sp>
          <p:nvSpPr>
            <p:cNvPr id="1467" name="Google Shape;1467;p41"/>
            <p:cNvSpPr/>
            <p:nvPr/>
          </p:nvSpPr>
          <p:spPr>
            <a:xfrm>
              <a:off x="1584129" y="3880265"/>
              <a:ext cx="2459945" cy="111975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Noto Sans KR"/>
                <a:ea typeface="Noto Sans KR"/>
                <a:cs typeface="Noto Sans KR"/>
                <a:sym typeface="Noto Sans KR"/>
              </a:endParaRPr>
            </a:p>
          </p:txBody>
        </p:sp>
        <p:cxnSp>
          <p:nvCxnSpPr>
            <p:cNvPr id="1468" name="Google Shape;1468;p41"/>
            <p:cNvCxnSpPr/>
            <p:nvPr/>
          </p:nvCxnSpPr>
          <p:spPr>
            <a:xfrm>
              <a:off x="1584129" y="4202349"/>
              <a:ext cx="2459945" cy="0"/>
            </a:xfrm>
            <a:prstGeom prst="straightConnector1">
              <a:avLst/>
            </a:prstGeom>
            <a:noFill/>
            <a:ln cap="flat" cmpd="sng" w="9525">
              <a:solidFill>
                <a:srgbClr val="BFBFBF"/>
              </a:solidFill>
              <a:prstDash val="solid"/>
              <a:miter lim="8000"/>
              <a:headEnd len="sm" w="sm" type="none"/>
              <a:tailEnd len="sm" w="sm" type="none"/>
            </a:ln>
          </p:spPr>
        </p:cxnSp>
        <p:pic>
          <p:nvPicPr>
            <p:cNvPr id="1469" name="Google Shape;1469;p41"/>
            <p:cNvPicPr preferRelativeResize="0"/>
            <p:nvPr/>
          </p:nvPicPr>
          <p:blipFill rotWithShape="1">
            <a:blip r:embed="rId5">
              <a:alphaModFix/>
            </a:blip>
            <a:srcRect b="0" l="0" r="0" t="0"/>
            <a:stretch/>
          </p:blipFill>
          <p:spPr>
            <a:xfrm>
              <a:off x="1728300" y="3950078"/>
              <a:ext cx="187727" cy="187727"/>
            </a:xfrm>
            <a:prstGeom prst="rect">
              <a:avLst/>
            </a:prstGeom>
            <a:noFill/>
            <a:ln>
              <a:noFill/>
            </a:ln>
          </p:spPr>
        </p:pic>
        <p:sp>
          <p:nvSpPr>
            <p:cNvPr id="1470" name="Google Shape;1470;p41"/>
            <p:cNvSpPr txBox="1"/>
            <p:nvPr/>
          </p:nvSpPr>
          <p:spPr>
            <a:xfrm>
              <a:off x="1903463" y="3909395"/>
              <a:ext cx="784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알림 설정</a:t>
              </a:r>
              <a:endParaRPr b="1" sz="1200">
                <a:solidFill>
                  <a:schemeClr val="dk1"/>
                </a:solidFill>
                <a:latin typeface="Noto Sans KR"/>
                <a:ea typeface="Noto Sans KR"/>
                <a:cs typeface="Noto Sans KR"/>
                <a:sym typeface="Noto Sans KR"/>
              </a:endParaRPr>
            </a:p>
          </p:txBody>
        </p:sp>
        <p:grpSp>
          <p:nvGrpSpPr>
            <p:cNvPr id="1471" name="Google Shape;1471;p41"/>
            <p:cNvGrpSpPr/>
            <p:nvPr/>
          </p:nvGrpSpPr>
          <p:grpSpPr>
            <a:xfrm>
              <a:off x="1739778" y="4292327"/>
              <a:ext cx="2044738" cy="230832"/>
              <a:chOff x="1739778" y="4292327"/>
              <a:chExt cx="2044738" cy="230832"/>
            </a:xfrm>
          </p:grpSpPr>
          <p:sp>
            <p:nvSpPr>
              <p:cNvPr id="1472" name="Google Shape;1472;p41"/>
              <p:cNvSpPr/>
              <p:nvPr/>
            </p:nvSpPr>
            <p:spPr>
              <a:xfrm>
                <a:off x="1739778" y="4338536"/>
                <a:ext cx="121521" cy="10160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73" name="Google Shape;1473;p41"/>
              <p:cNvSpPr txBox="1"/>
              <p:nvPr/>
            </p:nvSpPr>
            <p:spPr>
              <a:xfrm>
                <a:off x="1896782" y="4292327"/>
                <a:ext cx="1887734"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이메일 알림 수신</a:t>
                </a:r>
                <a:endParaRPr sz="900">
                  <a:solidFill>
                    <a:schemeClr val="dk1"/>
                  </a:solidFill>
                  <a:latin typeface="Noto Sans KR"/>
                  <a:ea typeface="Noto Sans KR"/>
                  <a:cs typeface="Noto Sans KR"/>
                  <a:sym typeface="Noto Sans KR"/>
                </a:endParaRPr>
              </a:p>
            </p:txBody>
          </p:sp>
        </p:grpSp>
        <p:grpSp>
          <p:nvGrpSpPr>
            <p:cNvPr id="1474" name="Google Shape;1474;p41"/>
            <p:cNvGrpSpPr/>
            <p:nvPr/>
          </p:nvGrpSpPr>
          <p:grpSpPr>
            <a:xfrm>
              <a:off x="1739778" y="4476950"/>
              <a:ext cx="2053004" cy="230832"/>
              <a:chOff x="1739778" y="4292327"/>
              <a:chExt cx="2053004" cy="230832"/>
            </a:xfrm>
          </p:grpSpPr>
          <p:sp>
            <p:nvSpPr>
              <p:cNvPr id="1475" name="Google Shape;1475;p41"/>
              <p:cNvSpPr/>
              <p:nvPr/>
            </p:nvSpPr>
            <p:spPr>
              <a:xfrm>
                <a:off x="1739778" y="4338536"/>
                <a:ext cx="121521" cy="10160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76" name="Google Shape;1476;p41"/>
              <p:cNvSpPr txBox="1"/>
              <p:nvPr/>
            </p:nvSpPr>
            <p:spPr>
              <a:xfrm>
                <a:off x="1905048" y="4292327"/>
                <a:ext cx="1887734"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SMS 알림 수신</a:t>
                </a:r>
                <a:endParaRPr sz="900">
                  <a:solidFill>
                    <a:schemeClr val="dk1"/>
                  </a:solidFill>
                  <a:latin typeface="Noto Sans KR"/>
                  <a:ea typeface="Noto Sans KR"/>
                  <a:cs typeface="Noto Sans KR"/>
                  <a:sym typeface="Noto Sans KR"/>
                </a:endParaRPr>
              </a:p>
            </p:txBody>
          </p:sp>
        </p:grpSp>
        <p:grpSp>
          <p:nvGrpSpPr>
            <p:cNvPr id="1477" name="Google Shape;1477;p41"/>
            <p:cNvGrpSpPr/>
            <p:nvPr/>
          </p:nvGrpSpPr>
          <p:grpSpPr>
            <a:xfrm>
              <a:off x="1745705" y="4659345"/>
              <a:ext cx="2053004" cy="230832"/>
              <a:chOff x="1739778" y="4292327"/>
              <a:chExt cx="2053004" cy="230832"/>
            </a:xfrm>
          </p:grpSpPr>
          <p:sp>
            <p:nvSpPr>
              <p:cNvPr id="1478" name="Google Shape;1478;p41"/>
              <p:cNvSpPr/>
              <p:nvPr/>
            </p:nvSpPr>
            <p:spPr>
              <a:xfrm>
                <a:off x="1739778" y="4338536"/>
                <a:ext cx="121521" cy="10160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79" name="Google Shape;1479;p41"/>
              <p:cNvSpPr txBox="1"/>
              <p:nvPr/>
            </p:nvSpPr>
            <p:spPr>
              <a:xfrm>
                <a:off x="1905048" y="4292327"/>
                <a:ext cx="1887734"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사용 중 알림 수신</a:t>
                </a:r>
                <a:endParaRPr sz="900">
                  <a:solidFill>
                    <a:schemeClr val="dk1"/>
                  </a:solidFill>
                  <a:latin typeface="Noto Sans KR"/>
                  <a:ea typeface="Noto Sans KR"/>
                  <a:cs typeface="Noto Sans KR"/>
                  <a:sym typeface="Noto Sans KR"/>
                </a:endParaRPr>
              </a:p>
            </p:txBody>
          </p:sp>
        </p:grpSp>
      </p:grpSp>
      <p:grpSp>
        <p:nvGrpSpPr>
          <p:cNvPr id="1480" name="Google Shape;1480;p41"/>
          <p:cNvGrpSpPr/>
          <p:nvPr/>
        </p:nvGrpSpPr>
        <p:grpSpPr>
          <a:xfrm>
            <a:off x="4597338" y="3880265"/>
            <a:ext cx="2459945" cy="1119752"/>
            <a:chOff x="1584129" y="3880265"/>
            <a:chExt cx="2459945" cy="1119752"/>
          </a:xfrm>
        </p:grpSpPr>
        <p:sp>
          <p:nvSpPr>
            <p:cNvPr id="1481" name="Google Shape;1481;p41"/>
            <p:cNvSpPr/>
            <p:nvPr/>
          </p:nvSpPr>
          <p:spPr>
            <a:xfrm>
              <a:off x="1584129" y="3880265"/>
              <a:ext cx="2459945" cy="111975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Noto Sans KR"/>
                <a:ea typeface="Noto Sans KR"/>
                <a:cs typeface="Noto Sans KR"/>
                <a:sym typeface="Noto Sans KR"/>
              </a:endParaRPr>
            </a:p>
          </p:txBody>
        </p:sp>
        <p:cxnSp>
          <p:nvCxnSpPr>
            <p:cNvPr id="1482" name="Google Shape;1482;p41"/>
            <p:cNvCxnSpPr/>
            <p:nvPr/>
          </p:nvCxnSpPr>
          <p:spPr>
            <a:xfrm>
              <a:off x="1584129" y="4202349"/>
              <a:ext cx="2459945" cy="0"/>
            </a:xfrm>
            <a:prstGeom prst="straightConnector1">
              <a:avLst/>
            </a:prstGeom>
            <a:noFill/>
            <a:ln cap="flat" cmpd="sng" w="9525">
              <a:solidFill>
                <a:srgbClr val="BFBFBF"/>
              </a:solidFill>
              <a:prstDash val="solid"/>
              <a:miter lim="8000"/>
              <a:headEnd len="sm" w="sm" type="none"/>
              <a:tailEnd len="sm" w="sm" type="none"/>
            </a:ln>
          </p:spPr>
        </p:cxnSp>
        <p:sp>
          <p:nvSpPr>
            <p:cNvPr id="1483" name="Google Shape;1483;p41"/>
            <p:cNvSpPr txBox="1"/>
            <p:nvPr/>
          </p:nvSpPr>
          <p:spPr>
            <a:xfrm>
              <a:off x="1739778" y="3909395"/>
              <a:ext cx="784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계정 관리</a:t>
              </a:r>
              <a:endParaRPr b="1" sz="1200">
                <a:solidFill>
                  <a:schemeClr val="dk1"/>
                </a:solidFill>
                <a:latin typeface="Noto Sans KR"/>
                <a:ea typeface="Noto Sans KR"/>
                <a:cs typeface="Noto Sans KR"/>
                <a:sym typeface="Noto Sans KR"/>
              </a:endParaRPr>
            </a:p>
          </p:txBody>
        </p:sp>
        <p:grpSp>
          <p:nvGrpSpPr>
            <p:cNvPr id="1484" name="Google Shape;1484;p41"/>
            <p:cNvGrpSpPr/>
            <p:nvPr/>
          </p:nvGrpSpPr>
          <p:grpSpPr>
            <a:xfrm>
              <a:off x="1739778" y="4292327"/>
              <a:ext cx="2044738" cy="230832"/>
              <a:chOff x="1739778" y="4292327"/>
              <a:chExt cx="2044738" cy="230832"/>
            </a:xfrm>
          </p:grpSpPr>
          <p:sp>
            <p:nvSpPr>
              <p:cNvPr id="1485" name="Google Shape;1485;p41"/>
              <p:cNvSpPr/>
              <p:nvPr/>
            </p:nvSpPr>
            <p:spPr>
              <a:xfrm>
                <a:off x="1739778" y="4338536"/>
                <a:ext cx="121521" cy="101605"/>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86" name="Google Shape;1486;p41"/>
              <p:cNvSpPr txBox="1"/>
              <p:nvPr/>
            </p:nvSpPr>
            <p:spPr>
              <a:xfrm>
                <a:off x="1896782" y="4292327"/>
                <a:ext cx="1887734"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계정 휴면</a:t>
                </a:r>
                <a:endParaRPr sz="900">
                  <a:solidFill>
                    <a:schemeClr val="dk1"/>
                  </a:solidFill>
                  <a:latin typeface="Noto Sans KR"/>
                  <a:ea typeface="Noto Sans KR"/>
                  <a:cs typeface="Noto Sans KR"/>
                  <a:sym typeface="Noto Sans KR"/>
                </a:endParaRPr>
              </a:p>
            </p:txBody>
          </p:sp>
        </p:grpSp>
      </p:grpSp>
      <p:sp>
        <p:nvSpPr>
          <p:cNvPr id="1487" name="Google Shape;1487;p41"/>
          <p:cNvSpPr/>
          <p:nvPr/>
        </p:nvSpPr>
        <p:spPr>
          <a:xfrm>
            <a:off x="4696403" y="4273229"/>
            <a:ext cx="2254247" cy="281634"/>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88" name="Google Shape;1488;p41"/>
          <p:cNvSpPr/>
          <p:nvPr/>
        </p:nvSpPr>
        <p:spPr>
          <a:xfrm>
            <a:off x="4696403" y="4600686"/>
            <a:ext cx="2254247" cy="281634"/>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89" name="Google Shape;1489;p41"/>
          <p:cNvSpPr/>
          <p:nvPr/>
        </p:nvSpPr>
        <p:spPr>
          <a:xfrm>
            <a:off x="4752986" y="4690700"/>
            <a:ext cx="121521" cy="101605"/>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90" name="Google Shape;1490;p41"/>
          <p:cNvSpPr txBox="1"/>
          <p:nvPr/>
        </p:nvSpPr>
        <p:spPr>
          <a:xfrm>
            <a:off x="4909991" y="4625096"/>
            <a:ext cx="633507"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회원 탈퇴</a:t>
            </a:r>
            <a:endParaRPr sz="900">
              <a:solidFill>
                <a:schemeClr val="dk1"/>
              </a:solidFill>
              <a:latin typeface="Noto Sans KR"/>
              <a:ea typeface="Noto Sans KR"/>
              <a:cs typeface="Noto Sans KR"/>
              <a:sym typeface="Noto Sans KR"/>
            </a:endParaRPr>
          </a:p>
        </p:txBody>
      </p:sp>
      <p:sp>
        <p:nvSpPr>
          <p:cNvPr id="1491" name="Google Shape;1491;p41"/>
          <p:cNvSpPr/>
          <p:nvPr/>
        </p:nvSpPr>
        <p:spPr>
          <a:xfrm>
            <a:off x="1576094" y="5098516"/>
            <a:ext cx="5641829" cy="95331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cxnSp>
        <p:nvCxnSpPr>
          <p:cNvPr id="1492" name="Google Shape;1492;p41"/>
          <p:cNvCxnSpPr/>
          <p:nvPr/>
        </p:nvCxnSpPr>
        <p:spPr>
          <a:xfrm>
            <a:off x="1576094" y="5428005"/>
            <a:ext cx="5641829" cy="0"/>
          </a:xfrm>
          <a:prstGeom prst="straightConnector1">
            <a:avLst/>
          </a:prstGeom>
          <a:noFill/>
          <a:ln cap="flat" cmpd="sng" w="9525">
            <a:solidFill>
              <a:srgbClr val="BFBFBF"/>
            </a:solidFill>
            <a:prstDash val="solid"/>
            <a:miter lim="8000"/>
            <a:headEnd len="sm" w="sm" type="none"/>
            <a:tailEnd len="sm" w="sm" type="none"/>
          </a:ln>
        </p:spPr>
      </p:cxnSp>
      <p:sp>
        <p:nvSpPr>
          <p:cNvPr id="1493" name="Google Shape;1493;p41"/>
          <p:cNvSpPr txBox="1"/>
          <p:nvPr/>
        </p:nvSpPr>
        <p:spPr>
          <a:xfrm>
            <a:off x="1687427" y="5135265"/>
            <a:ext cx="330948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서비스 이용 정보 및 약관</a:t>
            </a:r>
            <a:endParaRPr b="1" sz="1200">
              <a:solidFill>
                <a:schemeClr val="dk1"/>
              </a:solidFill>
              <a:latin typeface="Noto Sans KR"/>
              <a:ea typeface="Noto Sans KR"/>
              <a:cs typeface="Noto Sans KR"/>
              <a:sym typeface="Noto Sans KR"/>
            </a:endParaRPr>
          </a:p>
        </p:txBody>
      </p:sp>
      <p:cxnSp>
        <p:nvCxnSpPr>
          <p:cNvPr id="1494" name="Google Shape;1494;p41"/>
          <p:cNvCxnSpPr/>
          <p:nvPr/>
        </p:nvCxnSpPr>
        <p:spPr>
          <a:xfrm>
            <a:off x="1687427" y="5736837"/>
            <a:ext cx="5241690" cy="0"/>
          </a:xfrm>
          <a:prstGeom prst="straightConnector1">
            <a:avLst/>
          </a:prstGeom>
          <a:noFill/>
          <a:ln cap="flat" cmpd="sng" w="9525">
            <a:solidFill>
              <a:srgbClr val="BFBFBF"/>
            </a:solidFill>
            <a:prstDash val="solid"/>
            <a:miter lim="8000"/>
            <a:headEnd len="sm" w="sm" type="none"/>
            <a:tailEnd len="sm" w="sm" type="none"/>
          </a:ln>
        </p:spPr>
      </p:cxnSp>
      <p:sp>
        <p:nvSpPr>
          <p:cNvPr id="1495" name="Google Shape;1495;p41"/>
          <p:cNvSpPr txBox="1"/>
          <p:nvPr/>
        </p:nvSpPr>
        <p:spPr>
          <a:xfrm>
            <a:off x="1643522" y="5478212"/>
            <a:ext cx="144987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이용약관</a:t>
            </a:r>
            <a:endParaRPr sz="1200">
              <a:solidFill>
                <a:schemeClr val="dk1"/>
              </a:solidFill>
              <a:latin typeface="Noto Sans KR"/>
              <a:ea typeface="Noto Sans KR"/>
              <a:cs typeface="Noto Sans KR"/>
              <a:sym typeface="Noto Sans KR"/>
            </a:endParaRPr>
          </a:p>
        </p:txBody>
      </p:sp>
      <p:sp>
        <p:nvSpPr>
          <p:cNvPr id="1496" name="Google Shape;1496;p41"/>
          <p:cNvSpPr txBox="1"/>
          <p:nvPr/>
        </p:nvSpPr>
        <p:spPr>
          <a:xfrm>
            <a:off x="1643522" y="5767181"/>
            <a:ext cx="144987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개인정보 처리 방침</a:t>
            </a:r>
            <a:endParaRPr sz="1200">
              <a:solidFill>
                <a:schemeClr val="dk1"/>
              </a:solidFill>
              <a:latin typeface="Noto Sans KR"/>
              <a:ea typeface="Noto Sans KR"/>
              <a:cs typeface="Noto Sans KR"/>
              <a:sym typeface="Noto Sans KR"/>
            </a:endParaRPr>
          </a:p>
        </p:txBody>
      </p:sp>
      <p:sp>
        <p:nvSpPr>
          <p:cNvPr id="1497" name="Google Shape;1497;p41"/>
          <p:cNvSpPr/>
          <p:nvPr/>
        </p:nvSpPr>
        <p:spPr>
          <a:xfrm>
            <a:off x="6361460" y="6121033"/>
            <a:ext cx="724147" cy="242794"/>
          </a:xfrm>
          <a:prstGeom prst="roundRect">
            <a:avLst>
              <a:gd fmla="val 16667" name="adj"/>
            </a:avLst>
          </a:prstGeom>
          <a:solidFill>
            <a:srgbClr val="FF256E"/>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chemeClr val="lt1"/>
                </a:solidFill>
                <a:latin typeface="Noto Sans KR"/>
                <a:ea typeface="Noto Sans KR"/>
                <a:cs typeface="Noto Sans KR"/>
                <a:sym typeface="Noto Sans KR"/>
              </a:rPr>
              <a:t>저 장</a:t>
            </a:r>
            <a:endParaRPr b="1" sz="1200">
              <a:solidFill>
                <a:schemeClr val="lt1"/>
              </a:solidFill>
              <a:latin typeface="Noto Sans KR"/>
              <a:ea typeface="Noto Sans KR"/>
              <a:cs typeface="Noto Sans KR"/>
              <a:sym typeface="Noto Sans KR"/>
            </a:endParaRPr>
          </a:p>
        </p:txBody>
      </p:sp>
      <p:sp>
        <p:nvSpPr>
          <p:cNvPr id="1498" name="Google Shape;1498;p41"/>
          <p:cNvSpPr/>
          <p:nvPr/>
        </p:nvSpPr>
        <p:spPr>
          <a:xfrm>
            <a:off x="5543210" y="6127655"/>
            <a:ext cx="724147" cy="242794"/>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200">
                <a:solidFill>
                  <a:srgbClr val="BFBFBF"/>
                </a:solidFill>
                <a:latin typeface="Noto Sans KR"/>
                <a:ea typeface="Noto Sans KR"/>
                <a:cs typeface="Noto Sans KR"/>
                <a:sym typeface="Noto Sans KR"/>
              </a:rPr>
              <a:t>취 소</a:t>
            </a:r>
            <a:endParaRPr b="1" sz="1200">
              <a:solidFill>
                <a:srgbClr val="BFBFBF"/>
              </a:solidFill>
              <a:latin typeface="Noto Sans KR"/>
              <a:ea typeface="Noto Sans KR"/>
              <a:cs typeface="Noto Sans KR"/>
              <a:sym typeface="Noto Sans KR"/>
            </a:endParaRPr>
          </a:p>
        </p:txBody>
      </p:sp>
      <p:sp>
        <p:nvSpPr>
          <p:cNvPr id="1499" name="Google Shape;1499;p41"/>
          <p:cNvSpPr/>
          <p:nvPr/>
        </p:nvSpPr>
        <p:spPr>
          <a:xfrm>
            <a:off x="1381501" y="21640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500" name="Google Shape;1500;p41"/>
          <p:cNvSpPr/>
          <p:nvPr/>
        </p:nvSpPr>
        <p:spPr>
          <a:xfrm>
            <a:off x="1656027" y="257228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501" name="Google Shape;1501;p41"/>
          <p:cNvSpPr/>
          <p:nvPr/>
        </p:nvSpPr>
        <p:spPr>
          <a:xfrm>
            <a:off x="1671727" y="29182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502" name="Google Shape;1502;p41"/>
          <p:cNvSpPr/>
          <p:nvPr/>
        </p:nvSpPr>
        <p:spPr>
          <a:xfrm>
            <a:off x="1668884" y="328526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503" name="Google Shape;1503;p41"/>
          <p:cNvSpPr/>
          <p:nvPr/>
        </p:nvSpPr>
        <p:spPr>
          <a:xfrm>
            <a:off x="1617809" y="386572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504" name="Google Shape;1504;p41"/>
          <p:cNvSpPr/>
          <p:nvPr/>
        </p:nvSpPr>
        <p:spPr>
          <a:xfrm>
            <a:off x="4515105" y="388131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505" name="Google Shape;1505;p41"/>
          <p:cNvSpPr/>
          <p:nvPr/>
        </p:nvSpPr>
        <p:spPr>
          <a:xfrm>
            <a:off x="1463324" y="508475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506" name="Google Shape;1506;p41"/>
          <p:cNvSpPr/>
          <p:nvPr/>
        </p:nvSpPr>
        <p:spPr>
          <a:xfrm>
            <a:off x="5319107" y="602498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1507" name="Google Shape;1507;p41"/>
          <p:cNvSpPr/>
          <p:nvPr/>
        </p:nvSpPr>
        <p:spPr>
          <a:xfrm>
            <a:off x="6269341" y="601231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11</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42"/>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메인 화면</a:t>
            </a:r>
            <a:endParaRPr sz="2400"/>
          </a:p>
        </p:txBody>
      </p:sp>
      <p:sp>
        <p:nvSpPr>
          <p:cNvPr id="1514" name="Google Shape;1514;p42"/>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515" name="Google Shape;1515;p42"/>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516" name="Google Shape;1516;p42"/>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517" name="Google Shape;1517;p4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518" name="Google Shape;1518;p42"/>
          <p:cNvGraphicFramePr/>
          <p:nvPr/>
        </p:nvGraphicFramePr>
        <p:xfrm>
          <a:off x="8561828" y="1054745"/>
          <a:ext cx="3000000" cy="3000000"/>
        </p:xfrm>
        <a:graphic>
          <a:graphicData uri="http://schemas.openxmlformats.org/drawingml/2006/table">
            <a:tbl>
              <a:tblPr bandRow="1" firstRow="1">
                <a:noFill/>
                <a:tableStyleId>{C61F204E-A15B-47D6-BEBB-6A886D3283EB}</a:tableStyleId>
              </a:tblPr>
              <a:tblGrid>
                <a:gridCol w="452875"/>
                <a:gridCol w="2823375"/>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브랜드 로고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사이드바 네비게이션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운영과 관련된 주요 기능 화면으로 빠르게 이동할 수 있도록 제공하는 좌측 메뉴 네비게이션 영역</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관리 메뉴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공고 등록 및 관리 기능을 제공하는 메뉴</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메뉴 클릭 시 소메뉴 드롭다운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설정 메뉴 영역</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 </a:t>
                      </a:r>
                      <a:r>
                        <a:rPr b="0" lang="ko-KR" sz="1000" u="none" cap="none" strike="noStrike">
                          <a:solidFill>
                            <a:schemeClr val="dk1"/>
                          </a:solidFill>
                          <a:latin typeface="Noto Sans KR"/>
                          <a:ea typeface="Noto Sans KR"/>
                          <a:cs typeface="Noto Sans KR"/>
                          <a:sym typeface="Noto Sans KR"/>
                        </a:rPr>
                        <a:t>관리자 계정 설정 및 서비스 환경 설정 기능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대시보드 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관리자 사용자 정보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로그인한 관리자 정보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회사명/사용자명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알림 설정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관리자 프로필 이미지 표시 영역 </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이미지 업로드 전 기본 프로필 이미지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현황 요약 영역 1</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당일 진행 예정 면접 건수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이전 면전 건수 대비 변화율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현황 요약 영역 2</a:t>
                      </a: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누적 면접 완료 건수 표시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완료 변화율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0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대기자 현황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현재 면접 대기 중인 지원자 수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면접 진행 그래프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기간별 면접 진행률 시각화(월별)</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인입 시 그래프 애니메이션 효과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12</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지원자 진행 상태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당일 면접 대상 지원자 목록 표시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최대 목록 수 표시 후 최대 표시 가능 수를 넘길 경우 5초후 다음 목록으로 변동</a:t>
                      </a:r>
                      <a:r>
                        <a:rPr lang="ko-KR" sz="1000" u="none" cap="none" strike="noStrike"/>
                        <a:t>당일 면접 대상 지원자 목록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519" name="Google Shape;1519;p42"/>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2000"/>
                <a:gridCol w="28326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INT-00</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면접관리자 메인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면접관리자 대시보드 메인화면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520" name="Google Shape;1520;p4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21" name="Google Shape;1521;p42"/>
          <p:cNvSpPr/>
          <p:nvPr/>
        </p:nvSpPr>
        <p:spPr>
          <a:xfrm>
            <a:off x="335337" y="1115220"/>
            <a:ext cx="8132343" cy="5410200"/>
          </a:xfrm>
          <a:prstGeom prst="rect">
            <a:avLst/>
          </a:prstGeom>
          <a:solidFill>
            <a:srgbClr val="595959"/>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Malgun Gothic"/>
                <a:ea typeface="Malgun Gothic"/>
                <a:cs typeface="Malgun Gothic"/>
                <a:sym typeface="Malgun Gothic"/>
              </a:rPr>
              <a:t> </a:t>
            </a:r>
            <a:endParaRPr sz="1800">
              <a:solidFill>
                <a:schemeClr val="lt1"/>
              </a:solidFill>
              <a:latin typeface="Malgun Gothic"/>
              <a:ea typeface="Malgun Gothic"/>
              <a:cs typeface="Malgun Gothic"/>
              <a:sym typeface="Malgun Gothic"/>
            </a:endParaRPr>
          </a:p>
        </p:txBody>
      </p:sp>
      <p:pic>
        <p:nvPicPr>
          <p:cNvPr id="1522" name="Google Shape;1522;p42"/>
          <p:cNvPicPr preferRelativeResize="0"/>
          <p:nvPr/>
        </p:nvPicPr>
        <p:blipFill rotWithShape="1">
          <a:blip r:embed="rId3">
            <a:alphaModFix/>
          </a:blip>
          <a:srcRect b="0" l="0" r="0" t="0"/>
          <a:stretch/>
        </p:blipFill>
        <p:spPr>
          <a:xfrm>
            <a:off x="292717" y="1123949"/>
            <a:ext cx="2005730" cy="471937"/>
          </a:xfrm>
          <a:prstGeom prst="rect">
            <a:avLst/>
          </a:prstGeom>
          <a:noFill/>
          <a:ln>
            <a:noFill/>
          </a:ln>
        </p:spPr>
      </p:pic>
      <p:cxnSp>
        <p:nvCxnSpPr>
          <p:cNvPr id="1523" name="Google Shape;1523;p42"/>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cxnSp>
        <p:nvCxnSpPr>
          <p:cNvPr id="1524" name="Google Shape;1524;p42"/>
          <p:cNvCxnSpPr/>
          <p:nvPr/>
        </p:nvCxnSpPr>
        <p:spPr>
          <a:xfrm>
            <a:off x="2294626" y="1123950"/>
            <a:ext cx="0" cy="635838"/>
          </a:xfrm>
          <a:prstGeom prst="straightConnector1">
            <a:avLst/>
          </a:prstGeom>
          <a:noFill/>
          <a:ln cap="flat" cmpd="sng" w="9525">
            <a:solidFill>
              <a:srgbClr val="BFBFBF"/>
            </a:solidFill>
            <a:prstDash val="solid"/>
            <a:miter lim="8000"/>
            <a:headEnd len="sm" w="sm" type="none"/>
            <a:tailEnd len="sm" w="sm" type="none"/>
          </a:ln>
        </p:spPr>
      </p:cxnSp>
      <p:grpSp>
        <p:nvGrpSpPr>
          <p:cNvPr id="1525" name="Google Shape;1525;p42"/>
          <p:cNvGrpSpPr/>
          <p:nvPr/>
        </p:nvGrpSpPr>
        <p:grpSpPr>
          <a:xfrm>
            <a:off x="2446350" y="1294579"/>
            <a:ext cx="180000" cy="108000"/>
            <a:chOff x="2415396" y="1285336"/>
            <a:chExt cx="284672" cy="179820"/>
          </a:xfrm>
        </p:grpSpPr>
        <p:sp>
          <p:nvSpPr>
            <p:cNvPr id="1526" name="Google Shape;1526;p42"/>
            <p:cNvSpPr/>
            <p:nvPr/>
          </p:nvSpPr>
          <p:spPr>
            <a:xfrm>
              <a:off x="2415396" y="1285336"/>
              <a:ext cx="284672" cy="45719"/>
            </a:xfrm>
            <a:prstGeom prst="rect">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27" name="Google Shape;1527;p42"/>
            <p:cNvSpPr/>
            <p:nvPr/>
          </p:nvSpPr>
          <p:spPr>
            <a:xfrm>
              <a:off x="2415396" y="1354543"/>
              <a:ext cx="284672" cy="45719"/>
            </a:xfrm>
            <a:prstGeom prst="rect">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28" name="Google Shape;1528;p42"/>
            <p:cNvSpPr/>
            <p:nvPr/>
          </p:nvSpPr>
          <p:spPr>
            <a:xfrm>
              <a:off x="2415396" y="1419437"/>
              <a:ext cx="284672" cy="45719"/>
            </a:xfrm>
            <a:prstGeom prst="rect">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1529" name="Google Shape;1529;p42"/>
          <p:cNvSpPr txBox="1"/>
          <p:nvPr/>
        </p:nvSpPr>
        <p:spPr>
          <a:xfrm>
            <a:off x="2603855" y="1212280"/>
            <a:ext cx="221989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Dashboard</a:t>
            </a:r>
            <a:endParaRPr sz="1600">
              <a:solidFill>
                <a:srgbClr val="BFBFBF"/>
              </a:solidFill>
              <a:latin typeface="Noto Sans KR"/>
              <a:ea typeface="Noto Sans KR"/>
              <a:cs typeface="Noto Sans KR"/>
              <a:sym typeface="Noto Sans KR"/>
            </a:endParaRPr>
          </a:p>
        </p:txBody>
      </p:sp>
      <p:sp>
        <p:nvSpPr>
          <p:cNvPr id="1530" name="Google Shape;1530;p42"/>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r>
              <a:rPr b="1" lang="ko-KR" sz="1600">
                <a:solidFill>
                  <a:schemeClr val="lt1"/>
                </a:solidFill>
                <a:latin typeface="Noto Sans KR"/>
                <a:ea typeface="Noto Sans KR"/>
                <a:cs typeface="Noto Sans KR"/>
                <a:sym typeface="Noto Sans KR"/>
              </a:rPr>
              <a:t>Victerview</a:t>
            </a:r>
            <a:r>
              <a:rPr lang="ko-KR" sz="1400">
                <a:solidFill>
                  <a:schemeClr val="lt1"/>
                </a:solidFill>
                <a:latin typeface="Noto Sans KR"/>
                <a:ea typeface="Noto Sans KR"/>
                <a:cs typeface="Noto Sans KR"/>
                <a:sym typeface="Noto Sans KR"/>
              </a:rPr>
              <a:t>   홍길동님</a:t>
            </a:r>
            <a:endParaRPr sz="1400">
              <a:solidFill>
                <a:schemeClr val="lt1"/>
              </a:solidFill>
              <a:latin typeface="Noto Sans KR"/>
              <a:ea typeface="Noto Sans KR"/>
              <a:cs typeface="Noto Sans KR"/>
              <a:sym typeface="Noto Sans KR"/>
            </a:endParaRPr>
          </a:p>
        </p:txBody>
      </p:sp>
      <p:sp>
        <p:nvSpPr>
          <p:cNvPr id="1531" name="Google Shape;1531;p42"/>
          <p:cNvSpPr/>
          <p:nvPr/>
        </p:nvSpPr>
        <p:spPr>
          <a:xfrm>
            <a:off x="7896250" y="1179197"/>
            <a:ext cx="380984" cy="361442"/>
          </a:xfrm>
          <a:prstGeom prst="ellipse">
            <a:avLst/>
          </a:prstGeom>
          <a:blipFill rotWithShape="1">
            <a:blip r:embed="rId4">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1532" name="Google Shape;1532;p42"/>
          <p:cNvGrpSpPr/>
          <p:nvPr/>
        </p:nvGrpSpPr>
        <p:grpSpPr>
          <a:xfrm>
            <a:off x="2524840" y="1713363"/>
            <a:ext cx="1740931" cy="981587"/>
            <a:chOff x="2446350" y="1713364"/>
            <a:chExt cx="1740931" cy="981587"/>
          </a:xfrm>
        </p:grpSpPr>
        <p:sp>
          <p:nvSpPr>
            <p:cNvPr id="1533" name="Google Shape;1533;p42"/>
            <p:cNvSpPr/>
            <p:nvPr/>
          </p:nvSpPr>
          <p:spPr>
            <a:xfrm>
              <a:off x="2446350" y="1713364"/>
              <a:ext cx="1740931" cy="981587"/>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Today’s Interview</a:t>
              </a:r>
              <a:endParaRPr/>
            </a:p>
            <a:p>
              <a:pPr indent="0" lvl="0" marL="0" marR="0" rtl="0" algn="l">
                <a:spcBef>
                  <a:spcPts val="0"/>
                </a:spcBef>
                <a:spcAft>
                  <a:spcPts val="0"/>
                </a:spcAft>
                <a:buNone/>
              </a:pPr>
              <a:r>
                <a:t/>
              </a:r>
              <a:endParaRPr b="1" sz="16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600">
                  <a:solidFill>
                    <a:schemeClr val="dk1"/>
                  </a:solidFill>
                  <a:latin typeface="Noto Sans KR"/>
                  <a:ea typeface="Noto Sans KR"/>
                  <a:cs typeface="Noto Sans KR"/>
                  <a:sym typeface="Noto Sans KR"/>
                </a:rPr>
                <a:t> </a:t>
              </a: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1534" name="Google Shape;1534;p42"/>
            <p:cNvSpPr txBox="1"/>
            <p:nvPr/>
          </p:nvSpPr>
          <p:spPr>
            <a:xfrm>
              <a:off x="2515015" y="1987603"/>
              <a:ext cx="1652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9</a:t>
              </a:r>
              <a:r>
                <a:rPr lang="ko-KR" sz="1800">
                  <a:solidFill>
                    <a:schemeClr val="dk1"/>
                  </a:solidFill>
                  <a:latin typeface="Noto Sans KR"/>
                  <a:ea typeface="Noto Sans KR"/>
                  <a:cs typeface="Noto Sans KR"/>
                  <a:sym typeface="Noto Sans KR"/>
                </a:rPr>
                <a:t>  </a:t>
              </a:r>
              <a:r>
                <a:rPr lang="ko-KR" sz="1200">
                  <a:solidFill>
                    <a:schemeClr val="accent6"/>
                  </a:solidFill>
                  <a:latin typeface="Noto Sans KR"/>
                  <a:ea typeface="Noto Sans KR"/>
                  <a:cs typeface="Noto Sans KR"/>
                  <a:sym typeface="Noto Sans KR"/>
                </a:rPr>
                <a:t>+3</a:t>
              </a:r>
              <a:endParaRPr sz="1200">
                <a:solidFill>
                  <a:schemeClr val="accent6"/>
                </a:solidFill>
                <a:latin typeface="Noto Sans KR"/>
                <a:ea typeface="Noto Sans KR"/>
                <a:cs typeface="Noto Sans KR"/>
                <a:sym typeface="Noto Sans KR"/>
              </a:endParaRPr>
            </a:p>
          </p:txBody>
        </p:sp>
        <p:sp>
          <p:nvSpPr>
            <p:cNvPr id="1535" name="Google Shape;1535;p42"/>
            <p:cNvSpPr txBox="1"/>
            <p:nvPr/>
          </p:nvSpPr>
          <p:spPr>
            <a:xfrm>
              <a:off x="2483195" y="2261842"/>
              <a:ext cx="14333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accent6"/>
                  </a:solidFill>
                  <a:latin typeface="Malgun Gothic"/>
                  <a:ea typeface="Malgun Gothic"/>
                  <a:cs typeface="Malgun Gothic"/>
                  <a:sym typeface="Malgun Gothic"/>
                </a:rPr>
                <a:t>• </a:t>
              </a:r>
              <a:r>
                <a:rPr lang="ko-KR" sz="1000">
                  <a:solidFill>
                    <a:schemeClr val="dk1"/>
                  </a:solidFill>
                  <a:latin typeface="Noto Sans KR"/>
                  <a:ea typeface="Noto Sans KR"/>
                  <a:cs typeface="Noto Sans KR"/>
                  <a:sym typeface="Noto Sans KR"/>
                </a:rPr>
                <a:t>Pre Variance</a:t>
              </a:r>
              <a:endParaRPr sz="1000">
                <a:solidFill>
                  <a:schemeClr val="dk1"/>
                </a:solidFill>
                <a:latin typeface="Noto Sans KR"/>
                <a:ea typeface="Noto Sans KR"/>
                <a:cs typeface="Noto Sans KR"/>
                <a:sym typeface="Noto Sans KR"/>
              </a:endParaRPr>
            </a:p>
          </p:txBody>
        </p:sp>
      </p:grpSp>
      <p:grpSp>
        <p:nvGrpSpPr>
          <p:cNvPr id="1536" name="Google Shape;1536;p42"/>
          <p:cNvGrpSpPr/>
          <p:nvPr/>
        </p:nvGrpSpPr>
        <p:grpSpPr>
          <a:xfrm>
            <a:off x="4442324" y="1719775"/>
            <a:ext cx="1863011" cy="981587"/>
            <a:chOff x="4339004" y="1700088"/>
            <a:chExt cx="1863011" cy="981587"/>
          </a:xfrm>
        </p:grpSpPr>
        <p:grpSp>
          <p:nvGrpSpPr>
            <p:cNvPr id="1537" name="Google Shape;1537;p42"/>
            <p:cNvGrpSpPr/>
            <p:nvPr/>
          </p:nvGrpSpPr>
          <p:grpSpPr>
            <a:xfrm>
              <a:off x="4383791" y="1700088"/>
              <a:ext cx="1740931" cy="981587"/>
              <a:chOff x="2428588" y="1704665"/>
              <a:chExt cx="1740931" cy="981587"/>
            </a:xfrm>
          </p:grpSpPr>
          <p:sp>
            <p:nvSpPr>
              <p:cNvPr id="1538" name="Google Shape;1538;p42"/>
              <p:cNvSpPr/>
              <p:nvPr/>
            </p:nvSpPr>
            <p:spPr>
              <a:xfrm>
                <a:off x="2428588" y="1704665"/>
                <a:ext cx="1740931" cy="981587"/>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 </a:t>
                </a:r>
                <a:endParaRPr/>
              </a:p>
              <a:p>
                <a:pPr indent="0" lvl="0" marL="0" marR="0" rtl="0" algn="l">
                  <a:spcBef>
                    <a:spcPts val="0"/>
                  </a:spcBef>
                  <a:spcAft>
                    <a:spcPts val="0"/>
                  </a:spcAft>
                  <a:buNone/>
                </a:pPr>
                <a:r>
                  <a:t/>
                </a:r>
                <a:endParaRPr sz="1400">
                  <a:solidFill>
                    <a:schemeClr val="dk1"/>
                  </a:solidFill>
                  <a:latin typeface="Noto Sans KR"/>
                  <a:ea typeface="Noto Sans KR"/>
                  <a:cs typeface="Noto Sans KR"/>
                  <a:sym typeface="Noto Sans KR"/>
                </a:endParaRPr>
              </a:p>
            </p:txBody>
          </p:sp>
          <p:sp>
            <p:nvSpPr>
              <p:cNvPr id="1539" name="Google Shape;1539;p42"/>
              <p:cNvSpPr txBox="1"/>
              <p:nvPr/>
            </p:nvSpPr>
            <p:spPr>
              <a:xfrm>
                <a:off x="2488914" y="1980100"/>
                <a:ext cx="1652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128</a:t>
                </a:r>
                <a:r>
                  <a:rPr lang="ko-KR" sz="1800">
                    <a:solidFill>
                      <a:schemeClr val="dk1"/>
                    </a:solidFill>
                    <a:latin typeface="Noto Sans KR"/>
                    <a:ea typeface="Noto Sans KR"/>
                    <a:cs typeface="Noto Sans KR"/>
                    <a:sym typeface="Noto Sans KR"/>
                  </a:rPr>
                  <a:t>  </a:t>
                </a:r>
                <a:r>
                  <a:rPr lang="ko-KR" sz="1200">
                    <a:solidFill>
                      <a:schemeClr val="accent1"/>
                    </a:solidFill>
                    <a:latin typeface="Noto Sans KR"/>
                    <a:ea typeface="Noto Sans KR"/>
                    <a:cs typeface="Noto Sans KR"/>
                    <a:sym typeface="Noto Sans KR"/>
                  </a:rPr>
                  <a:t>+7</a:t>
                </a:r>
                <a:endParaRPr sz="1200">
                  <a:solidFill>
                    <a:schemeClr val="accent1"/>
                  </a:solidFill>
                  <a:latin typeface="Noto Sans KR"/>
                  <a:ea typeface="Noto Sans KR"/>
                  <a:cs typeface="Noto Sans KR"/>
                  <a:sym typeface="Noto Sans KR"/>
                </a:endParaRPr>
              </a:p>
            </p:txBody>
          </p:sp>
          <p:sp>
            <p:nvSpPr>
              <p:cNvPr id="1540" name="Google Shape;1540;p42"/>
              <p:cNvSpPr txBox="1"/>
              <p:nvPr/>
            </p:nvSpPr>
            <p:spPr>
              <a:xfrm>
                <a:off x="2483195" y="2261842"/>
                <a:ext cx="14333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accent1"/>
                    </a:solidFill>
                    <a:latin typeface="Malgun Gothic"/>
                    <a:ea typeface="Malgun Gothic"/>
                    <a:cs typeface="Malgun Gothic"/>
                    <a:sym typeface="Malgun Gothic"/>
                  </a:rPr>
                  <a:t>•</a:t>
                </a:r>
                <a:r>
                  <a:rPr lang="ko-KR" sz="1400">
                    <a:solidFill>
                      <a:schemeClr val="accent6"/>
                    </a:solidFill>
                    <a:latin typeface="Malgun Gothic"/>
                    <a:ea typeface="Malgun Gothic"/>
                    <a:cs typeface="Malgun Gothic"/>
                    <a:sym typeface="Malgun Gothic"/>
                  </a:rPr>
                  <a:t> </a:t>
                </a:r>
                <a:r>
                  <a:rPr lang="ko-KR" sz="1000">
                    <a:solidFill>
                      <a:schemeClr val="dk1"/>
                    </a:solidFill>
                    <a:latin typeface="Noto Sans KR"/>
                    <a:ea typeface="Noto Sans KR"/>
                    <a:cs typeface="Noto Sans KR"/>
                    <a:sym typeface="Noto Sans KR"/>
                  </a:rPr>
                  <a:t>Total This Year</a:t>
                </a:r>
                <a:endParaRPr sz="1000">
                  <a:solidFill>
                    <a:schemeClr val="dk1"/>
                  </a:solidFill>
                  <a:latin typeface="Noto Sans KR"/>
                  <a:ea typeface="Noto Sans KR"/>
                  <a:cs typeface="Noto Sans KR"/>
                  <a:sym typeface="Noto Sans KR"/>
                </a:endParaRPr>
              </a:p>
            </p:txBody>
          </p:sp>
        </p:grpSp>
        <p:sp>
          <p:nvSpPr>
            <p:cNvPr id="1541" name="Google Shape;1541;p42"/>
            <p:cNvSpPr txBox="1"/>
            <p:nvPr/>
          </p:nvSpPr>
          <p:spPr>
            <a:xfrm>
              <a:off x="4339004" y="1735991"/>
              <a:ext cx="186301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Completed Interviews</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p:txBody>
        </p:sp>
      </p:grpSp>
      <p:grpSp>
        <p:nvGrpSpPr>
          <p:cNvPr id="1542" name="Google Shape;1542;p42"/>
          <p:cNvGrpSpPr/>
          <p:nvPr/>
        </p:nvGrpSpPr>
        <p:grpSpPr>
          <a:xfrm>
            <a:off x="6445402" y="1713363"/>
            <a:ext cx="1740931" cy="981587"/>
            <a:chOff x="6510819" y="1713363"/>
            <a:chExt cx="1740931" cy="981587"/>
          </a:xfrm>
        </p:grpSpPr>
        <p:grpSp>
          <p:nvGrpSpPr>
            <p:cNvPr id="1543" name="Google Shape;1543;p42"/>
            <p:cNvGrpSpPr/>
            <p:nvPr/>
          </p:nvGrpSpPr>
          <p:grpSpPr>
            <a:xfrm>
              <a:off x="6510819" y="1713363"/>
              <a:ext cx="1740931" cy="981587"/>
              <a:chOff x="2428588" y="1704665"/>
              <a:chExt cx="1740931" cy="981587"/>
            </a:xfrm>
          </p:grpSpPr>
          <p:sp>
            <p:nvSpPr>
              <p:cNvPr id="1544" name="Google Shape;1544;p42"/>
              <p:cNvSpPr/>
              <p:nvPr/>
            </p:nvSpPr>
            <p:spPr>
              <a:xfrm>
                <a:off x="2428588" y="1704665"/>
                <a:ext cx="1740931" cy="981587"/>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 </a:t>
                </a:r>
                <a:endParaRPr/>
              </a:p>
              <a:p>
                <a:pPr indent="0" lvl="0" marL="0" marR="0" rtl="0" algn="l">
                  <a:spcBef>
                    <a:spcPts val="0"/>
                  </a:spcBef>
                  <a:spcAft>
                    <a:spcPts val="0"/>
                  </a:spcAft>
                  <a:buNone/>
                </a:pPr>
                <a:r>
                  <a:t/>
                </a:r>
                <a:endParaRPr sz="1400">
                  <a:solidFill>
                    <a:schemeClr val="dk1"/>
                  </a:solidFill>
                  <a:latin typeface="Noto Sans KR"/>
                  <a:ea typeface="Noto Sans KR"/>
                  <a:cs typeface="Noto Sans KR"/>
                  <a:sym typeface="Noto Sans KR"/>
                </a:endParaRPr>
              </a:p>
            </p:txBody>
          </p:sp>
          <p:sp>
            <p:nvSpPr>
              <p:cNvPr id="1545" name="Google Shape;1545;p42"/>
              <p:cNvSpPr txBox="1"/>
              <p:nvPr/>
            </p:nvSpPr>
            <p:spPr>
              <a:xfrm>
                <a:off x="2488914" y="1980100"/>
                <a:ext cx="1652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7</a:t>
                </a:r>
                <a:r>
                  <a:rPr lang="ko-KR" sz="1800">
                    <a:solidFill>
                      <a:schemeClr val="dk1"/>
                    </a:solidFill>
                    <a:latin typeface="Noto Sans KR"/>
                    <a:ea typeface="Noto Sans KR"/>
                    <a:cs typeface="Noto Sans KR"/>
                    <a:sym typeface="Noto Sans KR"/>
                  </a:rPr>
                  <a:t> </a:t>
                </a:r>
                <a:endParaRPr sz="1200">
                  <a:solidFill>
                    <a:srgbClr val="FF0000"/>
                  </a:solidFill>
                  <a:latin typeface="Noto Sans KR"/>
                  <a:ea typeface="Noto Sans KR"/>
                  <a:cs typeface="Noto Sans KR"/>
                  <a:sym typeface="Noto Sans KR"/>
                </a:endParaRPr>
              </a:p>
            </p:txBody>
          </p:sp>
          <p:sp>
            <p:nvSpPr>
              <p:cNvPr id="1546" name="Google Shape;1546;p42"/>
              <p:cNvSpPr txBox="1"/>
              <p:nvPr/>
            </p:nvSpPr>
            <p:spPr>
              <a:xfrm>
                <a:off x="2483195" y="2261842"/>
                <a:ext cx="14333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FF0000"/>
                    </a:solidFill>
                    <a:latin typeface="Malgun Gothic"/>
                    <a:ea typeface="Malgun Gothic"/>
                    <a:cs typeface="Malgun Gothic"/>
                    <a:sym typeface="Malgun Gothic"/>
                  </a:rPr>
                  <a:t>•</a:t>
                </a:r>
                <a:r>
                  <a:rPr lang="ko-KR" sz="1400">
                    <a:solidFill>
                      <a:schemeClr val="accent6"/>
                    </a:solidFill>
                    <a:latin typeface="Malgun Gothic"/>
                    <a:ea typeface="Malgun Gothic"/>
                    <a:cs typeface="Malgun Gothic"/>
                    <a:sym typeface="Malgun Gothic"/>
                  </a:rPr>
                  <a:t> </a:t>
                </a:r>
                <a:r>
                  <a:rPr lang="ko-KR" sz="1000">
                    <a:solidFill>
                      <a:schemeClr val="dk1"/>
                    </a:solidFill>
                    <a:latin typeface="Noto Sans KR"/>
                    <a:ea typeface="Noto Sans KR"/>
                    <a:cs typeface="Noto Sans KR"/>
                    <a:sym typeface="Noto Sans KR"/>
                  </a:rPr>
                  <a:t>Currently Online</a:t>
                </a:r>
                <a:endParaRPr sz="1000">
                  <a:solidFill>
                    <a:schemeClr val="dk1"/>
                  </a:solidFill>
                  <a:latin typeface="Noto Sans KR"/>
                  <a:ea typeface="Noto Sans KR"/>
                  <a:cs typeface="Noto Sans KR"/>
                  <a:sym typeface="Noto Sans KR"/>
                </a:endParaRPr>
              </a:p>
            </p:txBody>
          </p:sp>
        </p:grpSp>
        <p:sp>
          <p:nvSpPr>
            <p:cNvPr id="1547" name="Google Shape;1547;p42"/>
            <p:cNvSpPr/>
            <p:nvPr/>
          </p:nvSpPr>
          <p:spPr>
            <a:xfrm>
              <a:off x="6520170" y="1735462"/>
              <a:ext cx="16594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Candidates Waiting</a:t>
              </a:r>
              <a:endParaRPr b="1" sz="1200">
                <a:solidFill>
                  <a:schemeClr val="dk1"/>
                </a:solidFill>
                <a:latin typeface="Noto Sans KR"/>
                <a:ea typeface="Noto Sans KR"/>
                <a:cs typeface="Noto Sans KR"/>
                <a:sym typeface="Noto Sans KR"/>
              </a:endParaRPr>
            </a:p>
          </p:txBody>
        </p:sp>
      </p:grpSp>
      <p:sp>
        <p:nvSpPr>
          <p:cNvPr id="1548" name="Google Shape;1548;p42"/>
          <p:cNvSpPr/>
          <p:nvPr/>
        </p:nvSpPr>
        <p:spPr>
          <a:xfrm>
            <a:off x="5392639" y="3209442"/>
            <a:ext cx="2884595" cy="2976070"/>
          </a:xfrm>
          <a:prstGeom prst="roundRect">
            <a:avLst>
              <a:gd fmla="val 4446" name="adj"/>
            </a:avLst>
          </a:prstGeom>
          <a:solidFill>
            <a:srgbClr val="E2E9F6"/>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49" name="Google Shape;1549;p42"/>
          <p:cNvSpPr/>
          <p:nvPr/>
        </p:nvSpPr>
        <p:spPr>
          <a:xfrm>
            <a:off x="2424547" y="2988954"/>
            <a:ext cx="2766289" cy="3196557"/>
          </a:xfrm>
          <a:prstGeom prst="roundRect">
            <a:avLst>
              <a:gd fmla="val 5131" name="adj"/>
            </a:avLst>
          </a:prstGeom>
          <a:solidFill>
            <a:srgbClr val="E2E9F6"/>
          </a:solidFill>
          <a:ln cap="flat" cmpd="sng" w="12700">
            <a:solidFill>
              <a:srgbClr val="E2E9F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550" name="Google Shape;1550;p42"/>
          <p:cNvGraphicFramePr/>
          <p:nvPr/>
        </p:nvGraphicFramePr>
        <p:xfrm>
          <a:off x="2626350" y="3506532"/>
          <a:ext cx="2303575" cy="2386268"/>
        </p:xfrm>
        <a:graphic>
          <a:graphicData uri="http://schemas.openxmlformats.org/drawingml/2006/chart">
            <c:chart r:id="rId5"/>
          </a:graphicData>
        </a:graphic>
      </p:graphicFrame>
      <p:sp>
        <p:nvSpPr>
          <p:cNvPr id="1551" name="Google Shape;1551;p42"/>
          <p:cNvSpPr txBox="1"/>
          <p:nvPr/>
        </p:nvSpPr>
        <p:spPr>
          <a:xfrm>
            <a:off x="2517339" y="3024776"/>
            <a:ext cx="24539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Month Progress</a:t>
            </a:r>
            <a:endParaRPr b="1" sz="1800">
              <a:solidFill>
                <a:schemeClr val="dk1"/>
              </a:solidFill>
              <a:latin typeface="Noto Sans KR"/>
              <a:ea typeface="Noto Sans KR"/>
              <a:cs typeface="Noto Sans KR"/>
              <a:sym typeface="Noto Sans KR"/>
            </a:endParaRPr>
          </a:p>
        </p:txBody>
      </p:sp>
      <p:sp>
        <p:nvSpPr>
          <p:cNvPr id="1552" name="Google Shape;1552;p42"/>
          <p:cNvSpPr txBox="1"/>
          <p:nvPr/>
        </p:nvSpPr>
        <p:spPr>
          <a:xfrm>
            <a:off x="4428025" y="5736816"/>
            <a:ext cx="57745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days</a:t>
            </a:r>
            <a:endParaRPr sz="1100">
              <a:solidFill>
                <a:schemeClr val="dk1"/>
              </a:solidFill>
              <a:latin typeface="Noto Sans KR"/>
              <a:ea typeface="Noto Sans KR"/>
              <a:cs typeface="Noto Sans KR"/>
              <a:sym typeface="Noto Sans KR"/>
            </a:endParaRPr>
          </a:p>
        </p:txBody>
      </p:sp>
      <p:grpSp>
        <p:nvGrpSpPr>
          <p:cNvPr id="1553" name="Google Shape;1553;p42"/>
          <p:cNvGrpSpPr/>
          <p:nvPr/>
        </p:nvGrpSpPr>
        <p:grpSpPr>
          <a:xfrm>
            <a:off x="5493225" y="5483916"/>
            <a:ext cx="2672111" cy="603429"/>
            <a:chOff x="5514222" y="4221471"/>
            <a:chExt cx="2672111" cy="603429"/>
          </a:xfrm>
        </p:grpSpPr>
        <p:grpSp>
          <p:nvGrpSpPr>
            <p:cNvPr id="1554" name="Google Shape;1554;p42"/>
            <p:cNvGrpSpPr/>
            <p:nvPr/>
          </p:nvGrpSpPr>
          <p:grpSpPr>
            <a:xfrm>
              <a:off x="5514222" y="4221471"/>
              <a:ext cx="2672111" cy="603429"/>
              <a:chOff x="5486400" y="3077949"/>
              <a:chExt cx="2672111" cy="603429"/>
            </a:xfrm>
          </p:grpSpPr>
          <p:sp>
            <p:nvSpPr>
              <p:cNvPr id="1555" name="Google Shape;1555;p42"/>
              <p:cNvSpPr/>
              <p:nvPr/>
            </p:nvSpPr>
            <p:spPr>
              <a:xfrm>
                <a:off x="5486400" y="3077949"/>
                <a:ext cx="2672111" cy="603429"/>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56" name="Google Shape;1556;p42"/>
              <p:cNvSpPr/>
              <p:nvPr/>
            </p:nvSpPr>
            <p:spPr>
              <a:xfrm>
                <a:off x="5615667" y="3178675"/>
                <a:ext cx="471055" cy="401976"/>
              </a:xfrm>
              <a:prstGeom prst="ellipse">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57" name="Google Shape;1557;p42"/>
              <p:cNvSpPr txBox="1"/>
              <p:nvPr/>
            </p:nvSpPr>
            <p:spPr>
              <a:xfrm>
                <a:off x="7210778" y="3394108"/>
                <a:ext cx="88332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rgbClr val="0070C0"/>
                    </a:solidFill>
                    <a:latin typeface="Noto Sans KR"/>
                    <a:ea typeface="Noto Sans KR"/>
                    <a:cs typeface="Noto Sans KR"/>
                    <a:sym typeface="Noto Sans KR"/>
                  </a:rPr>
                  <a:t>In Progress</a:t>
                </a:r>
                <a:endParaRPr sz="1050">
                  <a:solidFill>
                    <a:srgbClr val="0070C0"/>
                  </a:solidFill>
                  <a:latin typeface="Noto Sans KR"/>
                  <a:ea typeface="Noto Sans KR"/>
                  <a:cs typeface="Noto Sans KR"/>
                  <a:sym typeface="Noto Sans KR"/>
                </a:endParaRPr>
              </a:p>
            </p:txBody>
          </p:sp>
        </p:grpSp>
        <p:sp>
          <p:nvSpPr>
            <p:cNvPr id="1558" name="Google Shape;1558;p42"/>
            <p:cNvSpPr txBox="1"/>
            <p:nvPr/>
          </p:nvSpPr>
          <p:spPr>
            <a:xfrm>
              <a:off x="6113269" y="4257729"/>
              <a:ext cx="1126607" cy="5309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홍길동</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Data Analyst</a:t>
              </a:r>
              <a:endParaRPr sz="1050">
                <a:solidFill>
                  <a:schemeClr val="dk1"/>
                </a:solidFill>
                <a:latin typeface="Noto Sans KR"/>
                <a:ea typeface="Noto Sans KR"/>
                <a:cs typeface="Noto Sans KR"/>
                <a:sym typeface="Noto Sans KR"/>
              </a:endParaRPr>
            </a:p>
          </p:txBody>
        </p:sp>
      </p:grpSp>
      <p:grpSp>
        <p:nvGrpSpPr>
          <p:cNvPr id="1559" name="Google Shape;1559;p42"/>
          <p:cNvGrpSpPr/>
          <p:nvPr/>
        </p:nvGrpSpPr>
        <p:grpSpPr>
          <a:xfrm>
            <a:off x="5493225" y="4818575"/>
            <a:ext cx="2672111" cy="603429"/>
            <a:chOff x="5514222" y="4221471"/>
            <a:chExt cx="2672111" cy="603429"/>
          </a:xfrm>
        </p:grpSpPr>
        <p:grpSp>
          <p:nvGrpSpPr>
            <p:cNvPr id="1560" name="Google Shape;1560;p42"/>
            <p:cNvGrpSpPr/>
            <p:nvPr/>
          </p:nvGrpSpPr>
          <p:grpSpPr>
            <a:xfrm>
              <a:off x="5514222" y="4221471"/>
              <a:ext cx="2672111" cy="603429"/>
              <a:chOff x="5486400" y="3077949"/>
              <a:chExt cx="2672111" cy="603429"/>
            </a:xfrm>
          </p:grpSpPr>
          <p:sp>
            <p:nvSpPr>
              <p:cNvPr id="1561" name="Google Shape;1561;p42"/>
              <p:cNvSpPr/>
              <p:nvPr/>
            </p:nvSpPr>
            <p:spPr>
              <a:xfrm>
                <a:off x="5486400" y="3077949"/>
                <a:ext cx="2672111" cy="603429"/>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62" name="Google Shape;1562;p42"/>
              <p:cNvSpPr/>
              <p:nvPr/>
            </p:nvSpPr>
            <p:spPr>
              <a:xfrm>
                <a:off x="5615667" y="3178675"/>
                <a:ext cx="471055" cy="401976"/>
              </a:xfrm>
              <a:prstGeom prst="ellipse">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63" name="Google Shape;1563;p42"/>
              <p:cNvSpPr txBox="1"/>
              <p:nvPr/>
            </p:nvSpPr>
            <p:spPr>
              <a:xfrm>
                <a:off x="7210778" y="3394108"/>
                <a:ext cx="88332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chemeClr val="accent2"/>
                    </a:solidFill>
                    <a:latin typeface="Noto Sans KR"/>
                    <a:ea typeface="Noto Sans KR"/>
                    <a:cs typeface="Noto Sans KR"/>
                    <a:sym typeface="Noto Sans KR"/>
                  </a:rPr>
                  <a:t>Waiting</a:t>
                </a:r>
                <a:endParaRPr sz="1050">
                  <a:solidFill>
                    <a:schemeClr val="accent2"/>
                  </a:solidFill>
                  <a:latin typeface="Noto Sans KR"/>
                  <a:ea typeface="Noto Sans KR"/>
                  <a:cs typeface="Noto Sans KR"/>
                  <a:sym typeface="Noto Sans KR"/>
                </a:endParaRPr>
              </a:p>
            </p:txBody>
          </p:sp>
        </p:grpSp>
        <p:sp>
          <p:nvSpPr>
            <p:cNvPr id="1564" name="Google Shape;1564;p42"/>
            <p:cNvSpPr txBox="1"/>
            <p:nvPr/>
          </p:nvSpPr>
          <p:spPr>
            <a:xfrm>
              <a:off x="6113269" y="4257729"/>
              <a:ext cx="1126607" cy="5309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홍길동</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Data Analyst</a:t>
              </a:r>
              <a:endParaRPr sz="1050">
                <a:solidFill>
                  <a:schemeClr val="dk1"/>
                </a:solidFill>
                <a:latin typeface="Noto Sans KR"/>
                <a:ea typeface="Noto Sans KR"/>
                <a:cs typeface="Noto Sans KR"/>
                <a:sym typeface="Noto Sans KR"/>
              </a:endParaRPr>
            </a:p>
          </p:txBody>
        </p:sp>
      </p:grpSp>
      <p:grpSp>
        <p:nvGrpSpPr>
          <p:cNvPr id="1565" name="Google Shape;1565;p42"/>
          <p:cNvGrpSpPr/>
          <p:nvPr/>
        </p:nvGrpSpPr>
        <p:grpSpPr>
          <a:xfrm>
            <a:off x="5493225" y="4160523"/>
            <a:ext cx="2672111" cy="603429"/>
            <a:chOff x="5514222" y="4221471"/>
            <a:chExt cx="2672111" cy="603429"/>
          </a:xfrm>
        </p:grpSpPr>
        <p:grpSp>
          <p:nvGrpSpPr>
            <p:cNvPr id="1566" name="Google Shape;1566;p42"/>
            <p:cNvGrpSpPr/>
            <p:nvPr/>
          </p:nvGrpSpPr>
          <p:grpSpPr>
            <a:xfrm>
              <a:off x="5514222" y="4221471"/>
              <a:ext cx="2672111" cy="603429"/>
              <a:chOff x="5486400" y="3077949"/>
              <a:chExt cx="2672111" cy="603429"/>
            </a:xfrm>
          </p:grpSpPr>
          <p:sp>
            <p:nvSpPr>
              <p:cNvPr id="1567" name="Google Shape;1567;p42"/>
              <p:cNvSpPr/>
              <p:nvPr/>
            </p:nvSpPr>
            <p:spPr>
              <a:xfrm>
                <a:off x="5486400" y="3077949"/>
                <a:ext cx="2672111" cy="603429"/>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68" name="Google Shape;1568;p42"/>
              <p:cNvSpPr/>
              <p:nvPr/>
            </p:nvSpPr>
            <p:spPr>
              <a:xfrm>
                <a:off x="5615667" y="3178675"/>
                <a:ext cx="471055" cy="401976"/>
              </a:xfrm>
              <a:prstGeom prst="ellipse">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69" name="Google Shape;1569;p42"/>
              <p:cNvSpPr txBox="1"/>
              <p:nvPr/>
            </p:nvSpPr>
            <p:spPr>
              <a:xfrm>
                <a:off x="7210778" y="3394108"/>
                <a:ext cx="88332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chemeClr val="accent2"/>
                    </a:solidFill>
                    <a:latin typeface="Noto Sans KR"/>
                    <a:ea typeface="Noto Sans KR"/>
                    <a:cs typeface="Noto Sans KR"/>
                    <a:sym typeface="Noto Sans KR"/>
                  </a:rPr>
                  <a:t>Waiting</a:t>
                </a:r>
                <a:endParaRPr sz="1050">
                  <a:solidFill>
                    <a:schemeClr val="accent2"/>
                  </a:solidFill>
                  <a:latin typeface="Noto Sans KR"/>
                  <a:ea typeface="Noto Sans KR"/>
                  <a:cs typeface="Noto Sans KR"/>
                  <a:sym typeface="Noto Sans KR"/>
                </a:endParaRPr>
              </a:p>
            </p:txBody>
          </p:sp>
        </p:grpSp>
        <p:sp>
          <p:nvSpPr>
            <p:cNvPr id="1570" name="Google Shape;1570;p42"/>
            <p:cNvSpPr txBox="1"/>
            <p:nvPr/>
          </p:nvSpPr>
          <p:spPr>
            <a:xfrm>
              <a:off x="6113269" y="4257729"/>
              <a:ext cx="1126607" cy="5309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홍길동</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Backend Dev</a:t>
              </a:r>
              <a:endParaRPr sz="1050">
                <a:solidFill>
                  <a:schemeClr val="dk1"/>
                </a:solidFill>
                <a:latin typeface="Noto Sans KR"/>
                <a:ea typeface="Noto Sans KR"/>
                <a:cs typeface="Noto Sans KR"/>
                <a:sym typeface="Noto Sans KR"/>
              </a:endParaRPr>
            </a:p>
          </p:txBody>
        </p:sp>
      </p:grpSp>
      <p:grpSp>
        <p:nvGrpSpPr>
          <p:cNvPr id="1571" name="Google Shape;1571;p42"/>
          <p:cNvGrpSpPr/>
          <p:nvPr/>
        </p:nvGrpSpPr>
        <p:grpSpPr>
          <a:xfrm>
            <a:off x="5494422" y="3492623"/>
            <a:ext cx="2691911" cy="603429"/>
            <a:chOff x="5514222" y="4221471"/>
            <a:chExt cx="2691911" cy="603429"/>
          </a:xfrm>
        </p:grpSpPr>
        <p:grpSp>
          <p:nvGrpSpPr>
            <p:cNvPr id="1572" name="Google Shape;1572;p42"/>
            <p:cNvGrpSpPr/>
            <p:nvPr/>
          </p:nvGrpSpPr>
          <p:grpSpPr>
            <a:xfrm>
              <a:off x="5514222" y="4221471"/>
              <a:ext cx="2691911" cy="603429"/>
              <a:chOff x="5486400" y="3077949"/>
              <a:chExt cx="2691911" cy="603429"/>
            </a:xfrm>
          </p:grpSpPr>
          <p:sp>
            <p:nvSpPr>
              <p:cNvPr id="1573" name="Google Shape;1573;p42"/>
              <p:cNvSpPr/>
              <p:nvPr/>
            </p:nvSpPr>
            <p:spPr>
              <a:xfrm>
                <a:off x="5486400" y="3077949"/>
                <a:ext cx="2672111" cy="603429"/>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74" name="Google Shape;1574;p42"/>
              <p:cNvSpPr/>
              <p:nvPr/>
            </p:nvSpPr>
            <p:spPr>
              <a:xfrm>
                <a:off x="5615667" y="3178675"/>
                <a:ext cx="471055" cy="401976"/>
              </a:xfrm>
              <a:prstGeom prst="ellipse">
                <a:avLst/>
              </a:prstGeom>
              <a:solidFill>
                <a:schemeClr val="accen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75" name="Google Shape;1575;p42"/>
              <p:cNvSpPr txBox="1"/>
              <p:nvPr/>
            </p:nvSpPr>
            <p:spPr>
              <a:xfrm>
                <a:off x="7294984" y="3395403"/>
                <a:ext cx="88332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050">
                  <a:solidFill>
                    <a:srgbClr val="FF0000"/>
                  </a:solidFill>
                  <a:latin typeface="Noto Sans KR"/>
                  <a:ea typeface="Noto Sans KR"/>
                  <a:cs typeface="Noto Sans KR"/>
                  <a:sym typeface="Noto Sans KR"/>
                </a:endParaRPr>
              </a:p>
            </p:txBody>
          </p:sp>
        </p:grpSp>
        <p:sp>
          <p:nvSpPr>
            <p:cNvPr id="1576" name="Google Shape;1576;p42"/>
            <p:cNvSpPr txBox="1"/>
            <p:nvPr/>
          </p:nvSpPr>
          <p:spPr>
            <a:xfrm>
              <a:off x="6113269" y="4257729"/>
              <a:ext cx="1126607" cy="5309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홍길동</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AI Engineer</a:t>
              </a:r>
              <a:endParaRPr sz="1050">
                <a:solidFill>
                  <a:schemeClr val="dk1"/>
                </a:solidFill>
                <a:latin typeface="Noto Sans KR"/>
                <a:ea typeface="Noto Sans KR"/>
                <a:cs typeface="Noto Sans KR"/>
                <a:sym typeface="Noto Sans KR"/>
              </a:endParaRPr>
            </a:p>
          </p:txBody>
        </p:sp>
      </p:grpSp>
      <p:sp>
        <p:nvSpPr>
          <p:cNvPr id="1577" name="Google Shape;1577;p42"/>
          <p:cNvSpPr txBox="1"/>
          <p:nvPr/>
        </p:nvSpPr>
        <p:spPr>
          <a:xfrm>
            <a:off x="5399455" y="2883222"/>
            <a:ext cx="210265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rgbClr val="BFBFBF"/>
                </a:solidFill>
                <a:latin typeface="Noto Sans KR"/>
                <a:ea typeface="Noto Sans KR"/>
                <a:cs typeface="Noto Sans KR"/>
                <a:sym typeface="Noto Sans KR"/>
              </a:rPr>
              <a:t>Today’s Candidates</a:t>
            </a:r>
            <a:endParaRPr b="1" sz="1400">
              <a:solidFill>
                <a:srgbClr val="BFBFBF"/>
              </a:solidFill>
              <a:latin typeface="Noto Sans KR"/>
              <a:ea typeface="Noto Sans KR"/>
              <a:cs typeface="Noto Sans KR"/>
              <a:sym typeface="Noto Sans KR"/>
            </a:endParaRPr>
          </a:p>
        </p:txBody>
      </p:sp>
      <p:pic>
        <p:nvPicPr>
          <p:cNvPr id="1578" name="Google Shape;1578;p42"/>
          <p:cNvPicPr preferRelativeResize="0"/>
          <p:nvPr/>
        </p:nvPicPr>
        <p:blipFill rotWithShape="1">
          <a:blip r:embed="rId6">
            <a:alphaModFix/>
          </a:blip>
          <a:srcRect b="24094" l="23190" r="56900" t="55938"/>
          <a:stretch/>
        </p:blipFill>
        <p:spPr>
          <a:xfrm>
            <a:off x="5605247" y="3542060"/>
            <a:ext cx="506664" cy="473312"/>
          </a:xfrm>
          <a:prstGeom prst="ellipse">
            <a:avLst/>
          </a:prstGeom>
          <a:noFill/>
          <a:ln>
            <a:noFill/>
          </a:ln>
          <a:effectLst>
            <a:outerShdw blurRad="381000" sx="-80000" rotWithShape="0" dir="5400000" dist="292100" sy="-18000">
              <a:srgbClr val="000000">
                <a:alpha val="21961"/>
              </a:srgbClr>
            </a:outerShdw>
          </a:effectLst>
        </p:spPr>
      </p:pic>
      <p:pic>
        <p:nvPicPr>
          <p:cNvPr id="1579" name="Google Shape;1579;p42"/>
          <p:cNvPicPr preferRelativeResize="0"/>
          <p:nvPr/>
        </p:nvPicPr>
        <p:blipFill rotWithShape="1">
          <a:blip r:embed="rId7">
            <a:alphaModFix/>
          </a:blip>
          <a:srcRect b="54220" l="55521" r="19604" t="22941"/>
          <a:stretch/>
        </p:blipFill>
        <p:spPr>
          <a:xfrm>
            <a:off x="5574068" y="4206285"/>
            <a:ext cx="567901" cy="521409"/>
          </a:xfrm>
          <a:prstGeom prst="ellipse">
            <a:avLst/>
          </a:prstGeom>
          <a:noFill/>
          <a:ln>
            <a:noFill/>
          </a:ln>
        </p:spPr>
      </p:pic>
      <p:pic>
        <p:nvPicPr>
          <p:cNvPr id="1580" name="Google Shape;1580;p42"/>
          <p:cNvPicPr preferRelativeResize="0"/>
          <p:nvPr/>
        </p:nvPicPr>
        <p:blipFill rotWithShape="1">
          <a:blip r:embed="rId8">
            <a:alphaModFix/>
          </a:blip>
          <a:srcRect b="23535" l="58547" r="22489" t="56313"/>
          <a:stretch/>
        </p:blipFill>
        <p:spPr>
          <a:xfrm>
            <a:off x="5613000" y="4889192"/>
            <a:ext cx="498911" cy="513242"/>
          </a:xfrm>
          <a:prstGeom prst="ellipse">
            <a:avLst/>
          </a:prstGeom>
          <a:noFill/>
          <a:ln>
            <a:noFill/>
          </a:ln>
        </p:spPr>
      </p:pic>
      <p:pic>
        <p:nvPicPr>
          <p:cNvPr id="1581" name="Google Shape;1581;p42"/>
          <p:cNvPicPr preferRelativeResize="0"/>
          <p:nvPr/>
        </p:nvPicPr>
        <p:blipFill rotWithShape="1">
          <a:blip r:embed="rId9">
            <a:alphaModFix/>
          </a:blip>
          <a:srcRect b="57058" l="20140" r="54458" t="22041"/>
          <a:stretch/>
        </p:blipFill>
        <p:spPr>
          <a:xfrm>
            <a:off x="5570540" y="5540313"/>
            <a:ext cx="574955" cy="473086"/>
          </a:xfrm>
          <a:prstGeom prst="ellipse">
            <a:avLst/>
          </a:prstGeom>
          <a:noFill/>
          <a:ln>
            <a:noFill/>
          </a:ln>
        </p:spPr>
      </p:pic>
      <p:sp>
        <p:nvSpPr>
          <p:cNvPr id="1582" name="Google Shape;1582;p42"/>
          <p:cNvSpPr txBox="1"/>
          <p:nvPr/>
        </p:nvSpPr>
        <p:spPr>
          <a:xfrm>
            <a:off x="7227915" y="3815726"/>
            <a:ext cx="88332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rgbClr val="FF0000"/>
                </a:solidFill>
                <a:latin typeface="Noto Sans KR"/>
                <a:ea typeface="Noto Sans KR"/>
                <a:cs typeface="Noto Sans KR"/>
                <a:sym typeface="Noto Sans KR"/>
              </a:rPr>
              <a:t>Offline</a:t>
            </a:r>
            <a:endParaRPr sz="1050">
              <a:solidFill>
                <a:srgbClr val="FF0000"/>
              </a:solidFill>
              <a:latin typeface="Noto Sans KR"/>
              <a:ea typeface="Noto Sans KR"/>
              <a:cs typeface="Noto Sans KR"/>
              <a:sym typeface="Noto Sans KR"/>
            </a:endParaRPr>
          </a:p>
        </p:txBody>
      </p:sp>
      <p:sp>
        <p:nvSpPr>
          <p:cNvPr id="1583" name="Google Shape;1583;p42"/>
          <p:cNvSpPr/>
          <p:nvPr/>
        </p:nvSpPr>
        <p:spPr>
          <a:xfrm>
            <a:off x="218826" y="114080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584" name="Google Shape;1584;p42"/>
          <p:cNvSpPr/>
          <p:nvPr/>
        </p:nvSpPr>
        <p:spPr>
          <a:xfrm>
            <a:off x="2235932" y="111314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585" name="Google Shape;1585;p42"/>
          <p:cNvSpPr/>
          <p:nvPr/>
        </p:nvSpPr>
        <p:spPr>
          <a:xfrm>
            <a:off x="5693049" y="110801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586" name="Google Shape;1586;p42"/>
          <p:cNvSpPr/>
          <p:nvPr/>
        </p:nvSpPr>
        <p:spPr>
          <a:xfrm>
            <a:off x="7773238" y="99139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587" name="Google Shape;1587;p42"/>
          <p:cNvSpPr/>
          <p:nvPr/>
        </p:nvSpPr>
        <p:spPr>
          <a:xfrm>
            <a:off x="2394839" y="163298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588" name="Google Shape;1588;p42"/>
          <p:cNvSpPr/>
          <p:nvPr/>
        </p:nvSpPr>
        <p:spPr>
          <a:xfrm>
            <a:off x="4334718" y="163899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589" name="Google Shape;1589;p42"/>
          <p:cNvSpPr/>
          <p:nvPr/>
        </p:nvSpPr>
        <p:spPr>
          <a:xfrm>
            <a:off x="6315701" y="165356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1590" name="Google Shape;1590;p42"/>
          <p:cNvSpPr/>
          <p:nvPr/>
        </p:nvSpPr>
        <p:spPr>
          <a:xfrm>
            <a:off x="2351815" y="292277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11</a:t>
            </a:r>
            <a:endParaRPr sz="1000">
              <a:solidFill>
                <a:schemeClr val="lt1"/>
              </a:solidFill>
              <a:latin typeface="Noto Sans KR"/>
              <a:ea typeface="Noto Sans KR"/>
              <a:cs typeface="Noto Sans KR"/>
              <a:sym typeface="Noto Sans KR"/>
            </a:endParaRPr>
          </a:p>
        </p:txBody>
      </p:sp>
      <p:sp>
        <p:nvSpPr>
          <p:cNvPr id="1591" name="Google Shape;1591;p42"/>
          <p:cNvSpPr/>
          <p:nvPr/>
        </p:nvSpPr>
        <p:spPr>
          <a:xfrm>
            <a:off x="5283642" y="312934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12</a:t>
            </a:r>
            <a:endParaRPr sz="1000">
              <a:solidFill>
                <a:schemeClr val="lt1"/>
              </a:solidFill>
              <a:latin typeface="Noto Sans KR"/>
              <a:ea typeface="Noto Sans KR"/>
              <a:cs typeface="Noto Sans KR"/>
              <a:sym typeface="Noto Sans KR"/>
            </a:endParaRPr>
          </a:p>
        </p:txBody>
      </p:sp>
      <p:grpSp>
        <p:nvGrpSpPr>
          <p:cNvPr id="1592" name="Google Shape;1592;p42"/>
          <p:cNvGrpSpPr/>
          <p:nvPr/>
        </p:nvGrpSpPr>
        <p:grpSpPr>
          <a:xfrm>
            <a:off x="221118" y="1582403"/>
            <a:ext cx="2203780" cy="4954786"/>
            <a:chOff x="220767" y="1579363"/>
            <a:chExt cx="2203780" cy="4954786"/>
          </a:xfrm>
        </p:grpSpPr>
        <p:sp>
          <p:nvSpPr>
            <p:cNvPr id="1593" name="Google Shape;1593;p42"/>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594" name="Google Shape;1594;p42"/>
            <p:cNvSpPr/>
            <p:nvPr/>
          </p:nvSpPr>
          <p:spPr>
            <a:xfrm>
              <a:off x="417308" y="1700088"/>
              <a:ext cx="1756549" cy="266736"/>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1595" name="Google Shape;1595;p42"/>
            <p:cNvPicPr preferRelativeResize="0"/>
            <p:nvPr/>
          </p:nvPicPr>
          <p:blipFill rotWithShape="1">
            <a:blip r:embed="rId10">
              <a:alphaModFix/>
            </a:blip>
            <a:srcRect b="0" l="0" r="0" t="0"/>
            <a:stretch/>
          </p:blipFill>
          <p:spPr>
            <a:xfrm>
              <a:off x="477692" y="1740185"/>
              <a:ext cx="186542" cy="186542"/>
            </a:xfrm>
            <a:prstGeom prst="rect">
              <a:avLst/>
            </a:prstGeom>
            <a:noFill/>
            <a:ln>
              <a:noFill/>
            </a:ln>
          </p:spPr>
        </p:pic>
        <p:grpSp>
          <p:nvGrpSpPr>
            <p:cNvPr id="1596" name="Google Shape;1596;p42"/>
            <p:cNvGrpSpPr/>
            <p:nvPr/>
          </p:nvGrpSpPr>
          <p:grpSpPr>
            <a:xfrm>
              <a:off x="417308" y="2028295"/>
              <a:ext cx="1756549" cy="307777"/>
              <a:chOff x="417308" y="2028295"/>
              <a:chExt cx="1756549" cy="307777"/>
            </a:xfrm>
          </p:grpSpPr>
          <p:cxnSp>
            <p:nvCxnSpPr>
              <p:cNvPr id="1597" name="Google Shape;1597;p4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598" name="Google Shape;1598;p42"/>
              <p:cNvSpPr txBox="1"/>
              <p:nvPr/>
            </p:nvSpPr>
            <p:spPr>
              <a:xfrm>
                <a:off x="417308"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공고 관리                 ∧</a:t>
                </a:r>
                <a:endParaRPr sz="1400">
                  <a:solidFill>
                    <a:srgbClr val="BFBFBF"/>
                  </a:solidFill>
                  <a:latin typeface="Noto Sans KR"/>
                  <a:ea typeface="Noto Sans KR"/>
                  <a:cs typeface="Noto Sans KR"/>
                  <a:sym typeface="Noto Sans KR"/>
                </a:endParaRPr>
              </a:p>
            </p:txBody>
          </p:sp>
        </p:grpSp>
        <p:grpSp>
          <p:nvGrpSpPr>
            <p:cNvPr id="1599" name="Google Shape;1599;p42"/>
            <p:cNvGrpSpPr/>
            <p:nvPr/>
          </p:nvGrpSpPr>
          <p:grpSpPr>
            <a:xfrm>
              <a:off x="477692" y="3209442"/>
              <a:ext cx="1788887" cy="307777"/>
              <a:chOff x="477692" y="2028295"/>
              <a:chExt cx="1788887" cy="307777"/>
            </a:xfrm>
          </p:grpSpPr>
          <p:cxnSp>
            <p:nvCxnSpPr>
              <p:cNvPr id="1600" name="Google Shape;1600;p4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601" name="Google Shape;1601;p42"/>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1602" name="Google Shape;1602;p42"/>
            <p:cNvGrpSpPr/>
            <p:nvPr/>
          </p:nvGrpSpPr>
          <p:grpSpPr>
            <a:xfrm>
              <a:off x="534312" y="2391801"/>
              <a:ext cx="1890235" cy="314353"/>
              <a:chOff x="534312" y="2391801"/>
              <a:chExt cx="1890235" cy="314353"/>
            </a:xfrm>
          </p:grpSpPr>
          <p:grpSp>
            <p:nvGrpSpPr>
              <p:cNvPr id="1603" name="Google Shape;1603;p42"/>
              <p:cNvGrpSpPr/>
              <p:nvPr/>
            </p:nvGrpSpPr>
            <p:grpSpPr>
              <a:xfrm>
                <a:off x="534312" y="2391801"/>
                <a:ext cx="1890235" cy="314353"/>
                <a:chOff x="329699" y="2341565"/>
                <a:chExt cx="2116652" cy="316430"/>
              </a:xfrm>
            </p:grpSpPr>
            <p:sp>
              <p:nvSpPr>
                <p:cNvPr id="1604" name="Google Shape;1604;p42"/>
                <p:cNvSpPr txBox="1"/>
                <p:nvPr/>
              </p:nvSpPr>
              <p:spPr>
                <a:xfrm>
                  <a:off x="329699" y="2341565"/>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605" name="Google Shape;1605;p42"/>
                <p:cNvCxnSpPr/>
                <p:nvPr/>
              </p:nvCxnSpPr>
              <p:spPr>
                <a:xfrm flipH="1" rot="10800000">
                  <a:off x="697357" y="2653171"/>
                  <a:ext cx="1398861" cy="4824"/>
                </a:xfrm>
                <a:prstGeom prst="straightConnector1">
                  <a:avLst/>
                </a:prstGeom>
                <a:noFill/>
                <a:ln cap="flat" cmpd="sng" w="9525">
                  <a:solidFill>
                    <a:srgbClr val="BFBFBF"/>
                  </a:solidFill>
                  <a:prstDash val="solid"/>
                  <a:miter lim="8000"/>
                  <a:headEnd len="sm" w="sm" type="none"/>
                  <a:tailEnd len="sm" w="sm" type="none"/>
                </a:ln>
              </p:spPr>
            </p:cxnSp>
          </p:grpSp>
          <p:sp>
            <p:nvSpPr>
              <p:cNvPr id="1606" name="Google Shape;1606;p42"/>
              <p:cNvSpPr/>
              <p:nvPr/>
            </p:nvSpPr>
            <p:spPr>
              <a:xfrm>
                <a:off x="1361374" y="2410481"/>
                <a:ext cx="784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공고 등록</a:t>
                </a:r>
                <a:endParaRPr/>
              </a:p>
            </p:txBody>
          </p:sp>
        </p:grpSp>
        <p:grpSp>
          <p:nvGrpSpPr>
            <p:cNvPr id="1607" name="Google Shape;1607;p42"/>
            <p:cNvGrpSpPr/>
            <p:nvPr/>
          </p:nvGrpSpPr>
          <p:grpSpPr>
            <a:xfrm>
              <a:off x="534312" y="2752716"/>
              <a:ext cx="1890235" cy="327890"/>
              <a:chOff x="534312" y="2376127"/>
              <a:chExt cx="1890235" cy="327890"/>
            </a:xfrm>
          </p:grpSpPr>
          <p:grpSp>
            <p:nvGrpSpPr>
              <p:cNvPr id="1608" name="Google Shape;1608;p42"/>
              <p:cNvGrpSpPr/>
              <p:nvPr/>
            </p:nvGrpSpPr>
            <p:grpSpPr>
              <a:xfrm>
                <a:off x="534312" y="2391800"/>
                <a:ext cx="1890235" cy="312217"/>
                <a:chOff x="329699" y="2341565"/>
                <a:chExt cx="2116652" cy="314280"/>
              </a:xfrm>
            </p:grpSpPr>
            <p:sp>
              <p:nvSpPr>
                <p:cNvPr id="1609" name="Google Shape;1609;p42"/>
                <p:cNvSpPr txBox="1"/>
                <p:nvPr/>
              </p:nvSpPr>
              <p:spPr>
                <a:xfrm>
                  <a:off x="329699" y="2341565"/>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610" name="Google Shape;1610;p42"/>
                <p:cNvCxnSpPr/>
                <p:nvPr/>
              </p:nvCxnSpPr>
              <p:spPr>
                <a:xfrm flipH="1" rot="10800000">
                  <a:off x="697357" y="2653170"/>
                  <a:ext cx="1398861" cy="2675"/>
                </a:xfrm>
                <a:prstGeom prst="straightConnector1">
                  <a:avLst/>
                </a:prstGeom>
                <a:noFill/>
                <a:ln cap="flat" cmpd="sng" w="9525">
                  <a:solidFill>
                    <a:srgbClr val="BFBFBF"/>
                  </a:solidFill>
                  <a:prstDash val="solid"/>
                  <a:miter lim="8000"/>
                  <a:headEnd len="sm" w="sm" type="none"/>
                  <a:tailEnd len="sm" w="sm" type="none"/>
                </a:ln>
              </p:spPr>
            </p:cxnSp>
          </p:grpSp>
          <p:sp>
            <p:nvSpPr>
              <p:cNvPr id="1611" name="Google Shape;1611;p42"/>
              <p:cNvSpPr/>
              <p:nvPr/>
            </p:nvSpPr>
            <p:spPr>
              <a:xfrm>
                <a:off x="1327679" y="2376127"/>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공고 현황</a:t>
                </a:r>
                <a:endParaRPr sz="1200">
                  <a:solidFill>
                    <a:srgbClr val="BFBFBF"/>
                  </a:solidFill>
                  <a:latin typeface="Noto Sans KR"/>
                  <a:ea typeface="Noto Sans KR"/>
                  <a:cs typeface="Noto Sans KR"/>
                  <a:sym typeface="Noto Sans KR"/>
                </a:endParaRPr>
              </a:p>
            </p:txBody>
          </p:sp>
        </p:grpSp>
        <p:grpSp>
          <p:nvGrpSpPr>
            <p:cNvPr id="1612" name="Google Shape;1612;p42"/>
            <p:cNvGrpSpPr/>
            <p:nvPr/>
          </p:nvGrpSpPr>
          <p:grpSpPr>
            <a:xfrm>
              <a:off x="477692" y="3681378"/>
              <a:ext cx="1788887" cy="307777"/>
              <a:chOff x="477692" y="2028295"/>
              <a:chExt cx="1788887" cy="307777"/>
            </a:xfrm>
          </p:grpSpPr>
          <p:cxnSp>
            <p:nvCxnSpPr>
              <p:cNvPr id="1613" name="Google Shape;1613;p4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614" name="Google Shape;1614;p42"/>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결과              ∨                </a:t>
                </a:r>
                <a:endParaRPr sz="1400">
                  <a:solidFill>
                    <a:srgbClr val="BFBFBF"/>
                  </a:solidFill>
                  <a:latin typeface="Noto Sans KR"/>
                  <a:ea typeface="Noto Sans KR"/>
                  <a:cs typeface="Noto Sans KR"/>
                  <a:sym typeface="Noto Sans KR"/>
                </a:endParaRPr>
              </a:p>
            </p:txBody>
          </p:sp>
        </p:grpSp>
        <p:grpSp>
          <p:nvGrpSpPr>
            <p:cNvPr id="1615" name="Google Shape;1615;p42"/>
            <p:cNvGrpSpPr/>
            <p:nvPr/>
          </p:nvGrpSpPr>
          <p:grpSpPr>
            <a:xfrm>
              <a:off x="477692" y="4131941"/>
              <a:ext cx="1788887" cy="307777"/>
              <a:chOff x="477692" y="2028295"/>
              <a:chExt cx="1788887" cy="307777"/>
            </a:xfrm>
          </p:grpSpPr>
          <p:cxnSp>
            <p:nvCxnSpPr>
              <p:cNvPr id="1616" name="Google Shape;1616;p4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617" name="Google Shape;1617;p42"/>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sp>
          <p:nvSpPr>
            <p:cNvPr id="1618" name="Google Shape;1618;p42"/>
            <p:cNvSpPr/>
            <p:nvPr/>
          </p:nvSpPr>
          <p:spPr>
            <a:xfrm>
              <a:off x="225232" y="157936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619" name="Google Shape;1619;p42"/>
            <p:cNvSpPr/>
            <p:nvPr/>
          </p:nvSpPr>
          <p:spPr>
            <a:xfrm>
              <a:off x="220767" y="19999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grpSp>
      <p:cxnSp>
        <p:nvCxnSpPr>
          <p:cNvPr id="1620" name="Google Shape;1620;p42"/>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1621" name="Google Shape;1621;p42"/>
          <p:cNvGrpSpPr/>
          <p:nvPr/>
        </p:nvGrpSpPr>
        <p:grpSpPr>
          <a:xfrm>
            <a:off x="255410" y="6020804"/>
            <a:ext cx="1246726" cy="452676"/>
            <a:chOff x="237016" y="5994223"/>
            <a:chExt cx="1246726" cy="452676"/>
          </a:xfrm>
        </p:grpSpPr>
        <p:sp>
          <p:nvSpPr>
            <p:cNvPr id="1622" name="Google Shape;1622;p42"/>
            <p:cNvSpPr/>
            <p:nvPr/>
          </p:nvSpPr>
          <p:spPr>
            <a:xfrm>
              <a:off x="237016" y="5994223"/>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pic>
          <p:nvPicPr>
            <p:cNvPr id="1623" name="Google Shape;1623;p42"/>
            <p:cNvPicPr preferRelativeResize="0"/>
            <p:nvPr/>
          </p:nvPicPr>
          <p:blipFill rotWithShape="1">
            <a:blip r:embed="rId11">
              <a:alphaModFix/>
            </a:blip>
            <a:srcRect b="0" l="0" r="0" t="0"/>
            <a:stretch/>
          </p:blipFill>
          <p:spPr>
            <a:xfrm>
              <a:off x="417309" y="6148038"/>
              <a:ext cx="246925" cy="280330"/>
            </a:xfrm>
            <a:prstGeom prst="rect">
              <a:avLst/>
            </a:prstGeom>
            <a:noFill/>
            <a:ln>
              <a:noFill/>
            </a:ln>
          </p:spPr>
        </p:pic>
        <p:sp>
          <p:nvSpPr>
            <p:cNvPr id="1624" name="Google Shape;1624;p42"/>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43"/>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공고 등록</a:t>
            </a:r>
            <a:endParaRPr sz="2400"/>
          </a:p>
        </p:txBody>
      </p:sp>
      <p:sp>
        <p:nvSpPr>
          <p:cNvPr id="1631" name="Google Shape;1631;p43"/>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632" name="Google Shape;1632;p43"/>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633" name="Google Shape;1633;p43"/>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634" name="Google Shape;1634;p4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635" name="Google Shape;1635;p43"/>
          <p:cNvGraphicFramePr/>
          <p:nvPr/>
        </p:nvGraphicFramePr>
        <p:xfrm>
          <a:off x="8561828" y="1054745"/>
          <a:ext cx="3000000" cy="3000000"/>
        </p:xfrm>
        <a:graphic>
          <a:graphicData uri="http://schemas.openxmlformats.org/drawingml/2006/table">
            <a:tbl>
              <a:tblPr bandRow="1" firstRow="1">
                <a:noFill/>
                <a:tableStyleId>{C61F204E-A15B-47D6-BEBB-6A886D3283EB}</a:tableStyleId>
              </a:tblPr>
              <a:tblGrid>
                <a:gridCol w="452875"/>
                <a:gridCol w="2823375"/>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관리자 사용자 정보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로그인한 관리자 정보 표시 기업명,관리자 이름,프로필 이미지</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공고 정보 입력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 항목]공고 제목:채용 공고 명칭 입력,회사명:채용 기업명 표시 또는 입력(관리자회사명으로 디폴트 설정),직무:채용 직무 선택(드롭다운제공),채용 유형:정규직 / 계약직 등 고용 형태 선택(드롭다운제공),모집 기간:채용 공고 모집 시작일 및 종료일 설정(캘린더 설정 제공)</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공고 세부 내용</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채용 공고 상세 내용 작성 기능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[에디터 기능 제공]텍스트 서식 적용,목록 정리,내용 구조 작성 지원</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유형 설정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진행 방식 및 질문 생성 조건 설정</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[설정 항목]면접 유형 선택: AI 면접/화상 면접(라디오버튼제공),질문 생성 방식:자동 생성 선택 가능(드롭다운제공),면접 난이도: Easy / Medium / Hard 수준 선택(드롭다운제공),질문 개수: 설정면접 질문 수 지정(드롭다운제공)</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기준 설정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지원자 평가 방식 정의 기능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[설정 항목]Rubrics 선택:직무별 평가 기준 선택(드롭다운제공),직무 역량 평가 비율 설정,인성 역량 평가 비율 설정기타 평가 비율 설정(숫자만 입력 가능, 총합 100필수)</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제출 서류 설정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지원자 제출 필수 서류 지정 기능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[선택항목] 이력서,자기소개서,포트폴리오,증빙 서류(체크박스 제공)</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임시 저장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입력된 공고 정보를 임시 저장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공고 등록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공고 정보 최종 등록 </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저장 전 최종 확인 팝업 안내 제공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0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취소 버튼</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입력된 내용 저장 없이 메인 화면(INT-00)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636" name="Google Shape;1636;p43"/>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2000"/>
                <a:gridCol w="28326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공고 등록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채용 공고 정보와 세부내용을 설정하여 신규 공고를 등록하는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637" name="Google Shape;1637;p43"/>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638" name="Google Shape;1638;p43"/>
          <p:cNvSpPr/>
          <p:nvPr/>
        </p:nvSpPr>
        <p:spPr>
          <a:xfrm>
            <a:off x="335382" y="1120898"/>
            <a:ext cx="8132343" cy="5410200"/>
          </a:xfrm>
          <a:prstGeom prst="rect">
            <a:avLst/>
          </a:prstGeom>
          <a:solidFill>
            <a:srgbClr val="D8D8D8"/>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Malgun Gothic"/>
                <a:ea typeface="Malgun Gothic"/>
                <a:cs typeface="Malgun Gothic"/>
                <a:sym typeface="Malgun Gothic"/>
              </a:rPr>
              <a:t> </a:t>
            </a:r>
            <a:endParaRPr sz="1800">
              <a:solidFill>
                <a:schemeClr val="lt1"/>
              </a:solidFill>
              <a:latin typeface="Malgun Gothic"/>
              <a:ea typeface="Malgun Gothic"/>
              <a:cs typeface="Malgun Gothic"/>
              <a:sym typeface="Malgun Gothic"/>
            </a:endParaRPr>
          </a:p>
        </p:txBody>
      </p:sp>
      <p:pic>
        <p:nvPicPr>
          <p:cNvPr id="1639" name="Google Shape;1639;p43"/>
          <p:cNvPicPr preferRelativeResize="0"/>
          <p:nvPr/>
        </p:nvPicPr>
        <p:blipFill rotWithShape="1">
          <a:blip r:embed="rId3">
            <a:alphaModFix/>
          </a:blip>
          <a:srcRect b="0" l="0" r="0" t="0"/>
          <a:stretch/>
        </p:blipFill>
        <p:spPr>
          <a:xfrm>
            <a:off x="335381" y="1138659"/>
            <a:ext cx="1932170" cy="457226"/>
          </a:xfrm>
          <a:prstGeom prst="rect">
            <a:avLst/>
          </a:prstGeom>
          <a:noFill/>
          <a:ln>
            <a:noFill/>
          </a:ln>
        </p:spPr>
      </p:pic>
      <p:grpSp>
        <p:nvGrpSpPr>
          <p:cNvPr id="1640" name="Google Shape;1640;p43"/>
          <p:cNvGrpSpPr/>
          <p:nvPr/>
        </p:nvGrpSpPr>
        <p:grpSpPr>
          <a:xfrm>
            <a:off x="308307" y="1595887"/>
            <a:ext cx="2089165" cy="4938263"/>
            <a:chOff x="335382" y="1595886"/>
            <a:chExt cx="2089165" cy="4938263"/>
          </a:xfrm>
        </p:grpSpPr>
        <p:sp>
          <p:nvSpPr>
            <p:cNvPr id="1641" name="Google Shape;1641;p43"/>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642" name="Google Shape;1642;p43"/>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1643" name="Google Shape;1643;p43"/>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1644" name="Google Shape;1644;p43"/>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1645" name="Google Shape;1645;p43"/>
            <p:cNvGrpSpPr/>
            <p:nvPr/>
          </p:nvGrpSpPr>
          <p:grpSpPr>
            <a:xfrm>
              <a:off x="477692" y="3209442"/>
              <a:ext cx="1788887" cy="307777"/>
              <a:chOff x="477692" y="2028295"/>
              <a:chExt cx="1788887" cy="307777"/>
            </a:xfrm>
          </p:grpSpPr>
          <p:cxnSp>
            <p:nvCxnSpPr>
              <p:cNvPr id="1646" name="Google Shape;1646;p43"/>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647" name="Google Shape;1647;p43"/>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1648" name="Google Shape;1648;p43"/>
            <p:cNvGrpSpPr/>
            <p:nvPr/>
          </p:nvGrpSpPr>
          <p:grpSpPr>
            <a:xfrm>
              <a:off x="534312" y="2391801"/>
              <a:ext cx="1890235" cy="314353"/>
              <a:chOff x="329699" y="2341565"/>
              <a:chExt cx="2116652" cy="316430"/>
            </a:xfrm>
          </p:grpSpPr>
          <p:sp>
            <p:nvSpPr>
              <p:cNvPr id="1649" name="Google Shape;1649;p43"/>
              <p:cNvSpPr txBox="1"/>
              <p:nvPr/>
            </p:nvSpPr>
            <p:spPr>
              <a:xfrm>
                <a:off x="329699" y="2341565"/>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650" name="Google Shape;1650;p43"/>
              <p:cNvCxnSpPr/>
              <p:nvPr/>
            </p:nvCxnSpPr>
            <p:spPr>
              <a:xfrm flipH="1" rot="10800000">
                <a:off x="697357" y="2653171"/>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1651" name="Google Shape;1651;p43"/>
            <p:cNvGrpSpPr/>
            <p:nvPr/>
          </p:nvGrpSpPr>
          <p:grpSpPr>
            <a:xfrm>
              <a:off x="534312" y="2752716"/>
              <a:ext cx="1890235" cy="327890"/>
              <a:chOff x="534312" y="2376127"/>
              <a:chExt cx="1890235" cy="327890"/>
            </a:xfrm>
          </p:grpSpPr>
          <p:grpSp>
            <p:nvGrpSpPr>
              <p:cNvPr id="1652" name="Google Shape;1652;p43"/>
              <p:cNvGrpSpPr/>
              <p:nvPr/>
            </p:nvGrpSpPr>
            <p:grpSpPr>
              <a:xfrm>
                <a:off x="534312" y="2391800"/>
                <a:ext cx="1890235" cy="312217"/>
                <a:chOff x="329699" y="2341565"/>
                <a:chExt cx="2116652" cy="314280"/>
              </a:xfrm>
            </p:grpSpPr>
            <p:sp>
              <p:nvSpPr>
                <p:cNvPr id="1653" name="Google Shape;1653;p43"/>
                <p:cNvSpPr txBox="1"/>
                <p:nvPr/>
              </p:nvSpPr>
              <p:spPr>
                <a:xfrm>
                  <a:off x="329699" y="2341565"/>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654" name="Google Shape;1654;p43"/>
                <p:cNvCxnSpPr/>
                <p:nvPr/>
              </p:nvCxnSpPr>
              <p:spPr>
                <a:xfrm flipH="1" rot="10800000">
                  <a:off x="697357" y="2653170"/>
                  <a:ext cx="1398861" cy="2675"/>
                </a:xfrm>
                <a:prstGeom prst="straightConnector1">
                  <a:avLst/>
                </a:prstGeom>
                <a:noFill/>
                <a:ln cap="flat" cmpd="sng" w="9525">
                  <a:solidFill>
                    <a:srgbClr val="BFBFBF"/>
                  </a:solidFill>
                  <a:prstDash val="solid"/>
                  <a:miter lim="8000"/>
                  <a:headEnd len="sm" w="sm" type="none"/>
                  <a:tailEnd len="sm" w="sm" type="none"/>
                </a:ln>
              </p:spPr>
            </p:cxnSp>
          </p:grpSp>
          <p:sp>
            <p:nvSpPr>
              <p:cNvPr id="1655" name="Google Shape;1655;p43"/>
              <p:cNvSpPr/>
              <p:nvPr/>
            </p:nvSpPr>
            <p:spPr>
              <a:xfrm>
                <a:off x="1327679" y="2376127"/>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공고 현황</a:t>
                </a:r>
                <a:endParaRPr sz="1200">
                  <a:solidFill>
                    <a:srgbClr val="BFBFBF"/>
                  </a:solidFill>
                  <a:latin typeface="Noto Sans KR"/>
                  <a:ea typeface="Noto Sans KR"/>
                  <a:cs typeface="Noto Sans KR"/>
                  <a:sym typeface="Noto Sans KR"/>
                </a:endParaRPr>
              </a:p>
            </p:txBody>
          </p:sp>
        </p:grpSp>
        <p:grpSp>
          <p:nvGrpSpPr>
            <p:cNvPr id="1656" name="Google Shape;1656;p43"/>
            <p:cNvGrpSpPr/>
            <p:nvPr/>
          </p:nvGrpSpPr>
          <p:grpSpPr>
            <a:xfrm>
              <a:off x="477692" y="3681378"/>
              <a:ext cx="1788887" cy="307777"/>
              <a:chOff x="477692" y="2028295"/>
              <a:chExt cx="1788887" cy="307777"/>
            </a:xfrm>
          </p:grpSpPr>
          <p:cxnSp>
            <p:nvCxnSpPr>
              <p:cNvPr id="1657" name="Google Shape;1657;p43"/>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658" name="Google Shape;1658;p43"/>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결과              ∨                </a:t>
                </a:r>
                <a:endParaRPr sz="1400">
                  <a:solidFill>
                    <a:srgbClr val="BFBFBF"/>
                  </a:solidFill>
                  <a:latin typeface="Noto Sans KR"/>
                  <a:ea typeface="Noto Sans KR"/>
                  <a:cs typeface="Noto Sans KR"/>
                  <a:sym typeface="Noto Sans KR"/>
                </a:endParaRPr>
              </a:p>
            </p:txBody>
          </p:sp>
        </p:grpSp>
        <p:grpSp>
          <p:nvGrpSpPr>
            <p:cNvPr id="1659" name="Google Shape;1659;p43"/>
            <p:cNvGrpSpPr/>
            <p:nvPr/>
          </p:nvGrpSpPr>
          <p:grpSpPr>
            <a:xfrm>
              <a:off x="477692" y="4131941"/>
              <a:ext cx="1788887" cy="307777"/>
              <a:chOff x="477692" y="2028295"/>
              <a:chExt cx="1788887" cy="307777"/>
            </a:xfrm>
          </p:grpSpPr>
          <p:cxnSp>
            <p:nvCxnSpPr>
              <p:cNvPr id="1660" name="Google Shape;1660;p43"/>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661" name="Google Shape;1661;p43"/>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sp>
        <p:nvSpPr>
          <p:cNvPr id="1662" name="Google Shape;1662;p43"/>
          <p:cNvSpPr/>
          <p:nvPr/>
        </p:nvSpPr>
        <p:spPr>
          <a:xfrm>
            <a:off x="493151" y="2011455"/>
            <a:ext cx="1550711"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공고 관리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sp>
        <p:nvSpPr>
          <p:cNvPr id="1663" name="Google Shape;1663;p43"/>
          <p:cNvSpPr/>
          <p:nvPr/>
        </p:nvSpPr>
        <p:spPr>
          <a:xfrm>
            <a:off x="1192369" y="2403990"/>
            <a:ext cx="846709"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공고 등록</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sz="1200">
              <a:solidFill>
                <a:schemeClr val="lt1"/>
              </a:solidFill>
              <a:latin typeface="Noto Sans KR"/>
              <a:ea typeface="Noto Sans KR"/>
              <a:cs typeface="Noto Sans KR"/>
              <a:sym typeface="Noto Sans KR"/>
            </a:endParaRPr>
          </a:p>
        </p:txBody>
      </p:sp>
      <p:cxnSp>
        <p:nvCxnSpPr>
          <p:cNvPr id="1664" name="Google Shape;1664;p43"/>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1665" name="Google Shape;1665;p43"/>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1666" name="Google Shape;1666;p43"/>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667" name="Google Shape;1667;p43"/>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1668" name="Google Shape;1668;p43"/>
          <p:cNvSpPr txBox="1"/>
          <p:nvPr/>
        </p:nvSpPr>
        <p:spPr>
          <a:xfrm>
            <a:off x="2603855" y="1212280"/>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공고 등록</a:t>
            </a:r>
            <a:endParaRPr b="1" sz="1800">
              <a:solidFill>
                <a:srgbClr val="7F7F7F"/>
              </a:solidFill>
              <a:latin typeface="Noto Sans KR"/>
              <a:ea typeface="Noto Sans KR"/>
              <a:cs typeface="Noto Sans KR"/>
              <a:sym typeface="Noto Sans KR"/>
            </a:endParaRPr>
          </a:p>
        </p:txBody>
      </p:sp>
      <p:pic>
        <p:nvPicPr>
          <p:cNvPr id="1669" name="Google Shape;1669;p43"/>
          <p:cNvPicPr preferRelativeResize="0"/>
          <p:nvPr/>
        </p:nvPicPr>
        <p:blipFill rotWithShape="1">
          <a:blip r:embed="rId6">
            <a:alphaModFix/>
          </a:blip>
          <a:srcRect b="0" l="0" r="0" t="0"/>
          <a:stretch/>
        </p:blipFill>
        <p:spPr>
          <a:xfrm>
            <a:off x="2417933" y="1253375"/>
            <a:ext cx="228600" cy="228600"/>
          </a:xfrm>
          <a:prstGeom prst="rect">
            <a:avLst/>
          </a:prstGeom>
          <a:noFill/>
          <a:ln>
            <a:noFill/>
          </a:ln>
        </p:spPr>
      </p:pic>
      <p:cxnSp>
        <p:nvCxnSpPr>
          <p:cNvPr id="1670" name="Google Shape;1670;p43"/>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1671" name="Google Shape;1671;p43"/>
          <p:cNvGrpSpPr/>
          <p:nvPr/>
        </p:nvGrpSpPr>
        <p:grpSpPr>
          <a:xfrm>
            <a:off x="435703" y="6134926"/>
            <a:ext cx="1066433" cy="338554"/>
            <a:chOff x="417309" y="6108345"/>
            <a:chExt cx="1066433" cy="338554"/>
          </a:xfrm>
        </p:grpSpPr>
        <p:pic>
          <p:nvPicPr>
            <p:cNvPr id="1672" name="Google Shape;1672;p43"/>
            <p:cNvPicPr preferRelativeResize="0"/>
            <p:nvPr/>
          </p:nvPicPr>
          <p:blipFill rotWithShape="1">
            <a:blip r:embed="rId7">
              <a:alphaModFix/>
            </a:blip>
            <a:srcRect b="0" l="0" r="0" t="0"/>
            <a:stretch/>
          </p:blipFill>
          <p:spPr>
            <a:xfrm>
              <a:off x="417309" y="6148038"/>
              <a:ext cx="246925" cy="280330"/>
            </a:xfrm>
            <a:prstGeom prst="rect">
              <a:avLst/>
            </a:prstGeom>
            <a:noFill/>
            <a:ln>
              <a:noFill/>
            </a:ln>
          </p:spPr>
        </p:pic>
        <p:sp>
          <p:nvSpPr>
            <p:cNvPr id="1673" name="Google Shape;1673;p43"/>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1674" name="Google Shape;1674;p43"/>
          <p:cNvSpPr/>
          <p:nvPr/>
        </p:nvSpPr>
        <p:spPr>
          <a:xfrm>
            <a:off x="2397273" y="1727236"/>
            <a:ext cx="3580634" cy="1954144"/>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675" name="Google Shape;1675;p43"/>
          <p:cNvCxnSpPr/>
          <p:nvPr/>
        </p:nvCxnSpPr>
        <p:spPr>
          <a:xfrm>
            <a:off x="2397273" y="2040215"/>
            <a:ext cx="3580634" cy="0"/>
          </a:xfrm>
          <a:prstGeom prst="straightConnector1">
            <a:avLst/>
          </a:prstGeom>
          <a:noFill/>
          <a:ln cap="flat" cmpd="sng" w="9525">
            <a:solidFill>
              <a:srgbClr val="A5A5A5"/>
            </a:solidFill>
            <a:prstDash val="solid"/>
            <a:miter lim="8000"/>
            <a:headEnd len="sm" w="sm" type="none"/>
            <a:tailEnd len="sm" w="sm" type="none"/>
          </a:ln>
        </p:spPr>
      </p:cxnSp>
      <p:grpSp>
        <p:nvGrpSpPr>
          <p:cNvPr id="1676" name="Google Shape;1676;p43"/>
          <p:cNvGrpSpPr/>
          <p:nvPr/>
        </p:nvGrpSpPr>
        <p:grpSpPr>
          <a:xfrm>
            <a:off x="2435348" y="1623787"/>
            <a:ext cx="3480307" cy="1964726"/>
            <a:chOff x="2435348" y="1623787"/>
            <a:chExt cx="3480307" cy="1964726"/>
          </a:xfrm>
        </p:grpSpPr>
        <p:sp>
          <p:nvSpPr>
            <p:cNvPr id="1677" name="Google Shape;1677;p43"/>
            <p:cNvSpPr txBox="1"/>
            <p:nvPr/>
          </p:nvSpPr>
          <p:spPr>
            <a:xfrm>
              <a:off x="2435348" y="1744518"/>
              <a:ext cx="141745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공고 정보</a:t>
              </a:r>
              <a:endParaRPr b="1" sz="1400">
                <a:solidFill>
                  <a:schemeClr val="dk1"/>
                </a:solidFill>
                <a:latin typeface="Noto Sans KR"/>
                <a:ea typeface="Noto Sans KR"/>
                <a:cs typeface="Noto Sans KR"/>
                <a:sym typeface="Noto Sans KR"/>
              </a:endParaRPr>
            </a:p>
          </p:txBody>
        </p:sp>
        <p:sp>
          <p:nvSpPr>
            <p:cNvPr id="1678" name="Google Shape;1678;p43"/>
            <p:cNvSpPr txBox="1"/>
            <p:nvPr/>
          </p:nvSpPr>
          <p:spPr>
            <a:xfrm>
              <a:off x="5559467" y="1623787"/>
              <a:ext cx="3561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7F7F7F"/>
                  </a:solidFill>
                  <a:latin typeface="Malgun Gothic"/>
                  <a:ea typeface="Malgun Gothic"/>
                  <a:cs typeface="Malgun Gothic"/>
                  <a:sym typeface="Malgun Gothic"/>
                </a:rPr>
                <a:t>…</a:t>
              </a:r>
              <a:endParaRPr sz="1800">
                <a:solidFill>
                  <a:srgbClr val="7F7F7F"/>
                </a:solidFill>
                <a:latin typeface="Malgun Gothic"/>
                <a:ea typeface="Malgun Gothic"/>
                <a:cs typeface="Malgun Gothic"/>
                <a:sym typeface="Malgun Gothic"/>
              </a:endParaRPr>
            </a:p>
          </p:txBody>
        </p:sp>
        <p:sp>
          <p:nvSpPr>
            <p:cNvPr id="1679" name="Google Shape;1679;p43"/>
            <p:cNvSpPr txBox="1"/>
            <p:nvPr/>
          </p:nvSpPr>
          <p:spPr>
            <a:xfrm>
              <a:off x="2527193" y="2139665"/>
              <a:ext cx="83433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공고 제목</a:t>
              </a:r>
              <a:endParaRPr sz="1100">
                <a:solidFill>
                  <a:schemeClr val="dk1"/>
                </a:solidFill>
                <a:latin typeface="Noto Sans KR"/>
                <a:ea typeface="Noto Sans KR"/>
                <a:cs typeface="Noto Sans KR"/>
                <a:sym typeface="Noto Sans KR"/>
              </a:endParaRPr>
            </a:p>
          </p:txBody>
        </p:sp>
        <p:sp>
          <p:nvSpPr>
            <p:cNvPr id="1680" name="Google Shape;1680;p43"/>
            <p:cNvSpPr txBox="1"/>
            <p:nvPr/>
          </p:nvSpPr>
          <p:spPr>
            <a:xfrm>
              <a:off x="2678120" y="2438411"/>
              <a:ext cx="83433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회사명</a:t>
              </a:r>
              <a:endParaRPr sz="1100">
                <a:solidFill>
                  <a:schemeClr val="dk1"/>
                </a:solidFill>
                <a:latin typeface="Noto Sans KR"/>
                <a:ea typeface="Noto Sans KR"/>
                <a:cs typeface="Noto Sans KR"/>
                <a:sym typeface="Noto Sans KR"/>
              </a:endParaRPr>
            </a:p>
          </p:txBody>
        </p:sp>
        <p:sp>
          <p:nvSpPr>
            <p:cNvPr id="1681" name="Google Shape;1681;p43"/>
            <p:cNvSpPr txBox="1"/>
            <p:nvPr/>
          </p:nvSpPr>
          <p:spPr>
            <a:xfrm>
              <a:off x="2760130" y="2752806"/>
              <a:ext cx="83433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1682" name="Google Shape;1682;p43"/>
            <p:cNvSpPr txBox="1"/>
            <p:nvPr/>
          </p:nvSpPr>
          <p:spPr>
            <a:xfrm>
              <a:off x="2561919" y="3051099"/>
              <a:ext cx="83433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채용 유형</a:t>
              </a:r>
              <a:endParaRPr sz="1100">
                <a:solidFill>
                  <a:schemeClr val="dk1"/>
                </a:solidFill>
                <a:latin typeface="Noto Sans KR"/>
                <a:ea typeface="Noto Sans KR"/>
                <a:cs typeface="Noto Sans KR"/>
                <a:sym typeface="Noto Sans KR"/>
              </a:endParaRPr>
            </a:p>
          </p:txBody>
        </p:sp>
        <p:sp>
          <p:nvSpPr>
            <p:cNvPr id="1683" name="Google Shape;1683;p43"/>
            <p:cNvSpPr txBox="1"/>
            <p:nvPr/>
          </p:nvSpPr>
          <p:spPr>
            <a:xfrm>
              <a:off x="2561920" y="3326903"/>
              <a:ext cx="83433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모집 기간</a:t>
              </a:r>
              <a:endParaRPr sz="1100">
                <a:solidFill>
                  <a:schemeClr val="dk1"/>
                </a:solidFill>
                <a:latin typeface="Noto Sans KR"/>
                <a:ea typeface="Noto Sans KR"/>
                <a:cs typeface="Noto Sans KR"/>
                <a:sym typeface="Noto Sans KR"/>
              </a:endParaRPr>
            </a:p>
          </p:txBody>
        </p:sp>
        <p:sp>
          <p:nvSpPr>
            <p:cNvPr id="1684" name="Google Shape;1684;p43"/>
            <p:cNvSpPr/>
            <p:nvPr/>
          </p:nvSpPr>
          <p:spPr>
            <a:xfrm>
              <a:off x="3307222" y="2160000"/>
              <a:ext cx="2419203" cy="231802"/>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[경력] AI 엔지니어 채용</a:t>
              </a:r>
              <a:endParaRPr sz="1200">
                <a:solidFill>
                  <a:schemeClr val="dk1"/>
                </a:solidFill>
                <a:latin typeface="Noto Sans KR"/>
                <a:ea typeface="Noto Sans KR"/>
                <a:cs typeface="Noto Sans KR"/>
                <a:sym typeface="Noto Sans KR"/>
              </a:endParaRPr>
            </a:p>
          </p:txBody>
        </p:sp>
        <p:sp>
          <p:nvSpPr>
            <p:cNvPr id="1685" name="Google Shape;1685;p43"/>
            <p:cNvSpPr/>
            <p:nvPr/>
          </p:nvSpPr>
          <p:spPr>
            <a:xfrm>
              <a:off x="3300620" y="2459227"/>
              <a:ext cx="2419203" cy="231802"/>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Victerview</a:t>
              </a:r>
              <a:endParaRPr sz="1200">
                <a:solidFill>
                  <a:schemeClr val="dk1"/>
                </a:solidFill>
                <a:latin typeface="Malgun Gothic"/>
                <a:ea typeface="Malgun Gothic"/>
                <a:cs typeface="Malgun Gothic"/>
                <a:sym typeface="Malgun Gothic"/>
              </a:endParaRPr>
            </a:p>
          </p:txBody>
        </p:sp>
        <p:sp>
          <p:nvSpPr>
            <p:cNvPr id="1686" name="Google Shape;1686;p43"/>
            <p:cNvSpPr/>
            <p:nvPr/>
          </p:nvSpPr>
          <p:spPr>
            <a:xfrm>
              <a:off x="3307221" y="2756976"/>
              <a:ext cx="2419203" cy="231802"/>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lang="ko-KR" sz="1200">
                  <a:solidFill>
                    <a:schemeClr val="dk1"/>
                  </a:solidFill>
                  <a:latin typeface="Noto Sans KR"/>
                  <a:ea typeface="Noto Sans KR"/>
                  <a:cs typeface="Noto Sans KR"/>
                  <a:sym typeface="Noto Sans KR"/>
                </a:rPr>
                <a:t>AI Engineer                                    </a:t>
              </a:r>
              <a:r>
                <a:rPr lang="ko-KR" sz="1050">
                  <a:solidFill>
                    <a:schemeClr val="dk1"/>
                  </a:solidFill>
                  <a:latin typeface="Noto Sans KR"/>
                  <a:ea typeface="Noto Sans KR"/>
                  <a:cs typeface="Noto Sans KR"/>
                  <a:sym typeface="Noto Sans KR"/>
                </a:rPr>
                <a:t>∨ </a:t>
              </a:r>
              <a:endParaRPr sz="1050">
                <a:solidFill>
                  <a:schemeClr val="dk1"/>
                </a:solidFill>
                <a:latin typeface="Noto Sans KR"/>
                <a:ea typeface="Noto Sans KR"/>
                <a:cs typeface="Noto Sans KR"/>
                <a:sym typeface="Noto Sans KR"/>
              </a:endParaRPr>
            </a:p>
          </p:txBody>
        </p:sp>
        <p:sp>
          <p:nvSpPr>
            <p:cNvPr id="1687" name="Google Shape;1687;p43"/>
            <p:cNvSpPr/>
            <p:nvPr/>
          </p:nvSpPr>
          <p:spPr>
            <a:xfrm>
              <a:off x="3307220" y="3054725"/>
              <a:ext cx="2419203" cy="231802"/>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정규직                                               </a:t>
              </a:r>
              <a:r>
                <a:rPr lang="ko-KR" sz="1050">
                  <a:solidFill>
                    <a:schemeClr val="dk1"/>
                  </a:solidFill>
                  <a:latin typeface="Noto Sans KR"/>
                  <a:ea typeface="Noto Sans KR"/>
                  <a:cs typeface="Noto Sans KR"/>
                  <a:sym typeface="Noto Sans KR"/>
                </a:rPr>
                <a:t>∨</a:t>
              </a:r>
              <a:endParaRPr sz="1200">
                <a:solidFill>
                  <a:schemeClr val="dk1"/>
                </a:solidFill>
                <a:latin typeface="Noto Sans KR"/>
                <a:ea typeface="Noto Sans KR"/>
                <a:cs typeface="Noto Sans KR"/>
                <a:sym typeface="Noto Sans KR"/>
              </a:endParaRPr>
            </a:p>
          </p:txBody>
        </p:sp>
        <p:sp>
          <p:nvSpPr>
            <p:cNvPr id="1688" name="Google Shape;1688;p43"/>
            <p:cNvSpPr/>
            <p:nvPr/>
          </p:nvSpPr>
          <p:spPr>
            <a:xfrm>
              <a:off x="3307219" y="3350797"/>
              <a:ext cx="2419203" cy="231802"/>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2026.02.05 ~ 2026.02.24                 </a:t>
              </a:r>
              <a:endParaRPr sz="1100">
                <a:solidFill>
                  <a:schemeClr val="dk1"/>
                </a:solidFill>
                <a:latin typeface="Noto Sans KR"/>
                <a:ea typeface="Noto Sans KR"/>
                <a:cs typeface="Noto Sans KR"/>
                <a:sym typeface="Noto Sans KR"/>
              </a:endParaRPr>
            </a:p>
          </p:txBody>
        </p:sp>
      </p:grpSp>
      <p:cxnSp>
        <p:nvCxnSpPr>
          <p:cNvPr id="1689" name="Google Shape;1689;p43"/>
          <p:cNvCxnSpPr/>
          <p:nvPr/>
        </p:nvCxnSpPr>
        <p:spPr>
          <a:xfrm>
            <a:off x="2393779" y="4193943"/>
            <a:ext cx="3580634" cy="0"/>
          </a:xfrm>
          <a:prstGeom prst="straightConnector1">
            <a:avLst/>
          </a:prstGeom>
          <a:noFill/>
          <a:ln cap="flat" cmpd="sng" w="9525">
            <a:solidFill>
              <a:srgbClr val="A5A5A5"/>
            </a:solidFill>
            <a:prstDash val="solid"/>
            <a:miter lim="8000"/>
            <a:headEnd len="sm" w="sm" type="none"/>
            <a:tailEnd len="sm" w="sm" type="none"/>
          </a:ln>
        </p:spPr>
      </p:cxnSp>
      <p:grpSp>
        <p:nvGrpSpPr>
          <p:cNvPr id="1690" name="Google Shape;1690;p43"/>
          <p:cNvGrpSpPr/>
          <p:nvPr/>
        </p:nvGrpSpPr>
        <p:grpSpPr>
          <a:xfrm>
            <a:off x="2400547" y="3775855"/>
            <a:ext cx="3580634" cy="2655783"/>
            <a:chOff x="2400547" y="3775855"/>
            <a:chExt cx="3580634" cy="2655783"/>
          </a:xfrm>
        </p:grpSpPr>
        <p:sp>
          <p:nvSpPr>
            <p:cNvPr id="1691" name="Google Shape;1691;p43"/>
            <p:cNvSpPr/>
            <p:nvPr/>
          </p:nvSpPr>
          <p:spPr>
            <a:xfrm>
              <a:off x="2400547" y="3801787"/>
              <a:ext cx="3580634" cy="2629851"/>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692" name="Google Shape;1692;p43"/>
            <p:cNvSpPr txBox="1"/>
            <p:nvPr/>
          </p:nvSpPr>
          <p:spPr>
            <a:xfrm>
              <a:off x="2444791" y="3866077"/>
              <a:ext cx="141745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공고 세부 내용</a:t>
              </a:r>
              <a:endParaRPr b="1" sz="1400">
                <a:solidFill>
                  <a:schemeClr val="dk1"/>
                </a:solidFill>
                <a:latin typeface="Noto Sans KR"/>
                <a:ea typeface="Noto Sans KR"/>
                <a:cs typeface="Noto Sans KR"/>
                <a:sym typeface="Noto Sans KR"/>
              </a:endParaRPr>
            </a:p>
          </p:txBody>
        </p:sp>
        <p:sp>
          <p:nvSpPr>
            <p:cNvPr id="1693" name="Google Shape;1693;p43"/>
            <p:cNvSpPr txBox="1"/>
            <p:nvPr/>
          </p:nvSpPr>
          <p:spPr>
            <a:xfrm>
              <a:off x="5541729" y="3775855"/>
              <a:ext cx="3561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7F7F7F"/>
                  </a:solidFill>
                  <a:latin typeface="Malgun Gothic"/>
                  <a:ea typeface="Malgun Gothic"/>
                  <a:cs typeface="Malgun Gothic"/>
                  <a:sym typeface="Malgun Gothic"/>
                </a:rPr>
                <a:t>…</a:t>
              </a:r>
              <a:endParaRPr sz="1800">
                <a:solidFill>
                  <a:srgbClr val="7F7F7F"/>
                </a:solidFill>
                <a:latin typeface="Malgun Gothic"/>
                <a:ea typeface="Malgun Gothic"/>
                <a:cs typeface="Malgun Gothic"/>
                <a:sym typeface="Malgun Gothic"/>
              </a:endParaRPr>
            </a:p>
          </p:txBody>
        </p:sp>
        <p:sp>
          <p:nvSpPr>
            <p:cNvPr id="1694" name="Google Shape;1694;p43"/>
            <p:cNvSpPr/>
            <p:nvPr/>
          </p:nvSpPr>
          <p:spPr>
            <a:xfrm>
              <a:off x="2564694" y="4271010"/>
              <a:ext cx="3175642" cy="2025445"/>
            </a:xfrm>
            <a:prstGeom prst="roundRect">
              <a:avLst>
                <a:gd fmla="val 1335"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1695" name="Google Shape;1695;p43"/>
            <p:cNvPicPr preferRelativeResize="0"/>
            <p:nvPr/>
          </p:nvPicPr>
          <p:blipFill rotWithShape="1">
            <a:blip r:embed="rId8">
              <a:alphaModFix/>
            </a:blip>
            <a:srcRect b="0" l="0" r="0" t="0"/>
            <a:stretch/>
          </p:blipFill>
          <p:spPr>
            <a:xfrm>
              <a:off x="2514055" y="4244738"/>
              <a:ext cx="3308576" cy="304843"/>
            </a:xfrm>
            <a:prstGeom prst="rect">
              <a:avLst/>
            </a:prstGeom>
            <a:noFill/>
            <a:ln>
              <a:noFill/>
            </a:ln>
          </p:spPr>
        </p:pic>
      </p:grpSp>
      <p:sp>
        <p:nvSpPr>
          <p:cNvPr id="1696" name="Google Shape;1696;p43"/>
          <p:cNvSpPr/>
          <p:nvPr/>
        </p:nvSpPr>
        <p:spPr>
          <a:xfrm>
            <a:off x="6142354" y="1713957"/>
            <a:ext cx="2161321" cy="1434685"/>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697" name="Google Shape;1697;p43"/>
          <p:cNvCxnSpPr/>
          <p:nvPr/>
        </p:nvCxnSpPr>
        <p:spPr>
          <a:xfrm>
            <a:off x="6159260" y="2002895"/>
            <a:ext cx="2117974" cy="8560"/>
          </a:xfrm>
          <a:prstGeom prst="straightConnector1">
            <a:avLst/>
          </a:prstGeom>
          <a:noFill/>
          <a:ln cap="flat" cmpd="sng" w="9525">
            <a:solidFill>
              <a:srgbClr val="A5A5A5"/>
            </a:solidFill>
            <a:prstDash val="solid"/>
            <a:miter lim="8000"/>
            <a:headEnd len="sm" w="sm" type="none"/>
            <a:tailEnd len="sm" w="sm" type="none"/>
          </a:ln>
        </p:spPr>
      </p:cxnSp>
      <p:sp>
        <p:nvSpPr>
          <p:cNvPr id="1698" name="Google Shape;1698;p43"/>
          <p:cNvSpPr txBox="1"/>
          <p:nvPr/>
        </p:nvSpPr>
        <p:spPr>
          <a:xfrm>
            <a:off x="6159260" y="1742194"/>
            <a:ext cx="10869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면접 유형</a:t>
            </a:r>
            <a:endParaRPr b="1" sz="1200">
              <a:solidFill>
                <a:schemeClr val="dk1"/>
              </a:solidFill>
              <a:latin typeface="Noto Sans KR"/>
              <a:ea typeface="Noto Sans KR"/>
              <a:cs typeface="Noto Sans KR"/>
              <a:sym typeface="Noto Sans KR"/>
            </a:endParaRPr>
          </a:p>
        </p:txBody>
      </p:sp>
      <p:sp>
        <p:nvSpPr>
          <p:cNvPr id="1699" name="Google Shape;1699;p43"/>
          <p:cNvSpPr txBox="1"/>
          <p:nvPr/>
        </p:nvSpPr>
        <p:spPr>
          <a:xfrm>
            <a:off x="7920501" y="1611379"/>
            <a:ext cx="3561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7F7F7F"/>
                </a:solidFill>
                <a:latin typeface="Malgun Gothic"/>
                <a:ea typeface="Malgun Gothic"/>
                <a:cs typeface="Malgun Gothic"/>
                <a:sym typeface="Malgun Gothic"/>
              </a:rPr>
              <a:t>…</a:t>
            </a:r>
            <a:endParaRPr sz="1800">
              <a:solidFill>
                <a:srgbClr val="7F7F7F"/>
              </a:solidFill>
              <a:latin typeface="Malgun Gothic"/>
              <a:ea typeface="Malgun Gothic"/>
              <a:cs typeface="Malgun Gothic"/>
              <a:sym typeface="Malgun Gothic"/>
            </a:endParaRPr>
          </a:p>
        </p:txBody>
      </p:sp>
      <p:sp>
        <p:nvSpPr>
          <p:cNvPr id="1700" name="Google Shape;1700;p43"/>
          <p:cNvSpPr/>
          <p:nvPr/>
        </p:nvSpPr>
        <p:spPr>
          <a:xfrm>
            <a:off x="6271403" y="2095022"/>
            <a:ext cx="126000" cy="126000"/>
          </a:xfrm>
          <a:prstGeom prst="ellipse">
            <a:avLst/>
          </a:prstGeom>
          <a:solidFill>
            <a:schemeClr val="lt1"/>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01" name="Google Shape;1701;p43"/>
          <p:cNvSpPr/>
          <p:nvPr/>
        </p:nvSpPr>
        <p:spPr>
          <a:xfrm>
            <a:off x="6298403" y="2122652"/>
            <a:ext cx="72000" cy="72000"/>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02" name="Google Shape;1702;p43"/>
          <p:cNvSpPr/>
          <p:nvPr/>
        </p:nvSpPr>
        <p:spPr>
          <a:xfrm>
            <a:off x="7017877" y="2101480"/>
            <a:ext cx="126000" cy="126000"/>
          </a:xfrm>
          <a:prstGeom prst="ellipse">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03" name="Google Shape;1703;p43"/>
          <p:cNvSpPr txBox="1"/>
          <p:nvPr/>
        </p:nvSpPr>
        <p:spPr>
          <a:xfrm>
            <a:off x="6368546" y="2036306"/>
            <a:ext cx="62233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면접</a:t>
            </a:r>
            <a:endParaRPr sz="1100">
              <a:solidFill>
                <a:schemeClr val="dk1"/>
              </a:solidFill>
              <a:latin typeface="Noto Sans KR"/>
              <a:ea typeface="Noto Sans KR"/>
              <a:cs typeface="Noto Sans KR"/>
              <a:sym typeface="Noto Sans KR"/>
            </a:endParaRPr>
          </a:p>
        </p:txBody>
      </p:sp>
      <p:sp>
        <p:nvSpPr>
          <p:cNvPr id="1704" name="Google Shape;1704;p43"/>
          <p:cNvSpPr txBox="1"/>
          <p:nvPr/>
        </p:nvSpPr>
        <p:spPr>
          <a:xfrm>
            <a:off x="7150644" y="2034558"/>
            <a:ext cx="74560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화상 면접</a:t>
            </a:r>
            <a:endParaRPr sz="1100">
              <a:solidFill>
                <a:schemeClr val="dk1"/>
              </a:solidFill>
              <a:latin typeface="Noto Sans KR"/>
              <a:ea typeface="Noto Sans KR"/>
              <a:cs typeface="Noto Sans KR"/>
              <a:sym typeface="Noto Sans KR"/>
            </a:endParaRPr>
          </a:p>
        </p:txBody>
      </p:sp>
      <p:grpSp>
        <p:nvGrpSpPr>
          <p:cNvPr id="1705" name="Google Shape;1705;p43"/>
          <p:cNvGrpSpPr/>
          <p:nvPr/>
        </p:nvGrpSpPr>
        <p:grpSpPr>
          <a:xfrm>
            <a:off x="6218695" y="2276321"/>
            <a:ext cx="1796676" cy="261610"/>
            <a:chOff x="6218695" y="2276321"/>
            <a:chExt cx="1796676" cy="261610"/>
          </a:xfrm>
        </p:grpSpPr>
        <p:sp>
          <p:nvSpPr>
            <p:cNvPr id="1706" name="Google Shape;1706;p43"/>
            <p:cNvSpPr txBox="1"/>
            <p:nvPr/>
          </p:nvSpPr>
          <p:spPr>
            <a:xfrm>
              <a:off x="6218695" y="2276321"/>
              <a:ext cx="84464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질문 생성</a:t>
              </a:r>
              <a:endParaRPr sz="1100">
                <a:solidFill>
                  <a:schemeClr val="dk1"/>
                </a:solidFill>
                <a:latin typeface="Noto Sans KR"/>
                <a:ea typeface="Noto Sans KR"/>
                <a:cs typeface="Noto Sans KR"/>
                <a:sym typeface="Noto Sans KR"/>
              </a:endParaRPr>
            </a:p>
          </p:txBody>
        </p:sp>
        <p:sp>
          <p:nvSpPr>
            <p:cNvPr id="1707" name="Google Shape;1707;p43"/>
            <p:cNvSpPr/>
            <p:nvPr/>
          </p:nvSpPr>
          <p:spPr>
            <a:xfrm>
              <a:off x="6935371" y="2291882"/>
              <a:ext cx="1080000"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자동생성       </a:t>
              </a:r>
              <a:r>
                <a:rPr lang="ko-KR" sz="1050">
                  <a:solidFill>
                    <a:schemeClr val="dk1"/>
                  </a:solidFill>
                  <a:latin typeface="Noto Sans KR"/>
                  <a:ea typeface="Noto Sans KR"/>
                  <a:cs typeface="Noto Sans KR"/>
                  <a:sym typeface="Noto Sans KR"/>
                </a:rPr>
                <a:t>∨</a:t>
              </a:r>
              <a:endParaRPr sz="1050">
                <a:solidFill>
                  <a:schemeClr val="dk1"/>
                </a:solidFill>
                <a:latin typeface="Noto Sans KR"/>
                <a:ea typeface="Noto Sans KR"/>
                <a:cs typeface="Noto Sans KR"/>
                <a:sym typeface="Noto Sans KR"/>
              </a:endParaRPr>
            </a:p>
          </p:txBody>
        </p:sp>
      </p:grpSp>
      <p:grpSp>
        <p:nvGrpSpPr>
          <p:cNvPr id="1708" name="Google Shape;1708;p43"/>
          <p:cNvGrpSpPr/>
          <p:nvPr/>
        </p:nvGrpSpPr>
        <p:grpSpPr>
          <a:xfrm>
            <a:off x="6225463" y="2519303"/>
            <a:ext cx="1792382" cy="261610"/>
            <a:chOff x="6222989" y="2263838"/>
            <a:chExt cx="1792382" cy="261610"/>
          </a:xfrm>
        </p:grpSpPr>
        <p:sp>
          <p:nvSpPr>
            <p:cNvPr id="1709" name="Google Shape;1709;p43"/>
            <p:cNvSpPr txBox="1"/>
            <p:nvPr/>
          </p:nvSpPr>
          <p:spPr>
            <a:xfrm>
              <a:off x="6222989" y="2263838"/>
              <a:ext cx="84464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난이도</a:t>
              </a:r>
              <a:endParaRPr sz="1100">
                <a:solidFill>
                  <a:schemeClr val="dk1"/>
                </a:solidFill>
                <a:latin typeface="Noto Sans KR"/>
                <a:ea typeface="Noto Sans KR"/>
                <a:cs typeface="Noto Sans KR"/>
                <a:sym typeface="Noto Sans KR"/>
              </a:endParaRPr>
            </a:p>
          </p:txBody>
        </p:sp>
        <p:sp>
          <p:nvSpPr>
            <p:cNvPr id="1710" name="Google Shape;1710;p43"/>
            <p:cNvSpPr/>
            <p:nvPr/>
          </p:nvSpPr>
          <p:spPr>
            <a:xfrm>
              <a:off x="6935371" y="2291882"/>
              <a:ext cx="1080000"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medium      </a:t>
              </a:r>
              <a:r>
                <a:rPr lang="ko-KR" sz="1050">
                  <a:solidFill>
                    <a:schemeClr val="dk1"/>
                  </a:solidFill>
                  <a:latin typeface="Noto Sans KR"/>
                  <a:ea typeface="Noto Sans KR"/>
                  <a:cs typeface="Noto Sans KR"/>
                  <a:sym typeface="Noto Sans KR"/>
                </a:rPr>
                <a:t>∨</a:t>
              </a:r>
              <a:endParaRPr sz="1050">
                <a:solidFill>
                  <a:schemeClr val="dk1"/>
                </a:solidFill>
                <a:latin typeface="Noto Sans KR"/>
                <a:ea typeface="Noto Sans KR"/>
                <a:cs typeface="Noto Sans KR"/>
                <a:sym typeface="Noto Sans KR"/>
              </a:endParaRPr>
            </a:p>
          </p:txBody>
        </p:sp>
      </p:grpSp>
      <p:grpSp>
        <p:nvGrpSpPr>
          <p:cNvPr id="1711" name="Google Shape;1711;p43"/>
          <p:cNvGrpSpPr/>
          <p:nvPr/>
        </p:nvGrpSpPr>
        <p:grpSpPr>
          <a:xfrm>
            <a:off x="6222990" y="2774511"/>
            <a:ext cx="1505866" cy="261610"/>
            <a:chOff x="6222989" y="2263838"/>
            <a:chExt cx="1590025" cy="261610"/>
          </a:xfrm>
        </p:grpSpPr>
        <p:sp>
          <p:nvSpPr>
            <p:cNvPr id="1712" name="Google Shape;1712;p43"/>
            <p:cNvSpPr txBox="1"/>
            <p:nvPr/>
          </p:nvSpPr>
          <p:spPr>
            <a:xfrm>
              <a:off x="6222989" y="2263838"/>
              <a:ext cx="84464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질문 개수</a:t>
              </a:r>
              <a:endParaRPr sz="1100">
                <a:solidFill>
                  <a:schemeClr val="dk1"/>
                </a:solidFill>
                <a:latin typeface="Noto Sans KR"/>
                <a:ea typeface="Noto Sans KR"/>
                <a:cs typeface="Noto Sans KR"/>
                <a:sym typeface="Noto Sans KR"/>
              </a:endParaRPr>
            </a:p>
          </p:txBody>
        </p:sp>
        <p:sp>
          <p:nvSpPr>
            <p:cNvPr id="1713" name="Google Shape;1713;p43"/>
            <p:cNvSpPr/>
            <p:nvPr/>
          </p:nvSpPr>
          <p:spPr>
            <a:xfrm>
              <a:off x="6976751" y="2293454"/>
              <a:ext cx="836263"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10         </a:t>
              </a:r>
              <a:r>
                <a:rPr lang="ko-KR" sz="1050">
                  <a:solidFill>
                    <a:schemeClr val="dk1"/>
                  </a:solidFill>
                  <a:latin typeface="Noto Sans KR"/>
                  <a:ea typeface="Noto Sans KR"/>
                  <a:cs typeface="Noto Sans KR"/>
                  <a:sym typeface="Noto Sans KR"/>
                </a:rPr>
                <a:t>∨</a:t>
              </a:r>
              <a:endParaRPr sz="1050">
                <a:solidFill>
                  <a:schemeClr val="dk1"/>
                </a:solidFill>
                <a:latin typeface="Noto Sans KR"/>
                <a:ea typeface="Noto Sans KR"/>
                <a:cs typeface="Noto Sans KR"/>
                <a:sym typeface="Noto Sans KR"/>
              </a:endParaRPr>
            </a:p>
          </p:txBody>
        </p:sp>
      </p:grpSp>
      <p:sp>
        <p:nvSpPr>
          <p:cNvPr id="1714" name="Google Shape;1714;p43"/>
          <p:cNvSpPr txBox="1"/>
          <p:nvPr/>
        </p:nvSpPr>
        <p:spPr>
          <a:xfrm>
            <a:off x="7710100" y="2777832"/>
            <a:ext cx="22571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개</a:t>
            </a:r>
            <a:endParaRPr sz="1200">
              <a:solidFill>
                <a:schemeClr val="dk1"/>
              </a:solidFill>
              <a:latin typeface="Noto Sans KR"/>
              <a:ea typeface="Noto Sans KR"/>
              <a:cs typeface="Noto Sans KR"/>
              <a:sym typeface="Noto Sans KR"/>
            </a:endParaRPr>
          </a:p>
        </p:txBody>
      </p:sp>
      <p:grpSp>
        <p:nvGrpSpPr>
          <p:cNvPr id="1715" name="Google Shape;1715;p43"/>
          <p:cNvGrpSpPr/>
          <p:nvPr/>
        </p:nvGrpSpPr>
        <p:grpSpPr>
          <a:xfrm>
            <a:off x="6145207" y="3154819"/>
            <a:ext cx="2161321" cy="1537263"/>
            <a:chOff x="6294754" y="1763779"/>
            <a:chExt cx="2161321" cy="1537263"/>
          </a:xfrm>
        </p:grpSpPr>
        <p:sp>
          <p:nvSpPr>
            <p:cNvPr id="1716" name="Google Shape;1716;p43"/>
            <p:cNvSpPr/>
            <p:nvPr/>
          </p:nvSpPr>
          <p:spPr>
            <a:xfrm>
              <a:off x="6294754" y="1866357"/>
              <a:ext cx="2161321" cy="1434685"/>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717" name="Google Shape;1717;p43"/>
            <p:cNvCxnSpPr/>
            <p:nvPr/>
          </p:nvCxnSpPr>
          <p:spPr>
            <a:xfrm>
              <a:off x="6311660" y="2155295"/>
              <a:ext cx="2117974" cy="8560"/>
            </a:xfrm>
            <a:prstGeom prst="straightConnector1">
              <a:avLst/>
            </a:prstGeom>
            <a:noFill/>
            <a:ln cap="flat" cmpd="sng" w="9525">
              <a:solidFill>
                <a:srgbClr val="A5A5A5"/>
              </a:solidFill>
              <a:prstDash val="solid"/>
              <a:miter lim="8000"/>
              <a:headEnd len="sm" w="sm" type="none"/>
              <a:tailEnd len="sm" w="sm" type="none"/>
            </a:ln>
          </p:spPr>
        </p:cxnSp>
        <p:sp>
          <p:nvSpPr>
            <p:cNvPr id="1718" name="Google Shape;1718;p43"/>
            <p:cNvSpPr txBox="1"/>
            <p:nvPr/>
          </p:nvSpPr>
          <p:spPr>
            <a:xfrm>
              <a:off x="6311660" y="1894594"/>
              <a:ext cx="10869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평가 기준</a:t>
              </a:r>
              <a:endParaRPr b="1" sz="1200">
                <a:solidFill>
                  <a:schemeClr val="dk1"/>
                </a:solidFill>
                <a:latin typeface="Noto Sans KR"/>
                <a:ea typeface="Noto Sans KR"/>
                <a:cs typeface="Noto Sans KR"/>
                <a:sym typeface="Noto Sans KR"/>
              </a:endParaRPr>
            </a:p>
          </p:txBody>
        </p:sp>
        <p:sp>
          <p:nvSpPr>
            <p:cNvPr id="1719" name="Google Shape;1719;p43"/>
            <p:cNvSpPr txBox="1"/>
            <p:nvPr/>
          </p:nvSpPr>
          <p:spPr>
            <a:xfrm>
              <a:off x="8072901" y="1763779"/>
              <a:ext cx="3561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7F7F7F"/>
                  </a:solidFill>
                  <a:latin typeface="Malgun Gothic"/>
                  <a:ea typeface="Malgun Gothic"/>
                  <a:cs typeface="Malgun Gothic"/>
                  <a:sym typeface="Malgun Gothic"/>
                </a:rPr>
                <a:t>…</a:t>
              </a:r>
              <a:endParaRPr sz="1800">
                <a:solidFill>
                  <a:srgbClr val="7F7F7F"/>
                </a:solidFill>
                <a:latin typeface="Malgun Gothic"/>
                <a:ea typeface="Malgun Gothic"/>
                <a:cs typeface="Malgun Gothic"/>
                <a:sym typeface="Malgun Gothic"/>
              </a:endParaRPr>
            </a:p>
          </p:txBody>
        </p:sp>
        <p:grpSp>
          <p:nvGrpSpPr>
            <p:cNvPr id="1720" name="Google Shape;1720;p43"/>
            <p:cNvGrpSpPr/>
            <p:nvPr/>
          </p:nvGrpSpPr>
          <p:grpSpPr>
            <a:xfrm>
              <a:off x="6299701" y="2229882"/>
              <a:ext cx="2009217" cy="261610"/>
              <a:chOff x="6147301" y="2077482"/>
              <a:chExt cx="2009217" cy="261610"/>
            </a:xfrm>
          </p:grpSpPr>
          <p:sp>
            <p:nvSpPr>
              <p:cNvPr id="1721" name="Google Shape;1721;p43"/>
              <p:cNvSpPr txBox="1"/>
              <p:nvPr/>
            </p:nvSpPr>
            <p:spPr>
              <a:xfrm>
                <a:off x="6147301" y="2077482"/>
                <a:ext cx="84464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Rubrics</a:t>
                </a:r>
                <a:endParaRPr sz="1100">
                  <a:solidFill>
                    <a:schemeClr val="dk1"/>
                  </a:solidFill>
                  <a:latin typeface="Noto Sans KR"/>
                  <a:ea typeface="Noto Sans KR"/>
                  <a:cs typeface="Noto Sans KR"/>
                  <a:sym typeface="Noto Sans KR"/>
                </a:endParaRPr>
              </a:p>
            </p:txBody>
          </p:sp>
          <p:sp>
            <p:nvSpPr>
              <p:cNvPr id="1722" name="Google Shape;1722;p43"/>
              <p:cNvSpPr/>
              <p:nvPr/>
            </p:nvSpPr>
            <p:spPr>
              <a:xfrm>
                <a:off x="6788518" y="2102608"/>
                <a:ext cx="1368000"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AI Engineer 경력  Rubrics    </a:t>
                </a:r>
                <a:r>
                  <a:rPr lang="ko-KR" sz="700">
                    <a:solidFill>
                      <a:schemeClr val="dk1"/>
                    </a:solidFill>
                    <a:latin typeface="Noto Sans KR"/>
                    <a:ea typeface="Noto Sans KR"/>
                    <a:cs typeface="Noto Sans KR"/>
                    <a:sym typeface="Noto Sans KR"/>
                  </a:rPr>
                  <a:t>∨</a:t>
                </a:r>
                <a:endParaRPr sz="700">
                  <a:solidFill>
                    <a:schemeClr val="dk1"/>
                  </a:solidFill>
                  <a:latin typeface="Noto Sans KR"/>
                  <a:ea typeface="Noto Sans KR"/>
                  <a:cs typeface="Noto Sans KR"/>
                  <a:sym typeface="Noto Sans KR"/>
                </a:endParaRPr>
              </a:p>
            </p:txBody>
          </p:sp>
        </p:grpSp>
      </p:grpSp>
      <p:sp>
        <p:nvSpPr>
          <p:cNvPr id="1723" name="Google Shape;1723;p43"/>
          <p:cNvSpPr txBox="1"/>
          <p:nvPr/>
        </p:nvSpPr>
        <p:spPr>
          <a:xfrm>
            <a:off x="6139129" y="3869658"/>
            <a:ext cx="126146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 역량  비율</a:t>
            </a:r>
            <a:endParaRPr sz="1100">
              <a:solidFill>
                <a:schemeClr val="dk1"/>
              </a:solidFill>
              <a:latin typeface="Noto Sans KR"/>
              <a:ea typeface="Noto Sans KR"/>
              <a:cs typeface="Noto Sans KR"/>
              <a:sym typeface="Noto Sans KR"/>
            </a:endParaRPr>
          </a:p>
        </p:txBody>
      </p:sp>
      <p:sp>
        <p:nvSpPr>
          <p:cNvPr id="1724" name="Google Shape;1724;p43"/>
          <p:cNvSpPr/>
          <p:nvPr/>
        </p:nvSpPr>
        <p:spPr>
          <a:xfrm>
            <a:off x="7162157" y="3894784"/>
            <a:ext cx="720000"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0000" spcFirstLastPara="1" rIns="0"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80          %</a:t>
            </a:r>
            <a:endParaRPr sz="1050">
              <a:solidFill>
                <a:schemeClr val="dk1"/>
              </a:solidFill>
              <a:latin typeface="Noto Sans KR"/>
              <a:ea typeface="Noto Sans KR"/>
              <a:cs typeface="Noto Sans KR"/>
              <a:sym typeface="Noto Sans KR"/>
            </a:endParaRPr>
          </a:p>
        </p:txBody>
      </p:sp>
      <p:sp>
        <p:nvSpPr>
          <p:cNvPr id="1725" name="Google Shape;1725;p43"/>
          <p:cNvSpPr txBox="1"/>
          <p:nvPr/>
        </p:nvSpPr>
        <p:spPr>
          <a:xfrm>
            <a:off x="6145897" y="4116079"/>
            <a:ext cx="126146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인성 역량  비율</a:t>
            </a:r>
            <a:endParaRPr sz="1100">
              <a:solidFill>
                <a:schemeClr val="dk1"/>
              </a:solidFill>
              <a:latin typeface="Noto Sans KR"/>
              <a:ea typeface="Noto Sans KR"/>
              <a:cs typeface="Noto Sans KR"/>
              <a:sym typeface="Noto Sans KR"/>
            </a:endParaRPr>
          </a:p>
        </p:txBody>
      </p:sp>
      <p:sp>
        <p:nvSpPr>
          <p:cNvPr id="1726" name="Google Shape;1726;p43"/>
          <p:cNvSpPr/>
          <p:nvPr/>
        </p:nvSpPr>
        <p:spPr>
          <a:xfrm>
            <a:off x="7158996" y="4141803"/>
            <a:ext cx="720000"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0000" spcFirstLastPara="1" rIns="0"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20          %</a:t>
            </a:r>
            <a:endParaRPr sz="1050">
              <a:solidFill>
                <a:schemeClr val="dk1"/>
              </a:solidFill>
              <a:latin typeface="Noto Sans KR"/>
              <a:ea typeface="Noto Sans KR"/>
              <a:cs typeface="Noto Sans KR"/>
              <a:sym typeface="Noto Sans KR"/>
            </a:endParaRPr>
          </a:p>
        </p:txBody>
      </p:sp>
      <p:sp>
        <p:nvSpPr>
          <p:cNvPr id="1727" name="Google Shape;1727;p43"/>
          <p:cNvSpPr txBox="1"/>
          <p:nvPr/>
        </p:nvSpPr>
        <p:spPr>
          <a:xfrm>
            <a:off x="6152665" y="4355639"/>
            <a:ext cx="126146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기타 평가</a:t>
            </a:r>
            <a:endParaRPr sz="1100">
              <a:solidFill>
                <a:schemeClr val="dk1"/>
              </a:solidFill>
              <a:latin typeface="Noto Sans KR"/>
              <a:ea typeface="Noto Sans KR"/>
              <a:cs typeface="Noto Sans KR"/>
              <a:sym typeface="Noto Sans KR"/>
            </a:endParaRPr>
          </a:p>
        </p:txBody>
      </p:sp>
      <p:sp>
        <p:nvSpPr>
          <p:cNvPr id="1728" name="Google Shape;1728;p43"/>
          <p:cNvSpPr/>
          <p:nvPr/>
        </p:nvSpPr>
        <p:spPr>
          <a:xfrm>
            <a:off x="7165764" y="4381363"/>
            <a:ext cx="720000" cy="205523"/>
          </a:xfrm>
          <a:prstGeom prst="roundRect">
            <a:avLst>
              <a:gd fmla="val 16667"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0000" spcFirstLastPara="1" rIns="0"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0          %</a:t>
            </a:r>
            <a:endParaRPr sz="1050">
              <a:solidFill>
                <a:schemeClr val="dk1"/>
              </a:solidFill>
              <a:latin typeface="Noto Sans KR"/>
              <a:ea typeface="Noto Sans KR"/>
              <a:cs typeface="Noto Sans KR"/>
              <a:sym typeface="Noto Sans KR"/>
            </a:endParaRPr>
          </a:p>
        </p:txBody>
      </p:sp>
      <p:sp>
        <p:nvSpPr>
          <p:cNvPr id="1729" name="Google Shape;1729;p43"/>
          <p:cNvSpPr/>
          <p:nvPr/>
        </p:nvSpPr>
        <p:spPr>
          <a:xfrm>
            <a:off x="6127371" y="4775497"/>
            <a:ext cx="2161321" cy="970110"/>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730" name="Google Shape;1730;p43"/>
          <p:cNvCxnSpPr/>
          <p:nvPr/>
        </p:nvCxnSpPr>
        <p:spPr>
          <a:xfrm>
            <a:off x="6158715" y="5054684"/>
            <a:ext cx="2117974" cy="8560"/>
          </a:xfrm>
          <a:prstGeom prst="straightConnector1">
            <a:avLst/>
          </a:prstGeom>
          <a:noFill/>
          <a:ln cap="flat" cmpd="sng" w="9525">
            <a:solidFill>
              <a:srgbClr val="A5A5A5"/>
            </a:solidFill>
            <a:prstDash val="solid"/>
            <a:miter lim="8000"/>
            <a:headEnd len="sm" w="sm" type="none"/>
            <a:tailEnd len="sm" w="sm" type="none"/>
          </a:ln>
        </p:spPr>
      </p:cxnSp>
      <p:sp>
        <p:nvSpPr>
          <p:cNvPr id="1731" name="Google Shape;1731;p43"/>
          <p:cNvSpPr txBox="1"/>
          <p:nvPr/>
        </p:nvSpPr>
        <p:spPr>
          <a:xfrm>
            <a:off x="6134139" y="4783235"/>
            <a:ext cx="10869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제출 서류</a:t>
            </a:r>
            <a:endParaRPr b="1" sz="1200">
              <a:solidFill>
                <a:schemeClr val="dk1"/>
              </a:solidFill>
              <a:latin typeface="Noto Sans KR"/>
              <a:ea typeface="Noto Sans KR"/>
              <a:cs typeface="Noto Sans KR"/>
              <a:sym typeface="Noto Sans KR"/>
            </a:endParaRPr>
          </a:p>
        </p:txBody>
      </p:sp>
      <p:sp>
        <p:nvSpPr>
          <p:cNvPr id="1732" name="Google Shape;1732;p43"/>
          <p:cNvSpPr/>
          <p:nvPr/>
        </p:nvSpPr>
        <p:spPr>
          <a:xfrm>
            <a:off x="6279176" y="5447219"/>
            <a:ext cx="144000" cy="144000"/>
          </a:xfrm>
          <a:prstGeom prst="roundRect">
            <a:avLst>
              <a:gd fmla="val 16667" name="adj"/>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33" name="Google Shape;1733;p43"/>
          <p:cNvSpPr/>
          <p:nvPr/>
        </p:nvSpPr>
        <p:spPr>
          <a:xfrm>
            <a:off x="6271403" y="5147025"/>
            <a:ext cx="144000" cy="144000"/>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34" name="Google Shape;1734;p43"/>
          <p:cNvSpPr txBox="1"/>
          <p:nvPr/>
        </p:nvSpPr>
        <p:spPr>
          <a:xfrm>
            <a:off x="6417023" y="5098613"/>
            <a:ext cx="57140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이력서</a:t>
            </a:r>
            <a:endParaRPr sz="1100">
              <a:solidFill>
                <a:schemeClr val="dk1"/>
              </a:solidFill>
              <a:latin typeface="Noto Sans KR"/>
              <a:ea typeface="Noto Sans KR"/>
              <a:cs typeface="Noto Sans KR"/>
              <a:sym typeface="Noto Sans KR"/>
            </a:endParaRPr>
          </a:p>
        </p:txBody>
      </p:sp>
      <p:sp>
        <p:nvSpPr>
          <p:cNvPr id="1735" name="Google Shape;1735;p43"/>
          <p:cNvSpPr txBox="1"/>
          <p:nvPr/>
        </p:nvSpPr>
        <p:spPr>
          <a:xfrm>
            <a:off x="6429944" y="5388812"/>
            <a:ext cx="83855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포토폴리오</a:t>
            </a:r>
            <a:endParaRPr sz="1100">
              <a:solidFill>
                <a:schemeClr val="dk1"/>
              </a:solidFill>
              <a:latin typeface="Noto Sans KR"/>
              <a:ea typeface="Noto Sans KR"/>
              <a:cs typeface="Noto Sans KR"/>
              <a:sym typeface="Noto Sans KR"/>
            </a:endParaRPr>
          </a:p>
        </p:txBody>
      </p:sp>
      <p:grpSp>
        <p:nvGrpSpPr>
          <p:cNvPr id="1736" name="Google Shape;1736;p43"/>
          <p:cNvGrpSpPr/>
          <p:nvPr/>
        </p:nvGrpSpPr>
        <p:grpSpPr>
          <a:xfrm>
            <a:off x="7264118" y="5111656"/>
            <a:ext cx="1034872" cy="261610"/>
            <a:chOff x="6271403" y="5098613"/>
            <a:chExt cx="1034872" cy="261610"/>
          </a:xfrm>
        </p:grpSpPr>
        <p:sp>
          <p:nvSpPr>
            <p:cNvPr id="1737" name="Google Shape;1737;p43"/>
            <p:cNvSpPr/>
            <p:nvPr/>
          </p:nvSpPr>
          <p:spPr>
            <a:xfrm>
              <a:off x="6271403" y="5147025"/>
              <a:ext cx="144000" cy="144000"/>
            </a:xfrm>
            <a:prstGeom prst="roundRect">
              <a:avLst>
                <a:gd fmla="val 16667" name="adj"/>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38" name="Google Shape;1738;p43"/>
            <p:cNvSpPr txBox="1"/>
            <p:nvPr/>
          </p:nvSpPr>
          <p:spPr>
            <a:xfrm>
              <a:off x="6417022" y="5098613"/>
              <a:ext cx="88925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자기소개서</a:t>
              </a:r>
              <a:endParaRPr sz="1100">
                <a:solidFill>
                  <a:schemeClr val="dk1"/>
                </a:solidFill>
                <a:latin typeface="Noto Sans KR"/>
                <a:ea typeface="Noto Sans KR"/>
                <a:cs typeface="Noto Sans KR"/>
                <a:sym typeface="Noto Sans KR"/>
              </a:endParaRPr>
            </a:p>
          </p:txBody>
        </p:sp>
      </p:grpSp>
      <p:grpSp>
        <p:nvGrpSpPr>
          <p:cNvPr id="1739" name="Google Shape;1739;p43"/>
          <p:cNvGrpSpPr/>
          <p:nvPr/>
        </p:nvGrpSpPr>
        <p:grpSpPr>
          <a:xfrm>
            <a:off x="7275266" y="5392380"/>
            <a:ext cx="1034872" cy="261610"/>
            <a:chOff x="6271403" y="5098613"/>
            <a:chExt cx="1034872" cy="261610"/>
          </a:xfrm>
        </p:grpSpPr>
        <p:sp>
          <p:nvSpPr>
            <p:cNvPr id="1740" name="Google Shape;1740;p43"/>
            <p:cNvSpPr/>
            <p:nvPr/>
          </p:nvSpPr>
          <p:spPr>
            <a:xfrm>
              <a:off x="6271403" y="5147025"/>
              <a:ext cx="144000" cy="144000"/>
            </a:xfrm>
            <a:prstGeom prst="roundRect">
              <a:avLst>
                <a:gd fmla="val 16667" name="adj"/>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41" name="Google Shape;1741;p43"/>
            <p:cNvSpPr txBox="1"/>
            <p:nvPr/>
          </p:nvSpPr>
          <p:spPr>
            <a:xfrm>
              <a:off x="6417022" y="5098613"/>
              <a:ext cx="88925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증빙 서류</a:t>
              </a:r>
              <a:endParaRPr sz="1100">
                <a:solidFill>
                  <a:schemeClr val="dk1"/>
                </a:solidFill>
                <a:latin typeface="Noto Sans KR"/>
                <a:ea typeface="Noto Sans KR"/>
                <a:cs typeface="Noto Sans KR"/>
                <a:sym typeface="Noto Sans KR"/>
              </a:endParaRPr>
            </a:p>
          </p:txBody>
        </p:sp>
      </p:grpSp>
      <p:sp>
        <p:nvSpPr>
          <p:cNvPr id="1742" name="Google Shape;1742;p43"/>
          <p:cNvSpPr/>
          <p:nvPr/>
        </p:nvSpPr>
        <p:spPr>
          <a:xfrm>
            <a:off x="6082052" y="6036146"/>
            <a:ext cx="776656" cy="29398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임시 저장</a:t>
            </a:r>
            <a:endParaRPr sz="1100">
              <a:solidFill>
                <a:schemeClr val="dk1"/>
              </a:solidFill>
              <a:latin typeface="Noto Sans KR"/>
              <a:ea typeface="Noto Sans KR"/>
              <a:cs typeface="Noto Sans KR"/>
              <a:sym typeface="Noto Sans KR"/>
            </a:endParaRPr>
          </a:p>
        </p:txBody>
      </p:sp>
      <p:sp>
        <p:nvSpPr>
          <p:cNvPr id="1743" name="Google Shape;1743;p43"/>
          <p:cNvSpPr/>
          <p:nvPr/>
        </p:nvSpPr>
        <p:spPr>
          <a:xfrm>
            <a:off x="6928858" y="6034272"/>
            <a:ext cx="781242" cy="293980"/>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공고 등록</a:t>
            </a:r>
            <a:endParaRPr sz="1100">
              <a:solidFill>
                <a:schemeClr val="lt1"/>
              </a:solidFill>
              <a:latin typeface="Noto Sans KR"/>
              <a:ea typeface="Noto Sans KR"/>
              <a:cs typeface="Noto Sans KR"/>
              <a:sym typeface="Noto Sans KR"/>
            </a:endParaRPr>
          </a:p>
        </p:txBody>
      </p:sp>
      <p:sp>
        <p:nvSpPr>
          <p:cNvPr id="1744" name="Google Shape;1744;p43"/>
          <p:cNvSpPr/>
          <p:nvPr/>
        </p:nvSpPr>
        <p:spPr>
          <a:xfrm>
            <a:off x="7774298" y="6048045"/>
            <a:ext cx="514934" cy="29398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sz="1100">
              <a:solidFill>
                <a:schemeClr val="dk1"/>
              </a:solidFill>
              <a:latin typeface="Noto Sans KR"/>
              <a:ea typeface="Noto Sans KR"/>
              <a:cs typeface="Noto Sans KR"/>
              <a:sym typeface="Noto Sans KR"/>
            </a:endParaRPr>
          </a:p>
        </p:txBody>
      </p:sp>
      <p:sp>
        <p:nvSpPr>
          <p:cNvPr id="1745" name="Google Shape;1745;p43"/>
          <p:cNvSpPr/>
          <p:nvPr/>
        </p:nvSpPr>
        <p:spPr>
          <a:xfrm>
            <a:off x="2283345" y="1179295"/>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746" name="Google Shape;1746;p43"/>
          <p:cNvSpPr/>
          <p:nvPr/>
        </p:nvSpPr>
        <p:spPr>
          <a:xfrm>
            <a:off x="5754507" y="1130572"/>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747" name="Google Shape;1747;p43"/>
          <p:cNvSpPr/>
          <p:nvPr/>
        </p:nvSpPr>
        <p:spPr>
          <a:xfrm>
            <a:off x="2310028" y="1651843"/>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748" name="Google Shape;1748;p43"/>
          <p:cNvSpPr/>
          <p:nvPr/>
        </p:nvSpPr>
        <p:spPr>
          <a:xfrm>
            <a:off x="2308150" y="3771261"/>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749" name="Google Shape;1749;p43"/>
          <p:cNvSpPr/>
          <p:nvPr/>
        </p:nvSpPr>
        <p:spPr>
          <a:xfrm>
            <a:off x="6028082" y="1645935"/>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750" name="Google Shape;1750;p43"/>
          <p:cNvSpPr/>
          <p:nvPr/>
        </p:nvSpPr>
        <p:spPr>
          <a:xfrm>
            <a:off x="6050854" y="3195966"/>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751" name="Google Shape;1751;p43"/>
          <p:cNvSpPr/>
          <p:nvPr/>
        </p:nvSpPr>
        <p:spPr>
          <a:xfrm>
            <a:off x="5996403" y="4719875"/>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752" name="Google Shape;1752;p43"/>
          <p:cNvSpPr/>
          <p:nvPr/>
        </p:nvSpPr>
        <p:spPr>
          <a:xfrm>
            <a:off x="6008256" y="5922541"/>
            <a:ext cx="219043"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753" name="Google Shape;1753;p43"/>
          <p:cNvSpPr/>
          <p:nvPr/>
        </p:nvSpPr>
        <p:spPr>
          <a:xfrm>
            <a:off x="6850047" y="5910552"/>
            <a:ext cx="205527" cy="213008"/>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754" name="Google Shape;1754;p43"/>
          <p:cNvSpPr/>
          <p:nvPr/>
        </p:nvSpPr>
        <p:spPr>
          <a:xfrm>
            <a:off x="7747198" y="5927630"/>
            <a:ext cx="219043" cy="199674"/>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pic>
        <p:nvPicPr>
          <p:cNvPr id="1755" name="Google Shape;1755;p43"/>
          <p:cNvPicPr preferRelativeResize="0"/>
          <p:nvPr/>
        </p:nvPicPr>
        <p:blipFill rotWithShape="1">
          <a:blip r:embed="rId9">
            <a:alphaModFix/>
          </a:blip>
          <a:srcRect b="0" l="0" r="0" t="0"/>
          <a:stretch/>
        </p:blipFill>
        <p:spPr>
          <a:xfrm>
            <a:off x="5501418" y="3389976"/>
            <a:ext cx="173690" cy="17315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44"/>
          <p:cNvSpPr txBox="1"/>
          <p:nvPr>
            <p:ph type="title"/>
          </p:nvPr>
        </p:nvSpPr>
        <p:spPr>
          <a:xfrm>
            <a:off x="406653"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공고 현황</a:t>
            </a:r>
            <a:endParaRPr sz="2400"/>
          </a:p>
        </p:txBody>
      </p:sp>
      <p:sp>
        <p:nvSpPr>
          <p:cNvPr id="1762" name="Google Shape;1762;p44"/>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763" name="Google Shape;1763;p44"/>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764" name="Google Shape;1764;p44"/>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765" name="Google Shape;1765;p4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766" name="Google Shape;1766;p44"/>
          <p:cNvGraphicFramePr/>
          <p:nvPr/>
        </p:nvGraphicFramePr>
        <p:xfrm>
          <a:off x="8561828" y="1054745"/>
          <a:ext cx="3000000" cy="3000000"/>
        </p:xfrm>
        <a:graphic>
          <a:graphicData uri="http://schemas.openxmlformats.org/drawingml/2006/table">
            <a:tbl>
              <a:tblPr bandRow="1" firstRow="1">
                <a:noFill/>
                <a:tableStyleId>{C61F204E-A15B-47D6-BEBB-6A886D3283EB}</a:tableStyleId>
              </a:tblPr>
              <a:tblGrid>
                <a:gridCol w="475725"/>
                <a:gridCol w="2965925"/>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조회 조건 입력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결과 목록을 필터링하기 위한 기본 검색 조건 입력 영역</a:t>
                      </a:r>
                      <a:endParaRPr b="0"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[구성] 공고명: 공고 제목 검색,직무: 채용 직무 필터,유형: 정규직/계약직 등 고용 형태,현황: 진행중/마감/대기 등 ,상태기간: 모집 기간 기준 검색</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검색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조회 조건을 기준으로 면접 결과 목록 조회</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조건 미입력 시 전체 내역 조회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초기화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모든 조회 조건을 기본값으로 초기화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목록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 [주요 컬럼] 체크박스,공고명,직무,채용 유형,모집 기간,진행 현황(공고일정에 따른 실시간 변동 안내,진행중/마감/대기),등록일</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삭제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데이터 삭제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삭제 전 최종 확인 팝업 안내 제공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변경 버튼</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변경 화면으로 이동 (복수 선택 불가)</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이동 전 최죙 변경 확인 팝업 안내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정렬 기준 선택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최신순/과거순 기준 목록 드롭다운 제공</a:t>
                      </a:r>
                      <a:endParaRPr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82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페이지당 표시 개수 설정</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한 페이지에 표시할 공고 수 선택</a:t>
                      </a:r>
                      <a:r>
                        <a:rPr b="0" lang="ko-KR" sz="800" u="none" cap="none" strike="noStrike">
                          <a:solidFill>
                            <a:schemeClr val="dk1"/>
                          </a:solidFill>
                          <a:latin typeface="Noto Sans KR"/>
                          <a:ea typeface="Noto Sans KR"/>
                          <a:cs typeface="Noto Sans KR"/>
                          <a:sym typeface="Noto Sans KR"/>
                        </a:rPr>
                        <a:t>(</a:t>
                      </a:r>
                      <a:r>
                        <a:rPr lang="ko-KR" sz="800" u="none" cap="none" strike="noStrike"/>
                        <a:t>예:10개/20개/ 50개)</a:t>
                      </a:r>
                      <a:endParaRPr b="0" sz="8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66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현재 페이지 번호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페이지 네비게이션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이전/다음 페이지 이동(5페이지씩 제공)</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767" name="Google Shape;1767;p44"/>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2000"/>
                <a:gridCol w="301115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INT-02</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공고 현황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채용 공고를 공고 등록·수정·삭제 및 진행 상태를 관리하는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1768" name="Google Shape;1768;p44"/>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69" name="Google Shape;1769;p44"/>
          <p:cNvSpPr/>
          <p:nvPr/>
        </p:nvSpPr>
        <p:spPr>
          <a:xfrm>
            <a:off x="341819" y="1120898"/>
            <a:ext cx="8132343" cy="5410200"/>
          </a:xfrm>
          <a:prstGeom prst="rect">
            <a:avLst/>
          </a:prstGeom>
          <a:solidFill>
            <a:srgbClr val="D8D8D8"/>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800">
                <a:solidFill>
                  <a:schemeClr val="lt1"/>
                </a:solidFill>
                <a:latin typeface="Malgun Gothic"/>
                <a:ea typeface="Malgun Gothic"/>
                <a:cs typeface="Malgun Gothic"/>
                <a:sym typeface="Malgun Gothic"/>
              </a:rPr>
              <a:t> </a:t>
            </a:r>
            <a:endParaRPr sz="1800">
              <a:solidFill>
                <a:schemeClr val="lt1"/>
              </a:solidFill>
              <a:latin typeface="Malgun Gothic"/>
              <a:ea typeface="Malgun Gothic"/>
              <a:cs typeface="Malgun Gothic"/>
              <a:sym typeface="Malgun Gothic"/>
            </a:endParaRPr>
          </a:p>
        </p:txBody>
      </p:sp>
      <p:pic>
        <p:nvPicPr>
          <p:cNvPr id="1770" name="Google Shape;1770;p44"/>
          <p:cNvPicPr preferRelativeResize="0"/>
          <p:nvPr/>
        </p:nvPicPr>
        <p:blipFill rotWithShape="1">
          <a:blip r:embed="rId3">
            <a:alphaModFix/>
          </a:blip>
          <a:srcRect b="0" l="0" r="0" t="0"/>
          <a:stretch/>
        </p:blipFill>
        <p:spPr>
          <a:xfrm>
            <a:off x="335381" y="1142016"/>
            <a:ext cx="1932170" cy="453869"/>
          </a:xfrm>
          <a:prstGeom prst="rect">
            <a:avLst/>
          </a:prstGeom>
          <a:noFill/>
          <a:ln>
            <a:noFill/>
          </a:ln>
        </p:spPr>
      </p:pic>
      <p:grpSp>
        <p:nvGrpSpPr>
          <p:cNvPr id="1771" name="Google Shape;1771;p44"/>
          <p:cNvGrpSpPr/>
          <p:nvPr/>
        </p:nvGrpSpPr>
        <p:grpSpPr>
          <a:xfrm>
            <a:off x="308307" y="1595887"/>
            <a:ext cx="2089165" cy="4938263"/>
            <a:chOff x="335382" y="1595886"/>
            <a:chExt cx="2089165" cy="4938263"/>
          </a:xfrm>
        </p:grpSpPr>
        <p:sp>
          <p:nvSpPr>
            <p:cNvPr id="1772" name="Google Shape;1772;p44"/>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773" name="Google Shape;1773;p44"/>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1774" name="Google Shape;1774;p44"/>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1775" name="Google Shape;1775;p44"/>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1776" name="Google Shape;1776;p44"/>
            <p:cNvGrpSpPr/>
            <p:nvPr/>
          </p:nvGrpSpPr>
          <p:grpSpPr>
            <a:xfrm>
              <a:off x="477692" y="3209442"/>
              <a:ext cx="1788887" cy="307777"/>
              <a:chOff x="477692" y="2028295"/>
              <a:chExt cx="1788887" cy="307777"/>
            </a:xfrm>
          </p:grpSpPr>
          <p:cxnSp>
            <p:nvCxnSpPr>
              <p:cNvPr id="1777" name="Google Shape;1777;p44"/>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778" name="Google Shape;1778;p44"/>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1779" name="Google Shape;1779;p44"/>
            <p:cNvGrpSpPr/>
            <p:nvPr/>
          </p:nvGrpSpPr>
          <p:grpSpPr>
            <a:xfrm>
              <a:off x="534312" y="2391801"/>
              <a:ext cx="1890235" cy="314353"/>
              <a:chOff x="329699" y="2341565"/>
              <a:chExt cx="2116652" cy="316430"/>
            </a:xfrm>
          </p:grpSpPr>
          <p:sp>
            <p:nvSpPr>
              <p:cNvPr id="1780" name="Google Shape;1780;p44"/>
              <p:cNvSpPr txBox="1"/>
              <p:nvPr/>
            </p:nvSpPr>
            <p:spPr>
              <a:xfrm>
                <a:off x="329699" y="2341565"/>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781" name="Google Shape;1781;p44"/>
              <p:cNvCxnSpPr/>
              <p:nvPr/>
            </p:nvCxnSpPr>
            <p:spPr>
              <a:xfrm flipH="1" rot="10800000">
                <a:off x="697357" y="2653171"/>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1782" name="Google Shape;1782;p44"/>
            <p:cNvGrpSpPr/>
            <p:nvPr/>
          </p:nvGrpSpPr>
          <p:grpSpPr>
            <a:xfrm>
              <a:off x="534312" y="2459226"/>
              <a:ext cx="1890235" cy="621380"/>
              <a:chOff x="534312" y="2082637"/>
              <a:chExt cx="1890235" cy="621380"/>
            </a:xfrm>
          </p:grpSpPr>
          <p:grpSp>
            <p:nvGrpSpPr>
              <p:cNvPr id="1783" name="Google Shape;1783;p44"/>
              <p:cNvGrpSpPr/>
              <p:nvPr/>
            </p:nvGrpSpPr>
            <p:grpSpPr>
              <a:xfrm>
                <a:off x="534312" y="2391800"/>
                <a:ext cx="1890235" cy="312217"/>
                <a:chOff x="329699" y="2341565"/>
                <a:chExt cx="2116652" cy="314280"/>
              </a:xfrm>
            </p:grpSpPr>
            <p:sp>
              <p:nvSpPr>
                <p:cNvPr id="1784" name="Google Shape;1784;p44"/>
                <p:cNvSpPr txBox="1"/>
                <p:nvPr/>
              </p:nvSpPr>
              <p:spPr>
                <a:xfrm>
                  <a:off x="329699" y="2341565"/>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785" name="Google Shape;1785;p44"/>
                <p:cNvCxnSpPr/>
                <p:nvPr/>
              </p:nvCxnSpPr>
              <p:spPr>
                <a:xfrm flipH="1" rot="10800000">
                  <a:off x="697357" y="2653170"/>
                  <a:ext cx="1398861" cy="2675"/>
                </a:xfrm>
                <a:prstGeom prst="straightConnector1">
                  <a:avLst/>
                </a:prstGeom>
                <a:noFill/>
                <a:ln cap="flat" cmpd="sng" w="9525">
                  <a:solidFill>
                    <a:srgbClr val="BFBFBF"/>
                  </a:solidFill>
                  <a:prstDash val="solid"/>
                  <a:miter lim="8000"/>
                  <a:headEnd len="sm" w="sm" type="none"/>
                  <a:tailEnd len="sm" w="sm" type="none"/>
                </a:ln>
              </p:spPr>
            </p:cxnSp>
          </p:grpSp>
          <p:sp>
            <p:nvSpPr>
              <p:cNvPr id="1786" name="Google Shape;1786;p44"/>
              <p:cNvSpPr/>
              <p:nvPr/>
            </p:nvSpPr>
            <p:spPr>
              <a:xfrm>
                <a:off x="1353501" y="2082637"/>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공고 등록</a:t>
                </a:r>
                <a:endParaRPr sz="1200">
                  <a:solidFill>
                    <a:srgbClr val="BFBFBF"/>
                  </a:solidFill>
                  <a:latin typeface="Noto Sans KR"/>
                  <a:ea typeface="Noto Sans KR"/>
                  <a:cs typeface="Noto Sans KR"/>
                  <a:sym typeface="Noto Sans KR"/>
                </a:endParaRPr>
              </a:p>
            </p:txBody>
          </p:sp>
        </p:grpSp>
        <p:grpSp>
          <p:nvGrpSpPr>
            <p:cNvPr id="1787" name="Google Shape;1787;p44"/>
            <p:cNvGrpSpPr/>
            <p:nvPr/>
          </p:nvGrpSpPr>
          <p:grpSpPr>
            <a:xfrm>
              <a:off x="477692" y="3681378"/>
              <a:ext cx="1788887" cy="307777"/>
              <a:chOff x="477692" y="2028295"/>
              <a:chExt cx="1788887" cy="307777"/>
            </a:xfrm>
          </p:grpSpPr>
          <p:cxnSp>
            <p:nvCxnSpPr>
              <p:cNvPr id="1788" name="Google Shape;1788;p44"/>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789" name="Google Shape;1789;p44"/>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결과              ∨                </a:t>
                </a:r>
                <a:endParaRPr sz="1400">
                  <a:solidFill>
                    <a:srgbClr val="BFBFBF"/>
                  </a:solidFill>
                  <a:latin typeface="Noto Sans KR"/>
                  <a:ea typeface="Noto Sans KR"/>
                  <a:cs typeface="Noto Sans KR"/>
                  <a:sym typeface="Noto Sans KR"/>
                </a:endParaRPr>
              </a:p>
            </p:txBody>
          </p:sp>
        </p:grpSp>
        <p:grpSp>
          <p:nvGrpSpPr>
            <p:cNvPr id="1790" name="Google Shape;1790;p44"/>
            <p:cNvGrpSpPr/>
            <p:nvPr/>
          </p:nvGrpSpPr>
          <p:grpSpPr>
            <a:xfrm>
              <a:off x="477692" y="4131941"/>
              <a:ext cx="1788887" cy="307777"/>
              <a:chOff x="477692" y="2028295"/>
              <a:chExt cx="1788887" cy="307777"/>
            </a:xfrm>
          </p:grpSpPr>
          <p:cxnSp>
            <p:nvCxnSpPr>
              <p:cNvPr id="1791" name="Google Shape;1791;p44"/>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792" name="Google Shape;1792;p44"/>
              <p:cNvSpPr txBox="1"/>
              <p:nvPr/>
            </p:nvSpPr>
            <p:spPr>
              <a:xfrm>
                <a:off x="510030" y="202829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sp>
        <p:nvSpPr>
          <p:cNvPr id="1793" name="Google Shape;1793;p44"/>
          <p:cNvSpPr/>
          <p:nvPr/>
        </p:nvSpPr>
        <p:spPr>
          <a:xfrm>
            <a:off x="493151" y="2011455"/>
            <a:ext cx="1550711"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공고 관리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cxnSp>
        <p:nvCxnSpPr>
          <p:cNvPr id="1794" name="Google Shape;1794;p44"/>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1795" name="Google Shape;1795;p44"/>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1796" name="Google Shape;1796;p44"/>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797" name="Google Shape;1797;p44"/>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1798" name="Google Shape;1798;p44"/>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공고 현황</a:t>
            </a:r>
            <a:endParaRPr b="1" sz="1800">
              <a:solidFill>
                <a:srgbClr val="7F7F7F"/>
              </a:solidFill>
              <a:latin typeface="Noto Sans KR"/>
              <a:ea typeface="Noto Sans KR"/>
              <a:cs typeface="Noto Sans KR"/>
              <a:sym typeface="Noto Sans KR"/>
            </a:endParaRPr>
          </a:p>
        </p:txBody>
      </p:sp>
      <p:cxnSp>
        <p:nvCxnSpPr>
          <p:cNvPr id="1799" name="Google Shape;1799;p44"/>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1800" name="Google Shape;1800;p44"/>
          <p:cNvGrpSpPr/>
          <p:nvPr/>
        </p:nvGrpSpPr>
        <p:grpSpPr>
          <a:xfrm>
            <a:off x="435703" y="6134926"/>
            <a:ext cx="1066433" cy="338554"/>
            <a:chOff x="417309" y="6108345"/>
            <a:chExt cx="1066433" cy="338554"/>
          </a:xfrm>
        </p:grpSpPr>
        <p:pic>
          <p:nvPicPr>
            <p:cNvPr id="1801" name="Google Shape;1801;p44"/>
            <p:cNvPicPr preferRelativeResize="0"/>
            <p:nvPr/>
          </p:nvPicPr>
          <p:blipFill rotWithShape="1">
            <a:blip r:embed="rId6">
              <a:alphaModFix/>
            </a:blip>
            <a:srcRect b="0" l="0" r="0" t="0"/>
            <a:stretch/>
          </p:blipFill>
          <p:spPr>
            <a:xfrm>
              <a:off x="417309" y="6148038"/>
              <a:ext cx="246925" cy="280330"/>
            </a:xfrm>
            <a:prstGeom prst="rect">
              <a:avLst/>
            </a:prstGeom>
            <a:noFill/>
            <a:ln>
              <a:noFill/>
            </a:ln>
          </p:spPr>
        </p:pic>
        <p:sp>
          <p:nvSpPr>
            <p:cNvPr id="1802" name="Google Shape;1802;p44"/>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1803" name="Google Shape;1803;p44"/>
          <p:cNvSpPr/>
          <p:nvPr/>
        </p:nvSpPr>
        <p:spPr>
          <a:xfrm>
            <a:off x="1253150" y="2764705"/>
            <a:ext cx="846709"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공고 현황</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a:p>
        </p:txBody>
      </p:sp>
      <p:pic>
        <p:nvPicPr>
          <p:cNvPr id="1804" name="Google Shape;1804;p44"/>
          <p:cNvPicPr preferRelativeResize="0"/>
          <p:nvPr/>
        </p:nvPicPr>
        <p:blipFill rotWithShape="1">
          <a:blip r:embed="rId7">
            <a:alphaModFix/>
          </a:blip>
          <a:srcRect b="0" l="0" r="0" t="0"/>
          <a:stretch/>
        </p:blipFill>
        <p:spPr>
          <a:xfrm>
            <a:off x="2346385" y="1212283"/>
            <a:ext cx="277667" cy="277667"/>
          </a:xfrm>
          <a:prstGeom prst="rect">
            <a:avLst/>
          </a:prstGeom>
          <a:noFill/>
          <a:ln>
            <a:noFill/>
          </a:ln>
        </p:spPr>
      </p:pic>
      <p:sp>
        <p:nvSpPr>
          <p:cNvPr id="1805" name="Google Shape;1805;p44"/>
          <p:cNvSpPr/>
          <p:nvPr/>
        </p:nvSpPr>
        <p:spPr>
          <a:xfrm>
            <a:off x="2344287" y="1694647"/>
            <a:ext cx="6049847" cy="1152070"/>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grpSp>
        <p:nvGrpSpPr>
          <p:cNvPr id="1806" name="Google Shape;1806;p44"/>
          <p:cNvGrpSpPr/>
          <p:nvPr/>
        </p:nvGrpSpPr>
        <p:grpSpPr>
          <a:xfrm>
            <a:off x="2865233" y="2513185"/>
            <a:ext cx="2580899" cy="229403"/>
            <a:chOff x="3967360" y="3563578"/>
            <a:chExt cx="2580899" cy="308569"/>
          </a:xfrm>
        </p:grpSpPr>
        <p:sp>
          <p:nvSpPr>
            <p:cNvPr id="1807" name="Google Shape;1807;p44"/>
            <p:cNvSpPr/>
            <p:nvPr/>
          </p:nvSpPr>
          <p:spPr>
            <a:xfrm>
              <a:off x="3967360" y="3563578"/>
              <a:ext cx="2580899" cy="30856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yyyy-mm-dd ~ yyyy-mm-dd</a:t>
              </a:r>
              <a:endParaRPr sz="1200">
                <a:solidFill>
                  <a:srgbClr val="BFBFBF"/>
                </a:solidFill>
                <a:latin typeface="Noto Sans KR"/>
                <a:ea typeface="Noto Sans KR"/>
                <a:cs typeface="Noto Sans KR"/>
                <a:sym typeface="Noto Sans KR"/>
              </a:endParaRPr>
            </a:p>
          </p:txBody>
        </p:sp>
        <p:pic>
          <p:nvPicPr>
            <p:cNvPr id="1808" name="Google Shape;1808;p44"/>
            <p:cNvPicPr preferRelativeResize="0"/>
            <p:nvPr/>
          </p:nvPicPr>
          <p:blipFill rotWithShape="1">
            <a:blip r:embed="rId8">
              <a:alphaModFix/>
            </a:blip>
            <a:srcRect b="0" l="0" r="0" t="0"/>
            <a:stretch/>
          </p:blipFill>
          <p:spPr>
            <a:xfrm>
              <a:off x="6304049" y="3605956"/>
              <a:ext cx="173690" cy="232910"/>
            </a:xfrm>
            <a:prstGeom prst="rect">
              <a:avLst/>
            </a:prstGeom>
            <a:noFill/>
            <a:ln>
              <a:noFill/>
            </a:ln>
          </p:spPr>
        </p:pic>
      </p:grpSp>
      <p:sp>
        <p:nvSpPr>
          <p:cNvPr id="1809" name="Google Shape;1809;p44"/>
          <p:cNvSpPr/>
          <p:nvPr/>
        </p:nvSpPr>
        <p:spPr>
          <a:xfrm>
            <a:off x="2868812" y="1811672"/>
            <a:ext cx="2199684"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공고 제목                                   ∨</a:t>
            </a:r>
            <a:endParaRPr sz="1200">
              <a:solidFill>
                <a:srgbClr val="BFBFBF"/>
              </a:solidFill>
              <a:latin typeface="Noto Sans KR"/>
              <a:ea typeface="Noto Sans KR"/>
              <a:cs typeface="Noto Sans KR"/>
              <a:sym typeface="Noto Sans KR"/>
            </a:endParaRPr>
          </a:p>
        </p:txBody>
      </p:sp>
      <p:sp>
        <p:nvSpPr>
          <p:cNvPr id="1810" name="Google Shape;1810;p44"/>
          <p:cNvSpPr/>
          <p:nvPr/>
        </p:nvSpPr>
        <p:spPr>
          <a:xfrm>
            <a:off x="2868812" y="2159183"/>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채용 직무           ∨     </a:t>
            </a:r>
            <a:endParaRPr sz="1200">
              <a:solidFill>
                <a:srgbClr val="BFBFBF"/>
              </a:solidFill>
              <a:latin typeface="Noto Sans KR"/>
              <a:ea typeface="Noto Sans KR"/>
              <a:cs typeface="Noto Sans KR"/>
              <a:sym typeface="Noto Sans KR"/>
            </a:endParaRPr>
          </a:p>
        </p:txBody>
      </p:sp>
      <p:sp>
        <p:nvSpPr>
          <p:cNvPr id="1811" name="Google Shape;1811;p44"/>
          <p:cNvSpPr/>
          <p:nvPr/>
        </p:nvSpPr>
        <p:spPr>
          <a:xfrm>
            <a:off x="6731624" y="2151974"/>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진행 상태           ∨</a:t>
            </a:r>
            <a:endParaRPr sz="1200">
              <a:solidFill>
                <a:srgbClr val="BFBFBF"/>
              </a:solidFill>
              <a:latin typeface="Noto Sans KR"/>
              <a:ea typeface="Noto Sans KR"/>
              <a:cs typeface="Noto Sans KR"/>
              <a:sym typeface="Noto Sans KR"/>
            </a:endParaRPr>
          </a:p>
        </p:txBody>
      </p:sp>
      <p:sp>
        <p:nvSpPr>
          <p:cNvPr id="1812" name="Google Shape;1812;p44"/>
          <p:cNvSpPr/>
          <p:nvPr/>
        </p:nvSpPr>
        <p:spPr>
          <a:xfrm>
            <a:off x="4779391" y="2160098"/>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정규직 </a:t>
            </a:r>
            <a:r>
              <a:rPr lang="ko-KR" sz="1200">
                <a:solidFill>
                  <a:srgbClr val="BFBFBF"/>
                </a:solidFill>
                <a:latin typeface="Noto Sans KR"/>
                <a:ea typeface="Noto Sans KR"/>
                <a:cs typeface="Noto Sans KR"/>
                <a:sym typeface="Noto Sans KR"/>
              </a:rPr>
              <a:t>               ∨</a:t>
            </a:r>
            <a:endParaRPr sz="1200">
              <a:solidFill>
                <a:srgbClr val="BFBFBF"/>
              </a:solidFill>
              <a:latin typeface="Noto Sans KR"/>
              <a:ea typeface="Noto Sans KR"/>
              <a:cs typeface="Noto Sans KR"/>
              <a:sym typeface="Noto Sans KR"/>
            </a:endParaRPr>
          </a:p>
        </p:txBody>
      </p:sp>
      <p:sp>
        <p:nvSpPr>
          <p:cNvPr id="1813" name="Google Shape;1813;p44"/>
          <p:cNvSpPr txBox="1"/>
          <p:nvPr/>
        </p:nvSpPr>
        <p:spPr>
          <a:xfrm>
            <a:off x="2384002" y="1813337"/>
            <a:ext cx="625693"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공고명</a:t>
            </a:r>
            <a:endParaRPr sz="1000">
              <a:solidFill>
                <a:schemeClr val="dk1"/>
              </a:solidFill>
              <a:latin typeface="Noto Sans KR"/>
              <a:ea typeface="Noto Sans KR"/>
              <a:cs typeface="Noto Sans KR"/>
              <a:sym typeface="Noto Sans KR"/>
            </a:endParaRPr>
          </a:p>
        </p:txBody>
      </p:sp>
      <p:sp>
        <p:nvSpPr>
          <p:cNvPr id="1814" name="Google Shape;1814;p44"/>
          <p:cNvSpPr txBox="1"/>
          <p:nvPr/>
        </p:nvSpPr>
        <p:spPr>
          <a:xfrm>
            <a:off x="2450309" y="2148936"/>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a:t>
            </a:r>
            <a:endParaRPr sz="1000">
              <a:solidFill>
                <a:schemeClr val="dk1"/>
              </a:solidFill>
              <a:latin typeface="Noto Sans KR"/>
              <a:ea typeface="Noto Sans KR"/>
              <a:cs typeface="Noto Sans KR"/>
              <a:sym typeface="Noto Sans KR"/>
            </a:endParaRPr>
          </a:p>
        </p:txBody>
      </p:sp>
      <p:sp>
        <p:nvSpPr>
          <p:cNvPr id="1815" name="Google Shape;1815;p44"/>
          <p:cNvSpPr txBox="1"/>
          <p:nvPr/>
        </p:nvSpPr>
        <p:spPr>
          <a:xfrm>
            <a:off x="2450309" y="2498718"/>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기간</a:t>
            </a:r>
            <a:endParaRPr sz="1000">
              <a:solidFill>
                <a:schemeClr val="dk1"/>
              </a:solidFill>
              <a:latin typeface="Noto Sans KR"/>
              <a:ea typeface="Noto Sans KR"/>
              <a:cs typeface="Noto Sans KR"/>
              <a:sym typeface="Noto Sans KR"/>
            </a:endParaRPr>
          </a:p>
        </p:txBody>
      </p:sp>
      <p:sp>
        <p:nvSpPr>
          <p:cNvPr id="1816" name="Google Shape;1816;p44"/>
          <p:cNvSpPr txBox="1"/>
          <p:nvPr/>
        </p:nvSpPr>
        <p:spPr>
          <a:xfrm>
            <a:off x="4371674" y="2143919"/>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유형</a:t>
            </a:r>
            <a:endParaRPr sz="1000">
              <a:solidFill>
                <a:schemeClr val="dk1"/>
              </a:solidFill>
              <a:latin typeface="Noto Sans KR"/>
              <a:ea typeface="Noto Sans KR"/>
              <a:cs typeface="Noto Sans KR"/>
              <a:sym typeface="Noto Sans KR"/>
            </a:endParaRPr>
          </a:p>
        </p:txBody>
      </p:sp>
      <p:sp>
        <p:nvSpPr>
          <p:cNvPr id="1817" name="Google Shape;1817;p44"/>
          <p:cNvSpPr txBox="1"/>
          <p:nvPr/>
        </p:nvSpPr>
        <p:spPr>
          <a:xfrm>
            <a:off x="6304054" y="2151128"/>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현황</a:t>
            </a:r>
            <a:endParaRPr sz="1000">
              <a:solidFill>
                <a:schemeClr val="dk1"/>
              </a:solidFill>
              <a:latin typeface="Noto Sans KR"/>
              <a:ea typeface="Noto Sans KR"/>
              <a:cs typeface="Noto Sans KR"/>
              <a:sym typeface="Noto Sans KR"/>
            </a:endParaRPr>
          </a:p>
        </p:txBody>
      </p:sp>
      <p:sp>
        <p:nvSpPr>
          <p:cNvPr id="1818" name="Google Shape;1818;p44"/>
          <p:cNvSpPr/>
          <p:nvPr/>
        </p:nvSpPr>
        <p:spPr>
          <a:xfrm>
            <a:off x="6304054" y="2490757"/>
            <a:ext cx="540715" cy="293980"/>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검색</a:t>
            </a:r>
            <a:endParaRPr sz="1100">
              <a:solidFill>
                <a:schemeClr val="lt1"/>
              </a:solidFill>
              <a:latin typeface="Noto Sans KR"/>
              <a:ea typeface="Noto Sans KR"/>
              <a:cs typeface="Noto Sans KR"/>
              <a:sym typeface="Noto Sans KR"/>
            </a:endParaRPr>
          </a:p>
        </p:txBody>
      </p:sp>
      <p:sp>
        <p:nvSpPr>
          <p:cNvPr id="1819" name="Google Shape;1819;p44"/>
          <p:cNvSpPr/>
          <p:nvPr/>
        </p:nvSpPr>
        <p:spPr>
          <a:xfrm>
            <a:off x="6973383" y="2490757"/>
            <a:ext cx="1121663" cy="29398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신규 공고 등록</a:t>
            </a:r>
            <a:endParaRPr sz="1100">
              <a:solidFill>
                <a:schemeClr val="dk1"/>
              </a:solidFill>
              <a:latin typeface="Noto Sans KR"/>
              <a:ea typeface="Noto Sans KR"/>
              <a:cs typeface="Noto Sans KR"/>
              <a:sym typeface="Noto Sans KR"/>
            </a:endParaRPr>
          </a:p>
        </p:txBody>
      </p:sp>
      <p:sp>
        <p:nvSpPr>
          <p:cNvPr id="1820" name="Google Shape;1820;p44"/>
          <p:cNvSpPr/>
          <p:nvPr/>
        </p:nvSpPr>
        <p:spPr>
          <a:xfrm>
            <a:off x="2342714" y="3012631"/>
            <a:ext cx="6049847" cy="2154592"/>
          </a:xfrm>
          <a:prstGeom prst="roundRect">
            <a:avLst>
              <a:gd fmla="val 3113"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sp>
        <p:nvSpPr>
          <p:cNvPr id="1821" name="Google Shape;1821;p44"/>
          <p:cNvSpPr/>
          <p:nvPr/>
        </p:nvSpPr>
        <p:spPr>
          <a:xfrm>
            <a:off x="2342712" y="3327410"/>
            <a:ext cx="6049849" cy="249205"/>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22" name="Google Shape;1822;p44"/>
          <p:cNvSpPr txBox="1"/>
          <p:nvPr/>
        </p:nvSpPr>
        <p:spPr>
          <a:xfrm>
            <a:off x="2420246" y="3006354"/>
            <a:ext cx="742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공고  </a:t>
            </a:r>
            <a:r>
              <a:rPr lang="ko-KR" sz="1400">
                <a:solidFill>
                  <a:srgbClr val="BFBFBF"/>
                </a:solidFill>
                <a:latin typeface="Noto Sans KR"/>
                <a:ea typeface="Noto Sans KR"/>
                <a:cs typeface="Noto Sans KR"/>
                <a:sym typeface="Noto Sans KR"/>
              </a:rPr>
              <a:t>|</a:t>
            </a:r>
            <a:endParaRPr sz="1400">
              <a:solidFill>
                <a:srgbClr val="BFBFBF"/>
              </a:solidFill>
              <a:latin typeface="Noto Sans KR"/>
              <a:ea typeface="Noto Sans KR"/>
              <a:cs typeface="Noto Sans KR"/>
              <a:sym typeface="Noto Sans KR"/>
            </a:endParaRPr>
          </a:p>
        </p:txBody>
      </p:sp>
      <p:sp>
        <p:nvSpPr>
          <p:cNvPr id="1823" name="Google Shape;1823;p44"/>
          <p:cNvSpPr/>
          <p:nvPr/>
        </p:nvSpPr>
        <p:spPr>
          <a:xfrm>
            <a:off x="3007885" y="3073593"/>
            <a:ext cx="1076972" cy="20674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공고 수정</a:t>
            </a:r>
            <a:endParaRPr sz="1000">
              <a:solidFill>
                <a:schemeClr val="dk1"/>
              </a:solidFill>
              <a:latin typeface="Noto Sans KR"/>
              <a:ea typeface="Noto Sans KR"/>
              <a:cs typeface="Noto Sans KR"/>
              <a:sym typeface="Noto Sans KR"/>
            </a:endParaRPr>
          </a:p>
        </p:txBody>
      </p:sp>
      <p:sp>
        <p:nvSpPr>
          <p:cNvPr id="1824" name="Google Shape;1824;p44"/>
          <p:cNvSpPr/>
          <p:nvPr/>
        </p:nvSpPr>
        <p:spPr>
          <a:xfrm>
            <a:off x="4199848" y="3073592"/>
            <a:ext cx="1076972" cy="20674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공고 삭제</a:t>
            </a:r>
            <a:endParaRPr sz="1000">
              <a:solidFill>
                <a:schemeClr val="dk1"/>
              </a:solidFill>
              <a:latin typeface="Noto Sans KR"/>
              <a:ea typeface="Noto Sans KR"/>
              <a:cs typeface="Noto Sans KR"/>
              <a:sym typeface="Noto Sans KR"/>
            </a:endParaRPr>
          </a:p>
        </p:txBody>
      </p:sp>
      <p:sp>
        <p:nvSpPr>
          <p:cNvPr id="1825" name="Google Shape;1825;p44"/>
          <p:cNvSpPr/>
          <p:nvPr/>
        </p:nvSpPr>
        <p:spPr>
          <a:xfrm>
            <a:off x="2420246" y="3396038"/>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26" name="Google Shape;1826;p44"/>
          <p:cNvSpPr txBox="1"/>
          <p:nvPr/>
        </p:nvSpPr>
        <p:spPr>
          <a:xfrm>
            <a:off x="2650033" y="3320235"/>
            <a:ext cx="60695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공고명</a:t>
            </a:r>
            <a:endParaRPr sz="1100">
              <a:solidFill>
                <a:schemeClr val="dk1"/>
              </a:solidFill>
              <a:latin typeface="Noto Sans KR"/>
              <a:ea typeface="Noto Sans KR"/>
              <a:cs typeface="Noto Sans KR"/>
              <a:sym typeface="Noto Sans KR"/>
            </a:endParaRPr>
          </a:p>
        </p:txBody>
      </p:sp>
      <p:sp>
        <p:nvSpPr>
          <p:cNvPr id="1827" name="Google Shape;1827;p44"/>
          <p:cNvSpPr txBox="1"/>
          <p:nvPr/>
        </p:nvSpPr>
        <p:spPr>
          <a:xfrm>
            <a:off x="3842568" y="3331657"/>
            <a:ext cx="48043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1828" name="Google Shape;1828;p44"/>
          <p:cNvSpPr txBox="1"/>
          <p:nvPr/>
        </p:nvSpPr>
        <p:spPr>
          <a:xfrm>
            <a:off x="4506827" y="3329861"/>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채용 유형</a:t>
            </a:r>
            <a:endParaRPr sz="1100">
              <a:solidFill>
                <a:schemeClr val="dk1"/>
              </a:solidFill>
              <a:latin typeface="Noto Sans KR"/>
              <a:ea typeface="Noto Sans KR"/>
              <a:cs typeface="Noto Sans KR"/>
              <a:sym typeface="Noto Sans KR"/>
            </a:endParaRPr>
          </a:p>
        </p:txBody>
      </p:sp>
      <p:sp>
        <p:nvSpPr>
          <p:cNvPr id="1829" name="Google Shape;1829;p44"/>
          <p:cNvSpPr txBox="1"/>
          <p:nvPr/>
        </p:nvSpPr>
        <p:spPr>
          <a:xfrm>
            <a:off x="5625452" y="3327410"/>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모집기간</a:t>
            </a:r>
            <a:endParaRPr sz="1100">
              <a:solidFill>
                <a:schemeClr val="dk1"/>
              </a:solidFill>
              <a:latin typeface="Noto Sans KR"/>
              <a:ea typeface="Noto Sans KR"/>
              <a:cs typeface="Noto Sans KR"/>
              <a:sym typeface="Noto Sans KR"/>
            </a:endParaRPr>
          </a:p>
        </p:txBody>
      </p:sp>
      <p:sp>
        <p:nvSpPr>
          <p:cNvPr id="1830" name="Google Shape;1830;p44"/>
          <p:cNvSpPr txBox="1"/>
          <p:nvPr/>
        </p:nvSpPr>
        <p:spPr>
          <a:xfrm>
            <a:off x="6826134" y="3326984"/>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진행 현황</a:t>
            </a:r>
            <a:endParaRPr sz="1100">
              <a:solidFill>
                <a:schemeClr val="dk1"/>
              </a:solidFill>
              <a:latin typeface="Noto Sans KR"/>
              <a:ea typeface="Noto Sans KR"/>
              <a:cs typeface="Noto Sans KR"/>
              <a:sym typeface="Noto Sans KR"/>
            </a:endParaRPr>
          </a:p>
        </p:txBody>
      </p:sp>
      <p:sp>
        <p:nvSpPr>
          <p:cNvPr id="1831" name="Google Shape;1831;p44"/>
          <p:cNvSpPr txBox="1"/>
          <p:nvPr/>
        </p:nvSpPr>
        <p:spPr>
          <a:xfrm>
            <a:off x="7771922" y="3327763"/>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등록일</a:t>
            </a:r>
            <a:endParaRPr sz="1100">
              <a:solidFill>
                <a:schemeClr val="dk1"/>
              </a:solidFill>
              <a:latin typeface="Noto Sans KR"/>
              <a:ea typeface="Noto Sans KR"/>
              <a:cs typeface="Noto Sans KR"/>
              <a:sym typeface="Noto Sans KR"/>
            </a:endParaRPr>
          </a:p>
        </p:txBody>
      </p:sp>
      <p:cxnSp>
        <p:nvCxnSpPr>
          <p:cNvPr id="1832" name="Google Shape;1832;p44"/>
          <p:cNvCxnSpPr/>
          <p:nvPr/>
        </p:nvCxnSpPr>
        <p:spPr>
          <a:xfrm>
            <a:off x="2357528" y="3865435"/>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1833" name="Google Shape;1833;p44"/>
          <p:cNvCxnSpPr/>
          <p:nvPr/>
        </p:nvCxnSpPr>
        <p:spPr>
          <a:xfrm>
            <a:off x="2362954" y="4161713"/>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1834" name="Google Shape;1834;p44"/>
          <p:cNvCxnSpPr/>
          <p:nvPr/>
        </p:nvCxnSpPr>
        <p:spPr>
          <a:xfrm>
            <a:off x="2327940" y="4445859"/>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1835" name="Google Shape;1835;p44"/>
          <p:cNvCxnSpPr/>
          <p:nvPr/>
        </p:nvCxnSpPr>
        <p:spPr>
          <a:xfrm>
            <a:off x="2342712" y="4718086"/>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1836" name="Google Shape;1836;p44"/>
          <p:cNvSpPr/>
          <p:nvPr/>
        </p:nvSpPr>
        <p:spPr>
          <a:xfrm>
            <a:off x="2424911" y="3669640"/>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37" name="Google Shape;1837;p44"/>
          <p:cNvSpPr/>
          <p:nvPr/>
        </p:nvSpPr>
        <p:spPr>
          <a:xfrm>
            <a:off x="2420246" y="3968461"/>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38" name="Google Shape;1838;p44"/>
          <p:cNvSpPr/>
          <p:nvPr/>
        </p:nvSpPr>
        <p:spPr>
          <a:xfrm>
            <a:off x="2426863" y="4257646"/>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39" name="Google Shape;1839;p44"/>
          <p:cNvSpPr/>
          <p:nvPr/>
        </p:nvSpPr>
        <p:spPr>
          <a:xfrm>
            <a:off x="2421970" y="4530077"/>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40" name="Google Shape;1840;p44"/>
          <p:cNvSpPr txBox="1"/>
          <p:nvPr/>
        </p:nvSpPr>
        <p:spPr>
          <a:xfrm>
            <a:off x="2561754" y="3601760"/>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[경력] AI 엔지..</a:t>
            </a:r>
            <a:endParaRPr sz="1100">
              <a:solidFill>
                <a:schemeClr val="dk1"/>
              </a:solidFill>
              <a:latin typeface="Noto Sans KR"/>
              <a:ea typeface="Noto Sans KR"/>
              <a:cs typeface="Noto Sans KR"/>
              <a:sym typeface="Noto Sans KR"/>
            </a:endParaRPr>
          </a:p>
        </p:txBody>
      </p:sp>
      <p:sp>
        <p:nvSpPr>
          <p:cNvPr id="1841" name="Google Shape;1841;p44"/>
          <p:cNvSpPr txBox="1"/>
          <p:nvPr/>
        </p:nvSpPr>
        <p:spPr>
          <a:xfrm>
            <a:off x="3617298" y="3590220"/>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Engineer</a:t>
            </a:r>
            <a:endParaRPr sz="1100">
              <a:solidFill>
                <a:schemeClr val="dk1"/>
              </a:solidFill>
              <a:latin typeface="Noto Sans KR"/>
              <a:ea typeface="Noto Sans KR"/>
              <a:cs typeface="Noto Sans KR"/>
              <a:sym typeface="Noto Sans KR"/>
            </a:endParaRPr>
          </a:p>
        </p:txBody>
      </p:sp>
      <p:sp>
        <p:nvSpPr>
          <p:cNvPr id="1842" name="Google Shape;1842;p44"/>
          <p:cNvSpPr txBox="1"/>
          <p:nvPr/>
        </p:nvSpPr>
        <p:spPr>
          <a:xfrm>
            <a:off x="4569492" y="3587165"/>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정규직</a:t>
            </a:r>
            <a:endParaRPr sz="1100">
              <a:solidFill>
                <a:schemeClr val="dk1"/>
              </a:solidFill>
              <a:latin typeface="Noto Sans KR"/>
              <a:ea typeface="Noto Sans KR"/>
              <a:cs typeface="Noto Sans KR"/>
              <a:sym typeface="Noto Sans KR"/>
            </a:endParaRPr>
          </a:p>
        </p:txBody>
      </p:sp>
      <p:sp>
        <p:nvSpPr>
          <p:cNvPr id="1843" name="Google Shape;1843;p44"/>
          <p:cNvSpPr txBox="1"/>
          <p:nvPr/>
        </p:nvSpPr>
        <p:spPr>
          <a:xfrm>
            <a:off x="5138813" y="3595226"/>
            <a:ext cx="175977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2026.02.05 ~ 2026.02.24</a:t>
            </a:r>
            <a:endParaRPr sz="1100">
              <a:solidFill>
                <a:schemeClr val="dk1"/>
              </a:solidFill>
              <a:latin typeface="Noto Sans KR"/>
              <a:ea typeface="Noto Sans KR"/>
              <a:cs typeface="Noto Sans KR"/>
              <a:sym typeface="Noto Sans KR"/>
            </a:endParaRPr>
          </a:p>
        </p:txBody>
      </p:sp>
      <p:sp>
        <p:nvSpPr>
          <p:cNvPr id="1844" name="Google Shape;1844;p44"/>
          <p:cNvSpPr txBox="1"/>
          <p:nvPr/>
        </p:nvSpPr>
        <p:spPr>
          <a:xfrm>
            <a:off x="6917081" y="3600070"/>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0070C0"/>
                </a:solidFill>
                <a:latin typeface="Noto Sans KR"/>
                <a:ea typeface="Noto Sans KR"/>
                <a:cs typeface="Noto Sans KR"/>
                <a:sym typeface="Noto Sans KR"/>
              </a:rPr>
              <a:t>진행중</a:t>
            </a:r>
            <a:endParaRPr sz="1100">
              <a:solidFill>
                <a:srgbClr val="0070C0"/>
              </a:solidFill>
              <a:latin typeface="Noto Sans KR"/>
              <a:ea typeface="Noto Sans KR"/>
              <a:cs typeface="Noto Sans KR"/>
              <a:sym typeface="Noto Sans KR"/>
            </a:endParaRPr>
          </a:p>
        </p:txBody>
      </p:sp>
      <p:sp>
        <p:nvSpPr>
          <p:cNvPr id="1845" name="Google Shape;1845;p44"/>
          <p:cNvSpPr txBox="1"/>
          <p:nvPr/>
        </p:nvSpPr>
        <p:spPr>
          <a:xfrm>
            <a:off x="7516462" y="3589725"/>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2026-01-30</a:t>
            </a:r>
            <a:endParaRPr sz="1100">
              <a:solidFill>
                <a:schemeClr val="dk1"/>
              </a:solidFill>
              <a:latin typeface="Noto Sans KR"/>
              <a:ea typeface="Noto Sans KR"/>
              <a:cs typeface="Noto Sans KR"/>
              <a:sym typeface="Noto Sans KR"/>
            </a:endParaRPr>
          </a:p>
        </p:txBody>
      </p:sp>
      <p:sp>
        <p:nvSpPr>
          <p:cNvPr id="1846" name="Google Shape;1846;p44"/>
          <p:cNvSpPr txBox="1"/>
          <p:nvPr/>
        </p:nvSpPr>
        <p:spPr>
          <a:xfrm>
            <a:off x="2561387" y="3891687"/>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[신입] Data 엔..</a:t>
            </a:r>
            <a:endParaRPr sz="1100">
              <a:solidFill>
                <a:schemeClr val="dk1"/>
              </a:solidFill>
              <a:latin typeface="Noto Sans KR"/>
              <a:ea typeface="Noto Sans KR"/>
              <a:cs typeface="Noto Sans KR"/>
              <a:sym typeface="Noto Sans KR"/>
            </a:endParaRPr>
          </a:p>
        </p:txBody>
      </p:sp>
      <p:sp>
        <p:nvSpPr>
          <p:cNvPr id="1847" name="Google Shape;1847;p44"/>
          <p:cNvSpPr txBox="1"/>
          <p:nvPr/>
        </p:nvSpPr>
        <p:spPr>
          <a:xfrm>
            <a:off x="3564013" y="3878211"/>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1848" name="Google Shape;1848;p44"/>
          <p:cNvSpPr txBox="1"/>
          <p:nvPr/>
        </p:nvSpPr>
        <p:spPr>
          <a:xfrm>
            <a:off x="4569125" y="3877092"/>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정규직</a:t>
            </a:r>
            <a:endParaRPr sz="1100">
              <a:solidFill>
                <a:schemeClr val="dk1"/>
              </a:solidFill>
              <a:latin typeface="Noto Sans KR"/>
              <a:ea typeface="Noto Sans KR"/>
              <a:cs typeface="Noto Sans KR"/>
              <a:sym typeface="Noto Sans KR"/>
            </a:endParaRPr>
          </a:p>
        </p:txBody>
      </p:sp>
      <p:sp>
        <p:nvSpPr>
          <p:cNvPr id="1849" name="Google Shape;1849;p44"/>
          <p:cNvSpPr txBox="1"/>
          <p:nvPr/>
        </p:nvSpPr>
        <p:spPr>
          <a:xfrm>
            <a:off x="5138446" y="3885153"/>
            <a:ext cx="175977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2026.01.02 ~ 2026.01.21</a:t>
            </a:r>
            <a:endParaRPr sz="1100">
              <a:solidFill>
                <a:schemeClr val="dk1"/>
              </a:solidFill>
              <a:latin typeface="Noto Sans KR"/>
              <a:ea typeface="Noto Sans KR"/>
              <a:cs typeface="Noto Sans KR"/>
              <a:sym typeface="Noto Sans KR"/>
            </a:endParaRPr>
          </a:p>
        </p:txBody>
      </p:sp>
      <p:sp>
        <p:nvSpPr>
          <p:cNvPr id="1850" name="Google Shape;1850;p44"/>
          <p:cNvSpPr txBox="1"/>
          <p:nvPr/>
        </p:nvSpPr>
        <p:spPr>
          <a:xfrm>
            <a:off x="6917080" y="3891632"/>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C00000"/>
                </a:solidFill>
                <a:latin typeface="Noto Sans KR"/>
                <a:ea typeface="Noto Sans KR"/>
                <a:cs typeface="Noto Sans KR"/>
                <a:sym typeface="Noto Sans KR"/>
              </a:rPr>
              <a:t>마감</a:t>
            </a:r>
            <a:endParaRPr sz="1100">
              <a:solidFill>
                <a:srgbClr val="C00000"/>
              </a:solidFill>
              <a:latin typeface="Noto Sans KR"/>
              <a:ea typeface="Noto Sans KR"/>
              <a:cs typeface="Noto Sans KR"/>
              <a:sym typeface="Noto Sans KR"/>
            </a:endParaRPr>
          </a:p>
        </p:txBody>
      </p:sp>
      <p:sp>
        <p:nvSpPr>
          <p:cNvPr id="1851" name="Google Shape;1851;p44"/>
          <p:cNvSpPr txBox="1"/>
          <p:nvPr/>
        </p:nvSpPr>
        <p:spPr>
          <a:xfrm>
            <a:off x="7516095" y="3879652"/>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2025-12-31</a:t>
            </a:r>
            <a:endParaRPr sz="1100">
              <a:solidFill>
                <a:schemeClr val="dk1"/>
              </a:solidFill>
              <a:latin typeface="Noto Sans KR"/>
              <a:ea typeface="Noto Sans KR"/>
              <a:cs typeface="Noto Sans KR"/>
              <a:sym typeface="Noto Sans KR"/>
            </a:endParaRPr>
          </a:p>
        </p:txBody>
      </p:sp>
      <p:sp>
        <p:nvSpPr>
          <p:cNvPr id="1852" name="Google Shape;1852;p44"/>
          <p:cNvSpPr txBox="1"/>
          <p:nvPr/>
        </p:nvSpPr>
        <p:spPr>
          <a:xfrm>
            <a:off x="2561387" y="4166463"/>
            <a:ext cx="118988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[신입] Backen..</a:t>
            </a:r>
            <a:endParaRPr sz="1100">
              <a:solidFill>
                <a:schemeClr val="dk1"/>
              </a:solidFill>
              <a:latin typeface="Noto Sans KR"/>
              <a:ea typeface="Noto Sans KR"/>
              <a:cs typeface="Noto Sans KR"/>
              <a:sym typeface="Noto Sans KR"/>
            </a:endParaRPr>
          </a:p>
        </p:txBody>
      </p:sp>
      <p:sp>
        <p:nvSpPr>
          <p:cNvPr id="1853" name="Google Shape;1853;p44"/>
          <p:cNvSpPr txBox="1"/>
          <p:nvPr/>
        </p:nvSpPr>
        <p:spPr>
          <a:xfrm>
            <a:off x="3606310" y="4159929"/>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1854" name="Google Shape;1854;p44"/>
          <p:cNvSpPr txBox="1"/>
          <p:nvPr/>
        </p:nvSpPr>
        <p:spPr>
          <a:xfrm>
            <a:off x="4569125" y="4178814"/>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정규직</a:t>
            </a:r>
            <a:endParaRPr sz="1100">
              <a:solidFill>
                <a:schemeClr val="dk1"/>
              </a:solidFill>
              <a:latin typeface="Noto Sans KR"/>
              <a:ea typeface="Noto Sans KR"/>
              <a:cs typeface="Noto Sans KR"/>
              <a:sym typeface="Noto Sans KR"/>
            </a:endParaRPr>
          </a:p>
        </p:txBody>
      </p:sp>
      <p:sp>
        <p:nvSpPr>
          <p:cNvPr id="1855" name="Google Shape;1855;p44"/>
          <p:cNvSpPr txBox="1"/>
          <p:nvPr/>
        </p:nvSpPr>
        <p:spPr>
          <a:xfrm>
            <a:off x="5138446" y="4159929"/>
            <a:ext cx="175977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2026.01.02 ~ 2026.01.21</a:t>
            </a:r>
            <a:endParaRPr sz="1100">
              <a:solidFill>
                <a:schemeClr val="dk1"/>
              </a:solidFill>
              <a:latin typeface="Noto Sans KR"/>
              <a:ea typeface="Noto Sans KR"/>
              <a:cs typeface="Noto Sans KR"/>
              <a:sym typeface="Noto Sans KR"/>
            </a:endParaRPr>
          </a:p>
        </p:txBody>
      </p:sp>
      <p:sp>
        <p:nvSpPr>
          <p:cNvPr id="1856" name="Google Shape;1856;p44"/>
          <p:cNvSpPr txBox="1"/>
          <p:nvPr/>
        </p:nvSpPr>
        <p:spPr>
          <a:xfrm>
            <a:off x="6917878" y="4201052"/>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C00000"/>
                </a:solidFill>
                <a:latin typeface="Noto Sans KR"/>
                <a:ea typeface="Noto Sans KR"/>
                <a:cs typeface="Noto Sans KR"/>
                <a:sym typeface="Noto Sans KR"/>
              </a:rPr>
              <a:t>마감</a:t>
            </a:r>
            <a:endParaRPr sz="1100">
              <a:solidFill>
                <a:srgbClr val="C00000"/>
              </a:solidFill>
              <a:latin typeface="Noto Sans KR"/>
              <a:ea typeface="Noto Sans KR"/>
              <a:cs typeface="Noto Sans KR"/>
              <a:sym typeface="Noto Sans KR"/>
            </a:endParaRPr>
          </a:p>
        </p:txBody>
      </p:sp>
      <p:sp>
        <p:nvSpPr>
          <p:cNvPr id="1857" name="Google Shape;1857;p44"/>
          <p:cNvSpPr txBox="1"/>
          <p:nvPr/>
        </p:nvSpPr>
        <p:spPr>
          <a:xfrm>
            <a:off x="7525237" y="4180216"/>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2025-12-31</a:t>
            </a:r>
            <a:endParaRPr sz="1100">
              <a:solidFill>
                <a:schemeClr val="dk1"/>
              </a:solidFill>
              <a:latin typeface="Noto Sans KR"/>
              <a:ea typeface="Noto Sans KR"/>
              <a:cs typeface="Noto Sans KR"/>
              <a:sym typeface="Noto Sans KR"/>
            </a:endParaRPr>
          </a:p>
        </p:txBody>
      </p:sp>
      <p:sp>
        <p:nvSpPr>
          <p:cNvPr id="1858" name="Google Shape;1858;p44"/>
          <p:cNvSpPr txBox="1"/>
          <p:nvPr/>
        </p:nvSpPr>
        <p:spPr>
          <a:xfrm>
            <a:off x="2559477" y="4465176"/>
            <a:ext cx="118988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[경력] Backen..</a:t>
            </a:r>
            <a:endParaRPr sz="1100">
              <a:solidFill>
                <a:schemeClr val="dk1"/>
              </a:solidFill>
              <a:latin typeface="Noto Sans KR"/>
              <a:ea typeface="Noto Sans KR"/>
              <a:cs typeface="Noto Sans KR"/>
              <a:sym typeface="Noto Sans KR"/>
            </a:endParaRPr>
          </a:p>
        </p:txBody>
      </p:sp>
      <p:sp>
        <p:nvSpPr>
          <p:cNvPr id="1859" name="Google Shape;1859;p44"/>
          <p:cNvSpPr txBox="1"/>
          <p:nvPr/>
        </p:nvSpPr>
        <p:spPr>
          <a:xfrm>
            <a:off x="3604400" y="4458642"/>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1860" name="Google Shape;1860;p44"/>
          <p:cNvSpPr txBox="1"/>
          <p:nvPr/>
        </p:nvSpPr>
        <p:spPr>
          <a:xfrm>
            <a:off x="5136536" y="4458642"/>
            <a:ext cx="175977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2026.02.23 ~ 2026.03.06</a:t>
            </a:r>
            <a:endParaRPr sz="1100">
              <a:solidFill>
                <a:schemeClr val="dk1"/>
              </a:solidFill>
              <a:latin typeface="Noto Sans KR"/>
              <a:ea typeface="Noto Sans KR"/>
              <a:cs typeface="Noto Sans KR"/>
              <a:sym typeface="Noto Sans KR"/>
            </a:endParaRPr>
          </a:p>
        </p:txBody>
      </p:sp>
      <p:sp>
        <p:nvSpPr>
          <p:cNvPr id="1861" name="Google Shape;1861;p44"/>
          <p:cNvSpPr txBox="1"/>
          <p:nvPr/>
        </p:nvSpPr>
        <p:spPr>
          <a:xfrm>
            <a:off x="6915170" y="4465121"/>
            <a:ext cx="5792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대기</a:t>
            </a:r>
            <a:endParaRPr sz="1100">
              <a:solidFill>
                <a:srgbClr val="7F7F7F"/>
              </a:solidFill>
              <a:latin typeface="Noto Sans KR"/>
              <a:ea typeface="Noto Sans KR"/>
              <a:cs typeface="Noto Sans KR"/>
              <a:sym typeface="Noto Sans KR"/>
            </a:endParaRPr>
          </a:p>
        </p:txBody>
      </p:sp>
      <p:sp>
        <p:nvSpPr>
          <p:cNvPr id="1862" name="Google Shape;1862;p44"/>
          <p:cNvSpPr txBox="1"/>
          <p:nvPr/>
        </p:nvSpPr>
        <p:spPr>
          <a:xfrm>
            <a:off x="7514185" y="4453141"/>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2026-02-11</a:t>
            </a:r>
            <a:endParaRPr sz="1100">
              <a:solidFill>
                <a:schemeClr val="dk1"/>
              </a:solidFill>
              <a:latin typeface="Noto Sans KR"/>
              <a:ea typeface="Noto Sans KR"/>
              <a:cs typeface="Noto Sans KR"/>
              <a:sym typeface="Noto Sans KR"/>
            </a:endParaRPr>
          </a:p>
        </p:txBody>
      </p:sp>
      <p:sp>
        <p:nvSpPr>
          <p:cNvPr id="1863" name="Google Shape;1863;p44"/>
          <p:cNvSpPr txBox="1"/>
          <p:nvPr/>
        </p:nvSpPr>
        <p:spPr>
          <a:xfrm>
            <a:off x="4546712" y="4450900"/>
            <a:ext cx="62407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 계약직</a:t>
            </a:r>
            <a:endParaRPr sz="1100">
              <a:solidFill>
                <a:schemeClr val="dk1"/>
              </a:solidFill>
              <a:latin typeface="Noto Sans KR"/>
              <a:ea typeface="Noto Sans KR"/>
              <a:cs typeface="Noto Sans KR"/>
              <a:sym typeface="Noto Sans KR"/>
            </a:endParaRPr>
          </a:p>
        </p:txBody>
      </p:sp>
      <p:sp>
        <p:nvSpPr>
          <p:cNvPr id="1864" name="Google Shape;1864;p44"/>
          <p:cNvSpPr txBox="1"/>
          <p:nvPr/>
        </p:nvSpPr>
        <p:spPr>
          <a:xfrm>
            <a:off x="5019500" y="4847770"/>
            <a:ext cx="5626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u="sng">
                <a:solidFill>
                  <a:schemeClr val="dk1"/>
                </a:solidFill>
                <a:latin typeface="Noto Sans KR"/>
                <a:ea typeface="Noto Sans KR"/>
                <a:cs typeface="Noto Sans KR"/>
                <a:sym typeface="Noto Sans KR"/>
              </a:rPr>
              <a:t>1</a:t>
            </a:r>
            <a:endParaRPr sz="1200" u="sng">
              <a:solidFill>
                <a:schemeClr val="dk1"/>
              </a:solidFill>
              <a:latin typeface="Noto Sans KR"/>
              <a:ea typeface="Noto Sans KR"/>
              <a:cs typeface="Noto Sans KR"/>
              <a:sym typeface="Noto Sans KR"/>
            </a:endParaRPr>
          </a:p>
        </p:txBody>
      </p:sp>
      <p:sp>
        <p:nvSpPr>
          <p:cNvPr id="1865" name="Google Shape;1865;p44"/>
          <p:cNvSpPr/>
          <p:nvPr/>
        </p:nvSpPr>
        <p:spPr>
          <a:xfrm>
            <a:off x="7235502" y="3063256"/>
            <a:ext cx="1041732" cy="20926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rPr lang="ko-KR" sz="1050">
                <a:solidFill>
                  <a:srgbClr val="7F7F7F"/>
                </a:solidFill>
                <a:latin typeface="Noto Sans KR"/>
                <a:ea typeface="Noto Sans KR"/>
                <a:cs typeface="Noto Sans KR"/>
                <a:sym typeface="Noto Sans KR"/>
              </a:rPr>
              <a:t>10개씩 보기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sp>
        <p:nvSpPr>
          <p:cNvPr id="1866" name="Google Shape;1866;p44"/>
          <p:cNvSpPr/>
          <p:nvPr/>
        </p:nvSpPr>
        <p:spPr>
          <a:xfrm>
            <a:off x="6025481" y="3059831"/>
            <a:ext cx="1097860" cy="20832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최신순</a:t>
            </a:r>
            <a:r>
              <a:rPr lang="ko-KR" sz="1050">
                <a:solidFill>
                  <a:srgbClr val="BFBFBF"/>
                </a:solidFill>
                <a:latin typeface="Noto Sans KR"/>
                <a:ea typeface="Noto Sans KR"/>
                <a:cs typeface="Noto Sans KR"/>
                <a:sym typeface="Noto Sans KR"/>
              </a:rPr>
              <a:t>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grpSp>
        <p:nvGrpSpPr>
          <p:cNvPr id="1867" name="Google Shape;1867;p44"/>
          <p:cNvGrpSpPr/>
          <p:nvPr/>
        </p:nvGrpSpPr>
        <p:grpSpPr>
          <a:xfrm>
            <a:off x="6134509" y="4833851"/>
            <a:ext cx="1463975" cy="276999"/>
            <a:chOff x="5375612" y="5305565"/>
            <a:chExt cx="1463975" cy="276999"/>
          </a:xfrm>
        </p:grpSpPr>
        <p:sp>
          <p:nvSpPr>
            <p:cNvPr id="1868" name="Google Shape;1868;p44"/>
            <p:cNvSpPr/>
            <p:nvPr/>
          </p:nvSpPr>
          <p:spPr>
            <a:xfrm>
              <a:off x="5418217" y="5358005"/>
              <a:ext cx="180000" cy="180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69" name="Google Shape;1869;p44"/>
            <p:cNvSpPr txBox="1"/>
            <p:nvPr/>
          </p:nvSpPr>
          <p:spPr>
            <a:xfrm>
              <a:off x="5375612" y="5305565"/>
              <a:ext cx="14639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1</a:t>
              </a:r>
              <a:r>
                <a:rPr lang="ko-KR" sz="1200">
                  <a:solidFill>
                    <a:schemeClr val="dk1"/>
                  </a:solidFill>
                  <a:latin typeface="Noto Sans KR"/>
                  <a:ea typeface="Noto Sans KR"/>
                  <a:cs typeface="Noto Sans KR"/>
                  <a:sym typeface="Noto Sans KR"/>
                </a:rPr>
                <a:t>    2    3    4    5    &gt;</a:t>
              </a:r>
              <a:endParaRPr sz="1200">
                <a:solidFill>
                  <a:schemeClr val="dk1"/>
                </a:solidFill>
                <a:latin typeface="Noto Sans KR"/>
                <a:ea typeface="Noto Sans KR"/>
                <a:cs typeface="Noto Sans KR"/>
                <a:sym typeface="Noto Sans KR"/>
              </a:endParaRPr>
            </a:p>
          </p:txBody>
        </p:sp>
      </p:grpSp>
      <p:sp>
        <p:nvSpPr>
          <p:cNvPr id="1870" name="Google Shape;1870;p44"/>
          <p:cNvSpPr txBox="1"/>
          <p:nvPr/>
        </p:nvSpPr>
        <p:spPr>
          <a:xfrm>
            <a:off x="5584109" y="4814969"/>
            <a:ext cx="62977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pages</a:t>
            </a:r>
            <a:endParaRPr sz="1100">
              <a:solidFill>
                <a:srgbClr val="7F7F7F"/>
              </a:solidFill>
              <a:latin typeface="Noto Sans KR"/>
              <a:ea typeface="Noto Sans KR"/>
              <a:cs typeface="Noto Sans KR"/>
              <a:sym typeface="Noto Sans KR"/>
            </a:endParaRPr>
          </a:p>
        </p:txBody>
      </p:sp>
      <p:sp>
        <p:nvSpPr>
          <p:cNvPr id="1871" name="Google Shape;1871;p44"/>
          <p:cNvSpPr/>
          <p:nvPr/>
        </p:nvSpPr>
        <p:spPr>
          <a:xfrm>
            <a:off x="2191435" y="109745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872" name="Google Shape;1872;p44"/>
          <p:cNvSpPr/>
          <p:nvPr/>
        </p:nvSpPr>
        <p:spPr>
          <a:xfrm>
            <a:off x="2231654" y="162947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873" name="Google Shape;1873;p44"/>
          <p:cNvSpPr/>
          <p:nvPr/>
        </p:nvSpPr>
        <p:spPr>
          <a:xfrm>
            <a:off x="6178706" y="238581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874" name="Google Shape;1874;p44"/>
          <p:cNvSpPr/>
          <p:nvPr/>
        </p:nvSpPr>
        <p:spPr>
          <a:xfrm>
            <a:off x="6869276" y="239543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875" name="Google Shape;1875;p44"/>
          <p:cNvSpPr/>
          <p:nvPr/>
        </p:nvSpPr>
        <p:spPr>
          <a:xfrm>
            <a:off x="2268246" y="290923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876" name="Google Shape;1876;p44"/>
          <p:cNvSpPr/>
          <p:nvPr/>
        </p:nvSpPr>
        <p:spPr>
          <a:xfrm>
            <a:off x="2932909" y="288191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877" name="Google Shape;1877;p44"/>
          <p:cNvSpPr/>
          <p:nvPr/>
        </p:nvSpPr>
        <p:spPr>
          <a:xfrm>
            <a:off x="4132729" y="289015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878" name="Google Shape;1878;p44"/>
          <p:cNvSpPr/>
          <p:nvPr/>
        </p:nvSpPr>
        <p:spPr>
          <a:xfrm>
            <a:off x="5896570" y="287832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1879" name="Google Shape;1879;p44"/>
          <p:cNvSpPr/>
          <p:nvPr/>
        </p:nvSpPr>
        <p:spPr>
          <a:xfrm>
            <a:off x="7170310" y="288478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1880" name="Google Shape;1880;p44"/>
          <p:cNvSpPr/>
          <p:nvPr/>
        </p:nvSpPr>
        <p:spPr>
          <a:xfrm>
            <a:off x="4789829" y="478833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1881" name="Google Shape;1881;p44"/>
          <p:cNvSpPr/>
          <p:nvPr/>
        </p:nvSpPr>
        <p:spPr>
          <a:xfrm>
            <a:off x="5581522" y="505317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11</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
        <p:nvSpPr>
          <p:cNvPr id="1887" name="Google Shape;1887;p45"/>
          <p:cNvSpPr txBox="1"/>
          <p:nvPr>
            <p:ph type="title"/>
          </p:nvPr>
        </p:nvSpPr>
        <p:spPr>
          <a:xfrm>
            <a:off x="406653"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지원자 관리</a:t>
            </a:r>
            <a:endParaRPr sz="2400"/>
          </a:p>
        </p:txBody>
      </p:sp>
      <p:sp>
        <p:nvSpPr>
          <p:cNvPr id="1888" name="Google Shape;1888;p45"/>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1889" name="Google Shape;1889;p45"/>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1890" name="Google Shape;1890;p45"/>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1891" name="Google Shape;1891;p45"/>
          <p:cNvSpPr/>
          <p:nvPr/>
        </p:nvSpPr>
        <p:spPr>
          <a:xfrm>
            <a:off x="335382" y="1123950"/>
            <a:ext cx="8132343" cy="5410200"/>
          </a:xfrm>
          <a:prstGeom prst="rect">
            <a:avLst/>
          </a:prstGeom>
          <a:solidFill>
            <a:srgbClr val="D8D8D8"/>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1892" name="Google Shape;1892;p45"/>
          <p:cNvGraphicFramePr/>
          <p:nvPr/>
        </p:nvGraphicFramePr>
        <p:xfrm>
          <a:off x="8561828" y="1054745"/>
          <a:ext cx="3000000" cy="3000000"/>
        </p:xfrm>
        <a:graphic>
          <a:graphicData uri="http://schemas.openxmlformats.org/drawingml/2006/table">
            <a:tbl>
              <a:tblPr bandRow="1" firstRow="1">
                <a:noFill/>
                <a:tableStyleId>{C61F204E-A15B-47D6-BEBB-6A886D3283EB}</a:tableStyleId>
              </a:tblPr>
              <a:tblGrid>
                <a:gridCol w="452875"/>
                <a:gridCol w="2823375"/>
              </a:tblGrid>
              <a:tr h="3384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559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조회 조건 입력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결과 목록을 필터링하기 위한 기본 검색 조건 입력 영역</a:t>
                      </a:r>
                      <a:endParaRPr b="0"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[구성] 직무: 채용 직무 기준 필터링,면접코드: 특정 면접 회차 또는 공고 단위,기간: 면접 진행일 기준 기간 검색</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5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검색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조회 조건을 기준으로 면접 결과 목록 조회</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조건 미입력 시 전체 내역 조회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70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초기화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모든 조회 조건을 기본값으로 초기화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559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목록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 [주요 컬럼] 체크박스,지원자 사진 및 이름,지원 직무,제출서류 : 이력서,포토폴리어,첨부파일 아이콘으로 표시 제출 영역 색으로 구분하여 안내,면접 진행일, 남은시간(실시간 변경),지원일</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5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삭제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데이터 삭제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삭제 전 최종 확인 팝업 안내 제공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5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변경 버튼</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변경 화면으로 이동 (복수 선택 불가)</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이동 전 최죙 변경 확인 팝업 안내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4275">
                <a:tc gridSpan="2">
                  <a:txBody>
                    <a:bodyPr/>
                    <a:lstStyle/>
                    <a:p>
                      <a:pPr indent="0" lvl="0" marL="0" marR="0" rtl="0" algn="ctr">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1893" name="Google Shape;1893;p45"/>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2000"/>
                <a:gridCol w="28326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INT-03</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지원자 관리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지원자 정보와 제출 서류 및 면접 일정을 조회·관리하는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pic>
        <p:nvPicPr>
          <p:cNvPr id="1894" name="Google Shape;1894;p45"/>
          <p:cNvPicPr preferRelativeResize="0"/>
          <p:nvPr/>
        </p:nvPicPr>
        <p:blipFill rotWithShape="1">
          <a:blip r:embed="rId3">
            <a:alphaModFix/>
          </a:blip>
          <a:srcRect b="0" l="0" r="0" t="0"/>
          <a:stretch/>
        </p:blipFill>
        <p:spPr>
          <a:xfrm>
            <a:off x="335381" y="1142016"/>
            <a:ext cx="1932170" cy="453869"/>
          </a:xfrm>
          <a:prstGeom prst="rect">
            <a:avLst/>
          </a:prstGeom>
          <a:noFill/>
          <a:ln>
            <a:noFill/>
          </a:ln>
        </p:spPr>
      </p:pic>
      <p:grpSp>
        <p:nvGrpSpPr>
          <p:cNvPr id="1895" name="Google Shape;1895;p45"/>
          <p:cNvGrpSpPr/>
          <p:nvPr/>
        </p:nvGrpSpPr>
        <p:grpSpPr>
          <a:xfrm>
            <a:off x="308307" y="1595887"/>
            <a:ext cx="2141093" cy="4938263"/>
            <a:chOff x="335382" y="1595886"/>
            <a:chExt cx="2141093" cy="4938263"/>
          </a:xfrm>
        </p:grpSpPr>
        <p:sp>
          <p:nvSpPr>
            <p:cNvPr id="1896" name="Google Shape;1896;p45"/>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97" name="Google Shape;1897;p45"/>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1898" name="Google Shape;1898;p45"/>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1899" name="Google Shape;1899;p45"/>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cxnSp>
          <p:nvCxnSpPr>
            <p:cNvPr id="1900" name="Google Shape;1900;p45"/>
            <p:cNvCxnSpPr/>
            <p:nvPr/>
          </p:nvCxnSpPr>
          <p:spPr>
            <a:xfrm>
              <a:off x="477692" y="2742587"/>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1901" name="Google Shape;1901;p45"/>
            <p:cNvGrpSpPr/>
            <p:nvPr/>
          </p:nvGrpSpPr>
          <p:grpSpPr>
            <a:xfrm>
              <a:off x="586240" y="2927869"/>
              <a:ext cx="1890235" cy="276999"/>
              <a:chOff x="387847" y="2881173"/>
              <a:chExt cx="2116652" cy="278829"/>
            </a:xfrm>
          </p:grpSpPr>
          <p:sp>
            <p:nvSpPr>
              <p:cNvPr id="1902" name="Google Shape;1902;p45"/>
              <p:cNvSpPr txBox="1"/>
              <p:nvPr/>
            </p:nvSpPr>
            <p:spPr>
              <a:xfrm>
                <a:off x="387847" y="2881173"/>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1903" name="Google Shape;1903;p45"/>
              <p:cNvCxnSpPr/>
              <p:nvPr/>
            </p:nvCxnSpPr>
            <p:spPr>
              <a:xfrm flipH="1" rot="10800000">
                <a:off x="708188" y="3109181"/>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1904" name="Google Shape;1904;p45"/>
            <p:cNvGrpSpPr/>
            <p:nvPr/>
          </p:nvGrpSpPr>
          <p:grpSpPr>
            <a:xfrm>
              <a:off x="473624" y="3689310"/>
              <a:ext cx="1756549" cy="357966"/>
              <a:chOff x="473624" y="2036227"/>
              <a:chExt cx="1756549" cy="357966"/>
            </a:xfrm>
          </p:grpSpPr>
          <p:cxnSp>
            <p:nvCxnSpPr>
              <p:cNvPr id="1905" name="Google Shape;1905;p45"/>
              <p:cNvCxnSpPr/>
              <p:nvPr/>
            </p:nvCxnSpPr>
            <p:spPr>
              <a:xfrm>
                <a:off x="513744" y="2394193"/>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906" name="Google Shape;1906;p45"/>
              <p:cNvSpPr txBox="1"/>
              <p:nvPr/>
            </p:nvSpPr>
            <p:spPr>
              <a:xfrm>
                <a:off x="473624" y="2036227"/>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결과              ∨                </a:t>
                </a:r>
                <a:endParaRPr sz="1400">
                  <a:solidFill>
                    <a:srgbClr val="BFBFBF"/>
                  </a:solidFill>
                  <a:latin typeface="Noto Sans KR"/>
                  <a:ea typeface="Noto Sans KR"/>
                  <a:cs typeface="Noto Sans KR"/>
                  <a:sym typeface="Noto Sans KR"/>
                </a:endParaRPr>
              </a:p>
            </p:txBody>
          </p:sp>
        </p:grpSp>
        <p:grpSp>
          <p:nvGrpSpPr>
            <p:cNvPr id="1907" name="Google Shape;1907;p45"/>
            <p:cNvGrpSpPr/>
            <p:nvPr/>
          </p:nvGrpSpPr>
          <p:grpSpPr>
            <a:xfrm>
              <a:off x="436729" y="4131933"/>
              <a:ext cx="1756549" cy="325055"/>
              <a:chOff x="436729" y="2028287"/>
              <a:chExt cx="1756549" cy="325055"/>
            </a:xfrm>
          </p:grpSpPr>
          <p:cxnSp>
            <p:nvCxnSpPr>
              <p:cNvPr id="1908" name="Google Shape;1908;p45"/>
              <p:cNvCxnSpPr/>
              <p:nvPr/>
            </p:nvCxnSpPr>
            <p:spPr>
              <a:xfrm>
                <a:off x="513744" y="2353342"/>
                <a:ext cx="1618527" cy="0"/>
              </a:xfrm>
              <a:prstGeom prst="straightConnector1">
                <a:avLst/>
              </a:prstGeom>
              <a:noFill/>
              <a:ln cap="flat" cmpd="sng" w="9525">
                <a:solidFill>
                  <a:srgbClr val="BFBFBF"/>
                </a:solidFill>
                <a:prstDash val="solid"/>
                <a:miter lim="8000"/>
                <a:headEnd len="sm" w="sm" type="none"/>
                <a:tailEnd len="sm" w="sm" type="none"/>
              </a:ln>
            </p:spPr>
          </p:cxnSp>
          <p:sp>
            <p:nvSpPr>
              <p:cNvPr id="1909" name="Google Shape;1909;p45"/>
              <p:cNvSpPr txBox="1"/>
              <p:nvPr/>
            </p:nvSpPr>
            <p:spPr>
              <a:xfrm>
                <a:off x="436729" y="2028287"/>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cxnSp>
        <p:nvCxnSpPr>
          <p:cNvPr id="1910" name="Google Shape;1910;p45"/>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1911" name="Google Shape;1911;p45"/>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1912" name="Google Shape;1912;p45"/>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1913" name="Google Shape;1913;p45"/>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1914" name="Google Shape;1914;p45"/>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지원자 관리</a:t>
            </a:r>
            <a:endParaRPr b="1" sz="1800">
              <a:solidFill>
                <a:srgbClr val="7F7F7F"/>
              </a:solidFill>
              <a:latin typeface="Noto Sans KR"/>
              <a:ea typeface="Noto Sans KR"/>
              <a:cs typeface="Noto Sans KR"/>
              <a:sym typeface="Noto Sans KR"/>
            </a:endParaRPr>
          </a:p>
        </p:txBody>
      </p:sp>
      <p:cxnSp>
        <p:nvCxnSpPr>
          <p:cNvPr id="1915" name="Google Shape;1915;p45"/>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1916" name="Google Shape;1916;p45"/>
          <p:cNvGrpSpPr/>
          <p:nvPr/>
        </p:nvGrpSpPr>
        <p:grpSpPr>
          <a:xfrm>
            <a:off x="435703" y="6134926"/>
            <a:ext cx="1066433" cy="338554"/>
            <a:chOff x="417309" y="6108345"/>
            <a:chExt cx="1066433" cy="338554"/>
          </a:xfrm>
        </p:grpSpPr>
        <p:pic>
          <p:nvPicPr>
            <p:cNvPr id="1917" name="Google Shape;1917;p45"/>
            <p:cNvPicPr preferRelativeResize="0"/>
            <p:nvPr/>
          </p:nvPicPr>
          <p:blipFill rotWithShape="1">
            <a:blip r:embed="rId6">
              <a:alphaModFix/>
            </a:blip>
            <a:srcRect b="0" l="0" r="0" t="0"/>
            <a:stretch/>
          </p:blipFill>
          <p:spPr>
            <a:xfrm>
              <a:off x="417309" y="6148038"/>
              <a:ext cx="246925" cy="280330"/>
            </a:xfrm>
            <a:prstGeom prst="rect">
              <a:avLst/>
            </a:prstGeom>
            <a:noFill/>
            <a:ln>
              <a:noFill/>
            </a:ln>
          </p:spPr>
        </p:pic>
        <p:sp>
          <p:nvSpPr>
            <p:cNvPr id="1918" name="Google Shape;1918;p45"/>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1919" name="Google Shape;1919;p45"/>
          <p:cNvSpPr/>
          <p:nvPr/>
        </p:nvSpPr>
        <p:spPr>
          <a:xfrm>
            <a:off x="2344287" y="1694647"/>
            <a:ext cx="6049847" cy="753007"/>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grpSp>
        <p:nvGrpSpPr>
          <p:cNvPr id="1920" name="Google Shape;1920;p45"/>
          <p:cNvGrpSpPr/>
          <p:nvPr/>
        </p:nvGrpSpPr>
        <p:grpSpPr>
          <a:xfrm>
            <a:off x="2865232" y="2099262"/>
            <a:ext cx="2580899" cy="229403"/>
            <a:chOff x="3967360" y="3563578"/>
            <a:chExt cx="2580899" cy="308569"/>
          </a:xfrm>
        </p:grpSpPr>
        <p:sp>
          <p:nvSpPr>
            <p:cNvPr id="1921" name="Google Shape;1921;p45"/>
            <p:cNvSpPr/>
            <p:nvPr/>
          </p:nvSpPr>
          <p:spPr>
            <a:xfrm>
              <a:off x="3967360" y="3563578"/>
              <a:ext cx="2580899" cy="30856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yyyy-mm-dd ~ yyyy-mm-dd</a:t>
              </a:r>
              <a:endParaRPr sz="1200">
                <a:solidFill>
                  <a:srgbClr val="BFBFBF"/>
                </a:solidFill>
                <a:latin typeface="Noto Sans KR"/>
                <a:ea typeface="Noto Sans KR"/>
                <a:cs typeface="Noto Sans KR"/>
                <a:sym typeface="Noto Sans KR"/>
              </a:endParaRPr>
            </a:p>
          </p:txBody>
        </p:sp>
        <p:pic>
          <p:nvPicPr>
            <p:cNvPr id="1922" name="Google Shape;1922;p45"/>
            <p:cNvPicPr preferRelativeResize="0"/>
            <p:nvPr/>
          </p:nvPicPr>
          <p:blipFill rotWithShape="1">
            <a:blip r:embed="rId7">
              <a:alphaModFix/>
            </a:blip>
            <a:srcRect b="0" l="0" r="0" t="0"/>
            <a:stretch/>
          </p:blipFill>
          <p:spPr>
            <a:xfrm>
              <a:off x="6304049" y="3605956"/>
              <a:ext cx="173690" cy="232910"/>
            </a:xfrm>
            <a:prstGeom prst="rect">
              <a:avLst/>
            </a:prstGeom>
            <a:noFill/>
            <a:ln>
              <a:noFill/>
            </a:ln>
          </p:spPr>
        </p:pic>
      </p:grpSp>
      <p:sp>
        <p:nvSpPr>
          <p:cNvPr id="1923" name="Google Shape;1923;p45"/>
          <p:cNvSpPr/>
          <p:nvPr/>
        </p:nvSpPr>
        <p:spPr>
          <a:xfrm>
            <a:off x="2800564" y="1790056"/>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채용 직무           ∨     </a:t>
            </a:r>
            <a:endParaRPr sz="1200">
              <a:solidFill>
                <a:srgbClr val="BFBFBF"/>
              </a:solidFill>
              <a:latin typeface="Noto Sans KR"/>
              <a:ea typeface="Noto Sans KR"/>
              <a:cs typeface="Noto Sans KR"/>
              <a:sym typeface="Noto Sans KR"/>
            </a:endParaRPr>
          </a:p>
        </p:txBody>
      </p:sp>
      <p:sp>
        <p:nvSpPr>
          <p:cNvPr id="1924" name="Google Shape;1924;p45"/>
          <p:cNvSpPr/>
          <p:nvPr/>
        </p:nvSpPr>
        <p:spPr>
          <a:xfrm>
            <a:off x="6727477" y="1789929"/>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진행 상태           ∨</a:t>
            </a:r>
            <a:endParaRPr sz="1200">
              <a:solidFill>
                <a:srgbClr val="BFBFBF"/>
              </a:solidFill>
              <a:latin typeface="Noto Sans KR"/>
              <a:ea typeface="Noto Sans KR"/>
              <a:cs typeface="Noto Sans KR"/>
              <a:sym typeface="Noto Sans KR"/>
            </a:endParaRPr>
          </a:p>
        </p:txBody>
      </p:sp>
      <p:sp>
        <p:nvSpPr>
          <p:cNvPr id="1925" name="Google Shape;1925;p45"/>
          <p:cNvSpPr txBox="1"/>
          <p:nvPr/>
        </p:nvSpPr>
        <p:spPr>
          <a:xfrm>
            <a:off x="2423312" y="1777407"/>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a:t>
            </a:r>
            <a:endParaRPr sz="1000">
              <a:solidFill>
                <a:schemeClr val="dk1"/>
              </a:solidFill>
              <a:latin typeface="Noto Sans KR"/>
              <a:ea typeface="Noto Sans KR"/>
              <a:cs typeface="Noto Sans KR"/>
              <a:sym typeface="Noto Sans KR"/>
            </a:endParaRPr>
          </a:p>
        </p:txBody>
      </p:sp>
      <p:sp>
        <p:nvSpPr>
          <p:cNvPr id="1926" name="Google Shape;1926;p45"/>
          <p:cNvSpPr txBox="1"/>
          <p:nvPr/>
        </p:nvSpPr>
        <p:spPr>
          <a:xfrm>
            <a:off x="2423312" y="2110776"/>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기간</a:t>
            </a:r>
            <a:endParaRPr sz="1000">
              <a:solidFill>
                <a:schemeClr val="dk1"/>
              </a:solidFill>
              <a:latin typeface="Noto Sans KR"/>
              <a:ea typeface="Noto Sans KR"/>
              <a:cs typeface="Noto Sans KR"/>
              <a:sym typeface="Noto Sans KR"/>
            </a:endParaRPr>
          </a:p>
        </p:txBody>
      </p:sp>
      <p:sp>
        <p:nvSpPr>
          <p:cNvPr id="1927" name="Google Shape;1927;p45"/>
          <p:cNvSpPr txBox="1"/>
          <p:nvPr/>
        </p:nvSpPr>
        <p:spPr>
          <a:xfrm>
            <a:off x="6305835" y="1781579"/>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현황</a:t>
            </a:r>
            <a:endParaRPr sz="1000">
              <a:solidFill>
                <a:schemeClr val="dk1"/>
              </a:solidFill>
              <a:latin typeface="Noto Sans KR"/>
              <a:ea typeface="Noto Sans KR"/>
              <a:cs typeface="Noto Sans KR"/>
              <a:sym typeface="Noto Sans KR"/>
            </a:endParaRPr>
          </a:p>
        </p:txBody>
      </p:sp>
      <p:sp>
        <p:nvSpPr>
          <p:cNvPr id="1928" name="Google Shape;1928;p45"/>
          <p:cNvSpPr/>
          <p:nvPr/>
        </p:nvSpPr>
        <p:spPr>
          <a:xfrm>
            <a:off x="6585879" y="2098095"/>
            <a:ext cx="540715" cy="230597"/>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검색</a:t>
            </a:r>
            <a:endParaRPr sz="1100">
              <a:solidFill>
                <a:schemeClr val="lt1"/>
              </a:solidFill>
              <a:latin typeface="Noto Sans KR"/>
              <a:ea typeface="Noto Sans KR"/>
              <a:cs typeface="Noto Sans KR"/>
              <a:sym typeface="Noto Sans KR"/>
            </a:endParaRPr>
          </a:p>
        </p:txBody>
      </p:sp>
      <p:sp>
        <p:nvSpPr>
          <p:cNvPr id="1929" name="Google Shape;1929;p45"/>
          <p:cNvSpPr/>
          <p:nvPr/>
        </p:nvSpPr>
        <p:spPr>
          <a:xfrm>
            <a:off x="7353675" y="2087342"/>
            <a:ext cx="623180"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초기화</a:t>
            </a:r>
            <a:endParaRPr sz="1100">
              <a:solidFill>
                <a:schemeClr val="dk1"/>
              </a:solidFill>
              <a:latin typeface="Noto Sans KR"/>
              <a:ea typeface="Noto Sans KR"/>
              <a:cs typeface="Noto Sans KR"/>
              <a:sym typeface="Noto Sans KR"/>
            </a:endParaRPr>
          </a:p>
        </p:txBody>
      </p:sp>
      <p:sp>
        <p:nvSpPr>
          <p:cNvPr id="1930" name="Google Shape;1930;p45"/>
          <p:cNvSpPr/>
          <p:nvPr/>
        </p:nvSpPr>
        <p:spPr>
          <a:xfrm>
            <a:off x="2360894" y="2572835"/>
            <a:ext cx="6049847" cy="2391452"/>
          </a:xfrm>
          <a:prstGeom prst="roundRect">
            <a:avLst>
              <a:gd fmla="val 3113"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sp>
        <p:nvSpPr>
          <p:cNvPr id="1931" name="Google Shape;1931;p45"/>
          <p:cNvSpPr/>
          <p:nvPr/>
        </p:nvSpPr>
        <p:spPr>
          <a:xfrm>
            <a:off x="2360654" y="2914028"/>
            <a:ext cx="6049849" cy="249205"/>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932" name="Google Shape;1932;p45"/>
          <p:cNvSpPr txBox="1"/>
          <p:nvPr/>
        </p:nvSpPr>
        <p:spPr>
          <a:xfrm>
            <a:off x="2376196" y="2609966"/>
            <a:ext cx="742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목록  </a:t>
            </a:r>
            <a:r>
              <a:rPr lang="ko-KR" sz="1400">
                <a:solidFill>
                  <a:srgbClr val="BFBFBF"/>
                </a:solidFill>
                <a:latin typeface="Noto Sans KR"/>
                <a:ea typeface="Noto Sans KR"/>
                <a:cs typeface="Noto Sans KR"/>
                <a:sym typeface="Noto Sans KR"/>
              </a:rPr>
              <a:t>|</a:t>
            </a:r>
            <a:endParaRPr sz="1400">
              <a:solidFill>
                <a:srgbClr val="BFBFBF"/>
              </a:solidFill>
              <a:latin typeface="Noto Sans KR"/>
              <a:ea typeface="Noto Sans KR"/>
              <a:cs typeface="Noto Sans KR"/>
              <a:sym typeface="Noto Sans KR"/>
            </a:endParaRPr>
          </a:p>
        </p:txBody>
      </p:sp>
      <p:sp>
        <p:nvSpPr>
          <p:cNvPr id="1933" name="Google Shape;1933;p45"/>
          <p:cNvSpPr/>
          <p:nvPr/>
        </p:nvSpPr>
        <p:spPr>
          <a:xfrm>
            <a:off x="3788053" y="2633010"/>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변경</a:t>
            </a:r>
            <a:endParaRPr sz="1000">
              <a:solidFill>
                <a:schemeClr val="dk1"/>
              </a:solidFill>
              <a:latin typeface="Noto Sans KR"/>
              <a:ea typeface="Noto Sans KR"/>
              <a:cs typeface="Noto Sans KR"/>
              <a:sym typeface="Noto Sans KR"/>
            </a:endParaRPr>
          </a:p>
        </p:txBody>
      </p:sp>
      <p:sp>
        <p:nvSpPr>
          <p:cNvPr id="1934" name="Google Shape;1934;p45"/>
          <p:cNvSpPr/>
          <p:nvPr/>
        </p:nvSpPr>
        <p:spPr>
          <a:xfrm>
            <a:off x="2438188" y="2982656"/>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935" name="Google Shape;1935;p45"/>
          <p:cNvSpPr txBox="1"/>
          <p:nvPr/>
        </p:nvSpPr>
        <p:spPr>
          <a:xfrm>
            <a:off x="2657185" y="2924979"/>
            <a:ext cx="7515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지원자 </a:t>
            </a:r>
            <a:endParaRPr sz="1100">
              <a:solidFill>
                <a:schemeClr val="dk1"/>
              </a:solidFill>
              <a:latin typeface="Noto Sans KR"/>
              <a:ea typeface="Noto Sans KR"/>
              <a:cs typeface="Noto Sans KR"/>
              <a:sym typeface="Noto Sans KR"/>
            </a:endParaRPr>
          </a:p>
        </p:txBody>
      </p:sp>
      <p:sp>
        <p:nvSpPr>
          <p:cNvPr id="1936" name="Google Shape;1936;p45"/>
          <p:cNvSpPr txBox="1"/>
          <p:nvPr/>
        </p:nvSpPr>
        <p:spPr>
          <a:xfrm>
            <a:off x="3566159" y="2912209"/>
            <a:ext cx="5035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1937" name="Google Shape;1937;p45"/>
          <p:cNvSpPr txBox="1"/>
          <p:nvPr/>
        </p:nvSpPr>
        <p:spPr>
          <a:xfrm>
            <a:off x="4432675" y="2925543"/>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제출 서류</a:t>
            </a:r>
            <a:endParaRPr sz="1100">
              <a:solidFill>
                <a:schemeClr val="dk1"/>
              </a:solidFill>
              <a:latin typeface="Noto Sans KR"/>
              <a:ea typeface="Noto Sans KR"/>
              <a:cs typeface="Noto Sans KR"/>
              <a:sym typeface="Noto Sans KR"/>
            </a:endParaRPr>
          </a:p>
        </p:txBody>
      </p:sp>
      <p:sp>
        <p:nvSpPr>
          <p:cNvPr id="1938" name="Google Shape;1938;p45"/>
          <p:cNvSpPr txBox="1"/>
          <p:nvPr/>
        </p:nvSpPr>
        <p:spPr>
          <a:xfrm>
            <a:off x="5547495" y="2915192"/>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면접 일정</a:t>
            </a:r>
            <a:endParaRPr sz="1100">
              <a:solidFill>
                <a:schemeClr val="dk1"/>
              </a:solidFill>
              <a:latin typeface="Noto Sans KR"/>
              <a:ea typeface="Noto Sans KR"/>
              <a:cs typeface="Noto Sans KR"/>
              <a:sym typeface="Noto Sans KR"/>
            </a:endParaRPr>
          </a:p>
        </p:txBody>
      </p:sp>
      <p:sp>
        <p:nvSpPr>
          <p:cNvPr id="1939" name="Google Shape;1939;p45"/>
          <p:cNvSpPr txBox="1"/>
          <p:nvPr/>
        </p:nvSpPr>
        <p:spPr>
          <a:xfrm>
            <a:off x="7683050" y="2912209"/>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지원일</a:t>
            </a:r>
            <a:endParaRPr sz="1100">
              <a:solidFill>
                <a:schemeClr val="dk1"/>
              </a:solidFill>
              <a:latin typeface="Noto Sans KR"/>
              <a:ea typeface="Noto Sans KR"/>
              <a:cs typeface="Noto Sans KR"/>
              <a:sym typeface="Noto Sans KR"/>
            </a:endParaRPr>
          </a:p>
        </p:txBody>
      </p:sp>
      <p:cxnSp>
        <p:nvCxnSpPr>
          <p:cNvPr id="1940" name="Google Shape;1940;p45"/>
          <p:cNvCxnSpPr/>
          <p:nvPr/>
        </p:nvCxnSpPr>
        <p:spPr>
          <a:xfrm>
            <a:off x="2356006" y="3571758"/>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1941" name="Google Shape;1941;p45"/>
          <p:cNvCxnSpPr/>
          <p:nvPr/>
        </p:nvCxnSpPr>
        <p:spPr>
          <a:xfrm>
            <a:off x="2363387" y="3979719"/>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1942" name="Google Shape;1942;p45"/>
          <p:cNvCxnSpPr/>
          <p:nvPr/>
        </p:nvCxnSpPr>
        <p:spPr>
          <a:xfrm>
            <a:off x="2363387" y="4385088"/>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1943" name="Google Shape;1943;p45"/>
          <p:cNvSpPr/>
          <p:nvPr/>
        </p:nvSpPr>
        <p:spPr>
          <a:xfrm>
            <a:off x="2426863" y="3317213"/>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944" name="Google Shape;1944;p45"/>
          <p:cNvSpPr/>
          <p:nvPr/>
        </p:nvSpPr>
        <p:spPr>
          <a:xfrm>
            <a:off x="2426863" y="3744235"/>
            <a:ext cx="108000" cy="108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945" name="Google Shape;1945;p45"/>
          <p:cNvSpPr/>
          <p:nvPr/>
        </p:nvSpPr>
        <p:spPr>
          <a:xfrm>
            <a:off x="2416824" y="410511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946" name="Google Shape;1946;p45"/>
          <p:cNvSpPr txBox="1"/>
          <p:nvPr/>
        </p:nvSpPr>
        <p:spPr>
          <a:xfrm>
            <a:off x="3365684" y="3236345"/>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Engineer</a:t>
            </a:r>
            <a:endParaRPr sz="1100">
              <a:solidFill>
                <a:schemeClr val="dk1"/>
              </a:solidFill>
              <a:latin typeface="Noto Sans KR"/>
              <a:ea typeface="Noto Sans KR"/>
              <a:cs typeface="Noto Sans KR"/>
              <a:sym typeface="Noto Sans KR"/>
            </a:endParaRPr>
          </a:p>
        </p:txBody>
      </p:sp>
      <p:sp>
        <p:nvSpPr>
          <p:cNvPr id="1947" name="Google Shape;1947;p45"/>
          <p:cNvSpPr txBox="1"/>
          <p:nvPr/>
        </p:nvSpPr>
        <p:spPr>
          <a:xfrm>
            <a:off x="5346088" y="3231059"/>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2026.02.10 10:00</a:t>
            </a:r>
            <a:endParaRPr sz="1100">
              <a:solidFill>
                <a:schemeClr val="dk1"/>
              </a:solidFill>
              <a:latin typeface="Noto Sans KR"/>
              <a:ea typeface="Noto Sans KR"/>
              <a:cs typeface="Noto Sans KR"/>
              <a:sym typeface="Noto Sans KR"/>
            </a:endParaRPr>
          </a:p>
        </p:txBody>
      </p:sp>
      <p:sp>
        <p:nvSpPr>
          <p:cNvPr id="1948" name="Google Shape;1948;p45"/>
          <p:cNvSpPr txBox="1"/>
          <p:nvPr/>
        </p:nvSpPr>
        <p:spPr>
          <a:xfrm>
            <a:off x="7481322" y="3253806"/>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2026-01-30</a:t>
            </a:r>
            <a:endParaRPr sz="1100">
              <a:solidFill>
                <a:schemeClr val="dk1"/>
              </a:solidFill>
              <a:latin typeface="Noto Sans KR"/>
              <a:ea typeface="Noto Sans KR"/>
              <a:cs typeface="Noto Sans KR"/>
              <a:sym typeface="Noto Sans KR"/>
            </a:endParaRPr>
          </a:p>
        </p:txBody>
      </p:sp>
      <p:sp>
        <p:nvSpPr>
          <p:cNvPr id="1949" name="Google Shape;1949;p45"/>
          <p:cNvSpPr txBox="1"/>
          <p:nvPr/>
        </p:nvSpPr>
        <p:spPr>
          <a:xfrm>
            <a:off x="3310958" y="3646006"/>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1950" name="Google Shape;1950;p45"/>
          <p:cNvSpPr txBox="1"/>
          <p:nvPr/>
        </p:nvSpPr>
        <p:spPr>
          <a:xfrm>
            <a:off x="7488556" y="3666050"/>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2025-12-31</a:t>
            </a:r>
            <a:endParaRPr sz="1100">
              <a:solidFill>
                <a:schemeClr val="dk1"/>
              </a:solidFill>
              <a:latin typeface="Noto Sans KR"/>
              <a:ea typeface="Noto Sans KR"/>
              <a:cs typeface="Noto Sans KR"/>
              <a:sym typeface="Noto Sans KR"/>
            </a:endParaRPr>
          </a:p>
        </p:txBody>
      </p:sp>
      <p:sp>
        <p:nvSpPr>
          <p:cNvPr id="1951" name="Google Shape;1951;p45"/>
          <p:cNvSpPr txBox="1"/>
          <p:nvPr/>
        </p:nvSpPr>
        <p:spPr>
          <a:xfrm>
            <a:off x="3312945" y="4073388"/>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1952" name="Google Shape;1952;p45"/>
          <p:cNvSpPr txBox="1"/>
          <p:nvPr/>
        </p:nvSpPr>
        <p:spPr>
          <a:xfrm>
            <a:off x="5321099" y="4091101"/>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10:00</a:t>
            </a:r>
            <a:endParaRPr sz="1100">
              <a:solidFill>
                <a:schemeClr val="dk1"/>
              </a:solidFill>
              <a:latin typeface="Noto Sans KR"/>
              <a:ea typeface="Noto Sans KR"/>
              <a:cs typeface="Noto Sans KR"/>
              <a:sym typeface="Noto Sans KR"/>
            </a:endParaRPr>
          </a:p>
        </p:txBody>
      </p:sp>
      <p:sp>
        <p:nvSpPr>
          <p:cNvPr id="1953" name="Google Shape;1953;p45"/>
          <p:cNvSpPr txBox="1"/>
          <p:nvPr/>
        </p:nvSpPr>
        <p:spPr>
          <a:xfrm>
            <a:off x="7481322" y="4077076"/>
            <a:ext cx="92659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2025-12-31</a:t>
            </a:r>
            <a:endParaRPr sz="1100">
              <a:solidFill>
                <a:schemeClr val="dk1"/>
              </a:solidFill>
              <a:latin typeface="Noto Sans KR"/>
              <a:ea typeface="Noto Sans KR"/>
              <a:cs typeface="Noto Sans KR"/>
              <a:sym typeface="Noto Sans KR"/>
            </a:endParaRPr>
          </a:p>
        </p:txBody>
      </p:sp>
      <p:sp>
        <p:nvSpPr>
          <p:cNvPr id="1954" name="Google Shape;1954;p45"/>
          <p:cNvSpPr txBox="1"/>
          <p:nvPr/>
        </p:nvSpPr>
        <p:spPr>
          <a:xfrm>
            <a:off x="6814779" y="4063502"/>
            <a:ext cx="53219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종료</a:t>
            </a:r>
            <a:endParaRPr sz="1100">
              <a:solidFill>
                <a:srgbClr val="7F7F7F"/>
              </a:solidFill>
              <a:latin typeface="Noto Sans KR"/>
              <a:ea typeface="Noto Sans KR"/>
              <a:cs typeface="Noto Sans KR"/>
              <a:sym typeface="Noto Sans KR"/>
            </a:endParaRPr>
          </a:p>
        </p:txBody>
      </p:sp>
      <p:sp>
        <p:nvSpPr>
          <p:cNvPr id="1955" name="Google Shape;1955;p45"/>
          <p:cNvSpPr txBox="1"/>
          <p:nvPr/>
        </p:nvSpPr>
        <p:spPr>
          <a:xfrm>
            <a:off x="5104230" y="4615340"/>
            <a:ext cx="5626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u="sng">
                <a:solidFill>
                  <a:schemeClr val="dk1"/>
                </a:solidFill>
                <a:latin typeface="Noto Sans KR"/>
                <a:ea typeface="Noto Sans KR"/>
                <a:cs typeface="Noto Sans KR"/>
                <a:sym typeface="Noto Sans KR"/>
              </a:rPr>
              <a:t>1</a:t>
            </a:r>
            <a:endParaRPr sz="1200" u="sng">
              <a:solidFill>
                <a:schemeClr val="dk1"/>
              </a:solidFill>
              <a:latin typeface="Noto Sans KR"/>
              <a:ea typeface="Noto Sans KR"/>
              <a:cs typeface="Noto Sans KR"/>
              <a:sym typeface="Noto Sans KR"/>
            </a:endParaRPr>
          </a:p>
        </p:txBody>
      </p:sp>
      <p:sp>
        <p:nvSpPr>
          <p:cNvPr id="1956" name="Google Shape;1956;p45"/>
          <p:cNvSpPr/>
          <p:nvPr/>
        </p:nvSpPr>
        <p:spPr>
          <a:xfrm>
            <a:off x="7269612" y="2665810"/>
            <a:ext cx="1041732" cy="20926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rPr lang="ko-KR" sz="1050">
                <a:solidFill>
                  <a:srgbClr val="7F7F7F"/>
                </a:solidFill>
                <a:latin typeface="Noto Sans KR"/>
                <a:ea typeface="Noto Sans KR"/>
                <a:cs typeface="Noto Sans KR"/>
                <a:sym typeface="Noto Sans KR"/>
              </a:rPr>
              <a:t>10개씩 보기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sp>
        <p:nvSpPr>
          <p:cNvPr id="1957" name="Google Shape;1957;p45"/>
          <p:cNvSpPr/>
          <p:nvPr/>
        </p:nvSpPr>
        <p:spPr>
          <a:xfrm>
            <a:off x="6063107" y="2661146"/>
            <a:ext cx="1097860" cy="20832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최신순</a:t>
            </a:r>
            <a:r>
              <a:rPr lang="ko-KR" sz="1050">
                <a:solidFill>
                  <a:srgbClr val="BFBFBF"/>
                </a:solidFill>
                <a:latin typeface="Noto Sans KR"/>
                <a:ea typeface="Noto Sans KR"/>
                <a:cs typeface="Noto Sans KR"/>
                <a:sym typeface="Noto Sans KR"/>
              </a:rPr>
              <a:t>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grpSp>
        <p:nvGrpSpPr>
          <p:cNvPr id="1958" name="Google Shape;1958;p45"/>
          <p:cNvGrpSpPr/>
          <p:nvPr/>
        </p:nvGrpSpPr>
        <p:grpSpPr>
          <a:xfrm>
            <a:off x="6124248" y="4615340"/>
            <a:ext cx="1463975" cy="276999"/>
            <a:chOff x="5375612" y="5305565"/>
            <a:chExt cx="1463975" cy="276999"/>
          </a:xfrm>
        </p:grpSpPr>
        <p:sp>
          <p:nvSpPr>
            <p:cNvPr id="1959" name="Google Shape;1959;p45"/>
            <p:cNvSpPr/>
            <p:nvPr/>
          </p:nvSpPr>
          <p:spPr>
            <a:xfrm>
              <a:off x="5418217" y="5358005"/>
              <a:ext cx="180000" cy="180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960" name="Google Shape;1960;p45"/>
            <p:cNvSpPr txBox="1"/>
            <p:nvPr/>
          </p:nvSpPr>
          <p:spPr>
            <a:xfrm>
              <a:off x="5375612" y="5305565"/>
              <a:ext cx="14639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1</a:t>
              </a:r>
              <a:r>
                <a:rPr lang="ko-KR" sz="1200">
                  <a:solidFill>
                    <a:schemeClr val="dk1"/>
                  </a:solidFill>
                  <a:latin typeface="Noto Sans KR"/>
                  <a:ea typeface="Noto Sans KR"/>
                  <a:cs typeface="Noto Sans KR"/>
                  <a:sym typeface="Noto Sans KR"/>
                </a:rPr>
                <a:t>    2    3    4    5    &gt;</a:t>
              </a:r>
              <a:endParaRPr sz="1200">
                <a:solidFill>
                  <a:schemeClr val="dk1"/>
                </a:solidFill>
                <a:latin typeface="Noto Sans KR"/>
                <a:ea typeface="Noto Sans KR"/>
                <a:cs typeface="Noto Sans KR"/>
                <a:sym typeface="Noto Sans KR"/>
              </a:endParaRPr>
            </a:p>
          </p:txBody>
        </p:sp>
      </p:grpSp>
      <p:sp>
        <p:nvSpPr>
          <p:cNvPr id="1961" name="Google Shape;1961;p45"/>
          <p:cNvSpPr txBox="1"/>
          <p:nvPr/>
        </p:nvSpPr>
        <p:spPr>
          <a:xfrm>
            <a:off x="5619639" y="4615340"/>
            <a:ext cx="62977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pages</a:t>
            </a:r>
            <a:endParaRPr sz="1100">
              <a:solidFill>
                <a:srgbClr val="7F7F7F"/>
              </a:solidFill>
              <a:latin typeface="Noto Sans KR"/>
              <a:ea typeface="Noto Sans KR"/>
              <a:cs typeface="Noto Sans KR"/>
              <a:sym typeface="Noto Sans KR"/>
            </a:endParaRPr>
          </a:p>
        </p:txBody>
      </p:sp>
      <p:sp>
        <p:nvSpPr>
          <p:cNvPr id="1962" name="Google Shape;1962;p45"/>
          <p:cNvSpPr/>
          <p:nvPr/>
        </p:nvSpPr>
        <p:spPr>
          <a:xfrm>
            <a:off x="2191435" y="109745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1963" name="Google Shape;1963;p45"/>
          <p:cNvSpPr/>
          <p:nvPr/>
        </p:nvSpPr>
        <p:spPr>
          <a:xfrm>
            <a:off x="2231654" y="162947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1964" name="Google Shape;1964;p45"/>
          <p:cNvSpPr/>
          <p:nvPr/>
        </p:nvSpPr>
        <p:spPr>
          <a:xfrm>
            <a:off x="6323879" y="203359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1965" name="Google Shape;1965;p45"/>
          <p:cNvSpPr/>
          <p:nvPr/>
        </p:nvSpPr>
        <p:spPr>
          <a:xfrm>
            <a:off x="7137062" y="202416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1966" name="Google Shape;1966;p45"/>
          <p:cNvSpPr txBox="1"/>
          <p:nvPr/>
        </p:nvSpPr>
        <p:spPr>
          <a:xfrm>
            <a:off x="417659" y="203133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공고 관리                ∨                 </a:t>
            </a:r>
            <a:endParaRPr sz="1400">
              <a:solidFill>
                <a:srgbClr val="BFBFBF"/>
              </a:solidFill>
              <a:latin typeface="Noto Sans KR"/>
              <a:ea typeface="Noto Sans KR"/>
              <a:cs typeface="Noto Sans KR"/>
              <a:sym typeface="Noto Sans KR"/>
            </a:endParaRPr>
          </a:p>
        </p:txBody>
      </p:sp>
      <p:sp>
        <p:nvSpPr>
          <p:cNvPr id="1967" name="Google Shape;1967;p45"/>
          <p:cNvSpPr/>
          <p:nvPr/>
        </p:nvSpPr>
        <p:spPr>
          <a:xfrm>
            <a:off x="1094964" y="2827201"/>
            <a:ext cx="950952"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지원자 관리</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a:p>
        </p:txBody>
      </p:sp>
      <p:cxnSp>
        <p:nvCxnSpPr>
          <p:cNvPr id="1968" name="Google Shape;1968;p45"/>
          <p:cNvCxnSpPr/>
          <p:nvPr/>
        </p:nvCxnSpPr>
        <p:spPr>
          <a:xfrm flipH="1" rot="10800000">
            <a:off x="875630" y="3547591"/>
            <a:ext cx="1249226" cy="4792"/>
          </a:xfrm>
          <a:prstGeom prst="straightConnector1">
            <a:avLst/>
          </a:prstGeom>
          <a:noFill/>
          <a:ln cap="flat" cmpd="sng" w="9525">
            <a:solidFill>
              <a:srgbClr val="BFBFBF"/>
            </a:solidFill>
            <a:prstDash val="solid"/>
            <a:miter lim="8000"/>
            <a:headEnd len="sm" w="sm" type="none"/>
            <a:tailEnd len="sm" w="sm" type="none"/>
          </a:ln>
        </p:spPr>
      </p:cxnSp>
      <p:sp>
        <p:nvSpPr>
          <p:cNvPr id="1969" name="Google Shape;1969;p45"/>
          <p:cNvSpPr/>
          <p:nvPr/>
        </p:nvSpPr>
        <p:spPr>
          <a:xfrm>
            <a:off x="1300825" y="3234501"/>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면접 관리</a:t>
            </a:r>
            <a:endParaRPr sz="1200">
              <a:solidFill>
                <a:srgbClr val="BFBFBF"/>
              </a:solidFill>
              <a:latin typeface="Noto Sans KR"/>
              <a:ea typeface="Noto Sans KR"/>
              <a:cs typeface="Noto Sans KR"/>
              <a:sym typeface="Noto Sans KR"/>
            </a:endParaRPr>
          </a:p>
        </p:txBody>
      </p:sp>
      <p:pic>
        <p:nvPicPr>
          <p:cNvPr id="1970" name="Google Shape;1970;p45"/>
          <p:cNvPicPr preferRelativeResize="0"/>
          <p:nvPr/>
        </p:nvPicPr>
        <p:blipFill rotWithShape="1">
          <a:blip r:embed="rId8">
            <a:alphaModFix/>
          </a:blip>
          <a:srcRect b="0" l="0" r="0" t="0"/>
          <a:stretch/>
        </p:blipFill>
        <p:spPr>
          <a:xfrm>
            <a:off x="2420246" y="1260198"/>
            <a:ext cx="228600" cy="228600"/>
          </a:xfrm>
          <a:prstGeom prst="rect">
            <a:avLst/>
          </a:prstGeom>
          <a:noFill/>
          <a:ln>
            <a:noFill/>
          </a:ln>
        </p:spPr>
      </p:pic>
      <p:sp>
        <p:nvSpPr>
          <p:cNvPr id="1971" name="Google Shape;1971;p45"/>
          <p:cNvSpPr txBox="1"/>
          <p:nvPr/>
        </p:nvSpPr>
        <p:spPr>
          <a:xfrm>
            <a:off x="6655045" y="2919127"/>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남은 시간</a:t>
            </a:r>
            <a:endParaRPr sz="1100">
              <a:solidFill>
                <a:schemeClr val="dk1"/>
              </a:solidFill>
              <a:latin typeface="Noto Sans KR"/>
              <a:ea typeface="Noto Sans KR"/>
              <a:cs typeface="Noto Sans KR"/>
              <a:sym typeface="Noto Sans KR"/>
            </a:endParaRPr>
          </a:p>
        </p:txBody>
      </p:sp>
      <p:pic>
        <p:nvPicPr>
          <p:cNvPr id="1972" name="Google Shape;1972;p45"/>
          <p:cNvPicPr preferRelativeResize="0"/>
          <p:nvPr/>
        </p:nvPicPr>
        <p:blipFill rotWithShape="1">
          <a:blip r:embed="rId9">
            <a:alphaModFix/>
          </a:blip>
          <a:srcRect b="24094" l="23190" r="56900" t="55938"/>
          <a:stretch/>
        </p:blipFill>
        <p:spPr>
          <a:xfrm>
            <a:off x="2626067" y="3273893"/>
            <a:ext cx="252000" cy="235412"/>
          </a:xfrm>
          <a:prstGeom prst="ellipse">
            <a:avLst/>
          </a:prstGeom>
          <a:noFill/>
          <a:ln>
            <a:noFill/>
          </a:ln>
          <a:effectLst>
            <a:outerShdw blurRad="381000" sx="-80000" rotWithShape="0" dir="5400000" dist="292100" sy="-18000">
              <a:srgbClr val="000000">
                <a:alpha val="21961"/>
              </a:srgbClr>
            </a:outerShdw>
          </a:effectLst>
        </p:spPr>
      </p:pic>
      <p:sp>
        <p:nvSpPr>
          <p:cNvPr id="1973" name="Google Shape;1973;p45"/>
          <p:cNvSpPr txBox="1"/>
          <p:nvPr/>
        </p:nvSpPr>
        <p:spPr>
          <a:xfrm>
            <a:off x="2848326" y="325623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1974" name="Google Shape;1974;p45"/>
          <p:cNvSpPr txBox="1"/>
          <p:nvPr/>
        </p:nvSpPr>
        <p:spPr>
          <a:xfrm>
            <a:off x="6561963" y="3237428"/>
            <a:ext cx="94804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1일 3시간 전</a:t>
            </a:r>
            <a:endParaRPr sz="1100">
              <a:solidFill>
                <a:schemeClr val="dk1"/>
              </a:solidFill>
              <a:latin typeface="Noto Sans KR"/>
              <a:ea typeface="Noto Sans KR"/>
              <a:cs typeface="Noto Sans KR"/>
              <a:sym typeface="Noto Sans KR"/>
            </a:endParaRPr>
          </a:p>
        </p:txBody>
      </p:sp>
      <p:pic>
        <p:nvPicPr>
          <p:cNvPr id="1975" name="Google Shape;1975;p45"/>
          <p:cNvPicPr preferRelativeResize="0"/>
          <p:nvPr/>
        </p:nvPicPr>
        <p:blipFill rotWithShape="1">
          <a:blip r:embed="rId10">
            <a:alphaModFix/>
          </a:blip>
          <a:srcRect b="54220" l="55521" r="19604" t="22941"/>
          <a:stretch/>
        </p:blipFill>
        <p:spPr>
          <a:xfrm>
            <a:off x="2617848" y="3652616"/>
            <a:ext cx="274469" cy="252000"/>
          </a:xfrm>
          <a:prstGeom prst="ellipse">
            <a:avLst/>
          </a:prstGeom>
          <a:noFill/>
          <a:ln cap="flat" cmpd="sng" w="9525">
            <a:solidFill>
              <a:srgbClr val="D8D8D8"/>
            </a:solidFill>
            <a:prstDash val="solid"/>
            <a:round/>
            <a:headEnd len="sm" w="sm" type="none"/>
            <a:tailEnd len="sm" w="sm" type="none"/>
          </a:ln>
        </p:spPr>
      </p:pic>
      <p:sp>
        <p:nvSpPr>
          <p:cNvPr id="1976" name="Google Shape;1976;p45"/>
          <p:cNvSpPr txBox="1"/>
          <p:nvPr/>
        </p:nvSpPr>
        <p:spPr>
          <a:xfrm>
            <a:off x="2857012" y="3650047"/>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1977" name="Google Shape;1977;p45"/>
          <p:cNvSpPr txBox="1"/>
          <p:nvPr/>
        </p:nvSpPr>
        <p:spPr>
          <a:xfrm>
            <a:off x="5332721" y="3652616"/>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2026.02.09 10:00</a:t>
            </a:r>
            <a:endParaRPr sz="1100">
              <a:solidFill>
                <a:schemeClr val="dk1"/>
              </a:solidFill>
              <a:latin typeface="Noto Sans KR"/>
              <a:ea typeface="Noto Sans KR"/>
              <a:cs typeface="Noto Sans KR"/>
              <a:sym typeface="Noto Sans KR"/>
            </a:endParaRPr>
          </a:p>
        </p:txBody>
      </p:sp>
      <p:sp>
        <p:nvSpPr>
          <p:cNvPr id="1978" name="Google Shape;1978;p45"/>
          <p:cNvSpPr txBox="1"/>
          <p:nvPr/>
        </p:nvSpPr>
        <p:spPr>
          <a:xfrm>
            <a:off x="6752666" y="3656686"/>
            <a:ext cx="61085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0070C0"/>
                </a:solidFill>
                <a:latin typeface="Noto Sans KR"/>
                <a:ea typeface="Noto Sans KR"/>
                <a:cs typeface="Noto Sans KR"/>
                <a:sym typeface="Noto Sans KR"/>
              </a:rPr>
              <a:t>면접중</a:t>
            </a:r>
            <a:endParaRPr sz="1100">
              <a:solidFill>
                <a:srgbClr val="0070C0"/>
              </a:solidFill>
              <a:latin typeface="Noto Sans KR"/>
              <a:ea typeface="Noto Sans KR"/>
              <a:cs typeface="Noto Sans KR"/>
              <a:sym typeface="Noto Sans KR"/>
            </a:endParaRPr>
          </a:p>
        </p:txBody>
      </p:sp>
      <p:pic>
        <p:nvPicPr>
          <p:cNvPr id="1979" name="Google Shape;1979;p45"/>
          <p:cNvPicPr preferRelativeResize="0"/>
          <p:nvPr/>
        </p:nvPicPr>
        <p:blipFill rotWithShape="1">
          <a:blip r:embed="rId11">
            <a:alphaModFix/>
          </a:blip>
          <a:srcRect b="57058" l="20140" r="54458" t="22041"/>
          <a:stretch/>
        </p:blipFill>
        <p:spPr>
          <a:xfrm>
            <a:off x="2607908" y="4057414"/>
            <a:ext cx="306263" cy="252000"/>
          </a:xfrm>
          <a:prstGeom prst="ellipse">
            <a:avLst/>
          </a:prstGeom>
          <a:noFill/>
          <a:ln>
            <a:noFill/>
          </a:ln>
        </p:spPr>
      </p:pic>
      <p:sp>
        <p:nvSpPr>
          <p:cNvPr id="1980" name="Google Shape;1980;p45"/>
          <p:cNvSpPr txBox="1"/>
          <p:nvPr/>
        </p:nvSpPr>
        <p:spPr>
          <a:xfrm>
            <a:off x="2853179" y="406350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1981" name="Google Shape;1981;p45"/>
          <p:cNvSpPr/>
          <p:nvPr/>
        </p:nvSpPr>
        <p:spPr>
          <a:xfrm>
            <a:off x="2996379" y="2628511"/>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삭제</a:t>
            </a:r>
            <a:endParaRPr sz="1000">
              <a:solidFill>
                <a:schemeClr val="dk1"/>
              </a:solidFill>
              <a:latin typeface="Noto Sans KR"/>
              <a:ea typeface="Noto Sans KR"/>
              <a:cs typeface="Noto Sans KR"/>
              <a:sym typeface="Noto Sans KR"/>
            </a:endParaRPr>
          </a:p>
        </p:txBody>
      </p:sp>
      <p:sp>
        <p:nvSpPr>
          <p:cNvPr id="1982" name="Google Shape;1982;p45"/>
          <p:cNvSpPr/>
          <p:nvPr/>
        </p:nvSpPr>
        <p:spPr>
          <a:xfrm>
            <a:off x="2229042" y="247032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1983" name="Google Shape;1983;p45"/>
          <p:cNvSpPr/>
          <p:nvPr/>
        </p:nvSpPr>
        <p:spPr>
          <a:xfrm>
            <a:off x="2842980" y="248205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1984" name="Google Shape;1984;p45"/>
          <p:cNvSpPr/>
          <p:nvPr/>
        </p:nvSpPr>
        <p:spPr>
          <a:xfrm>
            <a:off x="3693341" y="248748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1985" name="Google Shape;1985;p45"/>
          <p:cNvSpPr/>
          <p:nvPr/>
        </p:nvSpPr>
        <p:spPr>
          <a:xfrm>
            <a:off x="4802451" y="1778269"/>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AIE260210001   ∨</a:t>
            </a:r>
            <a:endParaRPr sz="1200">
              <a:solidFill>
                <a:srgbClr val="BFBFBF"/>
              </a:solidFill>
              <a:latin typeface="Noto Sans KR"/>
              <a:ea typeface="Noto Sans KR"/>
              <a:cs typeface="Noto Sans KR"/>
              <a:sym typeface="Noto Sans KR"/>
            </a:endParaRPr>
          </a:p>
        </p:txBody>
      </p:sp>
      <p:sp>
        <p:nvSpPr>
          <p:cNvPr id="1986" name="Google Shape;1986;p45"/>
          <p:cNvSpPr txBox="1"/>
          <p:nvPr/>
        </p:nvSpPr>
        <p:spPr>
          <a:xfrm>
            <a:off x="4193531" y="1779792"/>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면접코드</a:t>
            </a:r>
            <a:endParaRPr sz="1000">
              <a:solidFill>
                <a:schemeClr val="dk1"/>
              </a:solidFill>
              <a:latin typeface="Noto Sans KR"/>
              <a:ea typeface="Noto Sans KR"/>
              <a:cs typeface="Noto Sans KR"/>
              <a:sym typeface="Noto Sans KR"/>
            </a:endParaRPr>
          </a:p>
        </p:txBody>
      </p:sp>
      <p:pic>
        <p:nvPicPr>
          <p:cNvPr id="1987" name="Google Shape;1987;p45"/>
          <p:cNvPicPr preferRelativeResize="0"/>
          <p:nvPr/>
        </p:nvPicPr>
        <p:blipFill rotWithShape="1">
          <a:blip r:embed="rId12">
            <a:alphaModFix/>
          </a:blip>
          <a:srcRect b="0" l="0" r="0" t="0"/>
          <a:stretch/>
        </p:blipFill>
        <p:spPr>
          <a:xfrm>
            <a:off x="4488107" y="3242788"/>
            <a:ext cx="232667" cy="232667"/>
          </a:xfrm>
          <a:prstGeom prst="rect">
            <a:avLst/>
          </a:prstGeom>
          <a:noFill/>
          <a:ln>
            <a:noFill/>
          </a:ln>
        </p:spPr>
      </p:pic>
      <p:pic>
        <p:nvPicPr>
          <p:cNvPr id="1988" name="Google Shape;1988;p45"/>
          <p:cNvPicPr preferRelativeResize="0"/>
          <p:nvPr/>
        </p:nvPicPr>
        <p:blipFill rotWithShape="1">
          <a:blip r:embed="rId13">
            <a:alphaModFix/>
          </a:blip>
          <a:srcRect b="0" l="0" r="0" t="0"/>
          <a:stretch/>
        </p:blipFill>
        <p:spPr>
          <a:xfrm>
            <a:off x="4687366" y="3666241"/>
            <a:ext cx="228600" cy="228600"/>
          </a:xfrm>
          <a:prstGeom prst="rect">
            <a:avLst/>
          </a:prstGeom>
          <a:noFill/>
          <a:ln>
            <a:noFill/>
          </a:ln>
        </p:spPr>
      </p:pic>
      <p:pic>
        <p:nvPicPr>
          <p:cNvPr id="1989" name="Google Shape;1989;p45"/>
          <p:cNvPicPr preferRelativeResize="0"/>
          <p:nvPr/>
        </p:nvPicPr>
        <p:blipFill rotWithShape="1">
          <a:blip r:embed="rId14">
            <a:alphaModFix/>
          </a:blip>
          <a:srcRect b="0" l="0" r="0" t="0"/>
          <a:stretch/>
        </p:blipFill>
        <p:spPr>
          <a:xfrm>
            <a:off x="4710279" y="3249198"/>
            <a:ext cx="228600" cy="228600"/>
          </a:xfrm>
          <a:prstGeom prst="rect">
            <a:avLst/>
          </a:prstGeom>
          <a:noFill/>
          <a:ln>
            <a:noFill/>
          </a:ln>
        </p:spPr>
      </p:pic>
      <p:pic>
        <p:nvPicPr>
          <p:cNvPr id="1990" name="Google Shape;1990;p45"/>
          <p:cNvPicPr preferRelativeResize="0"/>
          <p:nvPr/>
        </p:nvPicPr>
        <p:blipFill rotWithShape="1">
          <a:blip r:embed="rId15">
            <a:alphaModFix/>
          </a:blip>
          <a:srcRect b="0" l="0" r="0" t="0"/>
          <a:stretch/>
        </p:blipFill>
        <p:spPr>
          <a:xfrm>
            <a:off x="4965951" y="3240227"/>
            <a:ext cx="228600" cy="228600"/>
          </a:xfrm>
          <a:prstGeom prst="rect">
            <a:avLst/>
          </a:prstGeom>
          <a:noFill/>
          <a:ln>
            <a:noFill/>
          </a:ln>
        </p:spPr>
      </p:pic>
      <p:pic>
        <p:nvPicPr>
          <p:cNvPr id="1991" name="Google Shape;1991;p45"/>
          <p:cNvPicPr preferRelativeResize="0"/>
          <p:nvPr/>
        </p:nvPicPr>
        <p:blipFill rotWithShape="1">
          <a:blip r:embed="rId16">
            <a:alphaModFix/>
          </a:blip>
          <a:srcRect b="0" l="0" r="0" t="0"/>
          <a:stretch/>
        </p:blipFill>
        <p:spPr>
          <a:xfrm>
            <a:off x="4931148" y="4072980"/>
            <a:ext cx="228600" cy="228600"/>
          </a:xfrm>
          <a:prstGeom prst="rect">
            <a:avLst/>
          </a:prstGeom>
          <a:noFill/>
          <a:ln>
            <a:noFill/>
          </a:ln>
        </p:spPr>
      </p:pic>
      <p:pic>
        <p:nvPicPr>
          <p:cNvPr id="1992" name="Google Shape;1992;p45"/>
          <p:cNvPicPr preferRelativeResize="0"/>
          <p:nvPr/>
        </p:nvPicPr>
        <p:blipFill rotWithShape="1">
          <a:blip r:embed="rId17">
            <a:alphaModFix/>
          </a:blip>
          <a:srcRect b="0" l="0" r="0" t="0"/>
          <a:stretch/>
        </p:blipFill>
        <p:spPr>
          <a:xfrm>
            <a:off x="4456322" y="3655541"/>
            <a:ext cx="228600" cy="228600"/>
          </a:xfrm>
          <a:prstGeom prst="rect">
            <a:avLst/>
          </a:prstGeom>
          <a:noFill/>
          <a:ln>
            <a:noFill/>
          </a:ln>
        </p:spPr>
      </p:pic>
      <p:pic>
        <p:nvPicPr>
          <p:cNvPr id="1993" name="Google Shape;1993;p45"/>
          <p:cNvPicPr preferRelativeResize="0"/>
          <p:nvPr/>
        </p:nvPicPr>
        <p:blipFill rotWithShape="1">
          <a:blip r:embed="rId16">
            <a:alphaModFix/>
          </a:blip>
          <a:srcRect b="0" l="0" r="0" t="0"/>
          <a:stretch/>
        </p:blipFill>
        <p:spPr>
          <a:xfrm>
            <a:off x="4933357" y="3660085"/>
            <a:ext cx="228600" cy="228600"/>
          </a:xfrm>
          <a:prstGeom prst="rect">
            <a:avLst/>
          </a:prstGeom>
          <a:noFill/>
          <a:ln>
            <a:noFill/>
          </a:ln>
        </p:spPr>
      </p:pic>
      <p:pic>
        <p:nvPicPr>
          <p:cNvPr id="1994" name="Google Shape;1994;p45"/>
          <p:cNvPicPr preferRelativeResize="0"/>
          <p:nvPr/>
        </p:nvPicPr>
        <p:blipFill rotWithShape="1">
          <a:blip r:embed="rId17">
            <a:alphaModFix/>
          </a:blip>
          <a:srcRect b="0" l="0" r="0" t="0"/>
          <a:stretch/>
        </p:blipFill>
        <p:spPr>
          <a:xfrm>
            <a:off x="4452319" y="4057222"/>
            <a:ext cx="228600" cy="228600"/>
          </a:xfrm>
          <a:prstGeom prst="rect">
            <a:avLst/>
          </a:prstGeom>
          <a:noFill/>
          <a:ln>
            <a:noFill/>
          </a:ln>
        </p:spPr>
      </p:pic>
      <p:pic>
        <p:nvPicPr>
          <p:cNvPr id="1995" name="Google Shape;1995;p45"/>
          <p:cNvPicPr preferRelativeResize="0"/>
          <p:nvPr/>
        </p:nvPicPr>
        <p:blipFill rotWithShape="1">
          <a:blip r:embed="rId13">
            <a:alphaModFix/>
          </a:blip>
          <a:srcRect b="0" l="0" r="0" t="0"/>
          <a:stretch/>
        </p:blipFill>
        <p:spPr>
          <a:xfrm>
            <a:off x="4694769" y="4069114"/>
            <a:ext cx="228600" cy="228600"/>
          </a:xfrm>
          <a:prstGeom prst="rect">
            <a:avLst/>
          </a:prstGeom>
          <a:noFill/>
          <a:ln>
            <a:noFill/>
          </a:ln>
        </p:spPr>
      </p:pic>
      <p:sp>
        <p:nvSpPr>
          <p:cNvPr id="1996" name="Google Shape;1996;p45"/>
          <p:cNvSpPr/>
          <p:nvPr/>
        </p:nvSpPr>
        <p:spPr>
          <a:xfrm>
            <a:off x="474034" y="2394594"/>
            <a:ext cx="1602314"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면접 현황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46"/>
          <p:cNvSpPr txBox="1"/>
          <p:nvPr>
            <p:ph type="title"/>
          </p:nvPr>
        </p:nvSpPr>
        <p:spPr>
          <a:xfrm>
            <a:off x="406653"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면접 관리</a:t>
            </a:r>
            <a:endParaRPr sz="2400"/>
          </a:p>
        </p:txBody>
      </p:sp>
      <p:sp>
        <p:nvSpPr>
          <p:cNvPr id="2003" name="Google Shape;2003;p46"/>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004" name="Google Shape;2004;p46"/>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005" name="Google Shape;2005;p46"/>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006" name="Google Shape;2006;p46"/>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007" name="Google Shape;2007;p46"/>
          <p:cNvGraphicFramePr/>
          <p:nvPr/>
        </p:nvGraphicFramePr>
        <p:xfrm>
          <a:off x="8555026" y="1054745"/>
          <a:ext cx="3000000" cy="3000000"/>
        </p:xfrm>
        <a:graphic>
          <a:graphicData uri="http://schemas.openxmlformats.org/drawingml/2006/table">
            <a:tbl>
              <a:tblPr bandRow="1" firstRow="1">
                <a:noFill/>
                <a:tableStyleId>{C61F204E-A15B-47D6-BEBB-6A886D3283EB}</a:tableStyleId>
              </a:tblPr>
              <a:tblGrid>
                <a:gridCol w="453800"/>
                <a:gridCol w="2829225"/>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조회 조건 입력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결과 목록을 필터링하기 위한 기본 검색 조건 입력 영역</a:t>
                      </a:r>
                      <a:endParaRPr b="0"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[구성] 항목직무: 채용 직무 기준 필터링면접코드: 특정 면접 회차 또는 공고 단위 조회현황: 진행중/면접 완료/평가 완료 등 상태 기준 필터기간: 면접 진행일 기준 기간 검색</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검색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조회 조건을 기준으로 면접 결과 목록 조회</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조건 미입력 시 전체 내역 조회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초기화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모든 조회 조건을 기본값으로 초기화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목록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 [주요 컬럼] 체크박스,지원자 사진 및 이름,지원 직무,진행 상태,면접 진행일, 관리영역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삭제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데이터 삭제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삭제 전 최종 확인 팝업 안내 제공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변경 버튼</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변경 화면으로 이동 (복수 선택 불가)</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이동 전 최죙 변경 확인 팝업 안내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관리 영역 기능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모니터링 : 현재 진행 중 면접 실시간 모니터링 화면 접속</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영상 확인 : 완료된 면접 녹화 영상 실행 팝업 출력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 정보 : 지원자의 상세 지원 정보 팝업 출력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008" name="Google Shape;2008;p46"/>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246000"/>
                <a:gridCol w="854025"/>
                <a:gridCol w="3929700"/>
                <a:gridCol w="452000"/>
                <a:gridCol w="28326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INT-04</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면접 관리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 진행 현황과 지원자 면접 정보를 관리하는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009" name="Google Shape;2009;p46"/>
          <p:cNvSpPr/>
          <p:nvPr/>
        </p:nvSpPr>
        <p:spPr>
          <a:xfrm>
            <a:off x="335461" y="1122424"/>
            <a:ext cx="8132343" cy="5410200"/>
          </a:xfrm>
          <a:prstGeom prst="rect">
            <a:avLst/>
          </a:prstGeom>
          <a:solidFill>
            <a:srgbClr val="D8D8D8"/>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010" name="Google Shape;2010;p46"/>
          <p:cNvPicPr preferRelativeResize="0"/>
          <p:nvPr/>
        </p:nvPicPr>
        <p:blipFill rotWithShape="1">
          <a:blip r:embed="rId3">
            <a:alphaModFix/>
          </a:blip>
          <a:srcRect b="0" l="0" r="0" t="0"/>
          <a:stretch/>
        </p:blipFill>
        <p:spPr>
          <a:xfrm>
            <a:off x="335381" y="1134375"/>
            <a:ext cx="1932170" cy="453869"/>
          </a:xfrm>
          <a:prstGeom prst="rect">
            <a:avLst/>
          </a:prstGeom>
          <a:noFill/>
          <a:ln>
            <a:noFill/>
          </a:ln>
        </p:spPr>
      </p:pic>
      <p:grpSp>
        <p:nvGrpSpPr>
          <p:cNvPr id="2011" name="Google Shape;2011;p46"/>
          <p:cNvGrpSpPr/>
          <p:nvPr/>
        </p:nvGrpSpPr>
        <p:grpSpPr>
          <a:xfrm>
            <a:off x="308307" y="1595887"/>
            <a:ext cx="2141093" cy="4938263"/>
            <a:chOff x="335382" y="1595886"/>
            <a:chExt cx="2141093" cy="4938263"/>
          </a:xfrm>
        </p:grpSpPr>
        <p:sp>
          <p:nvSpPr>
            <p:cNvPr id="2012" name="Google Shape;2012;p46"/>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13" name="Google Shape;2013;p46"/>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2014" name="Google Shape;2014;p46"/>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2015" name="Google Shape;2015;p46"/>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2016" name="Google Shape;2016;p46"/>
            <p:cNvGrpSpPr/>
            <p:nvPr/>
          </p:nvGrpSpPr>
          <p:grpSpPr>
            <a:xfrm>
              <a:off x="450266" y="2390557"/>
              <a:ext cx="1756549" cy="352030"/>
              <a:chOff x="450266" y="1209410"/>
              <a:chExt cx="1756549" cy="352030"/>
            </a:xfrm>
          </p:grpSpPr>
          <p:cxnSp>
            <p:nvCxnSpPr>
              <p:cNvPr id="2017" name="Google Shape;2017;p46"/>
              <p:cNvCxnSpPr/>
              <p:nvPr/>
            </p:nvCxnSpPr>
            <p:spPr>
              <a:xfrm>
                <a:off x="477692" y="1561440"/>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018" name="Google Shape;2018;p46"/>
              <p:cNvSpPr txBox="1"/>
              <p:nvPr/>
            </p:nvSpPr>
            <p:spPr>
              <a:xfrm>
                <a:off x="450266" y="1209410"/>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2019" name="Google Shape;2019;p46"/>
            <p:cNvGrpSpPr/>
            <p:nvPr/>
          </p:nvGrpSpPr>
          <p:grpSpPr>
            <a:xfrm>
              <a:off x="586240" y="2927869"/>
              <a:ext cx="1890235" cy="276999"/>
              <a:chOff x="387847" y="2881173"/>
              <a:chExt cx="2116652" cy="278829"/>
            </a:xfrm>
          </p:grpSpPr>
          <p:sp>
            <p:nvSpPr>
              <p:cNvPr id="2020" name="Google Shape;2020;p46"/>
              <p:cNvSpPr txBox="1"/>
              <p:nvPr/>
            </p:nvSpPr>
            <p:spPr>
              <a:xfrm>
                <a:off x="387847" y="2881173"/>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2021" name="Google Shape;2021;p46"/>
              <p:cNvCxnSpPr/>
              <p:nvPr/>
            </p:nvCxnSpPr>
            <p:spPr>
              <a:xfrm flipH="1" rot="10800000">
                <a:off x="708188" y="3109181"/>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2022" name="Google Shape;2022;p46"/>
            <p:cNvGrpSpPr/>
            <p:nvPr/>
          </p:nvGrpSpPr>
          <p:grpSpPr>
            <a:xfrm>
              <a:off x="473624" y="3689310"/>
              <a:ext cx="1756549" cy="357966"/>
              <a:chOff x="473624" y="2036227"/>
              <a:chExt cx="1756549" cy="357966"/>
            </a:xfrm>
          </p:grpSpPr>
          <p:cxnSp>
            <p:nvCxnSpPr>
              <p:cNvPr id="2023" name="Google Shape;2023;p46"/>
              <p:cNvCxnSpPr/>
              <p:nvPr/>
            </p:nvCxnSpPr>
            <p:spPr>
              <a:xfrm>
                <a:off x="513744" y="2394193"/>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024" name="Google Shape;2024;p46"/>
              <p:cNvSpPr txBox="1"/>
              <p:nvPr/>
            </p:nvSpPr>
            <p:spPr>
              <a:xfrm>
                <a:off x="473624" y="2036227"/>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결과              ∨                </a:t>
                </a:r>
                <a:endParaRPr sz="1400">
                  <a:solidFill>
                    <a:srgbClr val="BFBFBF"/>
                  </a:solidFill>
                  <a:latin typeface="Noto Sans KR"/>
                  <a:ea typeface="Noto Sans KR"/>
                  <a:cs typeface="Noto Sans KR"/>
                  <a:sym typeface="Noto Sans KR"/>
                </a:endParaRPr>
              </a:p>
            </p:txBody>
          </p:sp>
        </p:grpSp>
        <p:grpSp>
          <p:nvGrpSpPr>
            <p:cNvPr id="2025" name="Google Shape;2025;p46"/>
            <p:cNvGrpSpPr/>
            <p:nvPr/>
          </p:nvGrpSpPr>
          <p:grpSpPr>
            <a:xfrm>
              <a:off x="436729" y="4131933"/>
              <a:ext cx="1756549" cy="325055"/>
              <a:chOff x="436729" y="2028287"/>
              <a:chExt cx="1756549" cy="325055"/>
            </a:xfrm>
          </p:grpSpPr>
          <p:cxnSp>
            <p:nvCxnSpPr>
              <p:cNvPr id="2026" name="Google Shape;2026;p46"/>
              <p:cNvCxnSpPr/>
              <p:nvPr/>
            </p:nvCxnSpPr>
            <p:spPr>
              <a:xfrm>
                <a:off x="513744" y="2353342"/>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027" name="Google Shape;2027;p46"/>
              <p:cNvSpPr txBox="1"/>
              <p:nvPr/>
            </p:nvSpPr>
            <p:spPr>
              <a:xfrm>
                <a:off x="436729" y="2028287"/>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cxnSp>
        <p:nvCxnSpPr>
          <p:cNvPr id="2028" name="Google Shape;2028;p46"/>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2029" name="Google Shape;2029;p46"/>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2030" name="Google Shape;2030;p46"/>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031" name="Google Shape;2031;p46"/>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2032" name="Google Shape;2032;p46"/>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면접 관리</a:t>
            </a:r>
            <a:endParaRPr b="1" sz="1800">
              <a:solidFill>
                <a:srgbClr val="7F7F7F"/>
              </a:solidFill>
              <a:latin typeface="Noto Sans KR"/>
              <a:ea typeface="Noto Sans KR"/>
              <a:cs typeface="Noto Sans KR"/>
              <a:sym typeface="Noto Sans KR"/>
            </a:endParaRPr>
          </a:p>
        </p:txBody>
      </p:sp>
      <p:cxnSp>
        <p:nvCxnSpPr>
          <p:cNvPr id="2033" name="Google Shape;2033;p46"/>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2034" name="Google Shape;2034;p46"/>
          <p:cNvGrpSpPr/>
          <p:nvPr/>
        </p:nvGrpSpPr>
        <p:grpSpPr>
          <a:xfrm>
            <a:off x="435703" y="6134926"/>
            <a:ext cx="1066433" cy="338554"/>
            <a:chOff x="417309" y="6108345"/>
            <a:chExt cx="1066433" cy="338554"/>
          </a:xfrm>
        </p:grpSpPr>
        <p:pic>
          <p:nvPicPr>
            <p:cNvPr id="2035" name="Google Shape;2035;p46"/>
            <p:cNvPicPr preferRelativeResize="0"/>
            <p:nvPr/>
          </p:nvPicPr>
          <p:blipFill rotWithShape="1">
            <a:blip r:embed="rId6">
              <a:alphaModFix/>
            </a:blip>
            <a:srcRect b="0" l="0" r="0" t="0"/>
            <a:stretch/>
          </p:blipFill>
          <p:spPr>
            <a:xfrm>
              <a:off x="417309" y="6148038"/>
              <a:ext cx="246925" cy="280330"/>
            </a:xfrm>
            <a:prstGeom prst="rect">
              <a:avLst/>
            </a:prstGeom>
            <a:noFill/>
            <a:ln>
              <a:noFill/>
            </a:ln>
          </p:spPr>
        </p:pic>
        <p:sp>
          <p:nvSpPr>
            <p:cNvPr id="2036" name="Google Shape;2036;p46"/>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2037" name="Google Shape;2037;p46"/>
          <p:cNvSpPr/>
          <p:nvPr/>
        </p:nvSpPr>
        <p:spPr>
          <a:xfrm>
            <a:off x="2344287" y="1694647"/>
            <a:ext cx="6049847" cy="753007"/>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grpSp>
        <p:nvGrpSpPr>
          <p:cNvPr id="2038" name="Google Shape;2038;p46"/>
          <p:cNvGrpSpPr/>
          <p:nvPr/>
        </p:nvGrpSpPr>
        <p:grpSpPr>
          <a:xfrm>
            <a:off x="2865232" y="2099262"/>
            <a:ext cx="2580899" cy="229403"/>
            <a:chOff x="3967360" y="3563578"/>
            <a:chExt cx="2580899" cy="308569"/>
          </a:xfrm>
        </p:grpSpPr>
        <p:sp>
          <p:nvSpPr>
            <p:cNvPr id="2039" name="Google Shape;2039;p46"/>
            <p:cNvSpPr/>
            <p:nvPr/>
          </p:nvSpPr>
          <p:spPr>
            <a:xfrm>
              <a:off x="3967360" y="3563578"/>
              <a:ext cx="2580899" cy="30856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yyyy-mm-dd ~ yyyy-mm-dd</a:t>
              </a:r>
              <a:endParaRPr sz="1200">
                <a:solidFill>
                  <a:srgbClr val="BFBFBF"/>
                </a:solidFill>
                <a:latin typeface="Noto Sans KR"/>
                <a:ea typeface="Noto Sans KR"/>
                <a:cs typeface="Noto Sans KR"/>
                <a:sym typeface="Noto Sans KR"/>
              </a:endParaRPr>
            </a:p>
          </p:txBody>
        </p:sp>
        <p:pic>
          <p:nvPicPr>
            <p:cNvPr id="2040" name="Google Shape;2040;p46"/>
            <p:cNvPicPr preferRelativeResize="0"/>
            <p:nvPr/>
          </p:nvPicPr>
          <p:blipFill rotWithShape="1">
            <a:blip r:embed="rId7">
              <a:alphaModFix/>
            </a:blip>
            <a:srcRect b="0" l="0" r="0" t="0"/>
            <a:stretch/>
          </p:blipFill>
          <p:spPr>
            <a:xfrm>
              <a:off x="6304049" y="3605956"/>
              <a:ext cx="173690" cy="232910"/>
            </a:xfrm>
            <a:prstGeom prst="rect">
              <a:avLst/>
            </a:prstGeom>
            <a:noFill/>
            <a:ln>
              <a:noFill/>
            </a:ln>
          </p:spPr>
        </p:pic>
      </p:grpSp>
      <p:sp>
        <p:nvSpPr>
          <p:cNvPr id="2041" name="Google Shape;2041;p46"/>
          <p:cNvSpPr/>
          <p:nvPr/>
        </p:nvSpPr>
        <p:spPr>
          <a:xfrm>
            <a:off x="2800564" y="1790056"/>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채용 직무           ∨     </a:t>
            </a:r>
            <a:endParaRPr sz="1200">
              <a:solidFill>
                <a:srgbClr val="BFBFBF"/>
              </a:solidFill>
              <a:latin typeface="Noto Sans KR"/>
              <a:ea typeface="Noto Sans KR"/>
              <a:cs typeface="Noto Sans KR"/>
              <a:sym typeface="Noto Sans KR"/>
            </a:endParaRPr>
          </a:p>
        </p:txBody>
      </p:sp>
      <p:sp>
        <p:nvSpPr>
          <p:cNvPr id="2042" name="Google Shape;2042;p46"/>
          <p:cNvSpPr/>
          <p:nvPr/>
        </p:nvSpPr>
        <p:spPr>
          <a:xfrm>
            <a:off x="6685963" y="1780121"/>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평가 완료</a:t>
            </a:r>
            <a:r>
              <a:rPr lang="ko-KR" sz="1200">
                <a:solidFill>
                  <a:srgbClr val="BFBFBF"/>
                </a:solidFill>
                <a:latin typeface="Noto Sans KR"/>
                <a:ea typeface="Noto Sans KR"/>
                <a:cs typeface="Noto Sans KR"/>
                <a:sym typeface="Noto Sans KR"/>
              </a:rPr>
              <a:t>           ∨</a:t>
            </a:r>
            <a:endParaRPr sz="1200">
              <a:solidFill>
                <a:srgbClr val="BFBFBF"/>
              </a:solidFill>
              <a:latin typeface="Noto Sans KR"/>
              <a:ea typeface="Noto Sans KR"/>
              <a:cs typeface="Noto Sans KR"/>
              <a:sym typeface="Noto Sans KR"/>
            </a:endParaRPr>
          </a:p>
        </p:txBody>
      </p:sp>
      <p:sp>
        <p:nvSpPr>
          <p:cNvPr id="2043" name="Google Shape;2043;p46"/>
          <p:cNvSpPr/>
          <p:nvPr/>
        </p:nvSpPr>
        <p:spPr>
          <a:xfrm>
            <a:off x="4807285" y="1779218"/>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AIE260210001   ∨</a:t>
            </a:r>
            <a:endParaRPr sz="1200">
              <a:solidFill>
                <a:srgbClr val="BFBFBF"/>
              </a:solidFill>
              <a:latin typeface="Noto Sans KR"/>
              <a:ea typeface="Noto Sans KR"/>
              <a:cs typeface="Noto Sans KR"/>
              <a:sym typeface="Noto Sans KR"/>
            </a:endParaRPr>
          </a:p>
        </p:txBody>
      </p:sp>
      <p:sp>
        <p:nvSpPr>
          <p:cNvPr id="2044" name="Google Shape;2044;p46"/>
          <p:cNvSpPr txBox="1"/>
          <p:nvPr/>
        </p:nvSpPr>
        <p:spPr>
          <a:xfrm>
            <a:off x="2423312" y="1777407"/>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a:t>
            </a:r>
            <a:endParaRPr sz="1000">
              <a:solidFill>
                <a:schemeClr val="dk1"/>
              </a:solidFill>
              <a:latin typeface="Noto Sans KR"/>
              <a:ea typeface="Noto Sans KR"/>
              <a:cs typeface="Noto Sans KR"/>
              <a:sym typeface="Noto Sans KR"/>
            </a:endParaRPr>
          </a:p>
        </p:txBody>
      </p:sp>
      <p:sp>
        <p:nvSpPr>
          <p:cNvPr id="2045" name="Google Shape;2045;p46"/>
          <p:cNvSpPr txBox="1"/>
          <p:nvPr/>
        </p:nvSpPr>
        <p:spPr>
          <a:xfrm>
            <a:off x="2423312" y="2110776"/>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기간</a:t>
            </a:r>
            <a:endParaRPr sz="1000">
              <a:solidFill>
                <a:schemeClr val="dk1"/>
              </a:solidFill>
              <a:latin typeface="Noto Sans KR"/>
              <a:ea typeface="Noto Sans KR"/>
              <a:cs typeface="Noto Sans KR"/>
              <a:sym typeface="Noto Sans KR"/>
            </a:endParaRPr>
          </a:p>
        </p:txBody>
      </p:sp>
      <p:sp>
        <p:nvSpPr>
          <p:cNvPr id="2046" name="Google Shape;2046;p46"/>
          <p:cNvSpPr txBox="1"/>
          <p:nvPr/>
        </p:nvSpPr>
        <p:spPr>
          <a:xfrm>
            <a:off x="4198365" y="1780741"/>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면접코드</a:t>
            </a:r>
            <a:endParaRPr sz="1000">
              <a:solidFill>
                <a:schemeClr val="dk1"/>
              </a:solidFill>
              <a:latin typeface="Noto Sans KR"/>
              <a:ea typeface="Noto Sans KR"/>
              <a:cs typeface="Noto Sans KR"/>
              <a:sym typeface="Noto Sans KR"/>
            </a:endParaRPr>
          </a:p>
        </p:txBody>
      </p:sp>
      <p:sp>
        <p:nvSpPr>
          <p:cNvPr id="2047" name="Google Shape;2047;p46"/>
          <p:cNvSpPr txBox="1"/>
          <p:nvPr/>
        </p:nvSpPr>
        <p:spPr>
          <a:xfrm>
            <a:off x="6267492" y="1771163"/>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현황</a:t>
            </a:r>
            <a:endParaRPr sz="1000">
              <a:solidFill>
                <a:schemeClr val="dk1"/>
              </a:solidFill>
              <a:latin typeface="Noto Sans KR"/>
              <a:ea typeface="Noto Sans KR"/>
              <a:cs typeface="Noto Sans KR"/>
              <a:sym typeface="Noto Sans KR"/>
            </a:endParaRPr>
          </a:p>
        </p:txBody>
      </p:sp>
      <p:sp>
        <p:nvSpPr>
          <p:cNvPr id="2048" name="Google Shape;2048;p46"/>
          <p:cNvSpPr/>
          <p:nvPr/>
        </p:nvSpPr>
        <p:spPr>
          <a:xfrm>
            <a:off x="6585879" y="2098095"/>
            <a:ext cx="540715" cy="230597"/>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검색</a:t>
            </a:r>
            <a:endParaRPr sz="1100">
              <a:solidFill>
                <a:schemeClr val="lt1"/>
              </a:solidFill>
              <a:latin typeface="Noto Sans KR"/>
              <a:ea typeface="Noto Sans KR"/>
              <a:cs typeface="Noto Sans KR"/>
              <a:sym typeface="Noto Sans KR"/>
            </a:endParaRPr>
          </a:p>
        </p:txBody>
      </p:sp>
      <p:sp>
        <p:nvSpPr>
          <p:cNvPr id="2049" name="Google Shape;2049;p46"/>
          <p:cNvSpPr/>
          <p:nvPr/>
        </p:nvSpPr>
        <p:spPr>
          <a:xfrm>
            <a:off x="7353675" y="2087342"/>
            <a:ext cx="623180"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초기화</a:t>
            </a:r>
            <a:endParaRPr sz="1100">
              <a:solidFill>
                <a:schemeClr val="dk1"/>
              </a:solidFill>
              <a:latin typeface="Noto Sans KR"/>
              <a:ea typeface="Noto Sans KR"/>
              <a:cs typeface="Noto Sans KR"/>
              <a:sym typeface="Noto Sans KR"/>
            </a:endParaRPr>
          </a:p>
        </p:txBody>
      </p:sp>
      <p:sp>
        <p:nvSpPr>
          <p:cNvPr id="2050" name="Google Shape;2050;p46"/>
          <p:cNvSpPr/>
          <p:nvPr/>
        </p:nvSpPr>
        <p:spPr>
          <a:xfrm>
            <a:off x="2336776" y="2565046"/>
            <a:ext cx="6049847" cy="3052110"/>
          </a:xfrm>
          <a:prstGeom prst="roundRect">
            <a:avLst>
              <a:gd fmla="val 3113"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sp>
        <p:nvSpPr>
          <p:cNvPr id="2051" name="Google Shape;2051;p46"/>
          <p:cNvSpPr/>
          <p:nvPr/>
        </p:nvSpPr>
        <p:spPr>
          <a:xfrm>
            <a:off x="2341330" y="2923305"/>
            <a:ext cx="6049849" cy="249205"/>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52" name="Google Shape;2052;p46"/>
          <p:cNvSpPr txBox="1"/>
          <p:nvPr/>
        </p:nvSpPr>
        <p:spPr>
          <a:xfrm>
            <a:off x="2376196" y="2609966"/>
            <a:ext cx="742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목록  </a:t>
            </a:r>
            <a:r>
              <a:rPr lang="ko-KR" sz="1400">
                <a:solidFill>
                  <a:srgbClr val="BFBFBF"/>
                </a:solidFill>
                <a:latin typeface="Noto Sans KR"/>
                <a:ea typeface="Noto Sans KR"/>
                <a:cs typeface="Noto Sans KR"/>
                <a:sym typeface="Noto Sans KR"/>
              </a:rPr>
              <a:t>|</a:t>
            </a:r>
            <a:endParaRPr sz="1400">
              <a:solidFill>
                <a:srgbClr val="BFBFBF"/>
              </a:solidFill>
              <a:latin typeface="Noto Sans KR"/>
              <a:ea typeface="Noto Sans KR"/>
              <a:cs typeface="Noto Sans KR"/>
              <a:sym typeface="Noto Sans KR"/>
            </a:endParaRPr>
          </a:p>
        </p:txBody>
      </p:sp>
      <p:sp>
        <p:nvSpPr>
          <p:cNvPr id="2053" name="Google Shape;2053;p46"/>
          <p:cNvSpPr/>
          <p:nvPr/>
        </p:nvSpPr>
        <p:spPr>
          <a:xfrm>
            <a:off x="3788053" y="2633010"/>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변경</a:t>
            </a:r>
            <a:endParaRPr sz="1000">
              <a:solidFill>
                <a:schemeClr val="dk1"/>
              </a:solidFill>
              <a:latin typeface="Noto Sans KR"/>
              <a:ea typeface="Noto Sans KR"/>
              <a:cs typeface="Noto Sans KR"/>
              <a:sym typeface="Noto Sans KR"/>
            </a:endParaRPr>
          </a:p>
        </p:txBody>
      </p:sp>
      <p:sp>
        <p:nvSpPr>
          <p:cNvPr id="2054" name="Google Shape;2054;p46"/>
          <p:cNvSpPr/>
          <p:nvPr/>
        </p:nvSpPr>
        <p:spPr>
          <a:xfrm>
            <a:off x="2438188" y="2982656"/>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55" name="Google Shape;2055;p46"/>
          <p:cNvSpPr txBox="1"/>
          <p:nvPr/>
        </p:nvSpPr>
        <p:spPr>
          <a:xfrm>
            <a:off x="2657185" y="2924979"/>
            <a:ext cx="7515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지원자 </a:t>
            </a:r>
            <a:endParaRPr sz="1100">
              <a:solidFill>
                <a:schemeClr val="dk1"/>
              </a:solidFill>
              <a:latin typeface="Noto Sans KR"/>
              <a:ea typeface="Noto Sans KR"/>
              <a:cs typeface="Noto Sans KR"/>
              <a:sym typeface="Noto Sans KR"/>
            </a:endParaRPr>
          </a:p>
        </p:txBody>
      </p:sp>
      <p:sp>
        <p:nvSpPr>
          <p:cNvPr id="2056" name="Google Shape;2056;p46"/>
          <p:cNvSpPr txBox="1"/>
          <p:nvPr/>
        </p:nvSpPr>
        <p:spPr>
          <a:xfrm>
            <a:off x="3566159" y="2912209"/>
            <a:ext cx="5035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2057" name="Google Shape;2057;p46"/>
          <p:cNvSpPr txBox="1"/>
          <p:nvPr/>
        </p:nvSpPr>
        <p:spPr>
          <a:xfrm>
            <a:off x="4386496" y="2924717"/>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진행 상태</a:t>
            </a:r>
            <a:endParaRPr sz="1100">
              <a:solidFill>
                <a:schemeClr val="dk1"/>
              </a:solidFill>
              <a:latin typeface="Noto Sans KR"/>
              <a:ea typeface="Noto Sans KR"/>
              <a:cs typeface="Noto Sans KR"/>
              <a:sym typeface="Noto Sans KR"/>
            </a:endParaRPr>
          </a:p>
        </p:txBody>
      </p:sp>
      <p:sp>
        <p:nvSpPr>
          <p:cNvPr id="2058" name="Google Shape;2058;p46"/>
          <p:cNvSpPr txBox="1"/>
          <p:nvPr/>
        </p:nvSpPr>
        <p:spPr>
          <a:xfrm>
            <a:off x="5547495" y="2915192"/>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면접일정</a:t>
            </a:r>
            <a:endParaRPr sz="1100">
              <a:solidFill>
                <a:schemeClr val="dk1"/>
              </a:solidFill>
              <a:latin typeface="Noto Sans KR"/>
              <a:ea typeface="Noto Sans KR"/>
              <a:cs typeface="Noto Sans KR"/>
              <a:sym typeface="Noto Sans KR"/>
            </a:endParaRPr>
          </a:p>
        </p:txBody>
      </p:sp>
      <p:sp>
        <p:nvSpPr>
          <p:cNvPr id="2059" name="Google Shape;2059;p46"/>
          <p:cNvSpPr txBox="1"/>
          <p:nvPr/>
        </p:nvSpPr>
        <p:spPr>
          <a:xfrm>
            <a:off x="7187759" y="2920500"/>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관리</a:t>
            </a:r>
            <a:endParaRPr sz="1100">
              <a:solidFill>
                <a:schemeClr val="dk1"/>
              </a:solidFill>
              <a:latin typeface="Noto Sans KR"/>
              <a:ea typeface="Noto Sans KR"/>
              <a:cs typeface="Noto Sans KR"/>
              <a:sym typeface="Noto Sans KR"/>
            </a:endParaRPr>
          </a:p>
        </p:txBody>
      </p:sp>
      <p:cxnSp>
        <p:nvCxnSpPr>
          <p:cNvPr id="2060" name="Google Shape;2060;p46"/>
          <p:cNvCxnSpPr/>
          <p:nvPr/>
        </p:nvCxnSpPr>
        <p:spPr>
          <a:xfrm>
            <a:off x="2356006" y="3571758"/>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061" name="Google Shape;2061;p46"/>
          <p:cNvCxnSpPr/>
          <p:nvPr/>
        </p:nvCxnSpPr>
        <p:spPr>
          <a:xfrm>
            <a:off x="2363387" y="3951871"/>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062" name="Google Shape;2062;p46"/>
          <p:cNvCxnSpPr/>
          <p:nvPr/>
        </p:nvCxnSpPr>
        <p:spPr>
          <a:xfrm>
            <a:off x="2363387" y="4385088"/>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063" name="Google Shape;2063;p46"/>
          <p:cNvSpPr/>
          <p:nvPr/>
        </p:nvSpPr>
        <p:spPr>
          <a:xfrm>
            <a:off x="2426863" y="3317213"/>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64" name="Google Shape;2064;p46"/>
          <p:cNvSpPr/>
          <p:nvPr/>
        </p:nvSpPr>
        <p:spPr>
          <a:xfrm>
            <a:off x="2426863" y="3744235"/>
            <a:ext cx="108000" cy="108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65" name="Google Shape;2065;p46"/>
          <p:cNvSpPr/>
          <p:nvPr/>
        </p:nvSpPr>
        <p:spPr>
          <a:xfrm>
            <a:off x="2416824" y="410511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66" name="Google Shape;2066;p46"/>
          <p:cNvSpPr txBox="1"/>
          <p:nvPr/>
        </p:nvSpPr>
        <p:spPr>
          <a:xfrm>
            <a:off x="3365684" y="3236345"/>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Engineer</a:t>
            </a:r>
            <a:endParaRPr sz="1100">
              <a:solidFill>
                <a:schemeClr val="dk1"/>
              </a:solidFill>
              <a:latin typeface="Noto Sans KR"/>
              <a:ea typeface="Noto Sans KR"/>
              <a:cs typeface="Noto Sans KR"/>
              <a:sym typeface="Noto Sans KR"/>
            </a:endParaRPr>
          </a:p>
        </p:txBody>
      </p:sp>
      <p:sp>
        <p:nvSpPr>
          <p:cNvPr id="2067" name="Google Shape;2067;p46"/>
          <p:cNvSpPr txBox="1"/>
          <p:nvPr/>
        </p:nvSpPr>
        <p:spPr>
          <a:xfrm>
            <a:off x="5346088" y="3231059"/>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2026.02.10 10:00 </a:t>
            </a:r>
            <a:endParaRPr sz="1100">
              <a:solidFill>
                <a:schemeClr val="dk1"/>
              </a:solidFill>
              <a:latin typeface="Noto Sans KR"/>
              <a:ea typeface="Noto Sans KR"/>
              <a:cs typeface="Noto Sans KR"/>
              <a:sym typeface="Noto Sans KR"/>
            </a:endParaRPr>
          </a:p>
        </p:txBody>
      </p:sp>
      <p:sp>
        <p:nvSpPr>
          <p:cNvPr id="2068" name="Google Shape;2068;p46"/>
          <p:cNvSpPr txBox="1"/>
          <p:nvPr/>
        </p:nvSpPr>
        <p:spPr>
          <a:xfrm>
            <a:off x="3310958" y="3646006"/>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2069" name="Google Shape;2069;p46"/>
          <p:cNvSpPr txBox="1"/>
          <p:nvPr/>
        </p:nvSpPr>
        <p:spPr>
          <a:xfrm>
            <a:off x="3312945" y="4073388"/>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070" name="Google Shape;2070;p46"/>
          <p:cNvSpPr txBox="1"/>
          <p:nvPr/>
        </p:nvSpPr>
        <p:spPr>
          <a:xfrm>
            <a:off x="5321099" y="4091101"/>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10:00 </a:t>
            </a:r>
            <a:endParaRPr sz="1100">
              <a:solidFill>
                <a:schemeClr val="dk1"/>
              </a:solidFill>
              <a:latin typeface="Noto Sans KR"/>
              <a:ea typeface="Noto Sans KR"/>
              <a:cs typeface="Noto Sans KR"/>
              <a:sym typeface="Noto Sans KR"/>
            </a:endParaRPr>
          </a:p>
        </p:txBody>
      </p:sp>
      <p:sp>
        <p:nvSpPr>
          <p:cNvPr id="2071" name="Google Shape;2071;p46"/>
          <p:cNvSpPr txBox="1"/>
          <p:nvPr/>
        </p:nvSpPr>
        <p:spPr>
          <a:xfrm>
            <a:off x="5086572" y="5183303"/>
            <a:ext cx="5626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u="sng">
                <a:solidFill>
                  <a:schemeClr val="dk1"/>
                </a:solidFill>
                <a:latin typeface="Noto Sans KR"/>
                <a:ea typeface="Noto Sans KR"/>
                <a:cs typeface="Noto Sans KR"/>
                <a:sym typeface="Noto Sans KR"/>
              </a:rPr>
              <a:t>1</a:t>
            </a:r>
            <a:endParaRPr sz="1200" u="sng">
              <a:solidFill>
                <a:schemeClr val="dk1"/>
              </a:solidFill>
              <a:latin typeface="Noto Sans KR"/>
              <a:ea typeface="Noto Sans KR"/>
              <a:cs typeface="Noto Sans KR"/>
              <a:sym typeface="Noto Sans KR"/>
            </a:endParaRPr>
          </a:p>
        </p:txBody>
      </p:sp>
      <p:sp>
        <p:nvSpPr>
          <p:cNvPr id="2072" name="Google Shape;2072;p46"/>
          <p:cNvSpPr/>
          <p:nvPr/>
        </p:nvSpPr>
        <p:spPr>
          <a:xfrm>
            <a:off x="7269612" y="2665810"/>
            <a:ext cx="1041732" cy="20926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rPr lang="ko-KR" sz="1050">
                <a:solidFill>
                  <a:srgbClr val="7F7F7F"/>
                </a:solidFill>
                <a:latin typeface="Noto Sans KR"/>
                <a:ea typeface="Noto Sans KR"/>
                <a:cs typeface="Noto Sans KR"/>
                <a:sym typeface="Noto Sans KR"/>
              </a:rPr>
              <a:t>10개씩 보기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sp>
        <p:nvSpPr>
          <p:cNvPr id="2073" name="Google Shape;2073;p46"/>
          <p:cNvSpPr/>
          <p:nvPr/>
        </p:nvSpPr>
        <p:spPr>
          <a:xfrm>
            <a:off x="6063107" y="2661146"/>
            <a:ext cx="1097860" cy="20832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최신순</a:t>
            </a:r>
            <a:r>
              <a:rPr lang="ko-KR" sz="1050">
                <a:solidFill>
                  <a:srgbClr val="BFBFBF"/>
                </a:solidFill>
                <a:latin typeface="Noto Sans KR"/>
                <a:ea typeface="Noto Sans KR"/>
                <a:cs typeface="Noto Sans KR"/>
                <a:sym typeface="Noto Sans KR"/>
              </a:rPr>
              <a:t>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grpSp>
        <p:nvGrpSpPr>
          <p:cNvPr id="2074" name="Google Shape;2074;p46"/>
          <p:cNvGrpSpPr/>
          <p:nvPr/>
        </p:nvGrpSpPr>
        <p:grpSpPr>
          <a:xfrm>
            <a:off x="6106590" y="5183303"/>
            <a:ext cx="1463975" cy="276999"/>
            <a:chOff x="5375612" y="5305565"/>
            <a:chExt cx="1463975" cy="276999"/>
          </a:xfrm>
        </p:grpSpPr>
        <p:sp>
          <p:nvSpPr>
            <p:cNvPr id="2075" name="Google Shape;2075;p46"/>
            <p:cNvSpPr/>
            <p:nvPr/>
          </p:nvSpPr>
          <p:spPr>
            <a:xfrm>
              <a:off x="5418217" y="5358005"/>
              <a:ext cx="180000" cy="180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76" name="Google Shape;2076;p46"/>
            <p:cNvSpPr txBox="1"/>
            <p:nvPr/>
          </p:nvSpPr>
          <p:spPr>
            <a:xfrm>
              <a:off x="5375612" y="5305565"/>
              <a:ext cx="14639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1</a:t>
              </a:r>
              <a:r>
                <a:rPr lang="ko-KR" sz="1200">
                  <a:solidFill>
                    <a:schemeClr val="dk1"/>
                  </a:solidFill>
                  <a:latin typeface="Noto Sans KR"/>
                  <a:ea typeface="Noto Sans KR"/>
                  <a:cs typeface="Noto Sans KR"/>
                  <a:sym typeface="Noto Sans KR"/>
                </a:rPr>
                <a:t>    2    3    4    5    &gt;</a:t>
              </a:r>
              <a:endParaRPr sz="1200">
                <a:solidFill>
                  <a:schemeClr val="dk1"/>
                </a:solidFill>
                <a:latin typeface="Noto Sans KR"/>
                <a:ea typeface="Noto Sans KR"/>
                <a:cs typeface="Noto Sans KR"/>
                <a:sym typeface="Noto Sans KR"/>
              </a:endParaRPr>
            </a:p>
          </p:txBody>
        </p:sp>
      </p:grpSp>
      <p:sp>
        <p:nvSpPr>
          <p:cNvPr id="2077" name="Google Shape;2077;p46"/>
          <p:cNvSpPr txBox="1"/>
          <p:nvPr/>
        </p:nvSpPr>
        <p:spPr>
          <a:xfrm>
            <a:off x="5601981" y="5183303"/>
            <a:ext cx="62977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pages</a:t>
            </a:r>
            <a:endParaRPr sz="1100">
              <a:solidFill>
                <a:srgbClr val="7F7F7F"/>
              </a:solidFill>
              <a:latin typeface="Noto Sans KR"/>
              <a:ea typeface="Noto Sans KR"/>
              <a:cs typeface="Noto Sans KR"/>
              <a:sym typeface="Noto Sans KR"/>
            </a:endParaRPr>
          </a:p>
        </p:txBody>
      </p:sp>
      <p:sp>
        <p:nvSpPr>
          <p:cNvPr id="2078" name="Google Shape;2078;p46"/>
          <p:cNvSpPr/>
          <p:nvPr/>
        </p:nvSpPr>
        <p:spPr>
          <a:xfrm>
            <a:off x="2191435" y="109745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079" name="Google Shape;2079;p46"/>
          <p:cNvSpPr/>
          <p:nvPr/>
        </p:nvSpPr>
        <p:spPr>
          <a:xfrm>
            <a:off x="2231654" y="162947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080" name="Google Shape;2080;p46"/>
          <p:cNvSpPr/>
          <p:nvPr/>
        </p:nvSpPr>
        <p:spPr>
          <a:xfrm>
            <a:off x="6323879" y="203359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081" name="Google Shape;2081;p46"/>
          <p:cNvSpPr/>
          <p:nvPr/>
        </p:nvSpPr>
        <p:spPr>
          <a:xfrm>
            <a:off x="7137062" y="202416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082" name="Google Shape;2082;p46"/>
          <p:cNvSpPr txBox="1"/>
          <p:nvPr/>
        </p:nvSpPr>
        <p:spPr>
          <a:xfrm>
            <a:off x="417659" y="203133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공고 관리                ∨                 </a:t>
            </a:r>
            <a:endParaRPr sz="1400">
              <a:solidFill>
                <a:srgbClr val="BFBFBF"/>
              </a:solidFill>
              <a:latin typeface="Noto Sans KR"/>
              <a:ea typeface="Noto Sans KR"/>
              <a:cs typeface="Noto Sans KR"/>
              <a:sym typeface="Noto Sans KR"/>
            </a:endParaRPr>
          </a:p>
        </p:txBody>
      </p:sp>
      <p:sp>
        <p:nvSpPr>
          <p:cNvPr id="2083" name="Google Shape;2083;p46"/>
          <p:cNvSpPr/>
          <p:nvPr/>
        </p:nvSpPr>
        <p:spPr>
          <a:xfrm>
            <a:off x="1202577" y="3244494"/>
            <a:ext cx="866567"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면접 관리</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a:p>
        </p:txBody>
      </p:sp>
      <p:cxnSp>
        <p:nvCxnSpPr>
          <p:cNvPr id="2084" name="Google Shape;2084;p46"/>
          <p:cNvCxnSpPr/>
          <p:nvPr/>
        </p:nvCxnSpPr>
        <p:spPr>
          <a:xfrm flipH="1" rot="10800000">
            <a:off x="875630" y="3547591"/>
            <a:ext cx="1249226" cy="4792"/>
          </a:xfrm>
          <a:prstGeom prst="straightConnector1">
            <a:avLst/>
          </a:prstGeom>
          <a:noFill/>
          <a:ln cap="flat" cmpd="sng" w="9525">
            <a:solidFill>
              <a:srgbClr val="BFBFBF"/>
            </a:solidFill>
            <a:prstDash val="solid"/>
            <a:miter lim="8000"/>
            <a:headEnd len="sm" w="sm" type="none"/>
            <a:tailEnd len="sm" w="sm" type="none"/>
          </a:ln>
        </p:spPr>
      </p:cxnSp>
      <p:sp>
        <p:nvSpPr>
          <p:cNvPr id="2085" name="Google Shape;2085;p46"/>
          <p:cNvSpPr/>
          <p:nvPr/>
        </p:nvSpPr>
        <p:spPr>
          <a:xfrm>
            <a:off x="1250048" y="2863649"/>
            <a:ext cx="9605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지원자 관리</a:t>
            </a:r>
            <a:endParaRPr sz="1200">
              <a:solidFill>
                <a:srgbClr val="BFBFBF"/>
              </a:solidFill>
              <a:latin typeface="Noto Sans KR"/>
              <a:ea typeface="Noto Sans KR"/>
              <a:cs typeface="Noto Sans KR"/>
              <a:sym typeface="Noto Sans KR"/>
            </a:endParaRPr>
          </a:p>
        </p:txBody>
      </p:sp>
      <p:pic>
        <p:nvPicPr>
          <p:cNvPr id="2086" name="Google Shape;2086;p46"/>
          <p:cNvPicPr preferRelativeResize="0"/>
          <p:nvPr/>
        </p:nvPicPr>
        <p:blipFill rotWithShape="1">
          <a:blip r:embed="rId8">
            <a:alphaModFix/>
          </a:blip>
          <a:srcRect b="24094" l="23190" r="56900" t="55938"/>
          <a:stretch/>
        </p:blipFill>
        <p:spPr>
          <a:xfrm>
            <a:off x="2626067" y="3273893"/>
            <a:ext cx="252000" cy="235412"/>
          </a:xfrm>
          <a:prstGeom prst="ellipse">
            <a:avLst/>
          </a:prstGeom>
          <a:noFill/>
          <a:ln>
            <a:noFill/>
          </a:ln>
          <a:effectLst>
            <a:outerShdw blurRad="381000" sx="-80000" rotWithShape="0" dir="5400000" dist="292100" sy="-18000">
              <a:srgbClr val="000000">
                <a:alpha val="21961"/>
              </a:srgbClr>
            </a:outerShdw>
          </a:effectLst>
        </p:spPr>
      </p:pic>
      <p:sp>
        <p:nvSpPr>
          <p:cNvPr id="2087" name="Google Shape;2087;p46"/>
          <p:cNvSpPr txBox="1"/>
          <p:nvPr/>
        </p:nvSpPr>
        <p:spPr>
          <a:xfrm>
            <a:off x="2848326" y="325623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088" name="Google Shape;2088;p46"/>
          <p:cNvSpPr/>
          <p:nvPr/>
        </p:nvSpPr>
        <p:spPr>
          <a:xfrm>
            <a:off x="4361793" y="3343060"/>
            <a:ext cx="864956" cy="45719"/>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089" name="Google Shape;2089;p46"/>
          <p:cNvPicPr preferRelativeResize="0"/>
          <p:nvPr/>
        </p:nvPicPr>
        <p:blipFill rotWithShape="1">
          <a:blip r:embed="rId9">
            <a:alphaModFix/>
          </a:blip>
          <a:srcRect b="54220" l="55521" r="19604" t="22941"/>
          <a:stretch/>
        </p:blipFill>
        <p:spPr>
          <a:xfrm>
            <a:off x="2617848" y="3652616"/>
            <a:ext cx="274469" cy="252000"/>
          </a:xfrm>
          <a:prstGeom prst="ellipse">
            <a:avLst/>
          </a:prstGeom>
          <a:noFill/>
          <a:ln cap="flat" cmpd="sng" w="9525">
            <a:solidFill>
              <a:srgbClr val="D8D8D8"/>
            </a:solidFill>
            <a:prstDash val="solid"/>
            <a:round/>
            <a:headEnd len="sm" w="sm" type="none"/>
            <a:tailEnd len="sm" w="sm" type="none"/>
          </a:ln>
        </p:spPr>
      </p:pic>
      <p:sp>
        <p:nvSpPr>
          <p:cNvPr id="2090" name="Google Shape;2090;p46"/>
          <p:cNvSpPr txBox="1"/>
          <p:nvPr/>
        </p:nvSpPr>
        <p:spPr>
          <a:xfrm>
            <a:off x="2857012" y="3650047"/>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091" name="Google Shape;2091;p46"/>
          <p:cNvSpPr/>
          <p:nvPr/>
        </p:nvSpPr>
        <p:spPr>
          <a:xfrm>
            <a:off x="4361793" y="3761052"/>
            <a:ext cx="864956" cy="45719"/>
          </a:xfrm>
          <a:prstGeom prst="roundRect">
            <a:avLst>
              <a:gd fmla="val 16667" name="adj"/>
            </a:avLst>
          </a:prstGeom>
          <a:solidFill>
            <a:srgbClr val="92D050"/>
          </a:solidFill>
          <a:ln cap="flat" cmpd="sng" w="12700">
            <a:solidFill>
              <a:srgbClr val="92D05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92" name="Google Shape;2092;p46"/>
          <p:cNvSpPr/>
          <p:nvPr/>
        </p:nvSpPr>
        <p:spPr>
          <a:xfrm>
            <a:off x="4951444" y="3759712"/>
            <a:ext cx="288000" cy="45719"/>
          </a:xfrm>
          <a:prstGeom prst="roundRect">
            <a:avLst>
              <a:gd fmla="val 16667" name="adj"/>
            </a:avLst>
          </a:prstGeom>
          <a:solidFill>
            <a:srgbClr val="A5A5A5"/>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93" name="Google Shape;2093;p46"/>
          <p:cNvSpPr txBox="1"/>
          <p:nvPr/>
        </p:nvSpPr>
        <p:spPr>
          <a:xfrm>
            <a:off x="5332721" y="3652616"/>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2026.02.09  10:00</a:t>
            </a:r>
            <a:endParaRPr sz="1100">
              <a:solidFill>
                <a:schemeClr val="dk1"/>
              </a:solidFill>
              <a:latin typeface="Noto Sans KR"/>
              <a:ea typeface="Noto Sans KR"/>
              <a:cs typeface="Noto Sans KR"/>
              <a:sym typeface="Noto Sans KR"/>
            </a:endParaRPr>
          </a:p>
        </p:txBody>
      </p:sp>
      <p:pic>
        <p:nvPicPr>
          <p:cNvPr id="2094" name="Google Shape;2094;p46"/>
          <p:cNvPicPr preferRelativeResize="0"/>
          <p:nvPr/>
        </p:nvPicPr>
        <p:blipFill rotWithShape="1">
          <a:blip r:embed="rId10">
            <a:alphaModFix/>
          </a:blip>
          <a:srcRect b="57058" l="20140" r="54458" t="22041"/>
          <a:stretch/>
        </p:blipFill>
        <p:spPr>
          <a:xfrm>
            <a:off x="2607908" y="4057414"/>
            <a:ext cx="306263" cy="252000"/>
          </a:xfrm>
          <a:prstGeom prst="ellipse">
            <a:avLst/>
          </a:prstGeom>
          <a:noFill/>
          <a:ln>
            <a:noFill/>
          </a:ln>
        </p:spPr>
      </p:pic>
      <p:sp>
        <p:nvSpPr>
          <p:cNvPr id="2095" name="Google Shape;2095;p46"/>
          <p:cNvSpPr txBox="1"/>
          <p:nvPr/>
        </p:nvSpPr>
        <p:spPr>
          <a:xfrm>
            <a:off x="2853179" y="406350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096" name="Google Shape;2096;p46"/>
          <p:cNvSpPr/>
          <p:nvPr/>
        </p:nvSpPr>
        <p:spPr>
          <a:xfrm>
            <a:off x="4359026" y="4167841"/>
            <a:ext cx="864956" cy="45719"/>
          </a:xfrm>
          <a:prstGeom prst="roundRect">
            <a:avLst>
              <a:gd fmla="val 16667" name="adj"/>
            </a:avLst>
          </a:prstGeom>
          <a:solidFill>
            <a:srgbClr val="92D050"/>
          </a:solidFill>
          <a:ln cap="flat" cmpd="sng" w="12700">
            <a:solidFill>
              <a:srgbClr val="92D05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097" name="Google Shape;2097;p46"/>
          <p:cNvSpPr/>
          <p:nvPr/>
        </p:nvSpPr>
        <p:spPr>
          <a:xfrm>
            <a:off x="2996379" y="2628511"/>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삭제</a:t>
            </a:r>
            <a:endParaRPr sz="1000">
              <a:solidFill>
                <a:schemeClr val="dk1"/>
              </a:solidFill>
              <a:latin typeface="Noto Sans KR"/>
              <a:ea typeface="Noto Sans KR"/>
              <a:cs typeface="Noto Sans KR"/>
              <a:sym typeface="Noto Sans KR"/>
            </a:endParaRPr>
          </a:p>
        </p:txBody>
      </p:sp>
      <p:sp>
        <p:nvSpPr>
          <p:cNvPr id="2098" name="Google Shape;2098;p46"/>
          <p:cNvSpPr txBox="1"/>
          <p:nvPr/>
        </p:nvSpPr>
        <p:spPr>
          <a:xfrm>
            <a:off x="4533111" y="4212616"/>
            <a:ext cx="64073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면접 완료</a:t>
            </a:r>
            <a:endParaRPr sz="800">
              <a:solidFill>
                <a:schemeClr val="dk1"/>
              </a:solidFill>
              <a:latin typeface="Noto Sans KR"/>
              <a:ea typeface="Noto Sans KR"/>
              <a:cs typeface="Noto Sans KR"/>
              <a:sym typeface="Noto Sans KR"/>
            </a:endParaRPr>
          </a:p>
        </p:txBody>
      </p:sp>
      <p:sp>
        <p:nvSpPr>
          <p:cNvPr id="2099" name="Google Shape;2099;p46"/>
          <p:cNvSpPr txBox="1"/>
          <p:nvPr/>
        </p:nvSpPr>
        <p:spPr>
          <a:xfrm>
            <a:off x="4602722" y="3787210"/>
            <a:ext cx="501508"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진행중</a:t>
            </a:r>
            <a:endParaRPr sz="800">
              <a:solidFill>
                <a:schemeClr val="dk1"/>
              </a:solidFill>
              <a:latin typeface="Noto Sans KR"/>
              <a:ea typeface="Noto Sans KR"/>
              <a:cs typeface="Noto Sans KR"/>
              <a:sym typeface="Noto Sans KR"/>
            </a:endParaRPr>
          </a:p>
        </p:txBody>
      </p:sp>
      <p:sp>
        <p:nvSpPr>
          <p:cNvPr id="2100" name="Google Shape;2100;p46"/>
          <p:cNvSpPr txBox="1"/>
          <p:nvPr/>
        </p:nvSpPr>
        <p:spPr>
          <a:xfrm>
            <a:off x="4631628" y="3358296"/>
            <a:ext cx="45546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대기</a:t>
            </a:r>
            <a:endParaRPr sz="800">
              <a:solidFill>
                <a:schemeClr val="dk1"/>
              </a:solidFill>
              <a:latin typeface="Noto Sans KR"/>
              <a:ea typeface="Noto Sans KR"/>
              <a:cs typeface="Noto Sans KR"/>
              <a:sym typeface="Noto Sans KR"/>
            </a:endParaRPr>
          </a:p>
        </p:txBody>
      </p:sp>
      <p:sp>
        <p:nvSpPr>
          <p:cNvPr id="2101" name="Google Shape;2101;p46"/>
          <p:cNvSpPr/>
          <p:nvPr/>
        </p:nvSpPr>
        <p:spPr>
          <a:xfrm>
            <a:off x="2229042" y="247032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102" name="Google Shape;2102;p46"/>
          <p:cNvSpPr/>
          <p:nvPr/>
        </p:nvSpPr>
        <p:spPr>
          <a:xfrm>
            <a:off x="2842980" y="248205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103" name="Google Shape;2103;p46"/>
          <p:cNvSpPr/>
          <p:nvPr/>
        </p:nvSpPr>
        <p:spPr>
          <a:xfrm>
            <a:off x="3693341" y="248748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pic>
        <p:nvPicPr>
          <p:cNvPr id="2104" name="Google Shape;2104;p46"/>
          <p:cNvPicPr preferRelativeResize="0"/>
          <p:nvPr/>
        </p:nvPicPr>
        <p:blipFill rotWithShape="1">
          <a:blip r:embed="rId11">
            <a:alphaModFix/>
          </a:blip>
          <a:srcRect b="0" l="0" r="0" t="0"/>
          <a:stretch/>
        </p:blipFill>
        <p:spPr>
          <a:xfrm>
            <a:off x="2410246" y="1261579"/>
            <a:ext cx="228600" cy="228600"/>
          </a:xfrm>
          <a:prstGeom prst="rect">
            <a:avLst/>
          </a:prstGeom>
          <a:noFill/>
          <a:ln>
            <a:noFill/>
          </a:ln>
        </p:spPr>
      </p:pic>
      <p:cxnSp>
        <p:nvCxnSpPr>
          <p:cNvPr id="2105" name="Google Shape;2105;p46"/>
          <p:cNvCxnSpPr/>
          <p:nvPr/>
        </p:nvCxnSpPr>
        <p:spPr>
          <a:xfrm>
            <a:off x="2355408" y="4807475"/>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106" name="Google Shape;2106;p46"/>
          <p:cNvSpPr/>
          <p:nvPr/>
        </p:nvSpPr>
        <p:spPr>
          <a:xfrm>
            <a:off x="2422064" y="4536852"/>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107" name="Google Shape;2107;p46"/>
          <p:cNvPicPr preferRelativeResize="0"/>
          <p:nvPr/>
        </p:nvPicPr>
        <p:blipFill rotWithShape="1">
          <a:blip r:embed="rId12">
            <a:alphaModFix/>
          </a:blip>
          <a:srcRect b="23535" l="58547" r="22489" t="56313"/>
          <a:stretch/>
        </p:blipFill>
        <p:spPr>
          <a:xfrm>
            <a:off x="2629082" y="4485647"/>
            <a:ext cx="252000" cy="259238"/>
          </a:xfrm>
          <a:prstGeom prst="ellipse">
            <a:avLst/>
          </a:prstGeom>
          <a:noFill/>
          <a:ln>
            <a:noFill/>
          </a:ln>
        </p:spPr>
      </p:pic>
      <p:sp>
        <p:nvSpPr>
          <p:cNvPr id="2108" name="Google Shape;2108;p46"/>
          <p:cNvSpPr txBox="1"/>
          <p:nvPr/>
        </p:nvSpPr>
        <p:spPr>
          <a:xfrm>
            <a:off x="2848325" y="4483275"/>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109" name="Google Shape;2109;p46"/>
          <p:cNvSpPr txBox="1"/>
          <p:nvPr/>
        </p:nvSpPr>
        <p:spPr>
          <a:xfrm>
            <a:off x="3310958" y="4475205"/>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110" name="Google Shape;2110;p46"/>
          <p:cNvSpPr/>
          <p:nvPr/>
        </p:nvSpPr>
        <p:spPr>
          <a:xfrm>
            <a:off x="4368969" y="4551265"/>
            <a:ext cx="864956" cy="45719"/>
          </a:xfrm>
          <a:prstGeom prst="roundRect">
            <a:avLst>
              <a:gd fmla="val 16667" name="adj"/>
            </a:avLst>
          </a:prstGeom>
          <a:solidFill>
            <a:schemeClr val="accent2"/>
          </a:solidFill>
          <a:ln cap="flat" cmpd="sng" w="12700">
            <a:solidFill>
              <a:schemeClr val="accen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11" name="Google Shape;2111;p46"/>
          <p:cNvSpPr txBox="1"/>
          <p:nvPr/>
        </p:nvSpPr>
        <p:spPr>
          <a:xfrm>
            <a:off x="4511633" y="4582352"/>
            <a:ext cx="636739"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평가 완료</a:t>
            </a:r>
            <a:endParaRPr sz="800">
              <a:solidFill>
                <a:schemeClr val="dk1"/>
              </a:solidFill>
              <a:latin typeface="Noto Sans KR"/>
              <a:ea typeface="Noto Sans KR"/>
              <a:cs typeface="Noto Sans KR"/>
              <a:sym typeface="Noto Sans KR"/>
            </a:endParaRPr>
          </a:p>
        </p:txBody>
      </p:sp>
      <p:sp>
        <p:nvSpPr>
          <p:cNvPr id="2112" name="Google Shape;2112;p46"/>
          <p:cNvSpPr txBox="1"/>
          <p:nvPr/>
        </p:nvSpPr>
        <p:spPr>
          <a:xfrm>
            <a:off x="5346088" y="4500795"/>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10:00 </a:t>
            </a:r>
            <a:endParaRPr sz="1100">
              <a:solidFill>
                <a:schemeClr val="dk1"/>
              </a:solidFill>
              <a:latin typeface="Noto Sans KR"/>
              <a:ea typeface="Noto Sans KR"/>
              <a:cs typeface="Noto Sans KR"/>
              <a:sym typeface="Noto Sans KR"/>
            </a:endParaRPr>
          </a:p>
        </p:txBody>
      </p:sp>
      <p:sp>
        <p:nvSpPr>
          <p:cNvPr id="2113" name="Google Shape;2113;p46"/>
          <p:cNvSpPr/>
          <p:nvPr/>
        </p:nvSpPr>
        <p:spPr>
          <a:xfrm>
            <a:off x="474034" y="2394594"/>
            <a:ext cx="1602314"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면접 현황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sp>
        <p:nvSpPr>
          <p:cNvPr id="2114" name="Google Shape;2114;p46"/>
          <p:cNvSpPr/>
          <p:nvPr/>
        </p:nvSpPr>
        <p:spPr>
          <a:xfrm>
            <a:off x="6671535" y="3656686"/>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모니터링</a:t>
            </a:r>
            <a:endParaRPr sz="900">
              <a:solidFill>
                <a:schemeClr val="dk1"/>
              </a:solidFill>
              <a:latin typeface="Noto Sans KR"/>
              <a:ea typeface="Noto Sans KR"/>
              <a:cs typeface="Noto Sans KR"/>
              <a:sym typeface="Noto Sans KR"/>
            </a:endParaRPr>
          </a:p>
        </p:txBody>
      </p:sp>
      <p:sp>
        <p:nvSpPr>
          <p:cNvPr id="2115" name="Google Shape;2115;p46"/>
          <p:cNvSpPr/>
          <p:nvPr/>
        </p:nvSpPr>
        <p:spPr>
          <a:xfrm>
            <a:off x="7230191" y="3662196"/>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영상확인</a:t>
            </a:r>
            <a:endParaRPr sz="900">
              <a:solidFill>
                <a:schemeClr val="dk1"/>
              </a:solidFill>
              <a:latin typeface="Noto Sans KR"/>
              <a:ea typeface="Noto Sans KR"/>
              <a:cs typeface="Noto Sans KR"/>
              <a:sym typeface="Noto Sans KR"/>
            </a:endParaRPr>
          </a:p>
        </p:txBody>
      </p:sp>
      <p:sp>
        <p:nvSpPr>
          <p:cNvPr id="2116" name="Google Shape;2116;p46"/>
          <p:cNvSpPr/>
          <p:nvPr/>
        </p:nvSpPr>
        <p:spPr>
          <a:xfrm>
            <a:off x="7780589" y="3657492"/>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지원정보</a:t>
            </a:r>
            <a:endParaRPr sz="900">
              <a:solidFill>
                <a:schemeClr val="dk1"/>
              </a:solidFill>
              <a:latin typeface="Noto Sans KR"/>
              <a:ea typeface="Noto Sans KR"/>
              <a:cs typeface="Noto Sans KR"/>
              <a:sym typeface="Noto Sans KR"/>
            </a:endParaRPr>
          </a:p>
        </p:txBody>
      </p:sp>
      <p:sp>
        <p:nvSpPr>
          <p:cNvPr id="2117" name="Google Shape;2117;p46"/>
          <p:cNvSpPr/>
          <p:nvPr/>
        </p:nvSpPr>
        <p:spPr>
          <a:xfrm>
            <a:off x="6658892" y="3264199"/>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모니터링</a:t>
            </a:r>
            <a:endParaRPr sz="900">
              <a:solidFill>
                <a:schemeClr val="dk1"/>
              </a:solidFill>
              <a:latin typeface="Noto Sans KR"/>
              <a:ea typeface="Noto Sans KR"/>
              <a:cs typeface="Noto Sans KR"/>
              <a:sym typeface="Noto Sans KR"/>
            </a:endParaRPr>
          </a:p>
        </p:txBody>
      </p:sp>
      <p:sp>
        <p:nvSpPr>
          <p:cNvPr id="2118" name="Google Shape;2118;p46"/>
          <p:cNvSpPr/>
          <p:nvPr/>
        </p:nvSpPr>
        <p:spPr>
          <a:xfrm>
            <a:off x="7217500" y="3269403"/>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영상확인</a:t>
            </a:r>
            <a:endParaRPr sz="900">
              <a:solidFill>
                <a:schemeClr val="dk1"/>
              </a:solidFill>
              <a:latin typeface="Noto Sans KR"/>
              <a:ea typeface="Noto Sans KR"/>
              <a:cs typeface="Noto Sans KR"/>
              <a:sym typeface="Noto Sans KR"/>
            </a:endParaRPr>
          </a:p>
        </p:txBody>
      </p:sp>
      <p:sp>
        <p:nvSpPr>
          <p:cNvPr id="2119" name="Google Shape;2119;p46"/>
          <p:cNvSpPr/>
          <p:nvPr/>
        </p:nvSpPr>
        <p:spPr>
          <a:xfrm>
            <a:off x="7766684" y="3256556"/>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지원정보</a:t>
            </a:r>
            <a:endParaRPr sz="900">
              <a:solidFill>
                <a:schemeClr val="dk1"/>
              </a:solidFill>
              <a:latin typeface="Noto Sans KR"/>
              <a:ea typeface="Noto Sans KR"/>
              <a:cs typeface="Noto Sans KR"/>
              <a:sym typeface="Noto Sans KR"/>
            </a:endParaRPr>
          </a:p>
        </p:txBody>
      </p:sp>
      <p:sp>
        <p:nvSpPr>
          <p:cNvPr id="2120" name="Google Shape;2120;p46"/>
          <p:cNvSpPr/>
          <p:nvPr/>
        </p:nvSpPr>
        <p:spPr>
          <a:xfrm>
            <a:off x="6671604" y="4073116"/>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모니터링</a:t>
            </a:r>
            <a:endParaRPr sz="900">
              <a:solidFill>
                <a:schemeClr val="dk1"/>
              </a:solidFill>
              <a:latin typeface="Noto Sans KR"/>
              <a:ea typeface="Noto Sans KR"/>
              <a:cs typeface="Noto Sans KR"/>
              <a:sym typeface="Noto Sans KR"/>
            </a:endParaRPr>
          </a:p>
        </p:txBody>
      </p:sp>
      <p:sp>
        <p:nvSpPr>
          <p:cNvPr id="2121" name="Google Shape;2121;p46"/>
          <p:cNvSpPr/>
          <p:nvPr/>
        </p:nvSpPr>
        <p:spPr>
          <a:xfrm>
            <a:off x="7230191" y="4076015"/>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영상확인</a:t>
            </a:r>
            <a:endParaRPr sz="900">
              <a:solidFill>
                <a:schemeClr val="dk1"/>
              </a:solidFill>
              <a:latin typeface="Noto Sans KR"/>
              <a:ea typeface="Noto Sans KR"/>
              <a:cs typeface="Noto Sans KR"/>
              <a:sym typeface="Noto Sans KR"/>
            </a:endParaRPr>
          </a:p>
        </p:txBody>
      </p:sp>
      <p:sp>
        <p:nvSpPr>
          <p:cNvPr id="2122" name="Google Shape;2122;p46"/>
          <p:cNvSpPr/>
          <p:nvPr/>
        </p:nvSpPr>
        <p:spPr>
          <a:xfrm>
            <a:off x="7780589" y="4067529"/>
            <a:ext cx="489432" cy="257583"/>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지원정보</a:t>
            </a:r>
            <a:endParaRPr sz="900">
              <a:solidFill>
                <a:schemeClr val="dk1"/>
              </a:solidFill>
              <a:latin typeface="Noto Sans KR"/>
              <a:ea typeface="Noto Sans KR"/>
              <a:cs typeface="Noto Sans KR"/>
              <a:sym typeface="Noto Sans KR"/>
            </a:endParaRPr>
          </a:p>
        </p:txBody>
      </p:sp>
      <p:sp>
        <p:nvSpPr>
          <p:cNvPr id="2123" name="Google Shape;2123;p46"/>
          <p:cNvSpPr/>
          <p:nvPr/>
        </p:nvSpPr>
        <p:spPr>
          <a:xfrm>
            <a:off x="6678646" y="4484195"/>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모니터링</a:t>
            </a:r>
            <a:endParaRPr sz="900">
              <a:solidFill>
                <a:schemeClr val="dk1"/>
              </a:solidFill>
              <a:latin typeface="Noto Sans KR"/>
              <a:ea typeface="Noto Sans KR"/>
              <a:cs typeface="Noto Sans KR"/>
              <a:sym typeface="Noto Sans KR"/>
            </a:endParaRPr>
          </a:p>
        </p:txBody>
      </p:sp>
      <p:sp>
        <p:nvSpPr>
          <p:cNvPr id="2124" name="Google Shape;2124;p46"/>
          <p:cNvSpPr/>
          <p:nvPr/>
        </p:nvSpPr>
        <p:spPr>
          <a:xfrm>
            <a:off x="7237302" y="4489705"/>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영상확인</a:t>
            </a:r>
            <a:endParaRPr sz="900">
              <a:solidFill>
                <a:schemeClr val="dk1"/>
              </a:solidFill>
              <a:latin typeface="Noto Sans KR"/>
              <a:ea typeface="Noto Sans KR"/>
              <a:cs typeface="Noto Sans KR"/>
              <a:sym typeface="Noto Sans KR"/>
            </a:endParaRPr>
          </a:p>
        </p:txBody>
      </p:sp>
      <p:sp>
        <p:nvSpPr>
          <p:cNvPr id="2125" name="Google Shape;2125;p46"/>
          <p:cNvSpPr/>
          <p:nvPr/>
        </p:nvSpPr>
        <p:spPr>
          <a:xfrm>
            <a:off x="7787802" y="4476483"/>
            <a:ext cx="489432"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900">
                <a:solidFill>
                  <a:schemeClr val="dk1"/>
                </a:solidFill>
                <a:latin typeface="Noto Sans KR"/>
                <a:ea typeface="Noto Sans KR"/>
                <a:cs typeface="Noto Sans KR"/>
                <a:sym typeface="Noto Sans KR"/>
              </a:rPr>
              <a:t>지원정보</a:t>
            </a:r>
            <a:endParaRPr sz="900">
              <a:solidFill>
                <a:schemeClr val="dk1"/>
              </a:solidFill>
              <a:latin typeface="Noto Sans KR"/>
              <a:ea typeface="Noto Sans KR"/>
              <a:cs typeface="Noto Sans KR"/>
              <a:sym typeface="Noto Sans KR"/>
            </a:endParaRPr>
          </a:p>
        </p:txBody>
      </p:sp>
      <p:sp>
        <p:nvSpPr>
          <p:cNvPr id="2126" name="Google Shape;2126;p46"/>
          <p:cNvSpPr/>
          <p:nvPr/>
        </p:nvSpPr>
        <p:spPr>
          <a:xfrm>
            <a:off x="6970191" y="293319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1" name="Shape 2131"/>
        <p:cNvGrpSpPr/>
        <p:nvPr/>
      </p:nvGrpSpPr>
      <p:grpSpPr>
        <a:xfrm>
          <a:off x="0" y="0"/>
          <a:ext cx="0" cy="0"/>
          <a:chOff x="0" y="0"/>
          <a:chExt cx="0" cy="0"/>
        </a:xfrm>
      </p:grpSpPr>
      <p:sp>
        <p:nvSpPr>
          <p:cNvPr id="2132" name="Google Shape;2132;p47"/>
          <p:cNvSpPr txBox="1"/>
          <p:nvPr>
            <p:ph type="title"/>
          </p:nvPr>
        </p:nvSpPr>
        <p:spPr>
          <a:xfrm>
            <a:off x="406653"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결과 관리</a:t>
            </a:r>
            <a:endParaRPr sz="2400"/>
          </a:p>
        </p:txBody>
      </p:sp>
      <p:sp>
        <p:nvSpPr>
          <p:cNvPr id="2133" name="Google Shape;2133;p47"/>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134" name="Google Shape;2134;p47"/>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135" name="Google Shape;2135;p47"/>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136" name="Google Shape;2136;p47"/>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137" name="Google Shape;2137;p47"/>
          <p:cNvGraphicFramePr/>
          <p:nvPr/>
        </p:nvGraphicFramePr>
        <p:xfrm>
          <a:off x="8591313" y="1035737"/>
          <a:ext cx="3000000" cy="3000000"/>
        </p:xfrm>
        <a:graphic>
          <a:graphicData uri="http://schemas.openxmlformats.org/drawingml/2006/table">
            <a:tbl>
              <a:tblPr bandRow="1" firstRow="1">
                <a:noFill/>
                <a:tableStyleId>{C61F204E-A15B-47D6-BEBB-6A886D3283EB}</a:tableStyleId>
              </a:tblPr>
              <a:tblGrid>
                <a:gridCol w="448975"/>
                <a:gridCol w="2915925"/>
              </a:tblGrid>
              <a:tr h="2909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조회 조건 입력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결과 목록을 필터링하기 위한 기본 검색 조건 입력 영역</a:t>
                      </a:r>
                      <a:endParaRPr b="0"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[구성] 항목직무: 채용 직무 기준 필터링면접코드: 특정 면접 회차 또는 공고 단위 조회현황: 예비 합격 / 불합격 / 최종 합격 등 상태 기준 필터기간: 면접 진행일 기준 기간 검색</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검색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조회 조건을 기준으로 면접 결과 목록 조회</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조건 미입력 시 전체 내역 조회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초기화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모든 조회 조건을 기본값으로 초기화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목록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 [주요 컬럼] 체크박스,지원자 사진 및 이름,지원 직무,면접 진행일,면접 결과, 관리영역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62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삭제</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데이터 삭제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삭제 전 최종 확인 팝업 안내 제공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평가 기능 버튼 평가 대기 목록을 활성화 결과가 나온 면접은 비활설화 취소 버튼 클릭 시 결과 평가대기 변경 후 평가 버튼 재활성화</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평가가 완료 후 재인입시 평가가 완료되었습니다 안내 팝업 출력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취소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평가가 완료된 데이터 초기화 평가 완료된 목록만 버튼 활성화 평가 전 비활성화</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전 인입 시 취소할 결과가 없다는 안내 팝업 출력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수정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기존 평가 결과 수정 기능 버튼</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클릭 시 결과 수정 팝업 화면(INT-05-1) 이동</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평가가 완료 된 경우만 활성화</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전 인입 시 수정할 결과가 없다는 안내 팝업 출력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0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통보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결과를 지원자에게 전달하는 기능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지원자 정보에 있는 연락처,이메일로 결과 전송</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최종 평가 전 인입 전송할 결과가 없다는 안내 팝업 출력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138" name="Google Shape;2138;p47"/>
          <p:cNvGraphicFramePr/>
          <p:nvPr/>
        </p:nvGraphicFramePr>
        <p:xfrm>
          <a:off x="181155" y="839068"/>
          <a:ext cx="3000000" cy="3000000"/>
        </p:xfrm>
        <a:graphic>
          <a:graphicData uri="http://schemas.openxmlformats.org/drawingml/2006/table">
            <a:tbl>
              <a:tblPr bandRow="1" firstRow="1">
                <a:noFill/>
                <a:tableStyleId>{C61F204E-A15B-47D6-BEBB-6A886D3283EB}</a:tableStyleId>
              </a:tblPr>
              <a:tblGrid>
                <a:gridCol w="748750"/>
                <a:gridCol w="603425"/>
                <a:gridCol w="679975"/>
                <a:gridCol w="883075"/>
                <a:gridCol w="653475"/>
                <a:gridCol w="4844000"/>
                <a:gridCol w="412150"/>
                <a:gridCol w="2950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INT-05</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결과 관리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 결과를 조회·평가·수정·통보까지 통합 관리할 수 있는 관리자용 면접 결과 운영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139" name="Google Shape;2139;p47"/>
          <p:cNvSpPr/>
          <p:nvPr/>
        </p:nvSpPr>
        <p:spPr>
          <a:xfrm>
            <a:off x="335381" y="1119675"/>
            <a:ext cx="8132343" cy="5410200"/>
          </a:xfrm>
          <a:prstGeom prst="rect">
            <a:avLst/>
          </a:prstGeom>
          <a:solidFill>
            <a:srgbClr val="D8D8D8"/>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140" name="Google Shape;2140;p47"/>
          <p:cNvPicPr preferRelativeResize="0"/>
          <p:nvPr/>
        </p:nvPicPr>
        <p:blipFill rotWithShape="1">
          <a:blip r:embed="rId3">
            <a:alphaModFix/>
          </a:blip>
          <a:srcRect b="0" l="0" r="0" t="0"/>
          <a:stretch/>
        </p:blipFill>
        <p:spPr>
          <a:xfrm>
            <a:off x="344823" y="1139448"/>
            <a:ext cx="1932170" cy="552827"/>
          </a:xfrm>
          <a:prstGeom prst="rect">
            <a:avLst/>
          </a:prstGeom>
          <a:noFill/>
          <a:ln>
            <a:noFill/>
          </a:ln>
        </p:spPr>
      </p:pic>
      <p:grpSp>
        <p:nvGrpSpPr>
          <p:cNvPr id="2141" name="Google Shape;2141;p47"/>
          <p:cNvGrpSpPr/>
          <p:nvPr/>
        </p:nvGrpSpPr>
        <p:grpSpPr>
          <a:xfrm>
            <a:off x="318669" y="1595887"/>
            <a:ext cx="2141093" cy="4938263"/>
            <a:chOff x="335382" y="1595886"/>
            <a:chExt cx="2141093" cy="4938263"/>
          </a:xfrm>
        </p:grpSpPr>
        <p:sp>
          <p:nvSpPr>
            <p:cNvPr id="2142" name="Google Shape;2142;p47"/>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43" name="Google Shape;2143;p47"/>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2144" name="Google Shape;2144;p47"/>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2145" name="Google Shape;2145;p47"/>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2146" name="Google Shape;2146;p47"/>
            <p:cNvGrpSpPr/>
            <p:nvPr/>
          </p:nvGrpSpPr>
          <p:grpSpPr>
            <a:xfrm>
              <a:off x="450266" y="2390557"/>
              <a:ext cx="1756549" cy="352030"/>
              <a:chOff x="450266" y="1209410"/>
              <a:chExt cx="1756549" cy="352030"/>
            </a:xfrm>
          </p:grpSpPr>
          <p:cxnSp>
            <p:nvCxnSpPr>
              <p:cNvPr id="2147" name="Google Shape;2147;p47"/>
              <p:cNvCxnSpPr/>
              <p:nvPr/>
            </p:nvCxnSpPr>
            <p:spPr>
              <a:xfrm>
                <a:off x="477692" y="1561440"/>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148" name="Google Shape;2148;p47"/>
              <p:cNvSpPr txBox="1"/>
              <p:nvPr/>
            </p:nvSpPr>
            <p:spPr>
              <a:xfrm>
                <a:off x="450266" y="1209410"/>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2149" name="Google Shape;2149;p47"/>
            <p:cNvGrpSpPr/>
            <p:nvPr/>
          </p:nvGrpSpPr>
          <p:grpSpPr>
            <a:xfrm>
              <a:off x="586240" y="2927871"/>
              <a:ext cx="1890235" cy="879955"/>
              <a:chOff x="387847" y="2881173"/>
              <a:chExt cx="2116652" cy="885768"/>
            </a:xfrm>
          </p:grpSpPr>
          <p:sp>
            <p:nvSpPr>
              <p:cNvPr id="2150" name="Google Shape;2150;p47"/>
              <p:cNvSpPr txBox="1"/>
              <p:nvPr/>
            </p:nvSpPr>
            <p:spPr>
              <a:xfrm>
                <a:off x="387847" y="2881173"/>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2151" name="Google Shape;2151;p47"/>
              <p:cNvCxnSpPr/>
              <p:nvPr/>
            </p:nvCxnSpPr>
            <p:spPr>
              <a:xfrm flipH="1" rot="10800000">
                <a:off x="627550" y="3762117"/>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2152" name="Google Shape;2152;p47"/>
            <p:cNvGrpSpPr/>
            <p:nvPr/>
          </p:nvGrpSpPr>
          <p:grpSpPr>
            <a:xfrm>
              <a:off x="437361" y="3993527"/>
              <a:ext cx="1756549" cy="350847"/>
              <a:chOff x="437361" y="1889881"/>
              <a:chExt cx="1756549" cy="350847"/>
            </a:xfrm>
          </p:grpSpPr>
          <p:cxnSp>
            <p:nvCxnSpPr>
              <p:cNvPr id="2153" name="Google Shape;2153;p47"/>
              <p:cNvCxnSpPr/>
              <p:nvPr/>
            </p:nvCxnSpPr>
            <p:spPr>
              <a:xfrm>
                <a:off x="518358" y="2240728"/>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154" name="Google Shape;2154;p47"/>
              <p:cNvSpPr txBox="1"/>
              <p:nvPr/>
            </p:nvSpPr>
            <p:spPr>
              <a:xfrm>
                <a:off x="437361" y="1889881"/>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cxnSp>
        <p:nvCxnSpPr>
          <p:cNvPr id="2155" name="Google Shape;2155;p47"/>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2156" name="Google Shape;2156;p47"/>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2157" name="Google Shape;2157;p47"/>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158" name="Google Shape;2158;p47"/>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2159" name="Google Shape;2159;p47"/>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결과 관리</a:t>
            </a:r>
            <a:endParaRPr b="1" sz="1800">
              <a:solidFill>
                <a:srgbClr val="7F7F7F"/>
              </a:solidFill>
              <a:latin typeface="Noto Sans KR"/>
              <a:ea typeface="Noto Sans KR"/>
              <a:cs typeface="Noto Sans KR"/>
              <a:sym typeface="Noto Sans KR"/>
            </a:endParaRPr>
          </a:p>
        </p:txBody>
      </p:sp>
      <p:cxnSp>
        <p:nvCxnSpPr>
          <p:cNvPr id="2160" name="Google Shape;2160;p47"/>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2161" name="Google Shape;2161;p47"/>
          <p:cNvGrpSpPr/>
          <p:nvPr/>
        </p:nvGrpSpPr>
        <p:grpSpPr>
          <a:xfrm>
            <a:off x="435703" y="6134926"/>
            <a:ext cx="1066433" cy="338554"/>
            <a:chOff x="417309" y="6108345"/>
            <a:chExt cx="1066433" cy="338554"/>
          </a:xfrm>
        </p:grpSpPr>
        <p:pic>
          <p:nvPicPr>
            <p:cNvPr id="2162" name="Google Shape;2162;p47"/>
            <p:cNvPicPr preferRelativeResize="0"/>
            <p:nvPr/>
          </p:nvPicPr>
          <p:blipFill rotWithShape="1">
            <a:blip r:embed="rId6">
              <a:alphaModFix/>
            </a:blip>
            <a:srcRect b="0" l="0" r="0" t="0"/>
            <a:stretch/>
          </p:blipFill>
          <p:spPr>
            <a:xfrm>
              <a:off x="417309" y="6148038"/>
              <a:ext cx="246925" cy="280330"/>
            </a:xfrm>
            <a:prstGeom prst="rect">
              <a:avLst/>
            </a:prstGeom>
            <a:noFill/>
            <a:ln>
              <a:noFill/>
            </a:ln>
          </p:spPr>
        </p:pic>
        <p:sp>
          <p:nvSpPr>
            <p:cNvPr id="2163" name="Google Shape;2163;p47"/>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2164" name="Google Shape;2164;p47"/>
          <p:cNvSpPr/>
          <p:nvPr/>
        </p:nvSpPr>
        <p:spPr>
          <a:xfrm>
            <a:off x="2344287" y="1694647"/>
            <a:ext cx="6049847" cy="753007"/>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grpSp>
        <p:nvGrpSpPr>
          <p:cNvPr id="2165" name="Google Shape;2165;p47"/>
          <p:cNvGrpSpPr/>
          <p:nvPr/>
        </p:nvGrpSpPr>
        <p:grpSpPr>
          <a:xfrm>
            <a:off x="2865232" y="2099262"/>
            <a:ext cx="2580899" cy="229403"/>
            <a:chOff x="3967360" y="3563578"/>
            <a:chExt cx="2580899" cy="308569"/>
          </a:xfrm>
        </p:grpSpPr>
        <p:sp>
          <p:nvSpPr>
            <p:cNvPr id="2166" name="Google Shape;2166;p47"/>
            <p:cNvSpPr/>
            <p:nvPr/>
          </p:nvSpPr>
          <p:spPr>
            <a:xfrm>
              <a:off x="3967360" y="3563578"/>
              <a:ext cx="2580899" cy="30856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yyyy-mm-dd ~ yyyy-mm-dd</a:t>
              </a:r>
              <a:endParaRPr sz="1200">
                <a:solidFill>
                  <a:srgbClr val="BFBFBF"/>
                </a:solidFill>
                <a:latin typeface="Noto Sans KR"/>
                <a:ea typeface="Noto Sans KR"/>
                <a:cs typeface="Noto Sans KR"/>
                <a:sym typeface="Noto Sans KR"/>
              </a:endParaRPr>
            </a:p>
          </p:txBody>
        </p:sp>
        <p:pic>
          <p:nvPicPr>
            <p:cNvPr id="2167" name="Google Shape;2167;p47"/>
            <p:cNvPicPr preferRelativeResize="0"/>
            <p:nvPr/>
          </p:nvPicPr>
          <p:blipFill rotWithShape="1">
            <a:blip r:embed="rId7">
              <a:alphaModFix/>
            </a:blip>
            <a:srcRect b="0" l="0" r="0" t="0"/>
            <a:stretch/>
          </p:blipFill>
          <p:spPr>
            <a:xfrm>
              <a:off x="6304049" y="3605956"/>
              <a:ext cx="173690" cy="232910"/>
            </a:xfrm>
            <a:prstGeom prst="rect">
              <a:avLst/>
            </a:prstGeom>
            <a:noFill/>
            <a:ln>
              <a:noFill/>
            </a:ln>
          </p:spPr>
        </p:pic>
      </p:grpSp>
      <p:sp>
        <p:nvSpPr>
          <p:cNvPr id="2168" name="Google Shape;2168;p47"/>
          <p:cNvSpPr/>
          <p:nvPr/>
        </p:nvSpPr>
        <p:spPr>
          <a:xfrm>
            <a:off x="2800564" y="1790056"/>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채용 직무           ∨     </a:t>
            </a:r>
            <a:endParaRPr sz="1200">
              <a:solidFill>
                <a:srgbClr val="BFBFBF"/>
              </a:solidFill>
              <a:latin typeface="Noto Sans KR"/>
              <a:ea typeface="Noto Sans KR"/>
              <a:cs typeface="Noto Sans KR"/>
              <a:sym typeface="Noto Sans KR"/>
            </a:endParaRPr>
          </a:p>
        </p:txBody>
      </p:sp>
      <p:sp>
        <p:nvSpPr>
          <p:cNvPr id="2169" name="Google Shape;2169;p47"/>
          <p:cNvSpPr/>
          <p:nvPr/>
        </p:nvSpPr>
        <p:spPr>
          <a:xfrm>
            <a:off x="6685963" y="1780121"/>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예비 합격</a:t>
            </a:r>
            <a:r>
              <a:rPr lang="ko-KR" sz="1200">
                <a:solidFill>
                  <a:srgbClr val="BFBFBF"/>
                </a:solidFill>
                <a:latin typeface="Noto Sans KR"/>
                <a:ea typeface="Noto Sans KR"/>
                <a:cs typeface="Noto Sans KR"/>
                <a:sym typeface="Noto Sans KR"/>
              </a:rPr>
              <a:t>          ∨</a:t>
            </a:r>
            <a:endParaRPr sz="1200">
              <a:solidFill>
                <a:srgbClr val="BFBFBF"/>
              </a:solidFill>
              <a:latin typeface="Noto Sans KR"/>
              <a:ea typeface="Noto Sans KR"/>
              <a:cs typeface="Noto Sans KR"/>
              <a:sym typeface="Noto Sans KR"/>
            </a:endParaRPr>
          </a:p>
        </p:txBody>
      </p:sp>
      <p:sp>
        <p:nvSpPr>
          <p:cNvPr id="2170" name="Google Shape;2170;p47"/>
          <p:cNvSpPr/>
          <p:nvPr/>
        </p:nvSpPr>
        <p:spPr>
          <a:xfrm>
            <a:off x="4807285" y="1779218"/>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AIE260210001   ∨</a:t>
            </a:r>
            <a:endParaRPr sz="1200">
              <a:solidFill>
                <a:srgbClr val="BFBFBF"/>
              </a:solidFill>
              <a:latin typeface="Noto Sans KR"/>
              <a:ea typeface="Noto Sans KR"/>
              <a:cs typeface="Noto Sans KR"/>
              <a:sym typeface="Noto Sans KR"/>
            </a:endParaRPr>
          </a:p>
        </p:txBody>
      </p:sp>
      <p:sp>
        <p:nvSpPr>
          <p:cNvPr id="2171" name="Google Shape;2171;p47"/>
          <p:cNvSpPr txBox="1"/>
          <p:nvPr/>
        </p:nvSpPr>
        <p:spPr>
          <a:xfrm>
            <a:off x="2423312" y="1777407"/>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a:t>
            </a:r>
            <a:endParaRPr sz="1000">
              <a:solidFill>
                <a:schemeClr val="dk1"/>
              </a:solidFill>
              <a:latin typeface="Noto Sans KR"/>
              <a:ea typeface="Noto Sans KR"/>
              <a:cs typeface="Noto Sans KR"/>
              <a:sym typeface="Noto Sans KR"/>
            </a:endParaRPr>
          </a:p>
        </p:txBody>
      </p:sp>
      <p:sp>
        <p:nvSpPr>
          <p:cNvPr id="2172" name="Google Shape;2172;p47"/>
          <p:cNvSpPr txBox="1"/>
          <p:nvPr/>
        </p:nvSpPr>
        <p:spPr>
          <a:xfrm>
            <a:off x="2423312" y="2110776"/>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기간</a:t>
            </a:r>
            <a:endParaRPr sz="1000">
              <a:solidFill>
                <a:schemeClr val="dk1"/>
              </a:solidFill>
              <a:latin typeface="Noto Sans KR"/>
              <a:ea typeface="Noto Sans KR"/>
              <a:cs typeface="Noto Sans KR"/>
              <a:sym typeface="Noto Sans KR"/>
            </a:endParaRPr>
          </a:p>
        </p:txBody>
      </p:sp>
      <p:sp>
        <p:nvSpPr>
          <p:cNvPr id="2173" name="Google Shape;2173;p47"/>
          <p:cNvSpPr txBox="1"/>
          <p:nvPr/>
        </p:nvSpPr>
        <p:spPr>
          <a:xfrm>
            <a:off x="4198365" y="1780741"/>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면접코드</a:t>
            </a:r>
            <a:endParaRPr sz="1000">
              <a:solidFill>
                <a:schemeClr val="dk1"/>
              </a:solidFill>
              <a:latin typeface="Noto Sans KR"/>
              <a:ea typeface="Noto Sans KR"/>
              <a:cs typeface="Noto Sans KR"/>
              <a:sym typeface="Noto Sans KR"/>
            </a:endParaRPr>
          </a:p>
        </p:txBody>
      </p:sp>
      <p:sp>
        <p:nvSpPr>
          <p:cNvPr id="2174" name="Google Shape;2174;p47"/>
          <p:cNvSpPr txBox="1"/>
          <p:nvPr/>
        </p:nvSpPr>
        <p:spPr>
          <a:xfrm>
            <a:off x="6267492" y="1771163"/>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현황</a:t>
            </a:r>
            <a:endParaRPr sz="1000">
              <a:solidFill>
                <a:schemeClr val="dk1"/>
              </a:solidFill>
              <a:latin typeface="Noto Sans KR"/>
              <a:ea typeface="Noto Sans KR"/>
              <a:cs typeface="Noto Sans KR"/>
              <a:sym typeface="Noto Sans KR"/>
            </a:endParaRPr>
          </a:p>
        </p:txBody>
      </p:sp>
      <p:sp>
        <p:nvSpPr>
          <p:cNvPr id="2175" name="Google Shape;2175;p47"/>
          <p:cNvSpPr/>
          <p:nvPr/>
        </p:nvSpPr>
        <p:spPr>
          <a:xfrm>
            <a:off x="6585879" y="2098095"/>
            <a:ext cx="540715" cy="230597"/>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검색</a:t>
            </a:r>
            <a:endParaRPr sz="1100">
              <a:solidFill>
                <a:schemeClr val="lt1"/>
              </a:solidFill>
              <a:latin typeface="Noto Sans KR"/>
              <a:ea typeface="Noto Sans KR"/>
              <a:cs typeface="Noto Sans KR"/>
              <a:sym typeface="Noto Sans KR"/>
            </a:endParaRPr>
          </a:p>
        </p:txBody>
      </p:sp>
      <p:sp>
        <p:nvSpPr>
          <p:cNvPr id="2176" name="Google Shape;2176;p47"/>
          <p:cNvSpPr/>
          <p:nvPr/>
        </p:nvSpPr>
        <p:spPr>
          <a:xfrm>
            <a:off x="7353675" y="2087342"/>
            <a:ext cx="623180"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초기화</a:t>
            </a:r>
            <a:endParaRPr sz="1100">
              <a:solidFill>
                <a:schemeClr val="dk1"/>
              </a:solidFill>
              <a:latin typeface="Noto Sans KR"/>
              <a:ea typeface="Noto Sans KR"/>
              <a:cs typeface="Noto Sans KR"/>
              <a:sym typeface="Noto Sans KR"/>
            </a:endParaRPr>
          </a:p>
        </p:txBody>
      </p:sp>
      <p:sp>
        <p:nvSpPr>
          <p:cNvPr id="2177" name="Google Shape;2177;p47"/>
          <p:cNvSpPr/>
          <p:nvPr/>
        </p:nvSpPr>
        <p:spPr>
          <a:xfrm>
            <a:off x="2360894" y="2572834"/>
            <a:ext cx="6049847" cy="3070583"/>
          </a:xfrm>
          <a:prstGeom prst="roundRect">
            <a:avLst>
              <a:gd fmla="val 3113"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sp>
        <p:nvSpPr>
          <p:cNvPr id="2178" name="Google Shape;2178;p47"/>
          <p:cNvSpPr/>
          <p:nvPr/>
        </p:nvSpPr>
        <p:spPr>
          <a:xfrm>
            <a:off x="2360654" y="2914028"/>
            <a:ext cx="6049849" cy="249205"/>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79" name="Google Shape;2179;p47"/>
          <p:cNvSpPr txBox="1"/>
          <p:nvPr/>
        </p:nvSpPr>
        <p:spPr>
          <a:xfrm>
            <a:off x="2376196" y="2609966"/>
            <a:ext cx="742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목록  </a:t>
            </a:r>
            <a:r>
              <a:rPr lang="ko-KR" sz="1400">
                <a:solidFill>
                  <a:srgbClr val="BFBFBF"/>
                </a:solidFill>
                <a:latin typeface="Noto Sans KR"/>
                <a:ea typeface="Noto Sans KR"/>
                <a:cs typeface="Noto Sans KR"/>
                <a:sym typeface="Noto Sans KR"/>
              </a:rPr>
              <a:t>|</a:t>
            </a:r>
            <a:endParaRPr sz="1400">
              <a:solidFill>
                <a:srgbClr val="BFBFBF"/>
              </a:solidFill>
              <a:latin typeface="Noto Sans KR"/>
              <a:ea typeface="Noto Sans KR"/>
              <a:cs typeface="Noto Sans KR"/>
              <a:sym typeface="Noto Sans KR"/>
            </a:endParaRPr>
          </a:p>
        </p:txBody>
      </p:sp>
      <p:sp>
        <p:nvSpPr>
          <p:cNvPr id="2180" name="Google Shape;2180;p47"/>
          <p:cNvSpPr/>
          <p:nvPr/>
        </p:nvSpPr>
        <p:spPr>
          <a:xfrm>
            <a:off x="2438188" y="2982656"/>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81" name="Google Shape;2181;p47"/>
          <p:cNvSpPr txBox="1"/>
          <p:nvPr/>
        </p:nvSpPr>
        <p:spPr>
          <a:xfrm>
            <a:off x="2653677" y="2916674"/>
            <a:ext cx="7515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지원자 </a:t>
            </a:r>
            <a:endParaRPr sz="1100">
              <a:solidFill>
                <a:schemeClr val="dk1"/>
              </a:solidFill>
              <a:latin typeface="Noto Sans KR"/>
              <a:ea typeface="Noto Sans KR"/>
              <a:cs typeface="Noto Sans KR"/>
              <a:sym typeface="Noto Sans KR"/>
            </a:endParaRPr>
          </a:p>
        </p:txBody>
      </p:sp>
      <p:sp>
        <p:nvSpPr>
          <p:cNvPr id="2182" name="Google Shape;2182;p47"/>
          <p:cNvSpPr txBox="1"/>
          <p:nvPr/>
        </p:nvSpPr>
        <p:spPr>
          <a:xfrm>
            <a:off x="3566159" y="2912209"/>
            <a:ext cx="5035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2183" name="Google Shape;2183;p47"/>
          <p:cNvSpPr txBox="1"/>
          <p:nvPr/>
        </p:nvSpPr>
        <p:spPr>
          <a:xfrm>
            <a:off x="4351786" y="2916674"/>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면접일</a:t>
            </a:r>
            <a:endParaRPr sz="1100">
              <a:solidFill>
                <a:schemeClr val="dk1"/>
              </a:solidFill>
              <a:latin typeface="Noto Sans KR"/>
              <a:ea typeface="Noto Sans KR"/>
              <a:cs typeface="Noto Sans KR"/>
              <a:sym typeface="Noto Sans KR"/>
            </a:endParaRPr>
          </a:p>
        </p:txBody>
      </p:sp>
      <p:sp>
        <p:nvSpPr>
          <p:cNvPr id="2184" name="Google Shape;2184;p47"/>
          <p:cNvSpPr txBox="1"/>
          <p:nvPr/>
        </p:nvSpPr>
        <p:spPr>
          <a:xfrm>
            <a:off x="7141220" y="2911375"/>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관리</a:t>
            </a:r>
            <a:endParaRPr sz="1100">
              <a:solidFill>
                <a:schemeClr val="dk1"/>
              </a:solidFill>
              <a:latin typeface="Noto Sans KR"/>
              <a:ea typeface="Noto Sans KR"/>
              <a:cs typeface="Noto Sans KR"/>
              <a:sym typeface="Noto Sans KR"/>
            </a:endParaRPr>
          </a:p>
        </p:txBody>
      </p:sp>
      <p:cxnSp>
        <p:nvCxnSpPr>
          <p:cNvPr id="2185" name="Google Shape;2185;p47"/>
          <p:cNvCxnSpPr/>
          <p:nvPr/>
        </p:nvCxnSpPr>
        <p:spPr>
          <a:xfrm>
            <a:off x="2356006" y="3571758"/>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186" name="Google Shape;2186;p47"/>
          <p:cNvCxnSpPr/>
          <p:nvPr/>
        </p:nvCxnSpPr>
        <p:spPr>
          <a:xfrm>
            <a:off x="2363387" y="3979719"/>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187" name="Google Shape;2187;p47"/>
          <p:cNvCxnSpPr/>
          <p:nvPr/>
        </p:nvCxnSpPr>
        <p:spPr>
          <a:xfrm>
            <a:off x="2363387" y="4385088"/>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188" name="Google Shape;2188;p47"/>
          <p:cNvSpPr/>
          <p:nvPr/>
        </p:nvSpPr>
        <p:spPr>
          <a:xfrm>
            <a:off x="2426863" y="3317213"/>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89" name="Google Shape;2189;p47"/>
          <p:cNvSpPr/>
          <p:nvPr/>
        </p:nvSpPr>
        <p:spPr>
          <a:xfrm>
            <a:off x="2426863" y="3744235"/>
            <a:ext cx="108000" cy="108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190" name="Google Shape;2190;p47"/>
          <p:cNvSpPr txBox="1"/>
          <p:nvPr/>
        </p:nvSpPr>
        <p:spPr>
          <a:xfrm>
            <a:off x="3365684" y="3236345"/>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Engineer</a:t>
            </a:r>
            <a:endParaRPr sz="1100">
              <a:solidFill>
                <a:schemeClr val="dk1"/>
              </a:solidFill>
              <a:latin typeface="Noto Sans KR"/>
              <a:ea typeface="Noto Sans KR"/>
              <a:cs typeface="Noto Sans KR"/>
              <a:sym typeface="Noto Sans KR"/>
            </a:endParaRPr>
          </a:p>
        </p:txBody>
      </p:sp>
      <p:sp>
        <p:nvSpPr>
          <p:cNvPr id="2191" name="Google Shape;2191;p47"/>
          <p:cNvSpPr txBox="1"/>
          <p:nvPr/>
        </p:nvSpPr>
        <p:spPr>
          <a:xfrm>
            <a:off x="4225548" y="3220639"/>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2026.02.10 </a:t>
            </a:r>
            <a:endParaRPr sz="1100">
              <a:solidFill>
                <a:schemeClr val="dk1"/>
              </a:solidFill>
              <a:latin typeface="Noto Sans KR"/>
              <a:ea typeface="Noto Sans KR"/>
              <a:cs typeface="Noto Sans KR"/>
              <a:sym typeface="Noto Sans KR"/>
            </a:endParaRPr>
          </a:p>
        </p:txBody>
      </p:sp>
      <p:sp>
        <p:nvSpPr>
          <p:cNvPr id="2192" name="Google Shape;2192;p47"/>
          <p:cNvSpPr txBox="1"/>
          <p:nvPr/>
        </p:nvSpPr>
        <p:spPr>
          <a:xfrm>
            <a:off x="3263499" y="3645811"/>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2193" name="Google Shape;2193;p47"/>
          <p:cNvSpPr txBox="1"/>
          <p:nvPr/>
        </p:nvSpPr>
        <p:spPr>
          <a:xfrm>
            <a:off x="3312945" y="4073388"/>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194" name="Google Shape;2194;p47"/>
          <p:cNvSpPr txBox="1"/>
          <p:nvPr/>
        </p:nvSpPr>
        <p:spPr>
          <a:xfrm>
            <a:off x="4228675" y="4044854"/>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a:t>
            </a:r>
            <a:endParaRPr sz="1100">
              <a:solidFill>
                <a:schemeClr val="dk1"/>
              </a:solidFill>
              <a:latin typeface="Noto Sans KR"/>
              <a:ea typeface="Noto Sans KR"/>
              <a:cs typeface="Noto Sans KR"/>
              <a:sym typeface="Noto Sans KR"/>
            </a:endParaRPr>
          </a:p>
        </p:txBody>
      </p:sp>
      <p:sp>
        <p:nvSpPr>
          <p:cNvPr id="2195" name="Google Shape;2195;p47"/>
          <p:cNvSpPr txBox="1"/>
          <p:nvPr/>
        </p:nvSpPr>
        <p:spPr>
          <a:xfrm>
            <a:off x="5104230" y="5220125"/>
            <a:ext cx="5626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u="sng">
                <a:solidFill>
                  <a:schemeClr val="dk1"/>
                </a:solidFill>
                <a:latin typeface="Noto Sans KR"/>
                <a:ea typeface="Noto Sans KR"/>
                <a:cs typeface="Noto Sans KR"/>
                <a:sym typeface="Noto Sans KR"/>
              </a:rPr>
              <a:t>1</a:t>
            </a:r>
            <a:endParaRPr sz="1200" u="sng">
              <a:solidFill>
                <a:schemeClr val="dk1"/>
              </a:solidFill>
              <a:latin typeface="Noto Sans KR"/>
              <a:ea typeface="Noto Sans KR"/>
              <a:cs typeface="Noto Sans KR"/>
              <a:sym typeface="Noto Sans KR"/>
            </a:endParaRPr>
          </a:p>
        </p:txBody>
      </p:sp>
      <p:sp>
        <p:nvSpPr>
          <p:cNvPr id="2196" name="Google Shape;2196;p47"/>
          <p:cNvSpPr/>
          <p:nvPr/>
        </p:nvSpPr>
        <p:spPr>
          <a:xfrm>
            <a:off x="7269612" y="2665810"/>
            <a:ext cx="1041732" cy="20926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rPr lang="ko-KR" sz="1050">
                <a:solidFill>
                  <a:srgbClr val="7F7F7F"/>
                </a:solidFill>
                <a:latin typeface="Noto Sans KR"/>
                <a:ea typeface="Noto Sans KR"/>
                <a:cs typeface="Noto Sans KR"/>
                <a:sym typeface="Noto Sans KR"/>
              </a:rPr>
              <a:t>10개씩 보기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sp>
        <p:nvSpPr>
          <p:cNvPr id="2197" name="Google Shape;2197;p47"/>
          <p:cNvSpPr/>
          <p:nvPr/>
        </p:nvSpPr>
        <p:spPr>
          <a:xfrm>
            <a:off x="6063107" y="2661146"/>
            <a:ext cx="1097860" cy="20832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최신순</a:t>
            </a:r>
            <a:r>
              <a:rPr lang="ko-KR" sz="1050">
                <a:solidFill>
                  <a:srgbClr val="BFBFBF"/>
                </a:solidFill>
                <a:latin typeface="Noto Sans KR"/>
                <a:ea typeface="Noto Sans KR"/>
                <a:cs typeface="Noto Sans KR"/>
                <a:sym typeface="Noto Sans KR"/>
              </a:rPr>
              <a:t>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grpSp>
        <p:nvGrpSpPr>
          <p:cNvPr id="2198" name="Google Shape;2198;p47"/>
          <p:cNvGrpSpPr/>
          <p:nvPr/>
        </p:nvGrpSpPr>
        <p:grpSpPr>
          <a:xfrm>
            <a:off x="6100086" y="5220125"/>
            <a:ext cx="1463975" cy="276999"/>
            <a:chOff x="5375612" y="5305565"/>
            <a:chExt cx="1463975" cy="276999"/>
          </a:xfrm>
        </p:grpSpPr>
        <p:sp>
          <p:nvSpPr>
            <p:cNvPr id="2199" name="Google Shape;2199;p47"/>
            <p:cNvSpPr/>
            <p:nvPr/>
          </p:nvSpPr>
          <p:spPr>
            <a:xfrm>
              <a:off x="5418217" y="5358005"/>
              <a:ext cx="180000" cy="180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200" name="Google Shape;2200;p47"/>
            <p:cNvSpPr txBox="1"/>
            <p:nvPr/>
          </p:nvSpPr>
          <p:spPr>
            <a:xfrm>
              <a:off x="5375612" y="5305565"/>
              <a:ext cx="14639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1</a:t>
              </a:r>
              <a:r>
                <a:rPr lang="ko-KR" sz="1200">
                  <a:solidFill>
                    <a:schemeClr val="dk1"/>
                  </a:solidFill>
                  <a:latin typeface="Noto Sans KR"/>
                  <a:ea typeface="Noto Sans KR"/>
                  <a:cs typeface="Noto Sans KR"/>
                  <a:sym typeface="Noto Sans KR"/>
                </a:rPr>
                <a:t>    2    3    4    5    &gt;</a:t>
              </a:r>
              <a:endParaRPr sz="1200">
                <a:solidFill>
                  <a:schemeClr val="dk1"/>
                </a:solidFill>
                <a:latin typeface="Noto Sans KR"/>
                <a:ea typeface="Noto Sans KR"/>
                <a:cs typeface="Noto Sans KR"/>
                <a:sym typeface="Noto Sans KR"/>
              </a:endParaRPr>
            </a:p>
          </p:txBody>
        </p:sp>
      </p:grpSp>
      <p:sp>
        <p:nvSpPr>
          <p:cNvPr id="2201" name="Google Shape;2201;p47"/>
          <p:cNvSpPr txBox="1"/>
          <p:nvPr/>
        </p:nvSpPr>
        <p:spPr>
          <a:xfrm>
            <a:off x="5595477" y="5220125"/>
            <a:ext cx="62977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pages</a:t>
            </a:r>
            <a:endParaRPr sz="1100">
              <a:solidFill>
                <a:srgbClr val="7F7F7F"/>
              </a:solidFill>
              <a:latin typeface="Noto Sans KR"/>
              <a:ea typeface="Noto Sans KR"/>
              <a:cs typeface="Noto Sans KR"/>
              <a:sym typeface="Noto Sans KR"/>
            </a:endParaRPr>
          </a:p>
        </p:txBody>
      </p:sp>
      <p:sp>
        <p:nvSpPr>
          <p:cNvPr id="2202" name="Google Shape;2202;p47"/>
          <p:cNvSpPr/>
          <p:nvPr/>
        </p:nvSpPr>
        <p:spPr>
          <a:xfrm>
            <a:off x="2191435" y="109745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203" name="Google Shape;2203;p47"/>
          <p:cNvSpPr/>
          <p:nvPr/>
        </p:nvSpPr>
        <p:spPr>
          <a:xfrm>
            <a:off x="2231654" y="162947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204" name="Google Shape;2204;p47"/>
          <p:cNvSpPr/>
          <p:nvPr/>
        </p:nvSpPr>
        <p:spPr>
          <a:xfrm>
            <a:off x="6376057" y="20236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205" name="Google Shape;2205;p47"/>
          <p:cNvSpPr/>
          <p:nvPr/>
        </p:nvSpPr>
        <p:spPr>
          <a:xfrm>
            <a:off x="7137062" y="202416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206" name="Google Shape;2206;p47"/>
          <p:cNvSpPr txBox="1"/>
          <p:nvPr/>
        </p:nvSpPr>
        <p:spPr>
          <a:xfrm>
            <a:off x="417659" y="203133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공고 관리                ∨                 </a:t>
            </a:r>
            <a:endParaRPr sz="1400">
              <a:solidFill>
                <a:srgbClr val="BFBFBF"/>
              </a:solidFill>
              <a:latin typeface="Noto Sans KR"/>
              <a:ea typeface="Noto Sans KR"/>
              <a:cs typeface="Noto Sans KR"/>
              <a:sym typeface="Noto Sans KR"/>
            </a:endParaRPr>
          </a:p>
        </p:txBody>
      </p:sp>
      <p:sp>
        <p:nvSpPr>
          <p:cNvPr id="2207" name="Google Shape;2207;p47"/>
          <p:cNvSpPr/>
          <p:nvPr/>
        </p:nvSpPr>
        <p:spPr>
          <a:xfrm>
            <a:off x="1140389" y="3191265"/>
            <a:ext cx="866567"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결과 관리</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a:p>
        </p:txBody>
      </p:sp>
      <p:cxnSp>
        <p:nvCxnSpPr>
          <p:cNvPr id="2208" name="Google Shape;2208;p47"/>
          <p:cNvCxnSpPr/>
          <p:nvPr/>
        </p:nvCxnSpPr>
        <p:spPr>
          <a:xfrm flipH="1" rot="10800000">
            <a:off x="774609" y="3502016"/>
            <a:ext cx="1249226" cy="4792"/>
          </a:xfrm>
          <a:prstGeom prst="straightConnector1">
            <a:avLst/>
          </a:prstGeom>
          <a:noFill/>
          <a:ln cap="flat" cmpd="sng" w="9525">
            <a:solidFill>
              <a:srgbClr val="BFBFBF"/>
            </a:solidFill>
            <a:prstDash val="solid"/>
            <a:miter lim="8000"/>
            <a:headEnd len="sm" w="sm" type="none"/>
            <a:tailEnd len="sm" w="sm" type="none"/>
          </a:ln>
        </p:spPr>
      </p:cxnSp>
      <p:sp>
        <p:nvSpPr>
          <p:cNvPr id="2209" name="Google Shape;2209;p47"/>
          <p:cNvSpPr/>
          <p:nvPr/>
        </p:nvSpPr>
        <p:spPr>
          <a:xfrm>
            <a:off x="1252068" y="3533300"/>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결과 분석</a:t>
            </a:r>
            <a:endParaRPr sz="1200">
              <a:solidFill>
                <a:srgbClr val="BFBFBF"/>
              </a:solidFill>
              <a:latin typeface="Noto Sans KR"/>
              <a:ea typeface="Noto Sans KR"/>
              <a:cs typeface="Noto Sans KR"/>
              <a:sym typeface="Noto Sans KR"/>
            </a:endParaRPr>
          </a:p>
        </p:txBody>
      </p:sp>
      <p:sp>
        <p:nvSpPr>
          <p:cNvPr id="2210" name="Google Shape;2210;p47"/>
          <p:cNvSpPr txBox="1"/>
          <p:nvPr/>
        </p:nvSpPr>
        <p:spPr>
          <a:xfrm>
            <a:off x="5279863" y="2900490"/>
            <a:ext cx="55996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결과</a:t>
            </a:r>
            <a:endParaRPr sz="1100">
              <a:solidFill>
                <a:schemeClr val="dk1"/>
              </a:solidFill>
              <a:latin typeface="Noto Sans KR"/>
              <a:ea typeface="Noto Sans KR"/>
              <a:cs typeface="Noto Sans KR"/>
              <a:sym typeface="Noto Sans KR"/>
            </a:endParaRPr>
          </a:p>
        </p:txBody>
      </p:sp>
      <p:pic>
        <p:nvPicPr>
          <p:cNvPr id="2211" name="Google Shape;2211;p47"/>
          <p:cNvPicPr preferRelativeResize="0"/>
          <p:nvPr/>
        </p:nvPicPr>
        <p:blipFill rotWithShape="1">
          <a:blip r:embed="rId8">
            <a:alphaModFix/>
          </a:blip>
          <a:srcRect b="24094" l="23190" r="56900" t="55938"/>
          <a:stretch/>
        </p:blipFill>
        <p:spPr>
          <a:xfrm>
            <a:off x="2626067" y="3273893"/>
            <a:ext cx="252000" cy="235412"/>
          </a:xfrm>
          <a:prstGeom prst="ellipse">
            <a:avLst/>
          </a:prstGeom>
          <a:noFill/>
          <a:ln>
            <a:noFill/>
          </a:ln>
          <a:effectLst>
            <a:outerShdw blurRad="381000" sx="-80000" rotWithShape="0" dir="5400000" dist="292100" sy="-18000">
              <a:srgbClr val="000000">
                <a:alpha val="21961"/>
              </a:srgbClr>
            </a:outerShdw>
          </a:effectLst>
        </p:spPr>
      </p:pic>
      <p:sp>
        <p:nvSpPr>
          <p:cNvPr id="2212" name="Google Shape;2212;p47"/>
          <p:cNvSpPr txBox="1"/>
          <p:nvPr/>
        </p:nvSpPr>
        <p:spPr>
          <a:xfrm>
            <a:off x="2848326" y="325623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pic>
        <p:nvPicPr>
          <p:cNvPr id="2213" name="Google Shape;2213;p47"/>
          <p:cNvPicPr preferRelativeResize="0"/>
          <p:nvPr/>
        </p:nvPicPr>
        <p:blipFill rotWithShape="1">
          <a:blip r:embed="rId9">
            <a:alphaModFix/>
          </a:blip>
          <a:srcRect b="54220" l="55521" r="19604" t="22941"/>
          <a:stretch/>
        </p:blipFill>
        <p:spPr>
          <a:xfrm>
            <a:off x="2617848" y="3652616"/>
            <a:ext cx="274469" cy="252000"/>
          </a:xfrm>
          <a:prstGeom prst="ellipse">
            <a:avLst/>
          </a:prstGeom>
          <a:noFill/>
          <a:ln cap="flat" cmpd="sng" w="9525">
            <a:solidFill>
              <a:srgbClr val="D8D8D8"/>
            </a:solidFill>
            <a:prstDash val="solid"/>
            <a:round/>
            <a:headEnd len="sm" w="sm" type="none"/>
            <a:tailEnd len="sm" w="sm" type="none"/>
          </a:ln>
        </p:spPr>
      </p:pic>
      <p:sp>
        <p:nvSpPr>
          <p:cNvPr id="2214" name="Google Shape;2214;p47"/>
          <p:cNvSpPr txBox="1"/>
          <p:nvPr/>
        </p:nvSpPr>
        <p:spPr>
          <a:xfrm>
            <a:off x="2857012" y="3650047"/>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215" name="Google Shape;2215;p47"/>
          <p:cNvSpPr txBox="1"/>
          <p:nvPr/>
        </p:nvSpPr>
        <p:spPr>
          <a:xfrm>
            <a:off x="4256234" y="3645118"/>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2026.02.09 </a:t>
            </a:r>
            <a:endParaRPr sz="1100">
              <a:solidFill>
                <a:schemeClr val="dk1"/>
              </a:solidFill>
              <a:latin typeface="Noto Sans KR"/>
              <a:ea typeface="Noto Sans KR"/>
              <a:cs typeface="Noto Sans KR"/>
              <a:sym typeface="Noto Sans KR"/>
            </a:endParaRPr>
          </a:p>
        </p:txBody>
      </p:sp>
      <p:pic>
        <p:nvPicPr>
          <p:cNvPr id="2216" name="Google Shape;2216;p47"/>
          <p:cNvPicPr preferRelativeResize="0"/>
          <p:nvPr/>
        </p:nvPicPr>
        <p:blipFill rotWithShape="1">
          <a:blip r:embed="rId10">
            <a:alphaModFix/>
          </a:blip>
          <a:srcRect b="57058" l="20140" r="54458" t="22041"/>
          <a:stretch/>
        </p:blipFill>
        <p:spPr>
          <a:xfrm>
            <a:off x="2607908" y="4057414"/>
            <a:ext cx="306263" cy="252000"/>
          </a:xfrm>
          <a:prstGeom prst="ellipse">
            <a:avLst/>
          </a:prstGeom>
          <a:noFill/>
          <a:ln>
            <a:noFill/>
          </a:ln>
        </p:spPr>
      </p:pic>
      <p:sp>
        <p:nvSpPr>
          <p:cNvPr id="2217" name="Google Shape;2217;p47"/>
          <p:cNvSpPr txBox="1"/>
          <p:nvPr/>
        </p:nvSpPr>
        <p:spPr>
          <a:xfrm>
            <a:off x="2853179" y="406350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218" name="Google Shape;2218;p47"/>
          <p:cNvSpPr/>
          <p:nvPr/>
        </p:nvSpPr>
        <p:spPr>
          <a:xfrm>
            <a:off x="2996379" y="2628511"/>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삭제</a:t>
            </a:r>
            <a:endParaRPr sz="1000">
              <a:solidFill>
                <a:schemeClr val="dk1"/>
              </a:solidFill>
              <a:latin typeface="Noto Sans KR"/>
              <a:ea typeface="Noto Sans KR"/>
              <a:cs typeface="Noto Sans KR"/>
              <a:sym typeface="Noto Sans KR"/>
            </a:endParaRPr>
          </a:p>
        </p:txBody>
      </p:sp>
      <p:sp>
        <p:nvSpPr>
          <p:cNvPr id="2219" name="Google Shape;2219;p47"/>
          <p:cNvSpPr/>
          <p:nvPr/>
        </p:nvSpPr>
        <p:spPr>
          <a:xfrm>
            <a:off x="6006288" y="3257222"/>
            <a:ext cx="464732" cy="219856"/>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220" name="Google Shape;2220;p47"/>
          <p:cNvSpPr/>
          <p:nvPr/>
        </p:nvSpPr>
        <p:spPr>
          <a:xfrm>
            <a:off x="2229042" y="247032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221" name="Google Shape;2221;p47"/>
          <p:cNvSpPr/>
          <p:nvPr/>
        </p:nvSpPr>
        <p:spPr>
          <a:xfrm>
            <a:off x="2842980" y="248205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222" name="Google Shape;2222;p47"/>
          <p:cNvSpPr/>
          <p:nvPr/>
        </p:nvSpPr>
        <p:spPr>
          <a:xfrm>
            <a:off x="6501580" y="3259094"/>
            <a:ext cx="464732" cy="219856"/>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223" name="Google Shape;2223;p47"/>
          <p:cNvSpPr/>
          <p:nvPr/>
        </p:nvSpPr>
        <p:spPr>
          <a:xfrm>
            <a:off x="5940923" y="305976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224" name="Google Shape;2224;p47"/>
          <p:cNvSpPr/>
          <p:nvPr/>
        </p:nvSpPr>
        <p:spPr>
          <a:xfrm>
            <a:off x="6417699" y="304747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2225" name="Google Shape;2225;p47"/>
          <p:cNvSpPr/>
          <p:nvPr/>
        </p:nvSpPr>
        <p:spPr>
          <a:xfrm>
            <a:off x="5146381" y="3674498"/>
            <a:ext cx="777782" cy="190350"/>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예비 합격</a:t>
            </a:r>
            <a:endParaRPr sz="1000">
              <a:solidFill>
                <a:schemeClr val="lt1"/>
              </a:solidFill>
              <a:latin typeface="Noto Sans KR"/>
              <a:ea typeface="Noto Sans KR"/>
              <a:cs typeface="Noto Sans KR"/>
              <a:sym typeface="Noto Sans KR"/>
            </a:endParaRPr>
          </a:p>
        </p:txBody>
      </p:sp>
      <p:sp>
        <p:nvSpPr>
          <p:cNvPr id="2226" name="Google Shape;2226;p47"/>
          <p:cNvSpPr/>
          <p:nvPr/>
        </p:nvSpPr>
        <p:spPr>
          <a:xfrm>
            <a:off x="5147265" y="4091621"/>
            <a:ext cx="777782" cy="190350"/>
          </a:xfrm>
          <a:prstGeom prst="roundRect">
            <a:avLst>
              <a:gd fmla="val 16667" name="adj"/>
            </a:avLst>
          </a:prstGeom>
          <a:solidFill>
            <a:srgbClr val="C00000"/>
          </a:solidFill>
          <a:ln cap="flat" cmpd="sng" w="127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불합격</a:t>
            </a:r>
            <a:endParaRPr sz="1000">
              <a:solidFill>
                <a:schemeClr val="lt1"/>
              </a:solidFill>
              <a:latin typeface="Noto Sans KR"/>
              <a:ea typeface="Noto Sans KR"/>
              <a:cs typeface="Noto Sans KR"/>
              <a:sym typeface="Noto Sans KR"/>
            </a:endParaRPr>
          </a:p>
        </p:txBody>
      </p:sp>
      <p:sp>
        <p:nvSpPr>
          <p:cNvPr id="2227" name="Google Shape;2227;p47"/>
          <p:cNvSpPr/>
          <p:nvPr/>
        </p:nvSpPr>
        <p:spPr>
          <a:xfrm>
            <a:off x="5132581" y="3254808"/>
            <a:ext cx="777782" cy="190350"/>
          </a:xfrm>
          <a:prstGeom prst="roundRect">
            <a:avLst>
              <a:gd fmla="val 16667" name="adj"/>
            </a:avLst>
          </a:prstGeom>
          <a:solidFill>
            <a:srgbClr val="7F7F7F"/>
          </a:solidFill>
          <a:ln cap="flat" cmpd="sng" w="12700">
            <a:solidFill>
              <a:srgbClr val="7F7F7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 대기</a:t>
            </a:r>
            <a:endParaRPr sz="1000">
              <a:solidFill>
                <a:schemeClr val="lt1"/>
              </a:solidFill>
              <a:latin typeface="Noto Sans KR"/>
              <a:ea typeface="Noto Sans KR"/>
              <a:cs typeface="Noto Sans KR"/>
              <a:sym typeface="Noto Sans KR"/>
            </a:endParaRPr>
          </a:p>
        </p:txBody>
      </p:sp>
      <p:sp>
        <p:nvSpPr>
          <p:cNvPr id="2228" name="Google Shape;2228;p47"/>
          <p:cNvSpPr/>
          <p:nvPr/>
        </p:nvSpPr>
        <p:spPr>
          <a:xfrm>
            <a:off x="501645" y="2790911"/>
            <a:ext cx="1602314"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면접 결과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cxnSp>
        <p:nvCxnSpPr>
          <p:cNvPr id="2229" name="Google Shape;2229;p47"/>
          <p:cNvCxnSpPr/>
          <p:nvPr/>
        </p:nvCxnSpPr>
        <p:spPr>
          <a:xfrm>
            <a:off x="485432" y="3134298"/>
            <a:ext cx="1618527" cy="0"/>
          </a:xfrm>
          <a:prstGeom prst="straightConnector1">
            <a:avLst/>
          </a:prstGeom>
          <a:noFill/>
          <a:ln cap="flat" cmpd="sng" w="9525">
            <a:solidFill>
              <a:srgbClr val="BFBFBF"/>
            </a:solidFill>
            <a:prstDash val="solid"/>
            <a:miter lim="8000"/>
            <a:headEnd len="sm" w="sm" type="none"/>
            <a:tailEnd len="sm" w="sm" type="none"/>
          </a:ln>
        </p:spPr>
      </p:cxnSp>
      <p:cxnSp>
        <p:nvCxnSpPr>
          <p:cNvPr id="2230" name="Google Shape;2230;p47"/>
          <p:cNvCxnSpPr/>
          <p:nvPr/>
        </p:nvCxnSpPr>
        <p:spPr>
          <a:xfrm>
            <a:off x="2368267" y="4787281"/>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231" name="Google Shape;2231;p47"/>
          <p:cNvSpPr/>
          <p:nvPr/>
        </p:nvSpPr>
        <p:spPr>
          <a:xfrm>
            <a:off x="2429936" y="452592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232" name="Google Shape;2232;p47"/>
          <p:cNvSpPr txBox="1"/>
          <p:nvPr/>
        </p:nvSpPr>
        <p:spPr>
          <a:xfrm>
            <a:off x="3326866" y="4465345"/>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233" name="Google Shape;2233;p47"/>
          <p:cNvSpPr txBox="1"/>
          <p:nvPr/>
        </p:nvSpPr>
        <p:spPr>
          <a:xfrm>
            <a:off x="4210082" y="4448995"/>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a:t>
            </a:r>
            <a:endParaRPr sz="1100">
              <a:solidFill>
                <a:schemeClr val="dk1"/>
              </a:solidFill>
              <a:latin typeface="Noto Sans KR"/>
              <a:ea typeface="Noto Sans KR"/>
              <a:cs typeface="Noto Sans KR"/>
              <a:sym typeface="Noto Sans KR"/>
            </a:endParaRPr>
          </a:p>
        </p:txBody>
      </p:sp>
      <p:pic>
        <p:nvPicPr>
          <p:cNvPr id="2234" name="Google Shape;2234;p47"/>
          <p:cNvPicPr preferRelativeResize="0"/>
          <p:nvPr/>
        </p:nvPicPr>
        <p:blipFill rotWithShape="1">
          <a:blip r:embed="rId10">
            <a:alphaModFix/>
          </a:blip>
          <a:srcRect b="57058" l="20140" r="54458" t="22041"/>
          <a:stretch/>
        </p:blipFill>
        <p:spPr>
          <a:xfrm>
            <a:off x="2621020" y="4478224"/>
            <a:ext cx="306263" cy="252000"/>
          </a:xfrm>
          <a:prstGeom prst="ellipse">
            <a:avLst/>
          </a:prstGeom>
          <a:noFill/>
          <a:ln>
            <a:noFill/>
          </a:ln>
        </p:spPr>
      </p:pic>
      <p:sp>
        <p:nvSpPr>
          <p:cNvPr id="2235" name="Google Shape;2235;p47"/>
          <p:cNvSpPr txBox="1"/>
          <p:nvPr/>
        </p:nvSpPr>
        <p:spPr>
          <a:xfrm>
            <a:off x="2866291" y="448431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236" name="Google Shape;2236;p47"/>
          <p:cNvSpPr/>
          <p:nvPr/>
        </p:nvSpPr>
        <p:spPr>
          <a:xfrm>
            <a:off x="5146381" y="4486737"/>
            <a:ext cx="777782" cy="190350"/>
          </a:xfrm>
          <a:prstGeom prst="roundRect">
            <a:avLst>
              <a:gd fmla="val 16667" name="adj"/>
            </a:avLst>
          </a:prstGeom>
          <a:solidFill>
            <a:srgbClr val="92D050"/>
          </a:solidFill>
          <a:ln cap="flat" cmpd="sng" w="12700">
            <a:solidFill>
              <a:srgbClr val="92D05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최종 합격</a:t>
            </a:r>
            <a:endParaRPr sz="1000">
              <a:solidFill>
                <a:schemeClr val="dk1"/>
              </a:solidFill>
              <a:latin typeface="Noto Sans KR"/>
              <a:ea typeface="Noto Sans KR"/>
              <a:cs typeface="Noto Sans KR"/>
              <a:sym typeface="Noto Sans KR"/>
            </a:endParaRPr>
          </a:p>
        </p:txBody>
      </p:sp>
      <p:pic>
        <p:nvPicPr>
          <p:cNvPr id="2237" name="Google Shape;2237;p47"/>
          <p:cNvPicPr preferRelativeResize="0"/>
          <p:nvPr/>
        </p:nvPicPr>
        <p:blipFill rotWithShape="1">
          <a:blip r:embed="rId11">
            <a:alphaModFix/>
          </a:blip>
          <a:srcRect b="0" l="0" r="0" t="0"/>
          <a:stretch/>
        </p:blipFill>
        <p:spPr>
          <a:xfrm>
            <a:off x="2413761" y="1263783"/>
            <a:ext cx="228600" cy="228600"/>
          </a:xfrm>
          <a:prstGeom prst="rect">
            <a:avLst/>
          </a:prstGeom>
          <a:noFill/>
          <a:ln>
            <a:noFill/>
          </a:ln>
        </p:spPr>
      </p:pic>
      <p:sp>
        <p:nvSpPr>
          <p:cNvPr id="2238" name="Google Shape;2238;p47"/>
          <p:cNvSpPr/>
          <p:nvPr/>
        </p:nvSpPr>
        <p:spPr>
          <a:xfrm>
            <a:off x="7005396" y="3263623"/>
            <a:ext cx="659869" cy="230800"/>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수정</a:t>
            </a:r>
            <a:endParaRPr sz="1100">
              <a:solidFill>
                <a:schemeClr val="dk1"/>
              </a:solidFill>
              <a:latin typeface="Noto Sans KR"/>
              <a:ea typeface="Noto Sans KR"/>
              <a:cs typeface="Noto Sans KR"/>
              <a:sym typeface="Noto Sans KR"/>
            </a:endParaRPr>
          </a:p>
        </p:txBody>
      </p:sp>
      <p:sp>
        <p:nvSpPr>
          <p:cNvPr id="2239" name="Google Shape;2239;p47"/>
          <p:cNvSpPr/>
          <p:nvPr/>
        </p:nvSpPr>
        <p:spPr>
          <a:xfrm>
            <a:off x="7704349" y="3265986"/>
            <a:ext cx="659869" cy="230800"/>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통보</a:t>
            </a:r>
            <a:endParaRPr sz="1100">
              <a:solidFill>
                <a:schemeClr val="dk1"/>
              </a:solidFill>
              <a:latin typeface="Noto Sans KR"/>
              <a:ea typeface="Noto Sans KR"/>
              <a:cs typeface="Noto Sans KR"/>
              <a:sym typeface="Noto Sans KR"/>
            </a:endParaRPr>
          </a:p>
        </p:txBody>
      </p:sp>
      <p:sp>
        <p:nvSpPr>
          <p:cNvPr id="2240" name="Google Shape;2240;p47"/>
          <p:cNvSpPr/>
          <p:nvPr/>
        </p:nvSpPr>
        <p:spPr>
          <a:xfrm>
            <a:off x="6943589" y="306215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2241" name="Google Shape;2241;p47"/>
          <p:cNvSpPr/>
          <p:nvPr/>
        </p:nvSpPr>
        <p:spPr>
          <a:xfrm>
            <a:off x="7629368" y="306883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2242" name="Google Shape;2242;p47"/>
          <p:cNvSpPr/>
          <p:nvPr/>
        </p:nvSpPr>
        <p:spPr>
          <a:xfrm>
            <a:off x="5997508" y="3668246"/>
            <a:ext cx="464732" cy="219856"/>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243" name="Google Shape;2243;p47"/>
          <p:cNvSpPr/>
          <p:nvPr/>
        </p:nvSpPr>
        <p:spPr>
          <a:xfrm>
            <a:off x="6492800" y="3670118"/>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244" name="Google Shape;2244;p47"/>
          <p:cNvSpPr/>
          <p:nvPr/>
        </p:nvSpPr>
        <p:spPr>
          <a:xfrm>
            <a:off x="6996616" y="3674647"/>
            <a:ext cx="659869"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수정</a:t>
            </a:r>
            <a:endParaRPr sz="1100">
              <a:solidFill>
                <a:schemeClr val="dk1"/>
              </a:solidFill>
              <a:latin typeface="Noto Sans KR"/>
              <a:ea typeface="Noto Sans KR"/>
              <a:cs typeface="Noto Sans KR"/>
              <a:sym typeface="Noto Sans KR"/>
            </a:endParaRPr>
          </a:p>
        </p:txBody>
      </p:sp>
      <p:sp>
        <p:nvSpPr>
          <p:cNvPr id="2245" name="Google Shape;2245;p47"/>
          <p:cNvSpPr/>
          <p:nvPr/>
        </p:nvSpPr>
        <p:spPr>
          <a:xfrm>
            <a:off x="7695569" y="3677010"/>
            <a:ext cx="659869" cy="230800"/>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통보</a:t>
            </a:r>
            <a:endParaRPr sz="1100">
              <a:solidFill>
                <a:schemeClr val="dk1"/>
              </a:solidFill>
              <a:latin typeface="Noto Sans KR"/>
              <a:ea typeface="Noto Sans KR"/>
              <a:cs typeface="Noto Sans KR"/>
              <a:sym typeface="Noto Sans KR"/>
            </a:endParaRPr>
          </a:p>
        </p:txBody>
      </p:sp>
      <p:sp>
        <p:nvSpPr>
          <p:cNvPr id="2246" name="Google Shape;2246;p47"/>
          <p:cNvSpPr/>
          <p:nvPr/>
        </p:nvSpPr>
        <p:spPr>
          <a:xfrm>
            <a:off x="5994037" y="4089654"/>
            <a:ext cx="464732" cy="219856"/>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247" name="Google Shape;2247;p47"/>
          <p:cNvSpPr/>
          <p:nvPr/>
        </p:nvSpPr>
        <p:spPr>
          <a:xfrm>
            <a:off x="6489329" y="4091526"/>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248" name="Google Shape;2248;p47"/>
          <p:cNvSpPr/>
          <p:nvPr/>
        </p:nvSpPr>
        <p:spPr>
          <a:xfrm>
            <a:off x="6993145" y="4096055"/>
            <a:ext cx="659869"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수정</a:t>
            </a:r>
            <a:endParaRPr sz="1100">
              <a:solidFill>
                <a:schemeClr val="dk1"/>
              </a:solidFill>
              <a:latin typeface="Noto Sans KR"/>
              <a:ea typeface="Noto Sans KR"/>
              <a:cs typeface="Noto Sans KR"/>
              <a:sym typeface="Noto Sans KR"/>
            </a:endParaRPr>
          </a:p>
        </p:txBody>
      </p:sp>
      <p:sp>
        <p:nvSpPr>
          <p:cNvPr id="2249" name="Google Shape;2249;p47"/>
          <p:cNvSpPr/>
          <p:nvPr/>
        </p:nvSpPr>
        <p:spPr>
          <a:xfrm>
            <a:off x="7692098" y="4098418"/>
            <a:ext cx="659869"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통보</a:t>
            </a:r>
            <a:endParaRPr sz="1100">
              <a:solidFill>
                <a:schemeClr val="dk1"/>
              </a:solidFill>
              <a:latin typeface="Noto Sans KR"/>
              <a:ea typeface="Noto Sans KR"/>
              <a:cs typeface="Noto Sans KR"/>
              <a:sym typeface="Noto Sans KR"/>
            </a:endParaRPr>
          </a:p>
        </p:txBody>
      </p:sp>
      <p:sp>
        <p:nvSpPr>
          <p:cNvPr id="2250" name="Google Shape;2250;p47"/>
          <p:cNvSpPr/>
          <p:nvPr/>
        </p:nvSpPr>
        <p:spPr>
          <a:xfrm>
            <a:off x="5990110" y="4482824"/>
            <a:ext cx="464732" cy="219856"/>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251" name="Google Shape;2251;p47"/>
          <p:cNvSpPr/>
          <p:nvPr/>
        </p:nvSpPr>
        <p:spPr>
          <a:xfrm>
            <a:off x="6485402" y="4484696"/>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252" name="Google Shape;2252;p47"/>
          <p:cNvSpPr/>
          <p:nvPr/>
        </p:nvSpPr>
        <p:spPr>
          <a:xfrm>
            <a:off x="6989218" y="4489225"/>
            <a:ext cx="659869"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수정</a:t>
            </a:r>
            <a:endParaRPr sz="1100">
              <a:solidFill>
                <a:schemeClr val="dk1"/>
              </a:solidFill>
              <a:latin typeface="Noto Sans KR"/>
              <a:ea typeface="Noto Sans KR"/>
              <a:cs typeface="Noto Sans KR"/>
              <a:sym typeface="Noto Sans KR"/>
            </a:endParaRPr>
          </a:p>
        </p:txBody>
      </p:sp>
      <p:sp>
        <p:nvSpPr>
          <p:cNvPr id="2253" name="Google Shape;2253;p47"/>
          <p:cNvSpPr/>
          <p:nvPr/>
        </p:nvSpPr>
        <p:spPr>
          <a:xfrm>
            <a:off x="7688171" y="4491588"/>
            <a:ext cx="659869"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결과 통보</a:t>
            </a:r>
            <a:endParaRPr sz="1100">
              <a:solidFill>
                <a:schemeClr val="dk1"/>
              </a:solidFill>
              <a:latin typeface="Noto Sans KR"/>
              <a:ea typeface="Noto Sans KR"/>
              <a:cs typeface="Noto Sans KR"/>
              <a:sym typeface="Noto Sans K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8" name="Shape 2258"/>
        <p:cNvGrpSpPr/>
        <p:nvPr/>
      </p:nvGrpSpPr>
      <p:grpSpPr>
        <a:xfrm>
          <a:off x="0" y="0"/>
          <a:ext cx="0" cy="0"/>
          <a:chOff x="0" y="0"/>
          <a:chExt cx="0" cy="0"/>
        </a:xfrm>
      </p:grpSpPr>
      <p:sp>
        <p:nvSpPr>
          <p:cNvPr id="2259" name="Google Shape;2259;p48"/>
          <p:cNvSpPr txBox="1"/>
          <p:nvPr>
            <p:ph type="title"/>
          </p:nvPr>
        </p:nvSpPr>
        <p:spPr>
          <a:xfrm>
            <a:off x="406653"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결과 수정</a:t>
            </a:r>
            <a:endParaRPr sz="2400"/>
          </a:p>
        </p:txBody>
      </p:sp>
      <p:sp>
        <p:nvSpPr>
          <p:cNvPr id="2260" name="Google Shape;2260;p48"/>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261" name="Google Shape;2261;p48"/>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262" name="Google Shape;2262;p48"/>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263" name="Google Shape;2263;p48"/>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264" name="Google Shape;2264;p48"/>
          <p:cNvGraphicFramePr/>
          <p:nvPr/>
        </p:nvGraphicFramePr>
        <p:xfrm>
          <a:off x="8551547" y="1046609"/>
          <a:ext cx="3000000" cy="3000000"/>
        </p:xfrm>
        <a:graphic>
          <a:graphicData uri="http://schemas.openxmlformats.org/drawingml/2006/table">
            <a:tbl>
              <a:tblPr bandRow="1" firstRow="1">
                <a:noFill/>
                <a:tableStyleId>{C61F204E-A15B-47D6-BEBB-6A886D3283EB}</a:tableStyleId>
              </a:tblPr>
              <a:tblGrid>
                <a:gridCol w="454300"/>
                <a:gridCol w="2832325"/>
              </a:tblGrid>
              <a:tr h="72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지원자 정보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수정 대상 지원자의 기본 정보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[표시 정보]지원자 프로필 이미지,지원자 이름,지원 직무</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715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팝업 화면 타이틀 영역</a:t>
                      </a:r>
                      <a:endParaRPr b="1"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2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항목 점수 조정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지원자의 면접 평가 항목별 점수를 수정하는 영역</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슬라이더 방식 입력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7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점수 입력 및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슬라이더 조작 결과를 숫자 점수로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점수 입력 시 슬라이더 자동 조절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2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최종 결과 선택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최종 결과 상태 변경 기능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합격,불합격,보류 버튼 제공 선택 시 버튼 클릭 시 강조 테두리 표시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2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수정 이력 표시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수정 내역 기록 및 이력 확인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[표시 정보] 변경된 평가 항목 및 점수 변화,최종 결과 변경 ,이력수정 일시,수정 수행 관리자 등</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1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취소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수정 전 상태로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30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저장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변경된 평가 점수 및 최종 결과 저장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79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X 버튼</a:t>
                      </a:r>
                      <a:endParaRPr b="1" sz="10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현재 수정된 내용 </a:t>
                      </a:r>
                      <a:r>
                        <a:rPr lang="ko-KR" sz="1000" u="none" cap="none" strike="noStrike">
                          <a:latin typeface="Noto Sans KR"/>
                          <a:ea typeface="Noto Sans KR"/>
                          <a:cs typeface="Noto Sans KR"/>
                          <a:sym typeface="Noto Sans KR"/>
                        </a:rPr>
                        <a:t>저장하지 않고 종료 </a:t>
                      </a:r>
                      <a:r>
                        <a:rPr b="0" lang="ko-KR" sz="1000" u="none" cap="none" strike="noStrike">
                          <a:solidFill>
                            <a:schemeClr val="dk1"/>
                          </a:solidFill>
                          <a:latin typeface="Noto Sans KR"/>
                          <a:ea typeface="Noto Sans KR"/>
                          <a:cs typeface="Noto Sans KR"/>
                          <a:sym typeface="Noto Sans KR"/>
                        </a:rPr>
                        <a:t>INT-05 화면으로 이동</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0800">
                <a:tc gridSpan="2">
                  <a:txBody>
                    <a:bodyPr/>
                    <a:lstStyle/>
                    <a:p>
                      <a:pPr indent="0" lvl="0" marL="0" marR="0" rtl="0" algn="ctr">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2265" name="Google Shape;2265;p48"/>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246000"/>
                <a:gridCol w="828125"/>
                <a:gridCol w="3955575"/>
                <a:gridCol w="452000"/>
                <a:gridCol w="28326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INT-05-1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결과 수정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INT-05에서  결과 수정으로 인입되는 면접관리자가 결과 수정하는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pic>
        <p:nvPicPr>
          <p:cNvPr id="2266" name="Google Shape;2266;p48"/>
          <p:cNvPicPr preferRelativeResize="0"/>
          <p:nvPr/>
        </p:nvPicPr>
        <p:blipFill rotWithShape="1">
          <a:blip r:embed="rId3">
            <a:alphaModFix/>
          </a:blip>
          <a:srcRect b="0" l="0" r="0" t="0"/>
          <a:stretch/>
        </p:blipFill>
        <p:spPr>
          <a:xfrm>
            <a:off x="335381" y="1123955"/>
            <a:ext cx="1932170" cy="500305"/>
          </a:xfrm>
          <a:prstGeom prst="rect">
            <a:avLst/>
          </a:prstGeom>
          <a:noFill/>
          <a:ln>
            <a:noFill/>
          </a:ln>
        </p:spPr>
      </p:pic>
      <p:grpSp>
        <p:nvGrpSpPr>
          <p:cNvPr id="2267" name="Google Shape;2267;p48"/>
          <p:cNvGrpSpPr/>
          <p:nvPr/>
        </p:nvGrpSpPr>
        <p:grpSpPr>
          <a:xfrm>
            <a:off x="318669" y="1595887"/>
            <a:ext cx="2141093" cy="4938263"/>
            <a:chOff x="335382" y="1595886"/>
            <a:chExt cx="2141093" cy="4938263"/>
          </a:xfrm>
        </p:grpSpPr>
        <p:sp>
          <p:nvSpPr>
            <p:cNvPr id="2268" name="Google Shape;2268;p48"/>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269" name="Google Shape;2269;p48"/>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2270" name="Google Shape;2270;p48"/>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2271" name="Google Shape;2271;p48"/>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2272" name="Google Shape;2272;p48"/>
            <p:cNvGrpSpPr/>
            <p:nvPr/>
          </p:nvGrpSpPr>
          <p:grpSpPr>
            <a:xfrm>
              <a:off x="450266" y="2390557"/>
              <a:ext cx="1756549" cy="352030"/>
              <a:chOff x="450266" y="1209410"/>
              <a:chExt cx="1756549" cy="352030"/>
            </a:xfrm>
          </p:grpSpPr>
          <p:cxnSp>
            <p:nvCxnSpPr>
              <p:cNvPr id="2273" name="Google Shape;2273;p48"/>
              <p:cNvCxnSpPr/>
              <p:nvPr/>
            </p:nvCxnSpPr>
            <p:spPr>
              <a:xfrm>
                <a:off x="477692" y="1561440"/>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274" name="Google Shape;2274;p48"/>
              <p:cNvSpPr txBox="1"/>
              <p:nvPr/>
            </p:nvSpPr>
            <p:spPr>
              <a:xfrm>
                <a:off x="450266" y="1209410"/>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2275" name="Google Shape;2275;p48"/>
            <p:cNvGrpSpPr/>
            <p:nvPr/>
          </p:nvGrpSpPr>
          <p:grpSpPr>
            <a:xfrm>
              <a:off x="586240" y="2927871"/>
              <a:ext cx="1890235" cy="879955"/>
              <a:chOff x="387847" y="2881173"/>
              <a:chExt cx="2116652" cy="885768"/>
            </a:xfrm>
          </p:grpSpPr>
          <p:sp>
            <p:nvSpPr>
              <p:cNvPr id="2276" name="Google Shape;2276;p48"/>
              <p:cNvSpPr txBox="1"/>
              <p:nvPr/>
            </p:nvSpPr>
            <p:spPr>
              <a:xfrm>
                <a:off x="387847" y="2881173"/>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2277" name="Google Shape;2277;p48"/>
              <p:cNvCxnSpPr/>
              <p:nvPr/>
            </p:nvCxnSpPr>
            <p:spPr>
              <a:xfrm flipH="1" rot="10800000">
                <a:off x="627550" y="3762117"/>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2278" name="Google Shape;2278;p48"/>
            <p:cNvGrpSpPr/>
            <p:nvPr/>
          </p:nvGrpSpPr>
          <p:grpSpPr>
            <a:xfrm>
              <a:off x="437361" y="3993527"/>
              <a:ext cx="1756549" cy="350847"/>
              <a:chOff x="437361" y="1889881"/>
              <a:chExt cx="1756549" cy="350847"/>
            </a:xfrm>
          </p:grpSpPr>
          <p:cxnSp>
            <p:nvCxnSpPr>
              <p:cNvPr id="2279" name="Google Shape;2279;p48"/>
              <p:cNvCxnSpPr/>
              <p:nvPr/>
            </p:nvCxnSpPr>
            <p:spPr>
              <a:xfrm>
                <a:off x="518358" y="2240728"/>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280" name="Google Shape;2280;p48"/>
              <p:cNvSpPr txBox="1"/>
              <p:nvPr/>
            </p:nvSpPr>
            <p:spPr>
              <a:xfrm>
                <a:off x="437361" y="1889881"/>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cxnSp>
        <p:nvCxnSpPr>
          <p:cNvPr id="2281" name="Google Shape;2281;p48"/>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2282" name="Google Shape;2282;p48"/>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2283" name="Google Shape;2283;p48"/>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284" name="Google Shape;2284;p48"/>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2285" name="Google Shape;2285;p48"/>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결과 관리</a:t>
            </a:r>
            <a:endParaRPr b="1" sz="1800">
              <a:solidFill>
                <a:srgbClr val="7F7F7F"/>
              </a:solidFill>
              <a:latin typeface="Noto Sans KR"/>
              <a:ea typeface="Noto Sans KR"/>
              <a:cs typeface="Noto Sans KR"/>
              <a:sym typeface="Noto Sans KR"/>
            </a:endParaRPr>
          </a:p>
        </p:txBody>
      </p:sp>
      <p:cxnSp>
        <p:nvCxnSpPr>
          <p:cNvPr id="2286" name="Google Shape;2286;p48"/>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2287" name="Google Shape;2287;p48"/>
          <p:cNvGrpSpPr/>
          <p:nvPr/>
        </p:nvGrpSpPr>
        <p:grpSpPr>
          <a:xfrm>
            <a:off x="435703" y="6134926"/>
            <a:ext cx="1066433" cy="338554"/>
            <a:chOff x="417309" y="6108345"/>
            <a:chExt cx="1066433" cy="338554"/>
          </a:xfrm>
        </p:grpSpPr>
        <p:pic>
          <p:nvPicPr>
            <p:cNvPr id="2288" name="Google Shape;2288;p48"/>
            <p:cNvPicPr preferRelativeResize="0"/>
            <p:nvPr/>
          </p:nvPicPr>
          <p:blipFill rotWithShape="1">
            <a:blip r:embed="rId6">
              <a:alphaModFix/>
            </a:blip>
            <a:srcRect b="0" l="0" r="0" t="0"/>
            <a:stretch/>
          </p:blipFill>
          <p:spPr>
            <a:xfrm>
              <a:off x="417309" y="6148038"/>
              <a:ext cx="246925" cy="280330"/>
            </a:xfrm>
            <a:prstGeom prst="rect">
              <a:avLst/>
            </a:prstGeom>
            <a:noFill/>
            <a:ln>
              <a:noFill/>
            </a:ln>
          </p:spPr>
        </p:pic>
        <p:sp>
          <p:nvSpPr>
            <p:cNvPr id="2289" name="Google Shape;2289;p48"/>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2290" name="Google Shape;2290;p48"/>
          <p:cNvSpPr/>
          <p:nvPr/>
        </p:nvSpPr>
        <p:spPr>
          <a:xfrm>
            <a:off x="2344287" y="1694647"/>
            <a:ext cx="6049847" cy="753007"/>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grpSp>
        <p:nvGrpSpPr>
          <p:cNvPr id="2291" name="Google Shape;2291;p48"/>
          <p:cNvGrpSpPr/>
          <p:nvPr/>
        </p:nvGrpSpPr>
        <p:grpSpPr>
          <a:xfrm>
            <a:off x="2865232" y="2099262"/>
            <a:ext cx="2580899" cy="229403"/>
            <a:chOff x="3967360" y="3563578"/>
            <a:chExt cx="2580899" cy="308569"/>
          </a:xfrm>
        </p:grpSpPr>
        <p:sp>
          <p:nvSpPr>
            <p:cNvPr id="2292" name="Google Shape;2292;p48"/>
            <p:cNvSpPr/>
            <p:nvPr/>
          </p:nvSpPr>
          <p:spPr>
            <a:xfrm>
              <a:off x="3967360" y="3563578"/>
              <a:ext cx="2580899" cy="30856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yyyy-mm-dd ~ yyyy-mm-dd</a:t>
              </a:r>
              <a:endParaRPr sz="1200">
                <a:solidFill>
                  <a:srgbClr val="BFBFBF"/>
                </a:solidFill>
                <a:latin typeface="Noto Sans KR"/>
                <a:ea typeface="Noto Sans KR"/>
                <a:cs typeface="Noto Sans KR"/>
                <a:sym typeface="Noto Sans KR"/>
              </a:endParaRPr>
            </a:p>
          </p:txBody>
        </p:sp>
        <p:pic>
          <p:nvPicPr>
            <p:cNvPr id="2293" name="Google Shape;2293;p48"/>
            <p:cNvPicPr preferRelativeResize="0"/>
            <p:nvPr/>
          </p:nvPicPr>
          <p:blipFill rotWithShape="1">
            <a:blip r:embed="rId7">
              <a:alphaModFix/>
            </a:blip>
            <a:srcRect b="0" l="0" r="0" t="0"/>
            <a:stretch/>
          </p:blipFill>
          <p:spPr>
            <a:xfrm>
              <a:off x="6304049" y="3605956"/>
              <a:ext cx="173690" cy="232910"/>
            </a:xfrm>
            <a:prstGeom prst="rect">
              <a:avLst/>
            </a:prstGeom>
            <a:noFill/>
            <a:ln>
              <a:noFill/>
            </a:ln>
          </p:spPr>
        </p:pic>
      </p:grpSp>
      <p:sp>
        <p:nvSpPr>
          <p:cNvPr id="2294" name="Google Shape;2294;p48"/>
          <p:cNvSpPr/>
          <p:nvPr/>
        </p:nvSpPr>
        <p:spPr>
          <a:xfrm>
            <a:off x="2800564" y="1790056"/>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채용 직무           ∨     </a:t>
            </a:r>
            <a:endParaRPr sz="1200">
              <a:solidFill>
                <a:srgbClr val="BFBFBF"/>
              </a:solidFill>
              <a:latin typeface="Noto Sans KR"/>
              <a:ea typeface="Noto Sans KR"/>
              <a:cs typeface="Noto Sans KR"/>
              <a:sym typeface="Noto Sans KR"/>
            </a:endParaRPr>
          </a:p>
        </p:txBody>
      </p:sp>
      <p:sp>
        <p:nvSpPr>
          <p:cNvPr id="2295" name="Google Shape;2295;p48"/>
          <p:cNvSpPr/>
          <p:nvPr/>
        </p:nvSpPr>
        <p:spPr>
          <a:xfrm>
            <a:off x="6685963" y="1780121"/>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예비 합격</a:t>
            </a:r>
            <a:r>
              <a:rPr lang="ko-KR" sz="1200">
                <a:solidFill>
                  <a:srgbClr val="BFBFBF"/>
                </a:solidFill>
                <a:latin typeface="Noto Sans KR"/>
                <a:ea typeface="Noto Sans KR"/>
                <a:cs typeface="Noto Sans KR"/>
                <a:sym typeface="Noto Sans KR"/>
              </a:rPr>
              <a:t>          ∨</a:t>
            </a:r>
            <a:endParaRPr sz="1200">
              <a:solidFill>
                <a:srgbClr val="BFBFBF"/>
              </a:solidFill>
              <a:latin typeface="Noto Sans KR"/>
              <a:ea typeface="Noto Sans KR"/>
              <a:cs typeface="Noto Sans KR"/>
              <a:sym typeface="Noto Sans KR"/>
            </a:endParaRPr>
          </a:p>
        </p:txBody>
      </p:sp>
      <p:sp>
        <p:nvSpPr>
          <p:cNvPr id="2296" name="Google Shape;2296;p48"/>
          <p:cNvSpPr/>
          <p:nvPr/>
        </p:nvSpPr>
        <p:spPr>
          <a:xfrm>
            <a:off x="4807285" y="1779218"/>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AIE260210001   ∨</a:t>
            </a:r>
            <a:endParaRPr sz="1200">
              <a:solidFill>
                <a:srgbClr val="BFBFBF"/>
              </a:solidFill>
              <a:latin typeface="Noto Sans KR"/>
              <a:ea typeface="Noto Sans KR"/>
              <a:cs typeface="Noto Sans KR"/>
              <a:sym typeface="Noto Sans KR"/>
            </a:endParaRPr>
          </a:p>
        </p:txBody>
      </p:sp>
      <p:sp>
        <p:nvSpPr>
          <p:cNvPr id="2297" name="Google Shape;2297;p48"/>
          <p:cNvSpPr txBox="1"/>
          <p:nvPr/>
        </p:nvSpPr>
        <p:spPr>
          <a:xfrm>
            <a:off x="2423312" y="1777407"/>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a:t>
            </a:r>
            <a:endParaRPr sz="1000">
              <a:solidFill>
                <a:schemeClr val="dk1"/>
              </a:solidFill>
              <a:latin typeface="Noto Sans KR"/>
              <a:ea typeface="Noto Sans KR"/>
              <a:cs typeface="Noto Sans KR"/>
              <a:sym typeface="Noto Sans KR"/>
            </a:endParaRPr>
          </a:p>
        </p:txBody>
      </p:sp>
      <p:sp>
        <p:nvSpPr>
          <p:cNvPr id="2298" name="Google Shape;2298;p48"/>
          <p:cNvSpPr txBox="1"/>
          <p:nvPr/>
        </p:nvSpPr>
        <p:spPr>
          <a:xfrm>
            <a:off x="2423312" y="2110776"/>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기간</a:t>
            </a:r>
            <a:endParaRPr sz="1000">
              <a:solidFill>
                <a:schemeClr val="dk1"/>
              </a:solidFill>
              <a:latin typeface="Noto Sans KR"/>
              <a:ea typeface="Noto Sans KR"/>
              <a:cs typeface="Noto Sans KR"/>
              <a:sym typeface="Noto Sans KR"/>
            </a:endParaRPr>
          </a:p>
        </p:txBody>
      </p:sp>
      <p:sp>
        <p:nvSpPr>
          <p:cNvPr id="2299" name="Google Shape;2299;p48"/>
          <p:cNvSpPr txBox="1"/>
          <p:nvPr/>
        </p:nvSpPr>
        <p:spPr>
          <a:xfrm>
            <a:off x="4198365" y="1780741"/>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면접코드</a:t>
            </a:r>
            <a:endParaRPr sz="1000">
              <a:solidFill>
                <a:schemeClr val="dk1"/>
              </a:solidFill>
              <a:latin typeface="Noto Sans KR"/>
              <a:ea typeface="Noto Sans KR"/>
              <a:cs typeface="Noto Sans KR"/>
              <a:sym typeface="Noto Sans KR"/>
            </a:endParaRPr>
          </a:p>
        </p:txBody>
      </p:sp>
      <p:sp>
        <p:nvSpPr>
          <p:cNvPr id="2300" name="Google Shape;2300;p48"/>
          <p:cNvSpPr txBox="1"/>
          <p:nvPr/>
        </p:nvSpPr>
        <p:spPr>
          <a:xfrm>
            <a:off x="6267492" y="1771163"/>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현황</a:t>
            </a:r>
            <a:endParaRPr sz="1000">
              <a:solidFill>
                <a:schemeClr val="dk1"/>
              </a:solidFill>
              <a:latin typeface="Noto Sans KR"/>
              <a:ea typeface="Noto Sans KR"/>
              <a:cs typeface="Noto Sans KR"/>
              <a:sym typeface="Noto Sans KR"/>
            </a:endParaRPr>
          </a:p>
        </p:txBody>
      </p:sp>
      <p:sp>
        <p:nvSpPr>
          <p:cNvPr id="2301" name="Google Shape;2301;p48"/>
          <p:cNvSpPr/>
          <p:nvPr/>
        </p:nvSpPr>
        <p:spPr>
          <a:xfrm>
            <a:off x="6585879" y="2098095"/>
            <a:ext cx="540715" cy="230597"/>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검색</a:t>
            </a:r>
            <a:endParaRPr sz="1100">
              <a:solidFill>
                <a:schemeClr val="lt1"/>
              </a:solidFill>
              <a:latin typeface="Noto Sans KR"/>
              <a:ea typeface="Noto Sans KR"/>
              <a:cs typeface="Noto Sans KR"/>
              <a:sym typeface="Noto Sans KR"/>
            </a:endParaRPr>
          </a:p>
        </p:txBody>
      </p:sp>
      <p:sp>
        <p:nvSpPr>
          <p:cNvPr id="2302" name="Google Shape;2302;p48"/>
          <p:cNvSpPr/>
          <p:nvPr/>
        </p:nvSpPr>
        <p:spPr>
          <a:xfrm>
            <a:off x="7353675" y="2087342"/>
            <a:ext cx="623180"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초기화</a:t>
            </a:r>
            <a:endParaRPr sz="1100">
              <a:solidFill>
                <a:schemeClr val="dk1"/>
              </a:solidFill>
              <a:latin typeface="Noto Sans KR"/>
              <a:ea typeface="Noto Sans KR"/>
              <a:cs typeface="Noto Sans KR"/>
              <a:sym typeface="Noto Sans KR"/>
            </a:endParaRPr>
          </a:p>
        </p:txBody>
      </p:sp>
      <p:sp>
        <p:nvSpPr>
          <p:cNvPr id="2303" name="Google Shape;2303;p48"/>
          <p:cNvSpPr/>
          <p:nvPr/>
        </p:nvSpPr>
        <p:spPr>
          <a:xfrm>
            <a:off x="2360894" y="2572834"/>
            <a:ext cx="6049847" cy="3070583"/>
          </a:xfrm>
          <a:prstGeom prst="roundRect">
            <a:avLst>
              <a:gd fmla="val 3113"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sp>
        <p:nvSpPr>
          <p:cNvPr id="2304" name="Google Shape;2304;p48"/>
          <p:cNvSpPr/>
          <p:nvPr/>
        </p:nvSpPr>
        <p:spPr>
          <a:xfrm>
            <a:off x="2360654" y="2914028"/>
            <a:ext cx="6049849" cy="249205"/>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05" name="Google Shape;2305;p48"/>
          <p:cNvSpPr txBox="1"/>
          <p:nvPr/>
        </p:nvSpPr>
        <p:spPr>
          <a:xfrm>
            <a:off x="2376196" y="2609966"/>
            <a:ext cx="742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목록  </a:t>
            </a:r>
            <a:r>
              <a:rPr lang="ko-KR" sz="1400">
                <a:solidFill>
                  <a:srgbClr val="BFBFBF"/>
                </a:solidFill>
                <a:latin typeface="Noto Sans KR"/>
                <a:ea typeface="Noto Sans KR"/>
                <a:cs typeface="Noto Sans KR"/>
                <a:sym typeface="Noto Sans KR"/>
              </a:rPr>
              <a:t>|</a:t>
            </a:r>
            <a:endParaRPr sz="1400">
              <a:solidFill>
                <a:srgbClr val="BFBFBF"/>
              </a:solidFill>
              <a:latin typeface="Noto Sans KR"/>
              <a:ea typeface="Noto Sans KR"/>
              <a:cs typeface="Noto Sans KR"/>
              <a:sym typeface="Noto Sans KR"/>
            </a:endParaRPr>
          </a:p>
        </p:txBody>
      </p:sp>
      <p:sp>
        <p:nvSpPr>
          <p:cNvPr id="2306" name="Google Shape;2306;p48"/>
          <p:cNvSpPr/>
          <p:nvPr/>
        </p:nvSpPr>
        <p:spPr>
          <a:xfrm>
            <a:off x="3788053" y="2633010"/>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변경</a:t>
            </a:r>
            <a:endParaRPr sz="1000">
              <a:solidFill>
                <a:schemeClr val="dk1"/>
              </a:solidFill>
              <a:latin typeface="Noto Sans KR"/>
              <a:ea typeface="Noto Sans KR"/>
              <a:cs typeface="Noto Sans KR"/>
              <a:sym typeface="Noto Sans KR"/>
            </a:endParaRPr>
          </a:p>
        </p:txBody>
      </p:sp>
      <p:sp>
        <p:nvSpPr>
          <p:cNvPr id="2307" name="Google Shape;2307;p48"/>
          <p:cNvSpPr/>
          <p:nvPr/>
        </p:nvSpPr>
        <p:spPr>
          <a:xfrm>
            <a:off x="2438188" y="2982656"/>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08" name="Google Shape;2308;p48"/>
          <p:cNvSpPr txBox="1"/>
          <p:nvPr/>
        </p:nvSpPr>
        <p:spPr>
          <a:xfrm>
            <a:off x="2657185" y="2924979"/>
            <a:ext cx="7515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지원자 </a:t>
            </a:r>
            <a:endParaRPr sz="1100">
              <a:solidFill>
                <a:schemeClr val="dk1"/>
              </a:solidFill>
              <a:latin typeface="Noto Sans KR"/>
              <a:ea typeface="Noto Sans KR"/>
              <a:cs typeface="Noto Sans KR"/>
              <a:sym typeface="Noto Sans KR"/>
            </a:endParaRPr>
          </a:p>
        </p:txBody>
      </p:sp>
      <p:sp>
        <p:nvSpPr>
          <p:cNvPr id="2309" name="Google Shape;2309;p48"/>
          <p:cNvSpPr txBox="1"/>
          <p:nvPr/>
        </p:nvSpPr>
        <p:spPr>
          <a:xfrm>
            <a:off x="3566159" y="2912209"/>
            <a:ext cx="5035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2310" name="Google Shape;2310;p48"/>
          <p:cNvSpPr txBox="1"/>
          <p:nvPr/>
        </p:nvSpPr>
        <p:spPr>
          <a:xfrm>
            <a:off x="4386496" y="2924717"/>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진행 상태</a:t>
            </a:r>
            <a:endParaRPr sz="1100">
              <a:solidFill>
                <a:schemeClr val="dk1"/>
              </a:solidFill>
              <a:latin typeface="Noto Sans KR"/>
              <a:ea typeface="Noto Sans KR"/>
              <a:cs typeface="Noto Sans KR"/>
              <a:sym typeface="Noto Sans KR"/>
            </a:endParaRPr>
          </a:p>
        </p:txBody>
      </p:sp>
      <p:sp>
        <p:nvSpPr>
          <p:cNvPr id="2311" name="Google Shape;2311;p48"/>
          <p:cNvSpPr txBox="1"/>
          <p:nvPr/>
        </p:nvSpPr>
        <p:spPr>
          <a:xfrm>
            <a:off x="5547495" y="2915192"/>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면접일</a:t>
            </a:r>
            <a:endParaRPr sz="1100">
              <a:solidFill>
                <a:schemeClr val="dk1"/>
              </a:solidFill>
              <a:latin typeface="Noto Sans KR"/>
              <a:ea typeface="Noto Sans KR"/>
              <a:cs typeface="Noto Sans KR"/>
              <a:sym typeface="Noto Sans KR"/>
            </a:endParaRPr>
          </a:p>
        </p:txBody>
      </p:sp>
      <p:sp>
        <p:nvSpPr>
          <p:cNvPr id="2312" name="Google Shape;2312;p48"/>
          <p:cNvSpPr txBox="1"/>
          <p:nvPr/>
        </p:nvSpPr>
        <p:spPr>
          <a:xfrm>
            <a:off x="7683050" y="2912209"/>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관리</a:t>
            </a:r>
            <a:endParaRPr sz="1100">
              <a:solidFill>
                <a:schemeClr val="dk1"/>
              </a:solidFill>
              <a:latin typeface="Noto Sans KR"/>
              <a:ea typeface="Noto Sans KR"/>
              <a:cs typeface="Noto Sans KR"/>
              <a:sym typeface="Noto Sans KR"/>
            </a:endParaRPr>
          </a:p>
        </p:txBody>
      </p:sp>
      <p:cxnSp>
        <p:nvCxnSpPr>
          <p:cNvPr id="2313" name="Google Shape;2313;p48"/>
          <p:cNvCxnSpPr/>
          <p:nvPr/>
        </p:nvCxnSpPr>
        <p:spPr>
          <a:xfrm>
            <a:off x="2356006" y="3571758"/>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314" name="Google Shape;2314;p48"/>
          <p:cNvCxnSpPr/>
          <p:nvPr/>
        </p:nvCxnSpPr>
        <p:spPr>
          <a:xfrm>
            <a:off x="2363387" y="3979719"/>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315" name="Google Shape;2315;p48"/>
          <p:cNvCxnSpPr/>
          <p:nvPr/>
        </p:nvCxnSpPr>
        <p:spPr>
          <a:xfrm>
            <a:off x="2363387" y="4385088"/>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316" name="Google Shape;2316;p48"/>
          <p:cNvSpPr/>
          <p:nvPr/>
        </p:nvSpPr>
        <p:spPr>
          <a:xfrm>
            <a:off x="2426863" y="3317213"/>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17" name="Google Shape;2317;p48"/>
          <p:cNvSpPr/>
          <p:nvPr/>
        </p:nvSpPr>
        <p:spPr>
          <a:xfrm>
            <a:off x="2426863" y="3744235"/>
            <a:ext cx="108000" cy="108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18" name="Google Shape;2318;p48"/>
          <p:cNvSpPr/>
          <p:nvPr/>
        </p:nvSpPr>
        <p:spPr>
          <a:xfrm>
            <a:off x="2416824" y="410511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19" name="Google Shape;2319;p48"/>
          <p:cNvSpPr txBox="1"/>
          <p:nvPr/>
        </p:nvSpPr>
        <p:spPr>
          <a:xfrm>
            <a:off x="3365684" y="3236345"/>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Engineer</a:t>
            </a:r>
            <a:endParaRPr sz="1100">
              <a:solidFill>
                <a:schemeClr val="dk1"/>
              </a:solidFill>
              <a:latin typeface="Noto Sans KR"/>
              <a:ea typeface="Noto Sans KR"/>
              <a:cs typeface="Noto Sans KR"/>
              <a:sym typeface="Noto Sans KR"/>
            </a:endParaRPr>
          </a:p>
        </p:txBody>
      </p:sp>
      <p:sp>
        <p:nvSpPr>
          <p:cNvPr id="2320" name="Google Shape;2320;p48"/>
          <p:cNvSpPr txBox="1"/>
          <p:nvPr/>
        </p:nvSpPr>
        <p:spPr>
          <a:xfrm>
            <a:off x="5346088" y="3231059"/>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2026.02.10 </a:t>
            </a:r>
            <a:endParaRPr sz="1100">
              <a:solidFill>
                <a:schemeClr val="dk1"/>
              </a:solidFill>
              <a:latin typeface="Noto Sans KR"/>
              <a:ea typeface="Noto Sans KR"/>
              <a:cs typeface="Noto Sans KR"/>
              <a:sym typeface="Noto Sans KR"/>
            </a:endParaRPr>
          </a:p>
        </p:txBody>
      </p:sp>
      <p:sp>
        <p:nvSpPr>
          <p:cNvPr id="2321" name="Google Shape;2321;p48"/>
          <p:cNvSpPr txBox="1"/>
          <p:nvPr/>
        </p:nvSpPr>
        <p:spPr>
          <a:xfrm>
            <a:off x="3310958" y="3646006"/>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2322" name="Google Shape;2322;p48"/>
          <p:cNvSpPr txBox="1"/>
          <p:nvPr/>
        </p:nvSpPr>
        <p:spPr>
          <a:xfrm>
            <a:off x="3312945" y="4073388"/>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323" name="Google Shape;2323;p48"/>
          <p:cNvSpPr txBox="1"/>
          <p:nvPr/>
        </p:nvSpPr>
        <p:spPr>
          <a:xfrm>
            <a:off x="5321099" y="4091101"/>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a:t>
            </a:r>
            <a:endParaRPr sz="1100">
              <a:solidFill>
                <a:schemeClr val="dk1"/>
              </a:solidFill>
              <a:latin typeface="Noto Sans KR"/>
              <a:ea typeface="Noto Sans KR"/>
              <a:cs typeface="Noto Sans KR"/>
              <a:sym typeface="Noto Sans KR"/>
            </a:endParaRPr>
          </a:p>
        </p:txBody>
      </p:sp>
      <p:sp>
        <p:nvSpPr>
          <p:cNvPr id="2324" name="Google Shape;2324;p48"/>
          <p:cNvSpPr txBox="1"/>
          <p:nvPr/>
        </p:nvSpPr>
        <p:spPr>
          <a:xfrm>
            <a:off x="5104230" y="5220125"/>
            <a:ext cx="5626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u="sng">
                <a:solidFill>
                  <a:schemeClr val="dk1"/>
                </a:solidFill>
                <a:latin typeface="Noto Sans KR"/>
                <a:ea typeface="Noto Sans KR"/>
                <a:cs typeface="Noto Sans KR"/>
                <a:sym typeface="Noto Sans KR"/>
              </a:rPr>
              <a:t>1</a:t>
            </a:r>
            <a:endParaRPr sz="1200" u="sng">
              <a:solidFill>
                <a:schemeClr val="dk1"/>
              </a:solidFill>
              <a:latin typeface="Noto Sans KR"/>
              <a:ea typeface="Noto Sans KR"/>
              <a:cs typeface="Noto Sans KR"/>
              <a:sym typeface="Noto Sans KR"/>
            </a:endParaRPr>
          </a:p>
        </p:txBody>
      </p:sp>
      <p:sp>
        <p:nvSpPr>
          <p:cNvPr id="2325" name="Google Shape;2325;p48"/>
          <p:cNvSpPr/>
          <p:nvPr/>
        </p:nvSpPr>
        <p:spPr>
          <a:xfrm>
            <a:off x="7269612" y="2665810"/>
            <a:ext cx="1041732" cy="20926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rPr lang="ko-KR" sz="1050">
                <a:solidFill>
                  <a:srgbClr val="7F7F7F"/>
                </a:solidFill>
                <a:latin typeface="Noto Sans KR"/>
                <a:ea typeface="Noto Sans KR"/>
                <a:cs typeface="Noto Sans KR"/>
                <a:sym typeface="Noto Sans KR"/>
              </a:rPr>
              <a:t>10개씩 보기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sp>
        <p:nvSpPr>
          <p:cNvPr id="2326" name="Google Shape;2326;p48"/>
          <p:cNvSpPr/>
          <p:nvPr/>
        </p:nvSpPr>
        <p:spPr>
          <a:xfrm>
            <a:off x="6063107" y="2661146"/>
            <a:ext cx="1097860" cy="20832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최신순</a:t>
            </a:r>
            <a:r>
              <a:rPr lang="ko-KR" sz="1050">
                <a:solidFill>
                  <a:srgbClr val="BFBFBF"/>
                </a:solidFill>
                <a:latin typeface="Noto Sans KR"/>
                <a:ea typeface="Noto Sans KR"/>
                <a:cs typeface="Noto Sans KR"/>
                <a:sym typeface="Noto Sans KR"/>
              </a:rPr>
              <a:t>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grpSp>
        <p:nvGrpSpPr>
          <p:cNvPr id="2327" name="Google Shape;2327;p48"/>
          <p:cNvGrpSpPr/>
          <p:nvPr/>
        </p:nvGrpSpPr>
        <p:grpSpPr>
          <a:xfrm>
            <a:off x="6100086" y="5220125"/>
            <a:ext cx="1463975" cy="276999"/>
            <a:chOff x="5375612" y="5305565"/>
            <a:chExt cx="1463975" cy="276999"/>
          </a:xfrm>
        </p:grpSpPr>
        <p:sp>
          <p:nvSpPr>
            <p:cNvPr id="2328" name="Google Shape;2328;p48"/>
            <p:cNvSpPr/>
            <p:nvPr/>
          </p:nvSpPr>
          <p:spPr>
            <a:xfrm>
              <a:off x="5418217" y="5358005"/>
              <a:ext cx="180000" cy="180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29" name="Google Shape;2329;p48"/>
            <p:cNvSpPr txBox="1"/>
            <p:nvPr/>
          </p:nvSpPr>
          <p:spPr>
            <a:xfrm>
              <a:off x="5375612" y="5305565"/>
              <a:ext cx="14639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1</a:t>
              </a:r>
              <a:r>
                <a:rPr lang="ko-KR" sz="1200">
                  <a:solidFill>
                    <a:schemeClr val="dk1"/>
                  </a:solidFill>
                  <a:latin typeface="Noto Sans KR"/>
                  <a:ea typeface="Noto Sans KR"/>
                  <a:cs typeface="Noto Sans KR"/>
                  <a:sym typeface="Noto Sans KR"/>
                </a:rPr>
                <a:t>    2    3    4    5    &gt;</a:t>
              </a:r>
              <a:endParaRPr sz="1200">
                <a:solidFill>
                  <a:schemeClr val="dk1"/>
                </a:solidFill>
                <a:latin typeface="Noto Sans KR"/>
                <a:ea typeface="Noto Sans KR"/>
                <a:cs typeface="Noto Sans KR"/>
                <a:sym typeface="Noto Sans KR"/>
              </a:endParaRPr>
            </a:p>
          </p:txBody>
        </p:sp>
      </p:grpSp>
      <p:sp>
        <p:nvSpPr>
          <p:cNvPr id="2330" name="Google Shape;2330;p48"/>
          <p:cNvSpPr txBox="1"/>
          <p:nvPr/>
        </p:nvSpPr>
        <p:spPr>
          <a:xfrm>
            <a:off x="5595477" y="5220125"/>
            <a:ext cx="62977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pages</a:t>
            </a:r>
            <a:endParaRPr sz="1100">
              <a:solidFill>
                <a:srgbClr val="7F7F7F"/>
              </a:solidFill>
              <a:latin typeface="Noto Sans KR"/>
              <a:ea typeface="Noto Sans KR"/>
              <a:cs typeface="Noto Sans KR"/>
              <a:sym typeface="Noto Sans KR"/>
            </a:endParaRPr>
          </a:p>
        </p:txBody>
      </p:sp>
      <p:sp>
        <p:nvSpPr>
          <p:cNvPr id="2331" name="Google Shape;2331;p48"/>
          <p:cNvSpPr txBox="1"/>
          <p:nvPr/>
        </p:nvSpPr>
        <p:spPr>
          <a:xfrm>
            <a:off x="417659" y="203133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공고 관리                ∨                 </a:t>
            </a:r>
            <a:endParaRPr sz="1400">
              <a:solidFill>
                <a:srgbClr val="BFBFBF"/>
              </a:solidFill>
              <a:latin typeface="Noto Sans KR"/>
              <a:ea typeface="Noto Sans KR"/>
              <a:cs typeface="Noto Sans KR"/>
              <a:sym typeface="Noto Sans KR"/>
            </a:endParaRPr>
          </a:p>
        </p:txBody>
      </p:sp>
      <p:sp>
        <p:nvSpPr>
          <p:cNvPr id="2332" name="Google Shape;2332;p48"/>
          <p:cNvSpPr/>
          <p:nvPr/>
        </p:nvSpPr>
        <p:spPr>
          <a:xfrm>
            <a:off x="1140389" y="3191265"/>
            <a:ext cx="866567"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결과 관리</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a:p>
        </p:txBody>
      </p:sp>
      <p:cxnSp>
        <p:nvCxnSpPr>
          <p:cNvPr id="2333" name="Google Shape;2333;p48"/>
          <p:cNvCxnSpPr/>
          <p:nvPr/>
        </p:nvCxnSpPr>
        <p:spPr>
          <a:xfrm flipH="1" rot="10800000">
            <a:off x="774609" y="3502016"/>
            <a:ext cx="1249226" cy="4792"/>
          </a:xfrm>
          <a:prstGeom prst="straightConnector1">
            <a:avLst/>
          </a:prstGeom>
          <a:noFill/>
          <a:ln cap="flat" cmpd="sng" w="9525">
            <a:solidFill>
              <a:srgbClr val="BFBFBF"/>
            </a:solidFill>
            <a:prstDash val="solid"/>
            <a:miter lim="8000"/>
            <a:headEnd len="sm" w="sm" type="none"/>
            <a:tailEnd len="sm" w="sm" type="none"/>
          </a:ln>
        </p:spPr>
      </p:cxnSp>
      <p:sp>
        <p:nvSpPr>
          <p:cNvPr id="2334" name="Google Shape;2334;p48"/>
          <p:cNvSpPr/>
          <p:nvPr/>
        </p:nvSpPr>
        <p:spPr>
          <a:xfrm>
            <a:off x="1252068" y="3533300"/>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결과 분석</a:t>
            </a:r>
            <a:endParaRPr sz="1200">
              <a:solidFill>
                <a:srgbClr val="BFBFBF"/>
              </a:solidFill>
              <a:latin typeface="Noto Sans KR"/>
              <a:ea typeface="Noto Sans KR"/>
              <a:cs typeface="Noto Sans KR"/>
              <a:sym typeface="Noto Sans KR"/>
            </a:endParaRPr>
          </a:p>
        </p:txBody>
      </p:sp>
      <p:sp>
        <p:nvSpPr>
          <p:cNvPr id="2335" name="Google Shape;2335;p48"/>
          <p:cNvSpPr txBox="1"/>
          <p:nvPr/>
        </p:nvSpPr>
        <p:spPr>
          <a:xfrm>
            <a:off x="6557864" y="2910192"/>
            <a:ext cx="55996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결과</a:t>
            </a:r>
            <a:endParaRPr sz="1100">
              <a:solidFill>
                <a:schemeClr val="dk1"/>
              </a:solidFill>
              <a:latin typeface="Noto Sans KR"/>
              <a:ea typeface="Noto Sans KR"/>
              <a:cs typeface="Noto Sans KR"/>
              <a:sym typeface="Noto Sans KR"/>
            </a:endParaRPr>
          </a:p>
        </p:txBody>
      </p:sp>
      <p:pic>
        <p:nvPicPr>
          <p:cNvPr id="2336" name="Google Shape;2336;p48"/>
          <p:cNvPicPr preferRelativeResize="0"/>
          <p:nvPr/>
        </p:nvPicPr>
        <p:blipFill rotWithShape="1">
          <a:blip r:embed="rId8">
            <a:alphaModFix/>
          </a:blip>
          <a:srcRect b="24094" l="23190" r="56900" t="55938"/>
          <a:stretch/>
        </p:blipFill>
        <p:spPr>
          <a:xfrm>
            <a:off x="2626067" y="3273893"/>
            <a:ext cx="252000" cy="235412"/>
          </a:xfrm>
          <a:prstGeom prst="ellipse">
            <a:avLst/>
          </a:prstGeom>
          <a:noFill/>
          <a:ln>
            <a:noFill/>
          </a:ln>
          <a:effectLst>
            <a:outerShdw blurRad="381000" sx="-80000" rotWithShape="0" dir="5400000" dist="292100" sy="-18000">
              <a:srgbClr val="000000">
                <a:alpha val="21961"/>
              </a:srgbClr>
            </a:outerShdw>
          </a:effectLst>
        </p:spPr>
      </p:pic>
      <p:sp>
        <p:nvSpPr>
          <p:cNvPr id="2337" name="Google Shape;2337;p48"/>
          <p:cNvSpPr txBox="1"/>
          <p:nvPr/>
        </p:nvSpPr>
        <p:spPr>
          <a:xfrm>
            <a:off x="2848326" y="325623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pic>
        <p:nvPicPr>
          <p:cNvPr id="2338" name="Google Shape;2338;p48"/>
          <p:cNvPicPr preferRelativeResize="0"/>
          <p:nvPr/>
        </p:nvPicPr>
        <p:blipFill rotWithShape="1">
          <a:blip r:embed="rId9">
            <a:alphaModFix/>
          </a:blip>
          <a:srcRect b="54220" l="55521" r="19604" t="22941"/>
          <a:stretch/>
        </p:blipFill>
        <p:spPr>
          <a:xfrm>
            <a:off x="2617848" y="3652616"/>
            <a:ext cx="274469" cy="252000"/>
          </a:xfrm>
          <a:prstGeom prst="ellipse">
            <a:avLst/>
          </a:prstGeom>
          <a:noFill/>
          <a:ln cap="flat" cmpd="sng" w="9525">
            <a:solidFill>
              <a:srgbClr val="D8D8D8"/>
            </a:solidFill>
            <a:prstDash val="solid"/>
            <a:round/>
            <a:headEnd len="sm" w="sm" type="none"/>
            <a:tailEnd len="sm" w="sm" type="none"/>
          </a:ln>
        </p:spPr>
      </p:pic>
      <p:sp>
        <p:nvSpPr>
          <p:cNvPr id="2339" name="Google Shape;2339;p48"/>
          <p:cNvSpPr txBox="1"/>
          <p:nvPr/>
        </p:nvSpPr>
        <p:spPr>
          <a:xfrm>
            <a:off x="2857012" y="3650047"/>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340" name="Google Shape;2340;p48"/>
          <p:cNvSpPr txBox="1"/>
          <p:nvPr/>
        </p:nvSpPr>
        <p:spPr>
          <a:xfrm>
            <a:off x="5332721" y="3652616"/>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2026.02.09 </a:t>
            </a:r>
            <a:endParaRPr sz="1100">
              <a:solidFill>
                <a:schemeClr val="dk1"/>
              </a:solidFill>
              <a:latin typeface="Noto Sans KR"/>
              <a:ea typeface="Noto Sans KR"/>
              <a:cs typeface="Noto Sans KR"/>
              <a:sym typeface="Noto Sans KR"/>
            </a:endParaRPr>
          </a:p>
        </p:txBody>
      </p:sp>
      <p:pic>
        <p:nvPicPr>
          <p:cNvPr id="2341" name="Google Shape;2341;p48"/>
          <p:cNvPicPr preferRelativeResize="0"/>
          <p:nvPr/>
        </p:nvPicPr>
        <p:blipFill rotWithShape="1">
          <a:blip r:embed="rId10">
            <a:alphaModFix/>
          </a:blip>
          <a:srcRect b="57058" l="20140" r="54458" t="22041"/>
          <a:stretch/>
        </p:blipFill>
        <p:spPr>
          <a:xfrm>
            <a:off x="2607908" y="4057414"/>
            <a:ext cx="306263" cy="252000"/>
          </a:xfrm>
          <a:prstGeom prst="ellipse">
            <a:avLst/>
          </a:prstGeom>
          <a:noFill/>
          <a:ln>
            <a:noFill/>
          </a:ln>
        </p:spPr>
      </p:pic>
      <p:sp>
        <p:nvSpPr>
          <p:cNvPr id="2342" name="Google Shape;2342;p48"/>
          <p:cNvSpPr txBox="1"/>
          <p:nvPr/>
        </p:nvSpPr>
        <p:spPr>
          <a:xfrm>
            <a:off x="2853179" y="406350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343" name="Google Shape;2343;p48"/>
          <p:cNvSpPr/>
          <p:nvPr/>
        </p:nvSpPr>
        <p:spPr>
          <a:xfrm>
            <a:off x="2996379" y="2628511"/>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삭제</a:t>
            </a:r>
            <a:endParaRPr sz="1000">
              <a:solidFill>
                <a:schemeClr val="dk1"/>
              </a:solidFill>
              <a:latin typeface="Noto Sans KR"/>
              <a:ea typeface="Noto Sans KR"/>
              <a:cs typeface="Noto Sans KR"/>
              <a:sym typeface="Noto Sans KR"/>
            </a:endParaRPr>
          </a:p>
        </p:txBody>
      </p:sp>
      <p:sp>
        <p:nvSpPr>
          <p:cNvPr id="2344" name="Google Shape;2344;p48"/>
          <p:cNvSpPr/>
          <p:nvPr/>
        </p:nvSpPr>
        <p:spPr>
          <a:xfrm>
            <a:off x="7382613" y="3278099"/>
            <a:ext cx="464732" cy="219856"/>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345" name="Google Shape;2345;p48"/>
          <p:cNvSpPr/>
          <p:nvPr/>
        </p:nvSpPr>
        <p:spPr>
          <a:xfrm>
            <a:off x="7896250" y="4072119"/>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346" name="Google Shape;2346;p48"/>
          <p:cNvSpPr/>
          <p:nvPr/>
        </p:nvSpPr>
        <p:spPr>
          <a:xfrm>
            <a:off x="7375595" y="3691801"/>
            <a:ext cx="464732" cy="219856"/>
          </a:xfrm>
          <a:prstGeom prst="roundRect">
            <a:avLst>
              <a:gd fmla="val 16667" name="adj"/>
            </a:avLst>
          </a:prstGeom>
          <a:solidFill>
            <a:srgbClr val="7F7F7F"/>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347" name="Google Shape;2347;p48"/>
          <p:cNvSpPr/>
          <p:nvPr/>
        </p:nvSpPr>
        <p:spPr>
          <a:xfrm>
            <a:off x="7903740" y="3698586"/>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348" name="Google Shape;2348;p48"/>
          <p:cNvSpPr/>
          <p:nvPr/>
        </p:nvSpPr>
        <p:spPr>
          <a:xfrm>
            <a:off x="7898746" y="3250610"/>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349" name="Google Shape;2349;p48"/>
          <p:cNvSpPr/>
          <p:nvPr/>
        </p:nvSpPr>
        <p:spPr>
          <a:xfrm>
            <a:off x="6383185" y="3688797"/>
            <a:ext cx="777782" cy="190350"/>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예비 합격</a:t>
            </a:r>
            <a:endParaRPr sz="1000">
              <a:solidFill>
                <a:schemeClr val="lt1"/>
              </a:solidFill>
              <a:latin typeface="Noto Sans KR"/>
              <a:ea typeface="Noto Sans KR"/>
              <a:cs typeface="Noto Sans KR"/>
              <a:sym typeface="Noto Sans KR"/>
            </a:endParaRPr>
          </a:p>
        </p:txBody>
      </p:sp>
      <p:sp>
        <p:nvSpPr>
          <p:cNvPr id="2350" name="Google Shape;2350;p48"/>
          <p:cNvSpPr/>
          <p:nvPr/>
        </p:nvSpPr>
        <p:spPr>
          <a:xfrm>
            <a:off x="6387440" y="4099132"/>
            <a:ext cx="777782" cy="190350"/>
          </a:xfrm>
          <a:prstGeom prst="roundRect">
            <a:avLst>
              <a:gd fmla="val 16667" name="adj"/>
            </a:avLst>
          </a:prstGeom>
          <a:solidFill>
            <a:srgbClr val="C00000"/>
          </a:solidFill>
          <a:ln cap="flat" cmpd="sng" w="127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불합격</a:t>
            </a:r>
            <a:endParaRPr sz="1000">
              <a:solidFill>
                <a:schemeClr val="lt1"/>
              </a:solidFill>
              <a:latin typeface="Noto Sans KR"/>
              <a:ea typeface="Noto Sans KR"/>
              <a:cs typeface="Noto Sans KR"/>
              <a:sym typeface="Noto Sans KR"/>
            </a:endParaRPr>
          </a:p>
        </p:txBody>
      </p:sp>
      <p:sp>
        <p:nvSpPr>
          <p:cNvPr id="2351" name="Google Shape;2351;p48"/>
          <p:cNvSpPr/>
          <p:nvPr/>
        </p:nvSpPr>
        <p:spPr>
          <a:xfrm>
            <a:off x="6381264" y="3269425"/>
            <a:ext cx="777782" cy="190350"/>
          </a:xfrm>
          <a:prstGeom prst="roundRect">
            <a:avLst>
              <a:gd fmla="val 16667" name="adj"/>
            </a:avLst>
          </a:prstGeom>
          <a:solidFill>
            <a:srgbClr val="7F7F7F"/>
          </a:solidFill>
          <a:ln cap="flat" cmpd="sng" w="12700">
            <a:solidFill>
              <a:srgbClr val="7F7F7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 대기</a:t>
            </a:r>
            <a:endParaRPr sz="1000">
              <a:solidFill>
                <a:schemeClr val="lt1"/>
              </a:solidFill>
              <a:latin typeface="Noto Sans KR"/>
              <a:ea typeface="Noto Sans KR"/>
              <a:cs typeface="Noto Sans KR"/>
              <a:sym typeface="Noto Sans KR"/>
            </a:endParaRPr>
          </a:p>
        </p:txBody>
      </p:sp>
      <p:sp>
        <p:nvSpPr>
          <p:cNvPr id="2352" name="Google Shape;2352;p48"/>
          <p:cNvSpPr/>
          <p:nvPr/>
        </p:nvSpPr>
        <p:spPr>
          <a:xfrm>
            <a:off x="501645" y="2790911"/>
            <a:ext cx="1602314"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면접 결과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cxnSp>
        <p:nvCxnSpPr>
          <p:cNvPr id="2353" name="Google Shape;2353;p48"/>
          <p:cNvCxnSpPr/>
          <p:nvPr/>
        </p:nvCxnSpPr>
        <p:spPr>
          <a:xfrm>
            <a:off x="485432" y="3134298"/>
            <a:ext cx="1618527" cy="0"/>
          </a:xfrm>
          <a:prstGeom prst="straightConnector1">
            <a:avLst/>
          </a:prstGeom>
          <a:noFill/>
          <a:ln cap="flat" cmpd="sng" w="9525">
            <a:solidFill>
              <a:srgbClr val="BFBFBF"/>
            </a:solidFill>
            <a:prstDash val="solid"/>
            <a:miter lim="8000"/>
            <a:headEnd len="sm" w="sm" type="none"/>
            <a:tailEnd len="sm" w="sm" type="none"/>
          </a:ln>
        </p:spPr>
      </p:cxnSp>
      <p:cxnSp>
        <p:nvCxnSpPr>
          <p:cNvPr id="2354" name="Google Shape;2354;p48"/>
          <p:cNvCxnSpPr/>
          <p:nvPr/>
        </p:nvCxnSpPr>
        <p:spPr>
          <a:xfrm>
            <a:off x="2368267" y="4787281"/>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355" name="Google Shape;2355;p48"/>
          <p:cNvSpPr/>
          <p:nvPr/>
        </p:nvSpPr>
        <p:spPr>
          <a:xfrm>
            <a:off x="2429936" y="452592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56" name="Google Shape;2356;p48"/>
          <p:cNvSpPr txBox="1"/>
          <p:nvPr/>
        </p:nvSpPr>
        <p:spPr>
          <a:xfrm>
            <a:off x="3326866" y="4465345"/>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357" name="Google Shape;2357;p48"/>
          <p:cNvSpPr txBox="1"/>
          <p:nvPr/>
        </p:nvSpPr>
        <p:spPr>
          <a:xfrm>
            <a:off x="5332897" y="4494245"/>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a:t>
            </a:r>
            <a:endParaRPr sz="1100">
              <a:solidFill>
                <a:schemeClr val="dk1"/>
              </a:solidFill>
              <a:latin typeface="Noto Sans KR"/>
              <a:ea typeface="Noto Sans KR"/>
              <a:cs typeface="Noto Sans KR"/>
              <a:sym typeface="Noto Sans KR"/>
            </a:endParaRPr>
          </a:p>
        </p:txBody>
      </p:sp>
      <p:pic>
        <p:nvPicPr>
          <p:cNvPr id="2358" name="Google Shape;2358;p48"/>
          <p:cNvPicPr preferRelativeResize="0"/>
          <p:nvPr/>
        </p:nvPicPr>
        <p:blipFill rotWithShape="1">
          <a:blip r:embed="rId10">
            <a:alphaModFix/>
          </a:blip>
          <a:srcRect b="57058" l="20140" r="54458" t="22041"/>
          <a:stretch/>
        </p:blipFill>
        <p:spPr>
          <a:xfrm>
            <a:off x="2621020" y="4478224"/>
            <a:ext cx="306263" cy="252000"/>
          </a:xfrm>
          <a:prstGeom prst="ellipse">
            <a:avLst/>
          </a:prstGeom>
          <a:noFill/>
          <a:ln>
            <a:noFill/>
          </a:ln>
        </p:spPr>
      </p:pic>
      <p:sp>
        <p:nvSpPr>
          <p:cNvPr id="2359" name="Google Shape;2359;p48"/>
          <p:cNvSpPr txBox="1"/>
          <p:nvPr/>
        </p:nvSpPr>
        <p:spPr>
          <a:xfrm>
            <a:off x="2866291" y="448431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360" name="Google Shape;2360;p48"/>
          <p:cNvSpPr/>
          <p:nvPr/>
        </p:nvSpPr>
        <p:spPr>
          <a:xfrm>
            <a:off x="7390028" y="4067543"/>
            <a:ext cx="464732" cy="219856"/>
          </a:xfrm>
          <a:prstGeom prst="roundRect">
            <a:avLst>
              <a:gd fmla="val 16667" name="adj"/>
            </a:avLst>
          </a:prstGeom>
          <a:solidFill>
            <a:srgbClr val="7F7F7F"/>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sp>
        <p:nvSpPr>
          <p:cNvPr id="2361" name="Google Shape;2361;p48"/>
          <p:cNvSpPr/>
          <p:nvPr/>
        </p:nvSpPr>
        <p:spPr>
          <a:xfrm>
            <a:off x="6381264" y="4506063"/>
            <a:ext cx="777782" cy="190350"/>
          </a:xfrm>
          <a:prstGeom prst="roundRect">
            <a:avLst>
              <a:gd fmla="val 16667" name="adj"/>
            </a:avLst>
          </a:prstGeom>
          <a:solidFill>
            <a:srgbClr val="92D050"/>
          </a:solidFill>
          <a:ln cap="flat" cmpd="sng" w="12700">
            <a:solidFill>
              <a:srgbClr val="92D05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최종 합격</a:t>
            </a:r>
            <a:endParaRPr sz="1000">
              <a:solidFill>
                <a:schemeClr val="dk1"/>
              </a:solidFill>
              <a:latin typeface="Noto Sans KR"/>
              <a:ea typeface="Noto Sans KR"/>
              <a:cs typeface="Noto Sans KR"/>
              <a:sym typeface="Noto Sans KR"/>
            </a:endParaRPr>
          </a:p>
        </p:txBody>
      </p:sp>
      <p:sp>
        <p:nvSpPr>
          <p:cNvPr id="2362" name="Google Shape;2362;p48"/>
          <p:cNvSpPr/>
          <p:nvPr/>
        </p:nvSpPr>
        <p:spPr>
          <a:xfrm>
            <a:off x="7882488" y="4483642"/>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363" name="Google Shape;2363;p48"/>
          <p:cNvSpPr/>
          <p:nvPr/>
        </p:nvSpPr>
        <p:spPr>
          <a:xfrm>
            <a:off x="7376266" y="4479066"/>
            <a:ext cx="464732" cy="219856"/>
          </a:xfrm>
          <a:prstGeom prst="roundRect">
            <a:avLst>
              <a:gd fmla="val 16667" name="adj"/>
            </a:avLst>
          </a:prstGeom>
          <a:solidFill>
            <a:srgbClr val="7F7F7F"/>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평가</a:t>
            </a:r>
            <a:endParaRPr sz="1000">
              <a:solidFill>
                <a:schemeClr val="lt1"/>
              </a:solidFill>
              <a:latin typeface="Noto Sans KR"/>
              <a:ea typeface="Noto Sans KR"/>
              <a:cs typeface="Noto Sans KR"/>
              <a:sym typeface="Noto Sans KR"/>
            </a:endParaRPr>
          </a:p>
        </p:txBody>
      </p:sp>
      <p:pic>
        <p:nvPicPr>
          <p:cNvPr id="2364" name="Google Shape;2364;p48"/>
          <p:cNvPicPr preferRelativeResize="0"/>
          <p:nvPr/>
        </p:nvPicPr>
        <p:blipFill rotWithShape="1">
          <a:blip r:embed="rId11">
            <a:alphaModFix/>
          </a:blip>
          <a:srcRect b="0" l="0" r="0" t="0"/>
          <a:stretch/>
        </p:blipFill>
        <p:spPr>
          <a:xfrm>
            <a:off x="2413761" y="1263783"/>
            <a:ext cx="228600" cy="228600"/>
          </a:xfrm>
          <a:prstGeom prst="rect">
            <a:avLst/>
          </a:prstGeom>
          <a:noFill/>
          <a:ln>
            <a:noFill/>
          </a:ln>
        </p:spPr>
      </p:pic>
      <p:sp>
        <p:nvSpPr>
          <p:cNvPr id="2365" name="Google Shape;2365;p48"/>
          <p:cNvSpPr/>
          <p:nvPr/>
        </p:nvSpPr>
        <p:spPr>
          <a:xfrm>
            <a:off x="2368515" y="3577018"/>
            <a:ext cx="6047114" cy="403195"/>
          </a:xfrm>
          <a:prstGeom prst="rect">
            <a:avLst/>
          </a:prstGeom>
          <a:solidFill>
            <a:srgbClr val="D9D9D9">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66" name="Google Shape;2366;p48"/>
          <p:cNvSpPr/>
          <p:nvPr/>
        </p:nvSpPr>
        <p:spPr>
          <a:xfrm>
            <a:off x="335381" y="1134580"/>
            <a:ext cx="8132344" cy="5392303"/>
          </a:xfrm>
          <a:prstGeom prst="rect">
            <a:avLst/>
          </a:prstGeom>
          <a:solidFill>
            <a:srgbClr val="F2F2F2">
              <a:alpha val="30196"/>
            </a:srgbClr>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2367" name="Google Shape;2367;p48"/>
          <p:cNvGrpSpPr/>
          <p:nvPr/>
        </p:nvGrpSpPr>
        <p:grpSpPr>
          <a:xfrm>
            <a:off x="1804668" y="1102083"/>
            <a:ext cx="5415185" cy="5392303"/>
            <a:chOff x="1905749" y="1131372"/>
            <a:chExt cx="5415185" cy="5392303"/>
          </a:xfrm>
        </p:grpSpPr>
        <p:sp>
          <p:nvSpPr>
            <p:cNvPr id="2368" name="Google Shape;2368;p48"/>
            <p:cNvSpPr/>
            <p:nvPr/>
          </p:nvSpPr>
          <p:spPr>
            <a:xfrm>
              <a:off x="1905749" y="1131372"/>
              <a:ext cx="5414739" cy="5392303"/>
            </a:xfrm>
            <a:prstGeom prst="roundRect">
              <a:avLst>
                <a:gd fmla="val 2256"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369" name="Google Shape;2369;p48"/>
            <p:cNvCxnSpPr/>
            <p:nvPr/>
          </p:nvCxnSpPr>
          <p:spPr>
            <a:xfrm>
              <a:off x="1906195" y="1740186"/>
              <a:ext cx="5414739" cy="0"/>
            </a:xfrm>
            <a:prstGeom prst="straightConnector1">
              <a:avLst/>
            </a:prstGeom>
            <a:noFill/>
            <a:ln cap="flat" cmpd="sng" w="9525">
              <a:solidFill>
                <a:srgbClr val="A5A5A5"/>
              </a:solidFill>
              <a:prstDash val="solid"/>
              <a:miter lim="8000"/>
              <a:headEnd len="sm" w="sm" type="none"/>
              <a:tailEnd len="sm" w="sm" type="none"/>
            </a:ln>
          </p:spPr>
        </p:cxnSp>
      </p:grpSp>
      <p:pic>
        <p:nvPicPr>
          <p:cNvPr id="2370" name="Google Shape;2370;p48"/>
          <p:cNvPicPr preferRelativeResize="0"/>
          <p:nvPr/>
        </p:nvPicPr>
        <p:blipFill rotWithShape="1">
          <a:blip r:embed="rId12">
            <a:alphaModFix/>
          </a:blip>
          <a:srcRect b="54220" l="55521" r="19604" t="22941"/>
          <a:stretch/>
        </p:blipFill>
        <p:spPr>
          <a:xfrm>
            <a:off x="1931345" y="1274282"/>
            <a:ext cx="405215" cy="372043"/>
          </a:xfrm>
          <a:prstGeom prst="ellipse">
            <a:avLst/>
          </a:prstGeom>
          <a:noFill/>
          <a:ln cap="flat" cmpd="sng" w="9525">
            <a:solidFill>
              <a:srgbClr val="D8D8D8"/>
            </a:solidFill>
            <a:prstDash val="solid"/>
            <a:round/>
            <a:headEnd len="sm" w="sm" type="none"/>
            <a:tailEnd len="sm" w="sm" type="none"/>
          </a:ln>
        </p:spPr>
      </p:pic>
      <p:sp>
        <p:nvSpPr>
          <p:cNvPr id="2371" name="Google Shape;2371;p48"/>
          <p:cNvSpPr txBox="1"/>
          <p:nvPr/>
        </p:nvSpPr>
        <p:spPr>
          <a:xfrm>
            <a:off x="6805646" y="1160530"/>
            <a:ext cx="4966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7F7F7F"/>
                </a:solidFill>
                <a:latin typeface="Malgun Gothic"/>
                <a:ea typeface="Malgun Gothic"/>
                <a:cs typeface="Malgun Gothic"/>
                <a:sym typeface="Malgun Gothic"/>
              </a:rPr>
              <a:t>X</a:t>
            </a:r>
            <a:endParaRPr sz="1800">
              <a:solidFill>
                <a:srgbClr val="7F7F7F"/>
              </a:solidFill>
              <a:latin typeface="Malgun Gothic"/>
              <a:ea typeface="Malgun Gothic"/>
              <a:cs typeface="Malgun Gothic"/>
              <a:sym typeface="Malgun Gothic"/>
            </a:endParaRPr>
          </a:p>
        </p:txBody>
      </p:sp>
      <p:sp>
        <p:nvSpPr>
          <p:cNvPr id="2372" name="Google Shape;2372;p48"/>
          <p:cNvSpPr txBox="1"/>
          <p:nvPr/>
        </p:nvSpPr>
        <p:spPr>
          <a:xfrm>
            <a:off x="2329561" y="1425129"/>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2373" name="Google Shape;2373;p48"/>
          <p:cNvSpPr txBox="1"/>
          <p:nvPr/>
        </p:nvSpPr>
        <p:spPr>
          <a:xfrm>
            <a:off x="2328698" y="1202458"/>
            <a:ext cx="92186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홍길동</a:t>
            </a:r>
            <a:endParaRPr sz="1400">
              <a:solidFill>
                <a:schemeClr val="dk1"/>
              </a:solidFill>
              <a:latin typeface="Noto Sans KR"/>
              <a:ea typeface="Noto Sans KR"/>
              <a:cs typeface="Noto Sans KR"/>
              <a:sym typeface="Noto Sans KR"/>
            </a:endParaRPr>
          </a:p>
        </p:txBody>
      </p:sp>
      <p:sp>
        <p:nvSpPr>
          <p:cNvPr id="2374" name="Google Shape;2374;p48"/>
          <p:cNvSpPr txBox="1"/>
          <p:nvPr/>
        </p:nvSpPr>
        <p:spPr>
          <a:xfrm>
            <a:off x="3288789" y="1150606"/>
            <a:ext cx="24426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2800">
                <a:solidFill>
                  <a:schemeClr val="dk1"/>
                </a:solidFill>
                <a:latin typeface="Malgun Gothic"/>
                <a:ea typeface="Malgun Gothic"/>
                <a:cs typeface="Malgun Gothic"/>
                <a:sym typeface="Malgun Gothic"/>
              </a:rPr>
              <a:t>|</a:t>
            </a:r>
            <a:endParaRPr sz="1800">
              <a:solidFill>
                <a:schemeClr val="dk1"/>
              </a:solidFill>
              <a:latin typeface="Malgun Gothic"/>
              <a:ea typeface="Malgun Gothic"/>
              <a:cs typeface="Malgun Gothic"/>
              <a:sym typeface="Malgun Gothic"/>
            </a:endParaRPr>
          </a:p>
        </p:txBody>
      </p:sp>
      <p:sp>
        <p:nvSpPr>
          <p:cNvPr id="2375" name="Google Shape;2375;p48"/>
          <p:cNvSpPr txBox="1"/>
          <p:nvPr/>
        </p:nvSpPr>
        <p:spPr>
          <a:xfrm>
            <a:off x="3455039" y="1259687"/>
            <a:ext cx="20205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Noto Sans KR"/>
                <a:ea typeface="Noto Sans KR"/>
                <a:cs typeface="Noto Sans KR"/>
                <a:sym typeface="Noto Sans KR"/>
              </a:rPr>
              <a:t>AI 면접 결과 수정</a:t>
            </a: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cxnSp>
        <p:nvCxnSpPr>
          <p:cNvPr id="2376" name="Google Shape;2376;p48"/>
          <p:cNvCxnSpPr/>
          <p:nvPr/>
        </p:nvCxnSpPr>
        <p:spPr>
          <a:xfrm>
            <a:off x="1986465" y="4730972"/>
            <a:ext cx="5033406" cy="191"/>
          </a:xfrm>
          <a:prstGeom prst="straightConnector1">
            <a:avLst/>
          </a:prstGeom>
          <a:noFill/>
          <a:ln cap="flat" cmpd="sng" w="9525">
            <a:solidFill>
              <a:srgbClr val="A5A5A5"/>
            </a:solidFill>
            <a:prstDash val="solid"/>
            <a:miter lim="8000"/>
            <a:headEnd len="sm" w="sm" type="none"/>
            <a:tailEnd len="sm" w="sm" type="none"/>
          </a:ln>
        </p:spPr>
      </p:cxnSp>
      <p:sp>
        <p:nvSpPr>
          <p:cNvPr id="2377" name="Google Shape;2377;p48"/>
          <p:cNvSpPr txBox="1"/>
          <p:nvPr/>
        </p:nvSpPr>
        <p:spPr>
          <a:xfrm>
            <a:off x="1974330" y="1934503"/>
            <a:ext cx="97737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직무이해도</a:t>
            </a:r>
            <a:endParaRPr sz="1100">
              <a:solidFill>
                <a:schemeClr val="dk1"/>
              </a:solidFill>
              <a:latin typeface="Noto Sans KR"/>
              <a:ea typeface="Noto Sans KR"/>
              <a:cs typeface="Noto Sans KR"/>
              <a:sym typeface="Noto Sans KR"/>
            </a:endParaRPr>
          </a:p>
        </p:txBody>
      </p:sp>
      <p:sp>
        <p:nvSpPr>
          <p:cNvPr id="2378" name="Google Shape;2378;p48"/>
          <p:cNvSpPr txBox="1"/>
          <p:nvPr/>
        </p:nvSpPr>
        <p:spPr>
          <a:xfrm>
            <a:off x="2027326" y="2297122"/>
            <a:ext cx="74312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직무경험</a:t>
            </a:r>
            <a:endParaRPr sz="1100">
              <a:solidFill>
                <a:schemeClr val="dk1"/>
              </a:solidFill>
              <a:latin typeface="Noto Sans KR"/>
              <a:ea typeface="Noto Sans KR"/>
              <a:cs typeface="Noto Sans KR"/>
              <a:sym typeface="Noto Sans KR"/>
            </a:endParaRPr>
          </a:p>
        </p:txBody>
      </p:sp>
      <p:sp>
        <p:nvSpPr>
          <p:cNvPr id="2379" name="Google Shape;2379;p48"/>
          <p:cNvSpPr txBox="1"/>
          <p:nvPr/>
        </p:nvSpPr>
        <p:spPr>
          <a:xfrm>
            <a:off x="1920833" y="2591512"/>
            <a:ext cx="101685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직무해결역량</a:t>
            </a:r>
            <a:endParaRPr sz="1100">
              <a:solidFill>
                <a:schemeClr val="dk1"/>
              </a:solidFill>
              <a:latin typeface="Noto Sans KR"/>
              <a:ea typeface="Noto Sans KR"/>
              <a:cs typeface="Noto Sans KR"/>
              <a:sym typeface="Noto Sans KR"/>
            </a:endParaRPr>
          </a:p>
        </p:txBody>
      </p:sp>
      <p:sp>
        <p:nvSpPr>
          <p:cNvPr id="2380" name="Google Shape;2380;p48"/>
          <p:cNvSpPr txBox="1"/>
          <p:nvPr/>
        </p:nvSpPr>
        <p:spPr>
          <a:xfrm>
            <a:off x="1905289" y="2983223"/>
            <a:ext cx="101685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의사소통능력</a:t>
            </a:r>
            <a:endParaRPr sz="1100">
              <a:solidFill>
                <a:schemeClr val="dk1"/>
              </a:solidFill>
              <a:latin typeface="Noto Sans KR"/>
              <a:ea typeface="Noto Sans KR"/>
              <a:cs typeface="Noto Sans KR"/>
              <a:sym typeface="Noto Sans KR"/>
            </a:endParaRPr>
          </a:p>
        </p:txBody>
      </p:sp>
      <p:sp>
        <p:nvSpPr>
          <p:cNvPr id="2381" name="Google Shape;2381;p48"/>
          <p:cNvSpPr txBox="1"/>
          <p:nvPr/>
        </p:nvSpPr>
        <p:spPr>
          <a:xfrm>
            <a:off x="1965795" y="4031024"/>
            <a:ext cx="101685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조직적합성</a:t>
            </a:r>
            <a:endParaRPr sz="1100">
              <a:solidFill>
                <a:schemeClr val="dk1"/>
              </a:solidFill>
              <a:latin typeface="Noto Sans KR"/>
              <a:ea typeface="Noto Sans KR"/>
              <a:cs typeface="Noto Sans KR"/>
              <a:sym typeface="Noto Sans KR"/>
            </a:endParaRPr>
          </a:p>
        </p:txBody>
      </p:sp>
      <p:sp>
        <p:nvSpPr>
          <p:cNvPr id="2382" name="Google Shape;2382;p48"/>
          <p:cNvSpPr txBox="1"/>
          <p:nvPr/>
        </p:nvSpPr>
        <p:spPr>
          <a:xfrm>
            <a:off x="2023263" y="3331644"/>
            <a:ext cx="101685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성장의지</a:t>
            </a:r>
            <a:endParaRPr sz="1100">
              <a:solidFill>
                <a:schemeClr val="dk1"/>
              </a:solidFill>
              <a:latin typeface="Noto Sans KR"/>
              <a:ea typeface="Noto Sans KR"/>
              <a:cs typeface="Noto Sans KR"/>
              <a:sym typeface="Noto Sans KR"/>
            </a:endParaRPr>
          </a:p>
        </p:txBody>
      </p:sp>
      <p:sp>
        <p:nvSpPr>
          <p:cNvPr id="2383" name="Google Shape;2383;p48"/>
          <p:cNvSpPr txBox="1"/>
          <p:nvPr/>
        </p:nvSpPr>
        <p:spPr>
          <a:xfrm>
            <a:off x="1876485" y="3678486"/>
            <a:ext cx="11509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책임 • 성실 태도</a:t>
            </a:r>
            <a:endParaRPr sz="1100">
              <a:solidFill>
                <a:schemeClr val="dk1"/>
              </a:solidFill>
              <a:latin typeface="Noto Sans KR"/>
              <a:ea typeface="Noto Sans KR"/>
              <a:cs typeface="Noto Sans KR"/>
              <a:sym typeface="Noto Sans KR"/>
            </a:endParaRPr>
          </a:p>
        </p:txBody>
      </p:sp>
      <p:grpSp>
        <p:nvGrpSpPr>
          <p:cNvPr id="2384" name="Google Shape;2384;p48"/>
          <p:cNvGrpSpPr/>
          <p:nvPr/>
        </p:nvGrpSpPr>
        <p:grpSpPr>
          <a:xfrm>
            <a:off x="2954811" y="1930356"/>
            <a:ext cx="3703081" cy="235896"/>
            <a:chOff x="2954811" y="1930356"/>
            <a:chExt cx="3703081" cy="235896"/>
          </a:xfrm>
        </p:grpSpPr>
        <p:grpSp>
          <p:nvGrpSpPr>
            <p:cNvPr id="2385" name="Google Shape;2385;p48"/>
            <p:cNvGrpSpPr/>
            <p:nvPr/>
          </p:nvGrpSpPr>
          <p:grpSpPr>
            <a:xfrm>
              <a:off x="2954811" y="1991364"/>
              <a:ext cx="2959755" cy="108000"/>
              <a:chOff x="2843814" y="1991355"/>
              <a:chExt cx="2959755" cy="108000"/>
            </a:xfrm>
          </p:grpSpPr>
          <p:sp>
            <p:nvSpPr>
              <p:cNvPr id="2386" name="Google Shape;2386;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87" name="Google Shape;2387;p48"/>
              <p:cNvSpPr/>
              <p:nvPr/>
            </p:nvSpPr>
            <p:spPr>
              <a:xfrm>
                <a:off x="2843814" y="2032763"/>
                <a:ext cx="20880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88" name="Google Shape;2388;p48"/>
              <p:cNvSpPr/>
              <p:nvPr/>
            </p:nvSpPr>
            <p:spPr>
              <a:xfrm>
                <a:off x="4885430" y="1991355"/>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389" name="Google Shape;2389;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70점</a:t>
              </a:r>
              <a:endParaRPr sz="1200">
                <a:solidFill>
                  <a:schemeClr val="dk1"/>
                </a:solidFill>
                <a:latin typeface="Noto Sans KR"/>
                <a:ea typeface="Noto Sans KR"/>
                <a:cs typeface="Noto Sans KR"/>
                <a:sym typeface="Noto Sans KR"/>
              </a:endParaRPr>
            </a:p>
          </p:txBody>
        </p:sp>
      </p:grpSp>
      <p:grpSp>
        <p:nvGrpSpPr>
          <p:cNvPr id="2390" name="Google Shape;2390;p48"/>
          <p:cNvGrpSpPr/>
          <p:nvPr/>
        </p:nvGrpSpPr>
        <p:grpSpPr>
          <a:xfrm>
            <a:off x="2949899" y="2294854"/>
            <a:ext cx="3703081" cy="235896"/>
            <a:chOff x="2954811" y="1930356"/>
            <a:chExt cx="3703081" cy="235896"/>
          </a:xfrm>
        </p:grpSpPr>
        <p:grpSp>
          <p:nvGrpSpPr>
            <p:cNvPr id="2391" name="Google Shape;2391;p48"/>
            <p:cNvGrpSpPr/>
            <p:nvPr/>
          </p:nvGrpSpPr>
          <p:grpSpPr>
            <a:xfrm>
              <a:off x="2954811" y="2002242"/>
              <a:ext cx="2959755" cy="108000"/>
              <a:chOff x="2843814" y="2002233"/>
              <a:chExt cx="2959755" cy="108000"/>
            </a:xfrm>
          </p:grpSpPr>
          <p:sp>
            <p:nvSpPr>
              <p:cNvPr id="2392" name="Google Shape;2392;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93" name="Google Shape;2393;p48"/>
              <p:cNvSpPr/>
              <p:nvPr/>
            </p:nvSpPr>
            <p:spPr>
              <a:xfrm>
                <a:off x="2843814" y="2032763"/>
                <a:ext cx="18000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94" name="Google Shape;2394;p48"/>
              <p:cNvSpPr/>
              <p:nvPr/>
            </p:nvSpPr>
            <p:spPr>
              <a:xfrm>
                <a:off x="4572610" y="2002233"/>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395" name="Google Shape;2395;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60점</a:t>
              </a:r>
              <a:endParaRPr sz="1200">
                <a:solidFill>
                  <a:schemeClr val="dk1"/>
                </a:solidFill>
                <a:latin typeface="Noto Sans KR"/>
                <a:ea typeface="Noto Sans KR"/>
                <a:cs typeface="Noto Sans KR"/>
                <a:sym typeface="Noto Sans KR"/>
              </a:endParaRPr>
            </a:p>
          </p:txBody>
        </p:sp>
      </p:grpSp>
      <p:grpSp>
        <p:nvGrpSpPr>
          <p:cNvPr id="2396" name="Google Shape;2396;p48"/>
          <p:cNvGrpSpPr/>
          <p:nvPr/>
        </p:nvGrpSpPr>
        <p:grpSpPr>
          <a:xfrm>
            <a:off x="2955744" y="2642365"/>
            <a:ext cx="3703081" cy="235896"/>
            <a:chOff x="2954811" y="1930356"/>
            <a:chExt cx="3703081" cy="235896"/>
          </a:xfrm>
        </p:grpSpPr>
        <p:grpSp>
          <p:nvGrpSpPr>
            <p:cNvPr id="2397" name="Google Shape;2397;p48"/>
            <p:cNvGrpSpPr/>
            <p:nvPr/>
          </p:nvGrpSpPr>
          <p:grpSpPr>
            <a:xfrm>
              <a:off x="2954811" y="1991391"/>
              <a:ext cx="2959755" cy="108000"/>
              <a:chOff x="2843814" y="1991382"/>
              <a:chExt cx="2959755" cy="108000"/>
            </a:xfrm>
          </p:grpSpPr>
          <p:sp>
            <p:nvSpPr>
              <p:cNvPr id="2398" name="Google Shape;2398;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399" name="Google Shape;2399;p48"/>
              <p:cNvSpPr/>
              <p:nvPr/>
            </p:nvSpPr>
            <p:spPr>
              <a:xfrm>
                <a:off x="2843814" y="2032763"/>
                <a:ext cx="23040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00" name="Google Shape;2400;p48"/>
              <p:cNvSpPr/>
              <p:nvPr/>
            </p:nvSpPr>
            <p:spPr>
              <a:xfrm>
                <a:off x="5070047" y="1991382"/>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401" name="Google Shape;2401;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80점</a:t>
              </a:r>
              <a:endParaRPr sz="1200">
                <a:solidFill>
                  <a:schemeClr val="dk1"/>
                </a:solidFill>
                <a:latin typeface="Noto Sans KR"/>
                <a:ea typeface="Noto Sans KR"/>
                <a:cs typeface="Noto Sans KR"/>
                <a:sym typeface="Noto Sans KR"/>
              </a:endParaRPr>
            </a:p>
          </p:txBody>
        </p:sp>
      </p:grpSp>
      <p:grpSp>
        <p:nvGrpSpPr>
          <p:cNvPr id="2402" name="Google Shape;2402;p48"/>
          <p:cNvGrpSpPr/>
          <p:nvPr/>
        </p:nvGrpSpPr>
        <p:grpSpPr>
          <a:xfrm>
            <a:off x="2959323" y="3007014"/>
            <a:ext cx="3703081" cy="235896"/>
            <a:chOff x="2954811" y="1930356"/>
            <a:chExt cx="3703081" cy="235896"/>
          </a:xfrm>
        </p:grpSpPr>
        <p:grpSp>
          <p:nvGrpSpPr>
            <p:cNvPr id="2403" name="Google Shape;2403;p48"/>
            <p:cNvGrpSpPr/>
            <p:nvPr/>
          </p:nvGrpSpPr>
          <p:grpSpPr>
            <a:xfrm>
              <a:off x="2954811" y="2011117"/>
              <a:ext cx="2959755" cy="108000"/>
              <a:chOff x="2843814" y="2011108"/>
              <a:chExt cx="2959755" cy="108000"/>
            </a:xfrm>
          </p:grpSpPr>
          <p:sp>
            <p:nvSpPr>
              <p:cNvPr id="2404" name="Google Shape;2404;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05" name="Google Shape;2405;p48"/>
              <p:cNvSpPr/>
              <p:nvPr/>
            </p:nvSpPr>
            <p:spPr>
              <a:xfrm>
                <a:off x="2843814" y="2032763"/>
                <a:ext cx="26028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06" name="Google Shape;2406;p48"/>
              <p:cNvSpPr/>
              <p:nvPr/>
            </p:nvSpPr>
            <p:spPr>
              <a:xfrm>
                <a:off x="5405748" y="2011108"/>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407" name="Google Shape;2407;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90점</a:t>
              </a:r>
              <a:endParaRPr sz="1200">
                <a:solidFill>
                  <a:schemeClr val="dk1"/>
                </a:solidFill>
                <a:latin typeface="Noto Sans KR"/>
                <a:ea typeface="Noto Sans KR"/>
                <a:cs typeface="Noto Sans KR"/>
                <a:sym typeface="Noto Sans KR"/>
              </a:endParaRPr>
            </a:p>
          </p:txBody>
        </p:sp>
      </p:grpSp>
      <p:grpSp>
        <p:nvGrpSpPr>
          <p:cNvPr id="2408" name="Google Shape;2408;p48"/>
          <p:cNvGrpSpPr/>
          <p:nvPr/>
        </p:nvGrpSpPr>
        <p:grpSpPr>
          <a:xfrm>
            <a:off x="2954411" y="3361576"/>
            <a:ext cx="3703081" cy="235896"/>
            <a:chOff x="2954811" y="1930356"/>
            <a:chExt cx="3703081" cy="235896"/>
          </a:xfrm>
        </p:grpSpPr>
        <p:grpSp>
          <p:nvGrpSpPr>
            <p:cNvPr id="2409" name="Google Shape;2409;p48"/>
            <p:cNvGrpSpPr/>
            <p:nvPr/>
          </p:nvGrpSpPr>
          <p:grpSpPr>
            <a:xfrm>
              <a:off x="2954811" y="2002685"/>
              <a:ext cx="2959755" cy="108000"/>
              <a:chOff x="2843814" y="2002676"/>
              <a:chExt cx="2959755" cy="108000"/>
            </a:xfrm>
          </p:grpSpPr>
          <p:sp>
            <p:nvSpPr>
              <p:cNvPr id="2410" name="Google Shape;2410;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11" name="Google Shape;2411;p48"/>
              <p:cNvSpPr/>
              <p:nvPr/>
            </p:nvSpPr>
            <p:spPr>
              <a:xfrm>
                <a:off x="2843814" y="2032763"/>
                <a:ext cx="20160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12" name="Google Shape;2412;p48"/>
              <p:cNvSpPr/>
              <p:nvPr/>
            </p:nvSpPr>
            <p:spPr>
              <a:xfrm>
                <a:off x="4764948" y="2002676"/>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413" name="Google Shape;2413;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60점</a:t>
              </a:r>
              <a:endParaRPr sz="1200">
                <a:solidFill>
                  <a:schemeClr val="dk1"/>
                </a:solidFill>
                <a:latin typeface="Noto Sans KR"/>
                <a:ea typeface="Noto Sans KR"/>
                <a:cs typeface="Noto Sans KR"/>
                <a:sym typeface="Noto Sans KR"/>
              </a:endParaRPr>
            </a:p>
          </p:txBody>
        </p:sp>
      </p:grpSp>
      <p:grpSp>
        <p:nvGrpSpPr>
          <p:cNvPr id="2414" name="Google Shape;2414;p48"/>
          <p:cNvGrpSpPr/>
          <p:nvPr/>
        </p:nvGrpSpPr>
        <p:grpSpPr>
          <a:xfrm>
            <a:off x="2949913" y="3707437"/>
            <a:ext cx="3703081" cy="235896"/>
            <a:chOff x="2954811" y="1930356"/>
            <a:chExt cx="3703081" cy="235896"/>
          </a:xfrm>
        </p:grpSpPr>
        <p:grpSp>
          <p:nvGrpSpPr>
            <p:cNvPr id="2415" name="Google Shape;2415;p48"/>
            <p:cNvGrpSpPr/>
            <p:nvPr/>
          </p:nvGrpSpPr>
          <p:grpSpPr>
            <a:xfrm>
              <a:off x="2954811" y="1991391"/>
              <a:ext cx="2959755" cy="108000"/>
              <a:chOff x="2843814" y="1991382"/>
              <a:chExt cx="2959755" cy="108000"/>
            </a:xfrm>
          </p:grpSpPr>
          <p:sp>
            <p:nvSpPr>
              <p:cNvPr id="2416" name="Google Shape;2416;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17" name="Google Shape;2417;p48"/>
              <p:cNvSpPr/>
              <p:nvPr/>
            </p:nvSpPr>
            <p:spPr>
              <a:xfrm>
                <a:off x="2843814" y="2032763"/>
                <a:ext cx="23040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18" name="Google Shape;2418;p48"/>
              <p:cNvSpPr/>
              <p:nvPr/>
            </p:nvSpPr>
            <p:spPr>
              <a:xfrm>
                <a:off x="5070047" y="1991382"/>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419" name="Google Shape;2419;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80점</a:t>
              </a:r>
              <a:endParaRPr sz="1200">
                <a:solidFill>
                  <a:schemeClr val="dk1"/>
                </a:solidFill>
                <a:latin typeface="Noto Sans KR"/>
                <a:ea typeface="Noto Sans KR"/>
                <a:cs typeface="Noto Sans KR"/>
                <a:sym typeface="Noto Sans KR"/>
              </a:endParaRPr>
            </a:p>
          </p:txBody>
        </p:sp>
      </p:grpSp>
      <p:grpSp>
        <p:nvGrpSpPr>
          <p:cNvPr id="2420" name="Google Shape;2420;p48"/>
          <p:cNvGrpSpPr/>
          <p:nvPr/>
        </p:nvGrpSpPr>
        <p:grpSpPr>
          <a:xfrm>
            <a:off x="2962639" y="4043750"/>
            <a:ext cx="3703081" cy="235896"/>
            <a:chOff x="2954811" y="1930356"/>
            <a:chExt cx="3703081" cy="235896"/>
          </a:xfrm>
        </p:grpSpPr>
        <p:grpSp>
          <p:nvGrpSpPr>
            <p:cNvPr id="2421" name="Google Shape;2421;p48"/>
            <p:cNvGrpSpPr/>
            <p:nvPr/>
          </p:nvGrpSpPr>
          <p:grpSpPr>
            <a:xfrm>
              <a:off x="2954811" y="1991391"/>
              <a:ext cx="2959755" cy="108000"/>
              <a:chOff x="2843814" y="1991382"/>
              <a:chExt cx="2959755" cy="108000"/>
            </a:xfrm>
          </p:grpSpPr>
          <p:sp>
            <p:nvSpPr>
              <p:cNvPr id="2422" name="Google Shape;2422;p48"/>
              <p:cNvSpPr/>
              <p:nvPr/>
            </p:nvSpPr>
            <p:spPr>
              <a:xfrm>
                <a:off x="2848326" y="2028295"/>
                <a:ext cx="2955243" cy="45719"/>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23" name="Google Shape;2423;p48"/>
              <p:cNvSpPr/>
              <p:nvPr/>
            </p:nvSpPr>
            <p:spPr>
              <a:xfrm>
                <a:off x="2843814" y="2032763"/>
                <a:ext cx="2304000" cy="45719"/>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24" name="Google Shape;2424;p48"/>
              <p:cNvSpPr/>
              <p:nvPr/>
            </p:nvSpPr>
            <p:spPr>
              <a:xfrm>
                <a:off x="5070047" y="1991382"/>
                <a:ext cx="108000" cy="108000"/>
              </a:xfrm>
              <a:prstGeom prst="ellipse">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425" name="Google Shape;2425;p48"/>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80점</a:t>
              </a:r>
              <a:endParaRPr sz="1200">
                <a:solidFill>
                  <a:schemeClr val="dk1"/>
                </a:solidFill>
                <a:latin typeface="Noto Sans KR"/>
                <a:ea typeface="Noto Sans KR"/>
                <a:cs typeface="Noto Sans KR"/>
                <a:sym typeface="Noto Sans KR"/>
              </a:endParaRPr>
            </a:p>
          </p:txBody>
        </p:sp>
      </p:grpSp>
      <p:sp>
        <p:nvSpPr>
          <p:cNvPr id="2426" name="Google Shape;2426;p48"/>
          <p:cNvSpPr txBox="1"/>
          <p:nvPr/>
        </p:nvSpPr>
        <p:spPr>
          <a:xfrm>
            <a:off x="1978274" y="4770721"/>
            <a:ext cx="80074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200">
                <a:solidFill>
                  <a:schemeClr val="dk1"/>
                </a:solidFill>
                <a:latin typeface="Noto Sans KR"/>
                <a:ea typeface="Noto Sans KR"/>
                <a:cs typeface="Noto Sans KR"/>
                <a:sym typeface="Noto Sans KR"/>
              </a:rPr>
              <a:t>수정이력</a:t>
            </a:r>
            <a:endParaRPr b="1" sz="1200">
              <a:solidFill>
                <a:schemeClr val="dk1"/>
              </a:solidFill>
              <a:latin typeface="Noto Sans KR"/>
              <a:ea typeface="Noto Sans KR"/>
              <a:cs typeface="Noto Sans KR"/>
              <a:sym typeface="Noto Sans KR"/>
            </a:endParaRPr>
          </a:p>
        </p:txBody>
      </p:sp>
      <p:sp>
        <p:nvSpPr>
          <p:cNvPr id="2427" name="Google Shape;2427;p48"/>
          <p:cNvSpPr txBox="1"/>
          <p:nvPr/>
        </p:nvSpPr>
        <p:spPr>
          <a:xfrm>
            <a:off x="1996988" y="4365147"/>
            <a:ext cx="103624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최종 결과</a:t>
            </a:r>
            <a:endParaRPr sz="1400">
              <a:solidFill>
                <a:schemeClr val="dk1"/>
              </a:solidFill>
              <a:latin typeface="Noto Sans KR"/>
              <a:ea typeface="Noto Sans KR"/>
              <a:cs typeface="Noto Sans KR"/>
              <a:sym typeface="Noto Sans KR"/>
            </a:endParaRPr>
          </a:p>
        </p:txBody>
      </p:sp>
      <p:sp>
        <p:nvSpPr>
          <p:cNvPr id="2428" name="Google Shape;2428;p48"/>
          <p:cNvSpPr/>
          <p:nvPr/>
        </p:nvSpPr>
        <p:spPr>
          <a:xfrm>
            <a:off x="3089018" y="4394789"/>
            <a:ext cx="699035" cy="242916"/>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400">
                <a:solidFill>
                  <a:schemeClr val="lt1"/>
                </a:solidFill>
                <a:latin typeface="Noto Sans KR"/>
                <a:ea typeface="Noto Sans KR"/>
                <a:cs typeface="Noto Sans KR"/>
                <a:sym typeface="Noto Sans KR"/>
              </a:rPr>
              <a:t>합격</a:t>
            </a:r>
            <a:endParaRPr sz="1400">
              <a:solidFill>
                <a:schemeClr val="lt1"/>
              </a:solidFill>
              <a:latin typeface="Noto Sans KR"/>
              <a:ea typeface="Noto Sans KR"/>
              <a:cs typeface="Noto Sans KR"/>
              <a:sym typeface="Noto Sans KR"/>
            </a:endParaRPr>
          </a:p>
        </p:txBody>
      </p:sp>
      <p:sp>
        <p:nvSpPr>
          <p:cNvPr id="2429" name="Google Shape;2429;p48"/>
          <p:cNvSpPr/>
          <p:nvPr/>
        </p:nvSpPr>
        <p:spPr>
          <a:xfrm>
            <a:off x="3968188" y="4398141"/>
            <a:ext cx="699035" cy="242916"/>
          </a:xfrm>
          <a:prstGeom prst="roundRect">
            <a:avLst>
              <a:gd fmla="val 16667" name="adj"/>
            </a:avLst>
          </a:prstGeom>
          <a:solidFill>
            <a:srgbClr val="C00000"/>
          </a:solidFill>
          <a:ln cap="flat" cmpd="sng" w="127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400">
                <a:solidFill>
                  <a:schemeClr val="lt1"/>
                </a:solidFill>
                <a:latin typeface="Noto Sans KR"/>
                <a:ea typeface="Noto Sans KR"/>
                <a:cs typeface="Noto Sans KR"/>
                <a:sym typeface="Noto Sans KR"/>
              </a:rPr>
              <a:t>불합격</a:t>
            </a:r>
            <a:endParaRPr sz="1400">
              <a:solidFill>
                <a:schemeClr val="lt1"/>
              </a:solidFill>
              <a:latin typeface="Noto Sans KR"/>
              <a:ea typeface="Noto Sans KR"/>
              <a:cs typeface="Noto Sans KR"/>
              <a:sym typeface="Noto Sans KR"/>
            </a:endParaRPr>
          </a:p>
        </p:txBody>
      </p:sp>
      <p:sp>
        <p:nvSpPr>
          <p:cNvPr id="2430" name="Google Shape;2430;p48"/>
          <p:cNvSpPr/>
          <p:nvPr/>
        </p:nvSpPr>
        <p:spPr>
          <a:xfrm>
            <a:off x="4798854" y="4403556"/>
            <a:ext cx="699035" cy="242916"/>
          </a:xfrm>
          <a:prstGeom prst="roundRect">
            <a:avLst>
              <a:gd fmla="val 16667" name="adj"/>
            </a:avLst>
          </a:prstGeom>
          <a:solidFill>
            <a:srgbClr val="A5A5A5"/>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400">
                <a:solidFill>
                  <a:schemeClr val="lt1"/>
                </a:solidFill>
                <a:latin typeface="Noto Sans KR"/>
                <a:ea typeface="Noto Sans KR"/>
                <a:cs typeface="Noto Sans KR"/>
                <a:sym typeface="Noto Sans KR"/>
              </a:rPr>
              <a:t>보류</a:t>
            </a:r>
            <a:endParaRPr sz="1400">
              <a:solidFill>
                <a:schemeClr val="lt1"/>
              </a:solidFill>
              <a:latin typeface="Noto Sans KR"/>
              <a:ea typeface="Noto Sans KR"/>
              <a:cs typeface="Noto Sans KR"/>
              <a:sym typeface="Noto Sans KR"/>
            </a:endParaRPr>
          </a:p>
        </p:txBody>
      </p:sp>
      <p:sp>
        <p:nvSpPr>
          <p:cNvPr id="2431" name="Google Shape;2431;p48"/>
          <p:cNvSpPr txBox="1"/>
          <p:nvPr/>
        </p:nvSpPr>
        <p:spPr>
          <a:xfrm>
            <a:off x="2016327" y="5026451"/>
            <a:ext cx="1951861"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의사소통능력 : 70점 → 90점</a:t>
            </a:r>
            <a:endParaRPr sz="11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조직적합성 : 70점 → 80점</a:t>
            </a:r>
            <a:endParaRPr sz="11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최종 결과 : </a:t>
            </a:r>
            <a:r>
              <a:rPr lang="ko-KR" sz="1100">
                <a:solidFill>
                  <a:srgbClr val="C00000"/>
                </a:solidFill>
                <a:latin typeface="Noto Sans KR"/>
                <a:ea typeface="Noto Sans KR"/>
                <a:cs typeface="Noto Sans KR"/>
                <a:sym typeface="Noto Sans KR"/>
              </a:rPr>
              <a:t>불합격</a:t>
            </a:r>
            <a:r>
              <a:rPr lang="ko-KR" sz="1100">
                <a:solidFill>
                  <a:schemeClr val="dk1"/>
                </a:solidFill>
                <a:latin typeface="Noto Sans KR"/>
                <a:ea typeface="Noto Sans KR"/>
                <a:cs typeface="Noto Sans KR"/>
                <a:sym typeface="Noto Sans KR"/>
              </a:rPr>
              <a:t> → </a:t>
            </a:r>
            <a:r>
              <a:rPr lang="ko-KR" sz="1100">
                <a:solidFill>
                  <a:srgbClr val="0070C0"/>
                </a:solidFill>
                <a:latin typeface="Noto Sans KR"/>
                <a:ea typeface="Noto Sans KR"/>
                <a:cs typeface="Noto Sans KR"/>
                <a:sym typeface="Noto Sans KR"/>
              </a:rPr>
              <a:t>합격     </a:t>
            </a:r>
            <a:endParaRPr sz="1100">
              <a:solidFill>
                <a:srgbClr val="0070C0"/>
              </a:solidFill>
              <a:latin typeface="Noto Sans KR"/>
              <a:ea typeface="Noto Sans KR"/>
              <a:cs typeface="Noto Sans KR"/>
              <a:sym typeface="Noto Sans KR"/>
            </a:endParaRPr>
          </a:p>
        </p:txBody>
      </p:sp>
      <p:sp>
        <p:nvSpPr>
          <p:cNvPr id="2432" name="Google Shape;2432;p48"/>
          <p:cNvSpPr/>
          <p:nvPr/>
        </p:nvSpPr>
        <p:spPr>
          <a:xfrm>
            <a:off x="3044315" y="4369956"/>
            <a:ext cx="789605" cy="299257"/>
          </a:xfrm>
          <a:prstGeom prst="roundRect">
            <a:avLst>
              <a:gd fmla="val 16667" name="adj"/>
            </a:avLst>
          </a:prstGeom>
          <a:noFill/>
          <a:ln cap="flat" cmpd="sng" w="381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33" name="Google Shape;2433;p48"/>
          <p:cNvSpPr txBox="1"/>
          <p:nvPr/>
        </p:nvSpPr>
        <p:spPr>
          <a:xfrm>
            <a:off x="4376803" y="5379887"/>
            <a:ext cx="3047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수정일자 2026-01-26 15:33:34   수정자 : 홍길동</a:t>
            </a:r>
            <a:endParaRPr sz="1000">
              <a:solidFill>
                <a:schemeClr val="dk1"/>
              </a:solidFill>
              <a:latin typeface="Noto Sans KR"/>
              <a:ea typeface="Noto Sans KR"/>
              <a:cs typeface="Noto Sans KR"/>
              <a:sym typeface="Noto Sans KR"/>
            </a:endParaRPr>
          </a:p>
        </p:txBody>
      </p:sp>
      <p:cxnSp>
        <p:nvCxnSpPr>
          <p:cNvPr id="2434" name="Google Shape;2434;p48"/>
          <p:cNvCxnSpPr/>
          <p:nvPr/>
        </p:nvCxnSpPr>
        <p:spPr>
          <a:xfrm>
            <a:off x="1936201" y="5668899"/>
            <a:ext cx="5033406" cy="191"/>
          </a:xfrm>
          <a:prstGeom prst="straightConnector1">
            <a:avLst/>
          </a:prstGeom>
          <a:noFill/>
          <a:ln cap="flat" cmpd="sng" w="9525">
            <a:solidFill>
              <a:srgbClr val="A5A5A5"/>
            </a:solidFill>
            <a:prstDash val="solid"/>
            <a:miter lim="8000"/>
            <a:headEnd len="sm" w="sm" type="none"/>
            <a:tailEnd len="sm" w="sm" type="none"/>
          </a:ln>
        </p:spPr>
      </p:cxnSp>
      <p:sp>
        <p:nvSpPr>
          <p:cNvPr id="2435" name="Google Shape;2435;p48"/>
          <p:cNvSpPr/>
          <p:nvPr/>
        </p:nvSpPr>
        <p:spPr>
          <a:xfrm>
            <a:off x="6557864" y="6117231"/>
            <a:ext cx="464732" cy="219856"/>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저장</a:t>
            </a:r>
            <a:endParaRPr sz="1000">
              <a:solidFill>
                <a:schemeClr val="lt1"/>
              </a:solidFill>
              <a:latin typeface="Noto Sans KR"/>
              <a:ea typeface="Noto Sans KR"/>
              <a:cs typeface="Noto Sans KR"/>
              <a:sym typeface="Noto Sans KR"/>
            </a:endParaRPr>
          </a:p>
        </p:txBody>
      </p:sp>
      <p:sp>
        <p:nvSpPr>
          <p:cNvPr id="2436" name="Google Shape;2436;p48"/>
          <p:cNvSpPr/>
          <p:nvPr/>
        </p:nvSpPr>
        <p:spPr>
          <a:xfrm>
            <a:off x="6000325" y="6127525"/>
            <a:ext cx="464732" cy="21985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취소</a:t>
            </a:r>
            <a:endParaRPr/>
          </a:p>
        </p:txBody>
      </p:sp>
      <p:sp>
        <p:nvSpPr>
          <p:cNvPr id="2437" name="Google Shape;2437;p48"/>
          <p:cNvSpPr/>
          <p:nvPr/>
        </p:nvSpPr>
        <p:spPr>
          <a:xfrm>
            <a:off x="1785245" y="116120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438" name="Google Shape;2438;p48"/>
          <p:cNvSpPr/>
          <p:nvPr/>
        </p:nvSpPr>
        <p:spPr>
          <a:xfrm>
            <a:off x="3471561" y="110118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439" name="Google Shape;2439;p48"/>
          <p:cNvSpPr/>
          <p:nvPr/>
        </p:nvSpPr>
        <p:spPr>
          <a:xfrm>
            <a:off x="1831991" y="180788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440" name="Google Shape;2440;p48"/>
          <p:cNvSpPr/>
          <p:nvPr/>
        </p:nvSpPr>
        <p:spPr>
          <a:xfrm>
            <a:off x="5845600" y="175710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441" name="Google Shape;2441;p48"/>
          <p:cNvSpPr/>
          <p:nvPr/>
        </p:nvSpPr>
        <p:spPr>
          <a:xfrm>
            <a:off x="1861063" y="430205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442" name="Google Shape;2442;p48"/>
          <p:cNvSpPr/>
          <p:nvPr/>
        </p:nvSpPr>
        <p:spPr>
          <a:xfrm>
            <a:off x="1800325" y="474053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443" name="Google Shape;2443;p48"/>
          <p:cNvSpPr/>
          <p:nvPr/>
        </p:nvSpPr>
        <p:spPr>
          <a:xfrm>
            <a:off x="5776222" y="599463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444" name="Google Shape;2444;p48"/>
          <p:cNvSpPr/>
          <p:nvPr/>
        </p:nvSpPr>
        <p:spPr>
          <a:xfrm>
            <a:off x="6474963" y="597358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2445" name="Google Shape;2445;p48"/>
          <p:cNvSpPr/>
          <p:nvPr/>
        </p:nvSpPr>
        <p:spPr>
          <a:xfrm>
            <a:off x="6648574" y="110444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0" name="Shape 2450"/>
        <p:cNvGrpSpPr/>
        <p:nvPr/>
      </p:nvGrpSpPr>
      <p:grpSpPr>
        <a:xfrm>
          <a:off x="0" y="0"/>
          <a:ext cx="0" cy="0"/>
          <a:chOff x="0" y="0"/>
          <a:chExt cx="0" cy="0"/>
        </a:xfrm>
      </p:grpSpPr>
      <p:sp>
        <p:nvSpPr>
          <p:cNvPr id="2451" name="Google Shape;2451;p49"/>
          <p:cNvSpPr txBox="1"/>
          <p:nvPr>
            <p:ph type="title"/>
          </p:nvPr>
        </p:nvSpPr>
        <p:spPr>
          <a:xfrm>
            <a:off x="459537"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결과 분석</a:t>
            </a:r>
            <a:endParaRPr sz="2400"/>
          </a:p>
        </p:txBody>
      </p:sp>
      <p:sp>
        <p:nvSpPr>
          <p:cNvPr id="2452" name="Google Shape;2452;p49"/>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453" name="Google Shape;2453;p49"/>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454" name="Google Shape;2454;p49"/>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455" name="Google Shape;2455;p49"/>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456" name="Google Shape;2456;p49"/>
          <p:cNvGraphicFramePr/>
          <p:nvPr/>
        </p:nvGraphicFramePr>
        <p:xfrm>
          <a:off x="8561828" y="1054743"/>
          <a:ext cx="3000000" cy="3000000"/>
        </p:xfrm>
        <a:graphic>
          <a:graphicData uri="http://schemas.openxmlformats.org/drawingml/2006/table">
            <a:tbl>
              <a:tblPr bandRow="1" firstRow="1">
                <a:noFill/>
                <a:tableStyleId>{C61F204E-A15B-47D6-BEBB-6A886D3283EB}</a:tableStyleId>
              </a:tblPr>
              <a:tblGrid>
                <a:gridCol w="452875"/>
                <a:gridCol w="2823375"/>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화면 타이틀 영역</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조회 조건 입력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결과 목록을 필터링하기 위한 기본 검색 조건 입력 영역</a:t>
                      </a:r>
                      <a:endParaRPr b="0"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[구성] 항목직무: 채용 직무 기준 필터링면접코드: 특정 면접 회차 또는 공고 단위 조회현황: 예비 합격 / 불합격 / 최종 합격 등 상태 기준 필터기간: 면접 진행일 기준 기간 검색</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검색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조회 조건을 기준으로 면접 결과 목록 조회</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조건 미입력 시 전체 내역 조회</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초기화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입력된 모든 조회 조건을 기본값으로 초기화</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목록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[주요 컬럼] 체크박스,지원자 정보(사진, 이름),지원 직무,면접일,결과 상태,관리영역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삭제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데이터 삭제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삭제 전 최종 확인 팝업 안내 제공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선택 변경 버튼</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조회된 목록에서 체크박스로 선택한 면접 결과 변경 화면으로 이동 (복수 선택 불가)</a:t>
                      </a: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이동 전 최죙 변경 확인 팝업 안내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결과 상세 보기 버튼</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해당 목록 지원자의 면접 결과 INT-06-1 화면으로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이력 보기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평가/결과가 수정,확정된 이력을 팝업창으로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1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재평가 요청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기존 평가에 대해 재평가 요청 등록 면접 결과 상태 보류 상태로 변경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7250">
                <a:tc gridSpan="2">
                  <a:txBody>
                    <a:bodyPr/>
                    <a:lstStyle/>
                    <a:p>
                      <a:pPr indent="0" lvl="0" marL="0" marR="0" rtl="0" algn="ctr">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2457" name="Google Shape;2457;p49"/>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452000"/>
                <a:gridCol w="28326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INT-06</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결과 분석 목록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면접관리자가 </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458" name="Google Shape;2458;p49"/>
          <p:cNvSpPr/>
          <p:nvPr/>
        </p:nvSpPr>
        <p:spPr>
          <a:xfrm>
            <a:off x="335381" y="1119675"/>
            <a:ext cx="8132343" cy="5410200"/>
          </a:xfrm>
          <a:prstGeom prst="rect">
            <a:avLst/>
          </a:prstGeom>
          <a:solidFill>
            <a:srgbClr val="D8D8D8"/>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459" name="Google Shape;2459;p49"/>
          <p:cNvPicPr preferRelativeResize="0"/>
          <p:nvPr/>
        </p:nvPicPr>
        <p:blipFill rotWithShape="1">
          <a:blip r:embed="rId3">
            <a:alphaModFix/>
          </a:blip>
          <a:srcRect b="0" l="0" r="0" t="0"/>
          <a:stretch/>
        </p:blipFill>
        <p:spPr>
          <a:xfrm>
            <a:off x="335381" y="1059018"/>
            <a:ext cx="1932170" cy="522134"/>
          </a:xfrm>
          <a:prstGeom prst="rect">
            <a:avLst/>
          </a:prstGeom>
          <a:noFill/>
          <a:ln>
            <a:noFill/>
          </a:ln>
        </p:spPr>
      </p:pic>
      <p:grpSp>
        <p:nvGrpSpPr>
          <p:cNvPr id="2460" name="Google Shape;2460;p49"/>
          <p:cNvGrpSpPr/>
          <p:nvPr/>
        </p:nvGrpSpPr>
        <p:grpSpPr>
          <a:xfrm>
            <a:off x="318669" y="1595887"/>
            <a:ext cx="2141093" cy="4938263"/>
            <a:chOff x="335382" y="1595886"/>
            <a:chExt cx="2141093" cy="4938263"/>
          </a:xfrm>
        </p:grpSpPr>
        <p:sp>
          <p:nvSpPr>
            <p:cNvPr id="2461" name="Google Shape;2461;p49"/>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62" name="Google Shape;2462;p49"/>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2463" name="Google Shape;2463;p49"/>
            <p:cNvPicPr preferRelativeResize="0"/>
            <p:nvPr/>
          </p:nvPicPr>
          <p:blipFill rotWithShape="1">
            <a:blip r:embed="rId4">
              <a:alphaModFix/>
            </a:blip>
            <a:srcRect b="0" l="0" r="0" t="0"/>
            <a:stretch/>
          </p:blipFill>
          <p:spPr>
            <a:xfrm>
              <a:off x="477692" y="1740185"/>
              <a:ext cx="186542" cy="186542"/>
            </a:xfrm>
            <a:prstGeom prst="rect">
              <a:avLst/>
            </a:prstGeom>
            <a:noFill/>
            <a:ln>
              <a:noFill/>
            </a:ln>
          </p:spPr>
        </p:pic>
        <p:cxnSp>
          <p:nvCxnSpPr>
            <p:cNvPr id="2464" name="Google Shape;2464;p49"/>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2465" name="Google Shape;2465;p49"/>
            <p:cNvGrpSpPr/>
            <p:nvPr/>
          </p:nvGrpSpPr>
          <p:grpSpPr>
            <a:xfrm>
              <a:off x="450266" y="2390557"/>
              <a:ext cx="1756549" cy="352030"/>
              <a:chOff x="450266" y="1209410"/>
              <a:chExt cx="1756549" cy="352030"/>
            </a:xfrm>
          </p:grpSpPr>
          <p:cxnSp>
            <p:nvCxnSpPr>
              <p:cNvPr id="2466" name="Google Shape;2466;p49"/>
              <p:cNvCxnSpPr/>
              <p:nvPr/>
            </p:nvCxnSpPr>
            <p:spPr>
              <a:xfrm>
                <a:off x="477692" y="1561440"/>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467" name="Google Shape;2467;p49"/>
              <p:cNvSpPr txBox="1"/>
              <p:nvPr/>
            </p:nvSpPr>
            <p:spPr>
              <a:xfrm>
                <a:off x="450266" y="1209410"/>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면접 현황                ∧               </a:t>
                </a:r>
                <a:endParaRPr sz="1400">
                  <a:solidFill>
                    <a:srgbClr val="BFBFBF"/>
                  </a:solidFill>
                  <a:latin typeface="Noto Sans KR"/>
                  <a:ea typeface="Noto Sans KR"/>
                  <a:cs typeface="Noto Sans KR"/>
                  <a:sym typeface="Noto Sans KR"/>
                </a:endParaRPr>
              </a:p>
            </p:txBody>
          </p:sp>
        </p:grpSp>
        <p:grpSp>
          <p:nvGrpSpPr>
            <p:cNvPr id="2468" name="Google Shape;2468;p49"/>
            <p:cNvGrpSpPr/>
            <p:nvPr/>
          </p:nvGrpSpPr>
          <p:grpSpPr>
            <a:xfrm>
              <a:off x="586240" y="2927871"/>
              <a:ext cx="1890235" cy="879955"/>
              <a:chOff x="387847" y="2881173"/>
              <a:chExt cx="2116652" cy="885768"/>
            </a:xfrm>
          </p:grpSpPr>
          <p:sp>
            <p:nvSpPr>
              <p:cNvPr id="2469" name="Google Shape;2469;p49"/>
              <p:cNvSpPr txBox="1"/>
              <p:nvPr/>
            </p:nvSpPr>
            <p:spPr>
              <a:xfrm>
                <a:off x="387847" y="2881173"/>
                <a:ext cx="2116652" cy="278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BFBFBF"/>
                  </a:solidFill>
                  <a:latin typeface="Noto Sans KR"/>
                  <a:ea typeface="Noto Sans KR"/>
                  <a:cs typeface="Noto Sans KR"/>
                  <a:sym typeface="Noto Sans KR"/>
                </a:endParaRPr>
              </a:p>
            </p:txBody>
          </p:sp>
          <p:cxnSp>
            <p:nvCxnSpPr>
              <p:cNvPr id="2470" name="Google Shape;2470;p49"/>
              <p:cNvCxnSpPr/>
              <p:nvPr/>
            </p:nvCxnSpPr>
            <p:spPr>
              <a:xfrm flipH="1" rot="10800000">
                <a:off x="627550" y="3762117"/>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2471" name="Google Shape;2471;p49"/>
            <p:cNvGrpSpPr/>
            <p:nvPr/>
          </p:nvGrpSpPr>
          <p:grpSpPr>
            <a:xfrm>
              <a:off x="437361" y="3993527"/>
              <a:ext cx="1756549" cy="350847"/>
              <a:chOff x="437361" y="1889881"/>
              <a:chExt cx="1756549" cy="350847"/>
            </a:xfrm>
          </p:grpSpPr>
          <p:cxnSp>
            <p:nvCxnSpPr>
              <p:cNvPr id="2472" name="Google Shape;2472;p49"/>
              <p:cNvCxnSpPr/>
              <p:nvPr/>
            </p:nvCxnSpPr>
            <p:spPr>
              <a:xfrm>
                <a:off x="518358" y="2240728"/>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473" name="Google Shape;2473;p49"/>
              <p:cNvSpPr txBox="1"/>
              <p:nvPr/>
            </p:nvSpPr>
            <p:spPr>
              <a:xfrm>
                <a:off x="437361" y="1889881"/>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Rubrics                 ∨                </a:t>
                </a:r>
                <a:endParaRPr sz="1400">
                  <a:solidFill>
                    <a:srgbClr val="BFBFBF"/>
                  </a:solidFill>
                  <a:latin typeface="Noto Sans KR"/>
                  <a:ea typeface="Noto Sans KR"/>
                  <a:cs typeface="Noto Sans KR"/>
                  <a:sym typeface="Noto Sans KR"/>
                </a:endParaRPr>
              </a:p>
            </p:txBody>
          </p:sp>
        </p:grpSp>
      </p:grpSp>
      <p:cxnSp>
        <p:nvCxnSpPr>
          <p:cNvPr id="2474" name="Google Shape;2474;p49"/>
          <p:cNvCxnSpPr/>
          <p:nvPr/>
        </p:nvCxnSpPr>
        <p:spPr>
          <a:xfrm>
            <a:off x="2267551" y="1120898"/>
            <a:ext cx="0" cy="5413252"/>
          </a:xfrm>
          <a:prstGeom prst="straightConnector1">
            <a:avLst/>
          </a:prstGeom>
          <a:noFill/>
          <a:ln cap="flat" cmpd="sng" w="9525">
            <a:solidFill>
              <a:srgbClr val="BFBFBF"/>
            </a:solidFill>
            <a:prstDash val="solid"/>
            <a:miter lim="8000"/>
            <a:headEnd len="sm" w="sm" type="none"/>
            <a:tailEnd len="sm" w="sm" type="none"/>
          </a:ln>
        </p:spPr>
      </p:cxnSp>
      <p:sp>
        <p:nvSpPr>
          <p:cNvPr id="2475" name="Google Shape;2475;p49"/>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2476" name="Google Shape;2476;p49"/>
          <p:cNvSpPr/>
          <p:nvPr/>
        </p:nvSpPr>
        <p:spPr>
          <a:xfrm>
            <a:off x="7896250" y="1179197"/>
            <a:ext cx="380984" cy="361442"/>
          </a:xfrm>
          <a:prstGeom prst="ellipse">
            <a:avLst/>
          </a:prstGeom>
          <a:blipFill rotWithShape="1">
            <a:blip r:embed="rId5">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477" name="Google Shape;2477;p49"/>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sp>
        <p:nvSpPr>
          <p:cNvPr id="2478" name="Google Shape;2478;p49"/>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결과 분석</a:t>
            </a:r>
            <a:endParaRPr b="1" sz="1800">
              <a:solidFill>
                <a:srgbClr val="7F7F7F"/>
              </a:solidFill>
              <a:latin typeface="Noto Sans KR"/>
              <a:ea typeface="Noto Sans KR"/>
              <a:cs typeface="Noto Sans KR"/>
              <a:sym typeface="Noto Sans KR"/>
            </a:endParaRPr>
          </a:p>
        </p:txBody>
      </p:sp>
      <p:cxnSp>
        <p:nvCxnSpPr>
          <p:cNvPr id="2479" name="Google Shape;2479;p49"/>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grpSp>
        <p:nvGrpSpPr>
          <p:cNvPr id="2480" name="Google Shape;2480;p49"/>
          <p:cNvGrpSpPr/>
          <p:nvPr/>
        </p:nvGrpSpPr>
        <p:grpSpPr>
          <a:xfrm>
            <a:off x="435703" y="6134926"/>
            <a:ext cx="1066433" cy="338554"/>
            <a:chOff x="417309" y="6108345"/>
            <a:chExt cx="1066433" cy="338554"/>
          </a:xfrm>
        </p:grpSpPr>
        <p:pic>
          <p:nvPicPr>
            <p:cNvPr id="2481" name="Google Shape;2481;p49"/>
            <p:cNvPicPr preferRelativeResize="0"/>
            <p:nvPr/>
          </p:nvPicPr>
          <p:blipFill rotWithShape="1">
            <a:blip r:embed="rId6">
              <a:alphaModFix/>
            </a:blip>
            <a:srcRect b="0" l="0" r="0" t="0"/>
            <a:stretch/>
          </p:blipFill>
          <p:spPr>
            <a:xfrm>
              <a:off x="417309" y="6148038"/>
              <a:ext cx="246925" cy="280330"/>
            </a:xfrm>
            <a:prstGeom prst="rect">
              <a:avLst/>
            </a:prstGeom>
            <a:noFill/>
            <a:ln>
              <a:noFill/>
            </a:ln>
          </p:spPr>
        </p:pic>
        <p:sp>
          <p:nvSpPr>
            <p:cNvPr id="2482" name="Google Shape;2482;p49"/>
            <p:cNvSpPr txBox="1"/>
            <p:nvPr/>
          </p:nvSpPr>
          <p:spPr>
            <a:xfrm>
              <a:off x="638355" y="6108345"/>
              <a:ext cx="84538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600">
                  <a:solidFill>
                    <a:srgbClr val="BFBFBF"/>
                  </a:solidFill>
                  <a:latin typeface="Noto Sans KR"/>
                  <a:ea typeface="Noto Sans KR"/>
                  <a:cs typeface="Noto Sans KR"/>
                  <a:sym typeface="Noto Sans KR"/>
                </a:rPr>
                <a:t>설정</a:t>
              </a:r>
              <a:endParaRPr sz="1600">
                <a:solidFill>
                  <a:srgbClr val="BFBFBF"/>
                </a:solidFill>
                <a:latin typeface="Noto Sans KR"/>
                <a:ea typeface="Noto Sans KR"/>
                <a:cs typeface="Noto Sans KR"/>
                <a:sym typeface="Noto Sans KR"/>
              </a:endParaRPr>
            </a:p>
          </p:txBody>
        </p:sp>
      </p:grpSp>
      <p:sp>
        <p:nvSpPr>
          <p:cNvPr id="2483" name="Google Shape;2483;p49"/>
          <p:cNvSpPr/>
          <p:nvPr/>
        </p:nvSpPr>
        <p:spPr>
          <a:xfrm>
            <a:off x="2344287" y="1694647"/>
            <a:ext cx="6049847" cy="753007"/>
          </a:xfrm>
          <a:prstGeom prst="roundRect">
            <a:avLst>
              <a:gd fmla="val 6779"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grpSp>
        <p:nvGrpSpPr>
          <p:cNvPr id="2484" name="Google Shape;2484;p49"/>
          <p:cNvGrpSpPr/>
          <p:nvPr/>
        </p:nvGrpSpPr>
        <p:grpSpPr>
          <a:xfrm>
            <a:off x="2865232" y="2099262"/>
            <a:ext cx="2580899" cy="229403"/>
            <a:chOff x="3967360" y="3563578"/>
            <a:chExt cx="2580899" cy="308569"/>
          </a:xfrm>
        </p:grpSpPr>
        <p:sp>
          <p:nvSpPr>
            <p:cNvPr id="2485" name="Google Shape;2485;p49"/>
            <p:cNvSpPr/>
            <p:nvPr/>
          </p:nvSpPr>
          <p:spPr>
            <a:xfrm>
              <a:off x="3967360" y="3563578"/>
              <a:ext cx="2580899" cy="308569"/>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yyyy-mm-dd ~ yyyy-mm-dd</a:t>
              </a:r>
              <a:endParaRPr sz="1200">
                <a:solidFill>
                  <a:srgbClr val="BFBFBF"/>
                </a:solidFill>
                <a:latin typeface="Noto Sans KR"/>
                <a:ea typeface="Noto Sans KR"/>
                <a:cs typeface="Noto Sans KR"/>
                <a:sym typeface="Noto Sans KR"/>
              </a:endParaRPr>
            </a:p>
          </p:txBody>
        </p:sp>
        <p:pic>
          <p:nvPicPr>
            <p:cNvPr id="2486" name="Google Shape;2486;p49"/>
            <p:cNvPicPr preferRelativeResize="0"/>
            <p:nvPr/>
          </p:nvPicPr>
          <p:blipFill rotWithShape="1">
            <a:blip r:embed="rId7">
              <a:alphaModFix/>
            </a:blip>
            <a:srcRect b="0" l="0" r="0" t="0"/>
            <a:stretch/>
          </p:blipFill>
          <p:spPr>
            <a:xfrm>
              <a:off x="6304049" y="3605956"/>
              <a:ext cx="173690" cy="232910"/>
            </a:xfrm>
            <a:prstGeom prst="rect">
              <a:avLst/>
            </a:prstGeom>
            <a:noFill/>
            <a:ln>
              <a:noFill/>
            </a:ln>
          </p:spPr>
        </p:pic>
      </p:grpSp>
      <p:sp>
        <p:nvSpPr>
          <p:cNvPr id="2487" name="Google Shape;2487;p49"/>
          <p:cNvSpPr/>
          <p:nvPr/>
        </p:nvSpPr>
        <p:spPr>
          <a:xfrm>
            <a:off x="2800564" y="1790056"/>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채용 직무           ∨     </a:t>
            </a:r>
            <a:endParaRPr sz="1200">
              <a:solidFill>
                <a:srgbClr val="BFBFBF"/>
              </a:solidFill>
              <a:latin typeface="Noto Sans KR"/>
              <a:ea typeface="Noto Sans KR"/>
              <a:cs typeface="Noto Sans KR"/>
              <a:sym typeface="Noto Sans KR"/>
            </a:endParaRPr>
          </a:p>
        </p:txBody>
      </p:sp>
      <p:sp>
        <p:nvSpPr>
          <p:cNvPr id="2488" name="Google Shape;2488;p49"/>
          <p:cNvSpPr/>
          <p:nvPr/>
        </p:nvSpPr>
        <p:spPr>
          <a:xfrm>
            <a:off x="6685963" y="1780121"/>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예비 합격</a:t>
            </a:r>
            <a:r>
              <a:rPr lang="ko-KR" sz="1200">
                <a:solidFill>
                  <a:srgbClr val="BFBFBF"/>
                </a:solidFill>
                <a:latin typeface="Noto Sans KR"/>
                <a:ea typeface="Noto Sans KR"/>
                <a:cs typeface="Noto Sans KR"/>
                <a:sym typeface="Noto Sans KR"/>
              </a:rPr>
              <a:t>          ∨</a:t>
            </a:r>
            <a:endParaRPr sz="1200">
              <a:solidFill>
                <a:srgbClr val="BFBFBF"/>
              </a:solidFill>
              <a:latin typeface="Noto Sans KR"/>
              <a:ea typeface="Noto Sans KR"/>
              <a:cs typeface="Noto Sans KR"/>
              <a:sym typeface="Noto Sans KR"/>
            </a:endParaRPr>
          </a:p>
        </p:txBody>
      </p:sp>
      <p:sp>
        <p:nvSpPr>
          <p:cNvPr id="2489" name="Google Shape;2489;p49"/>
          <p:cNvSpPr/>
          <p:nvPr/>
        </p:nvSpPr>
        <p:spPr>
          <a:xfrm>
            <a:off x="4807285" y="1779218"/>
            <a:ext cx="1355118" cy="23011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AIE260210001   ∨</a:t>
            </a:r>
            <a:endParaRPr sz="1200">
              <a:solidFill>
                <a:srgbClr val="BFBFBF"/>
              </a:solidFill>
              <a:latin typeface="Noto Sans KR"/>
              <a:ea typeface="Noto Sans KR"/>
              <a:cs typeface="Noto Sans KR"/>
              <a:sym typeface="Noto Sans KR"/>
            </a:endParaRPr>
          </a:p>
        </p:txBody>
      </p:sp>
      <p:sp>
        <p:nvSpPr>
          <p:cNvPr id="2490" name="Google Shape;2490;p49"/>
          <p:cNvSpPr txBox="1"/>
          <p:nvPr/>
        </p:nvSpPr>
        <p:spPr>
          <a:xfrm>
            <a:off x="2423312" y="1777407"/>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직무</a:t>
            </a:r>
            <a:endParaRPr sz="1000">
              <a:solidFill>
                <a:schemeClr val="dk1"/>
              </a:solidFill>
              <a:latin typeface="Noto Sans KR"/>
              <a:ea typeface="Noto Sans KR"/>
              <a:cs typeface="Noto Sans KR"/>
              <a:sym typeface="Noto Sans KR"/>
            </a:endParaRPr>
          </a:p>
        </p:txBody>
      </p:sp>
      <p:sp>
        <p:nvSpPr>
          <p:cNvPr id="2491" name="Google Shape;2491;p49"/>
          <p:cNvSpPr txBox="1"/>
          <p:nvPr/>
        </p:nvSpPr>
        <p:spPr>
          <a:xfrm>
            <a:off x="2423312" y="2110776"/>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기간</a:t>
            </a:r>
            <a:endParaRPr sz="1000">
              <a:solidFill>
                <a:schemeClr val="dk1"/>
              </a:solidFill>
              <a:latin typeface="Noto Sans KR"/>
              <a:ea typeface="Noto Sans KR"/>
              <a:cs typeface="Noto Sans KR"/>
              <a:sym typeface="Noto Sans KR"/>
            </a:endParaRPr>
          </a:p>
        </p:txBody>
      </p:sp>
      <p:sp>
        <p:nvSpPr>
          <p:cNvPr id="2492" name="Google Shape;2492;p49"/>
          <p:cNvSpPr txBox="1"/>
          <p:nvPr/>
        </p:nvSpPr>
        <p:spPr>
          <a:xfrm>
            <a:off x="4198365" y="1780741"/>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면접코드</a:t>
            </a:r>
            <a:endParaRPr sz="1000">
              <a:solidFill>
                <a:schemeClr val="dk1"/>
              </a:solidFill>
              <a:latin typeface="Noto Sans KR"/>
              <a:ea typeface="Noto Sans KR"/>
              <a:cs typeface="Noto Sans KR"/>
              <a:sym typeface="Noto Sans KR"/>
            </a:endParaRPr>
          </a:p>
        </p:txBody>
      </p:sp>
      <p:sp>
        <p:nvSpPr>
          <p:cNvPr id="2493" name="Google Shape;2493;p49"/>
          <p:cNvSpPr txBox="1"/>
          <p:nvPr/>
        </p:nvSpPr>
        <p:spPr>
          <a:xfrm>
            <a:off x="6267492" y="1771163"/>
            <a:ext cx="68834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현황</a:t>
            </a:r>
            <a:endParaRPr sz="1000">
              <a:solidFill>
                <a:schemeClr val="dk1"/>
              </a:solidFill>
              <a:latin typeface="Noto Sans KR"/>
              <a:ea typeface="Noto Sans KR"/>
              <a:cs typeface="Noto Sans KR"/>
              <a:sym typeface="Noto Sans KR"/>
            </a:endParaRPr>
          </a:p>
        </p:txBody>
      </p:sp>
      <p:sp>
        <p:nvSpPr>
          <p:cNvPr id="2494" name="Google Shape;2494;p49"/>
          <p:cNvSpPr/>
          <p:nvPr/>
        </p:nvSpPr>
        <p:spPr>
          <a:xfrm>
            <a:off x="6585879" y="2098095"/>
            <a:ext cx="540715" cy="230597"/>
          </a:xfrm>
          <a:prstGeom prst="roundRect">
            <a:avLst>
              <a:gd fmla="val 16667" name="adj"/>
            </a:avLst>
          </a:prstGeom>
          <a:solidFill>
            <a:srgbClr val="FF256E"/>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lt1"/>
                </a:solidFill>
                <a:latin typeface="Noto Sans KR"/>
                <a:ea typeface="Noto Sans KR"/>
                <a:cs typeface="Noto Sans KR"/>
                <a:sym typeface="Noto Sans KR"/>
              </a:rPr>
              <a:t>검색</a:t>
            </a:r>
            <a:endParaRPr sz="1100">
              <a:solidFill>
                <a:schemeClr val="lt1"/>
              </a:solidFill>
              <a:latin typeface="Noto Sans KR"/>
              <a:ea typeface="Noto Sans KR"/>
              <a:cs typeface="Noto Sans KR"/>
              <a:sym typeface="Noto Sans KR"/>
            </a:endParaRPr>
          </a:p>
        </p:txBody>
      </p:sp>
      <p:sp>
        <p:nvSpPr>
          <p:cNvPr id="2495" name="Google Shape;2495;p49"/>
          <p:cNvSpPr/>
          <p:nvPr/>
        </p:nvSpPr>
        <p:spPr>
          <a:xfrm>
            <a:off x="7353675" y="2087342"/>
            <a:ext cx="623180" cy="232736"/>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초기화</a:t>
            </a:r>
            <a:endParaRPr sz="1100">
              <a:solidFill>
                <a:schemeClr val="dk1"/>
              </a:solidFill>
              <a:latin typeface="Noto Sans KR"/>
              <a:ea typeface="Noto Sans KR"/>
              <a:cs typeface="Noto Sans KR"/>
              <a:sym typeface="Noto Sans KR"/>
            </a:endParaRPr>
          </a:p>
        </p:txBody>
      </p:sp>
      <p:sp>
        <p:nvSpPr>
          <p:cNvPr id="2496" name="Google Shape;2496;p49"/>
          <p:cNvSpPr/>
          <p:nvPr/>
        </p:nvSpPr>
        <p:spPr>
          <a:xfrm>
            <a:off x="2360656" y="2537586"/>
            <a:ext cx="6049847" cy="3070583"/>
          </a:xfrm>
          <a:prstGeom prst="roundRect">
            <a:avLst>
              <a:gd fmla="val 3113" name="adj"/>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Malgun Gothic"/>
              <a:ea typeface="Malgun Gothic"/>
              <a:cs typeface="Malgun Gothic"/>
              <a:sym typeface="Malgun Gothic"/>
            </a:endParaRPr>
          </a:p>
        </p:txBody>
      </p:sp>
      <p:sp>
        <p:nvSpPr>
          <p:cNvPr id="2497" name="Google Shape;2497;p49"/>
          <p:cNvSpPr/>
          <p:nvPr/>
        </p:nvSpPr>
        <p:spPr>
          <a:xfrm>
            <a:off x="2360654" y="2914028"/>
            <a:ext cx="6049849" cy="249205"/>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498" name="Google Shape;2498;p49"/>
          <p:cNvSpPr txBox="1"/>
          <p:nvPr/>
        </p:nvSpPr>
        <p:spPr>
          <a:xfrm>
            <a:off x="2376196" y="2609966"/>
            <a:ext cx="7426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목록  </a:t>
            </a:r>
            <a:r>
              <a:rPr lang="ko-KR" sz="1400">
                <a:solidFill>
                  <a:srgbClr val="BFBFBF"/>
                </a:solidFill>
                <a:latin typeface="Noto Sans KR"/>
                <a:ea typeface="Noto Sans KR"/>
                <a:cs typeface="Noto Sans KR"/>
                <a:sym typeface="Noto Sans KR"/>
              </a:rPr>
              <a:t>|</a:t>
            </a:r>
            <a:endParaRPr sz="1400">
              <a:solidFill>
                <a:srgbClr val="BFBFBF"/>
              </a:solidFill>
              <a:latin typeface="Noto Sans KR"/>
              <a:ea typeface="Noto Sans KR"/>
              <a:cs typeface="Noto Sans KR"/>
              <a:sym typeface="Noto Sans KR"/>
            </a:endParaRPr>
          </a:p>
        </p:txBody>
      </p:sp>
      <p:sp>
        <p:nvSpPr>
          <p:cNvPr id="2499" name="Google Shape;2499;p49"/>
          <p:cNvSpPr/>
          <p:nvPr/>
        </p:nvSpPr>
        <p:spPr>
          <a:xfrm>
            <a:off x="3788053" y="2633010"/>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변경</a:t>
            </a:r>
            <a:endParaRPr sz="1000">
              <a:solidFill>
                <a:schemeClr val="dk1"/>
              </a:solidFill>
              <a:latin typeface="Noto Sans KR"/>
              <a:ea typeface="Noto Sans KR"/>
              <a:cs typeface="Noto Sans KR"/>
              <a:sym typeface="Noto Sans KR"/>
            </a:endParaRPr>
          </a:p>
        </p:txBody>
      </p:sp>
      <p:sp>
        <p:nvSpPr>
          <p:cNvPr id="2500" name="Google Shape;2500;p49"/>
          <p:cNvSpPr/>
          <p:nvPr/>
        </p:nvSpPr>
        <p:spPr>
          <a:xfrm>
            <a:off x="2438188" y="2982656"/>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01" name="Google Shape;2501;p49"/>
          <p:cNvSpPr txBox="1"/>
          <p:nvPr/>
        </p:nvSpPr>
        <p:spPr>
          <a:xfrm>
            <a:off x="2657185" y="2924979"/>
            <a:ext cx="75156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지원자 </a:t>
            </a:r>
            <a:endParaRPr sz="1100">
              <a:solidFill>
                <a:schemeClr val="dk1"/>
              </a:solidFill>
              <a:latin typeface="Noto Sans KR"/>
              <a:ea typeface="Noto Sans KR"/>
              <a:cs typeface="Noto Sans KR"/>
              <a:sym typeface="Noto Sans KR"/>
            </a:endParaRPr>
          </a:p>
        </p:txBody>
      </p:sp>
      <p:sp>
        <p:nvSpPr>
          <p:cNvPr id="2502" name="Google Shape;2502;p49"/>
          <p:cNvSpPr txBox="1"/>
          <p:nvPr/>
        </p:nvSpPr>
        <p:spPr>
          <a:xfrm>
            <a:off x="3566159" y="2912209"/>
            <a:ext cx="5035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직무</a:t>
            </a:r>
            <a:endParaRPr sz="1100">
              <a:solidFill>
                <a:schemeClr val="dk1"/>
              </a:solidFill>
              <a:latin typeface="Noto Sans KR"/>
              <a:ea typeface="Noto Sans KR"/>
              <a:cs typeface="Noto Sans KR"/>
              <a:sym typeface="Noto Sans KR"/>
            </a:endParaRPr>
          </a:p>
        </p:txBody>
      </p:sp>
      <p:sp>
        <p:nvSpPr>
          <p:cNvPr id="2503" name="Google Shape;2503;p49"/>
          <p:cNvSpPr txBox="1"/>
          <p:nvPr/>
        </p:nvSpPr>
        <p:spPr>
          <a:xfrm>
            <a:off x="4519229" y="2916750"/>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면접일</a:t>
            </a:r>
            <a:endParaRPr sz="1100">
              <a:solidFill>
                <a:schemeClr val="dk1"/>
              </a:solidFill>
              <a:latin typeface="Noto Sans KR"/>
              <a:ea typeface="Noto Sans KR"/>
              <a:cs typeface="Noto Sans KR"/>
              <a:sym typeface="Noto Sans KR"/>
            </a:endParaRPr>
          </a:p>
        </p:txBody>
      </p:sp>
      <p:sp>
        <p:nvSpPr>
          <p:cNvPr id="2504" name="Google Shape;2504;p49"/>
          <p:cNvSpPr txBox="1"/>
          <p:nvPr/>
        </p:nvSpPr>
        <p:spPr>
          <a:xfrm>
            <a:off x="7122661" y="2890810"/>
            <a:ext cx="7618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관리</a:t>
            </a:r>
            <a:endParaRPr sz="1100">
              <a:solidFill>
                <a:schemeClr val="dk1"/>
              </a:solidFill>
              <a:latin typeface="Noto Sans KR"/>
              <a:ea typeface="Noto Sans KR"/>
              <a:cs typeface="Noto Sans KR"/>
              <a:sym typeface="Noto Sans KR"/>
            </a:endParaRPr>
          </a:p>
        </p:txBody>
      </p:sp>
      <p:cxnSp>
        <p:nvCxnSpPr>
          <p:cNvPr id="2505" name="Google Shape;2505;p49"/>
          <p:cNvCxnSpPr/>
          <p:nvPr/>
        </p:nvCxnSpPr>
        <p:spPr>
          <a:xfrm>
            <a:off x="2356006" y="3571758"/>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506" name="Google Shape;2506;p49"/>
          <p:cNvCxnSpPr/>
          <p:nvPr/>
        </p:nvCxnSpPr>
        <p:spPr>
          <a:xfrm>
            <a:off x="2363387" y="3979719"/>
            <a:ext cx="6044381" cy="15721"/>
          </a:xfrm>
          <a:prstGeom prst="straightConnector1">
            <a:avLst/>
          </a:prstGeom>
          <a:noFill/>
          <a:ln cap="flat" cmpd="sng" w="9525">
            <a:solidFill>
              <a:srgbClr val="BFBFBF"/>
            </a:solidFill>
            <a:prstDash val="solid"/>
            <a:miter lim="8000"/>
            <a:headEnd len="sm" w="sm" type="none"/>
            <a:tailEnd len="sm" w="sm" type="none"/>
          </a:ln>
        </p:spPr>
      </p:cxnSp>
      <p:cxnSp>
        <p:nvCxnSpPr>
          <p:cNvPr id="2507" name="Google Shape;2507;p49"/>
          <p:cNvCxnSpPr/>
          <p:nvPr/>
        </p:nvCxnSpPr>
        <p:spPr>
          <a:xfrm>
            <a:off x="2363387" y="4385088"/>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508" name="Google Shape;2508;p49"/>
          <p:cNvSpPr/>
          <p:nvPr/>
        </p:nvSpPr>
        <p:spPr>
          <a:xfrm>
            <a:off x="2426863" y="3317213"/>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09" name="Google Shape;2509;p49"/>
          <p:cNvSpPr/>
          <p:nvPr/>
        </p:nvSpPr>
        <p:spPr>
          <a:xfrm>
            <a:off x="2426863" y="3744235"/>
            <a:ext cx="108000" cy="108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10" name="Google Shape;2510;p49"/>
          <p:cNvSpPr/>
          <p:nvPr/>
        </p:nvSpPr>
        <p:spPr>
          <a:xfrm>
            <a:off x="2416824" y="410511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11" name="Google Shape;2511;p49"/>
          <p:cNvSpPr txBox="1"/>
          <p:nvPr/>
        </p:nvSpPr>
        <p:spPr>
          <a:xfrm>
            <a:off x="3365684" y="3236345"/>
            <a:ext cx="108722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AI Engineer</a:t>
            </a:r>
            <a:endParaRPr sz="1100">
              <a:solidFill>
                <a:schemeClr val="dk1"/>
              </a:solidFill>
              <a:latin typeface="Noto Sans KR"/>
              <a:ea typeface="Noto Sans KR"/>
              <a:cs typeface="Noto Sans KR"/>
              <a:sym typeface="Noto Sans KR"/>
            </a:endParaRPr>
          </a:p>
        </p:txBody>
      </p:sp>
      <p:sp>
        <p:nvSpPr>
          <p:cNvPr id="2512" name="Google Shape;2512;p49"/>
          <p:cNvSpPr txBox="1"/>
          <p:nvPr/>
        </p:nvSpPr>
        <p:spPr>
          <a:xfrm>
            <a:off x="4395013" y="3231295"/>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2026.02.10 </a:t>
            </a:r>
            <a:endParaRPr sz="1100">
              <a:solidFill>
                <a:schemeClr val="dk1"/>
              </a:solidFill>
              <a:latin typeface="Noto Sans KR"/>
              <a:ea typeface="Noto Sans KR"/>
              <a:cs typeface="Noto Sans KR"/>
              <a:sym typeface="Noto Sans KR"/>
            </a:endParaRPr>
          </a:p>
        </p:txBody>
      </p:sp>
      <p:sp>
        <p:nvSpPr>
          <p:cNvPr id="2513" name="Google Shape;2513;p49"/>
          <p:cNvSpPr txBox="1"/>
          <p:nvPr/>
        </p:nvSpPr>
        <p:spPr>
          <a:xfrm>
            <a:off x="3310958" y="3646006"/>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Data Engineer</a:t>
            </a:r>
            <a:endParaRPr sz="1100">
              <a:solidFill>
                <a:schemeClr val="dk1"/>
              </a:solidFill>
              <a:latin typeface="Noto Sans KR"/>
              <a:ea typeface="Noto Sans KR"/>
              <a:cs typeface="Noto Sans KR"/>
              <a:sym typeface="Noto Sans KR"/>
            </a:endParaRPr>
          </a:p>
        </p:txBody>
      </p:sp>
      <p:sp>
        <p:nvSpPr>
          <p:cNvPr id="2514" name="Google Shape;2514;p49"/>
          <p:cNvSpPr txBox="1"/>
          <p:nvPr/>
        </p:nvSpPr>
        <p:spPr>
          <a:xfrm>
            <a:off x="3312945" y="4073388"/>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515" name="Google Shape;2515;p49"/>
          <p:cNvSpPr txBox="1"/>
          <p:nvPr/>
        </p:nvSpPr>
        <p:spPr>
          <a:xfrm>
            <a:off x="4388448" y="4054421"/>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a:t>
            </a:r>
            <a:endParaRPr sz="1100">
              <a:solidFill>
                <a:schemeClr val="dk1"/>
              </a:solidFill>
              <a:latin typeface="Noto Sans KR"/>
              <a:ea typeface="Noto Sans KR"/>
              <a:cs typeface="Noto Sans KR"/>
              <a:sym typeface="Noto Sans KR"/>
            </a:endParaRPr>
          </a:p>
        </p:txBody>
      </p:sp>
      <p:sp>
        <p:nvSpPr>
          <p:cNvPr id="2516" name="Google Shape;2516;p49"/>
          <p:cNvSpPr txBox="1"/>
          <p:nvPr/>
        </p:nvSpPr>
        <p:spPr>
          <a:xfrm>
            <a:off x="5104230" y="5220125"/>
            <a:ext cx="56269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u="sng">
                <a:solidFill>
                  <a:schemeClr val="dk1"/>
                </a:solidFill>
                <a:latin typeface="Noto Sans KR"/>
                <a:ea typeface="Noto Sans KR"/>
                <a:cs typeface="Noto Sans KR"/>
                <a:sym typeface="Noto Sans KR"/>
              </a:rPr>
              <a:t>1</a:t>
            </a:r>
            <a:endParaRPr sz="1200" u="sng">
              <a:solidFill>
                <a:schemeClr val="dk1"/>
              </a:solidFill>
              <a:latin typeface="Noto Sans KR"/>
              <a:ea typeface="Noto Sans KR"/>
              <a:cs typeface="Noto Sans KR"/>
              <a:sym typeface="Noto Sans KR"/>
            </a:endParaRPr>
          </a:p>
        </p:txBody>
      </p:sp>
      <p:sp>
        <p:nvSpPr>
          <p:cNvPr id="2517" name="Google Shape;2517;p49"/>
          <p:cNvSpPr/>
          <p:nvPr/>
        </p:nvSpPr>
        <p:spPr>
          <a:xfrm>
            <a:off x="7269612" y="2665810"/>
            <a:ext cx="1041732" cy="209260"/>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rPr lang="ko-KR" sz="1050">
                <a:solidFill>
                  <a:srgbClr val="7F7F7F"/>
                </a:solidFill>
                <a:latin typeface="Noto Sans KR"/>
                <a:ea typeface="Noto Sans KR"/>
                <a:cs typeface="Noto Sans KR"/>
                <a:sym typeface="Noto Sans KR"/>
              </a:rPr>
              <a:t>10개씩 보기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sp>
        <p:nvSpPr>
          <p:cNvPr id="2518" name="Google Shape;2518;p49"/>
          <p:cNvSpPr/>
          <p:nvPr/>
        </p:nvSpPr>
        <p:spPr>
          <a:xfrm>
            <a:off x="6063107" y="2661146"/>
            <a:ext cx="1097860" cy="208323"/>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50">
                <a:solidFill>
                  <a:schemeClr val="dk1"/>
                </a:solidFill>
                <a:latin typeface="Noto Sans KR"/>
                <a:ea typeface="Noto Sans KR"/>
                <a:cs typeface="Noto Sans KR"/>
                <a:sym typeface="Noto Sans KR"/>
              </a:rPr>
              <a:t>최신순</a:t>
            </a:r>
            <a:r>
              <a:rPr lang="ko-KR" sz="1050">
                <a:solidFill>
                  <a:srgbClr val="BFBFBF"/>
                </a:solidFill>
                <a:latin typeface="Noto Sans KR"/>
                <a:ea typeface="Noto Sans KR"/>
                <a:cs typeface="Noto Sans KR"/>
                <a:sym typeface="Noto Sans KR"/>
              </a:rPr>
              <a:t>             </a:t>
            </a:r>
            <a:r>
              <a:rPr lang="ko-KR" sz="1000">
                <a:solidFill>
                  <a:srgbClr val="BFBFBF"/>
                </a:solidFill>
                <a:latin typeface="Noto Sans KR"/>
                <a:ea typeface="Noto Sans KR"/>
                <a:cs typeface="Noto Sans KR"/>
                <a:sym typeface="Noto Sans KR"/>
              </a:rPr>
              <a:t>∨</a:t>
            </a:r>
            <a:endParaRPr sz="1000">
              <a:solidFill>
                <a:srgbClr val="BFBFBF"/>
              </a:solidFill>
              <a:latin typeface="Noto Sans KR"/>
              <a:ea typeface="Noto Sans KR"/>
              <a:cs typeface="Noto Sans KR"/>
              <a:sym typeface="Noto Sans KR"/>
            </a:endParaRPr>
          </a:p>
        </p:txBody>
      </p:sp>
      <p:grpSp>
        <p:nvGrpSpPr>
          <p:cNvPr id="2519" name="Google Shape;2519;p49"/>
          <p:cNvGrpSpPr/>
          <p:nvPr/>
        </p:nvGrpSpPr>
        <p:grpSpPr>
          <a:xfrm>
            <a:off x="6100086" y="5220125"/>
            <a:ext cx="1463975" cy="276999"/>
            <a:chOff x="5375612" y="5305565"/>
            <a:chExt cx="1463975" cy="276999"/>
          </a:xfrm>
        </p:grpSpPr>
        <p:sp>
          <p:nvSpPr>
            <p:cNvPr id="2520" name="Google Shape;2520;p49"/>
            <p:cNvSpPr/>
            <p:nvPr/>
          </p:nvSpPr>
          <p:spPr>
            <a:xfrm>
              <a:off x="5418217" y="5358005"/>
              <a:ext cx="180000" cy="180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21" name="Google Shape;2521;p49"/>
            <p:cNvSpPr txBox="1"/>
            <p:nvPr/>
          </p:nvSpPr>
          <p:spPr>
            <a:xfrm>
              <a:off x="5375612" y="5305565"/>
              <a:ext cx="14639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1</a:t>
              </a:r>
              <a:r>
                <a:rPr lang="ko-KR" sz="1200">
                  <a:solidFill>
                    <a:schemeClr val="dk1"/>
                  </a:solidFill>
                  <a:latin typeface="Noto Sans KR"/>
                  <a:ea typeface="Noto Sans KR"/>
                  <a:cs typeface="Noto Sans KR"/>
                  <a:sym typeface="Noto Sans KR"/>
                </a:rPr>
                <a:t>    2    3    4    5    &gt;</a:t>
              </a:r>
              <a:endParaRPr sz="1200">
                <a:solidFill>
                  <a:schemeClr val="dk1"/>
                </a:solidFill>
                <a:latin typeface="Noto Sans KR"/>
                <a:ea typeface="Noto Sans KR"/>
                <a:cs typeface="Noto Sans KR"/>
                <a:sym typeface="Noto Sans KR"/>
              </a:endParaRPr>
            </a:p>
          </p:txBody>
        </p:sp>
      </p:grpSp>
      <p:sp>
        <p:nvSpPr>
          <p:cNvPr id="2522" name="Google Shape;2522;p49"/>
          <p:cNvSpPr txBox="1"/>
          <p:nvPr/>
        </p:nvSpPr>
        <p:spPr>
          <a:xfrm>
            <a:off x="5595477" y="5220125"/>
            <a:ext cx="62977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7F7F7F"/>
                </a:solidFill>
                <a:latin typeface="Noto Sans KR"/>
                <a:ea typeface="Noto Sans KR"/>
                <a:cs typeface="Noto Sans KR"/>
                <a:sym typeface="Noto Sans KR"/>
              </a:rPr>
              <a:t>pages</a:t>
            </a:r>
            <a:endParaRPr sz="1100">
              <a:solidFill>
                <a:srgbClr val="7F7F7F"/>
              </a:solidFill>
              <a:latin typeface="Noto Sans KR"/>
              <a:ea typeface="Noto Sans KR"/>
              <a:cs typeface="Noto Sans KR"/>
              <a:sym typeface="Noto Sans KR"/>
            </a:endParaRPr>
          </a:p>
        </p:txBody>
      </p:sp>
      <p:sp>
        <p:nvSpPr>
          <p:cNvPr id="2523" name="Google Shape;2523;p49"/>
          <p:cNvSpPr/>
          <p:nvPr/>
        </p:nvSpPr>
        <p:spPr>
          <a:xfrm>
            <a:off x="2191435" y="109745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524" name="Google Shape;2524;p49"/>
          <p:cNvSpPr/>
          <p:nvPr/>
        </p:nvSpPr>
        <p:spPr>
          <a:xfrm>
            <a:off x="2231654" y="162947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525" name="Google Shape;2525;p49"/>
          <p:cNvSpPr/>
          <p:nvPr/>
        </p:nvSpPr>
        <p:spPr>
          <a:xfrm>
            <a:off x="6376057" y="202362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526" name="Google Shape;2526;p49"/>
          <p:cNvSpPr/>
          <p:nvPr/>
        </p:nvSpPr>
        <p:spPr>
          <a:xfrm>
            <a:off x="7137062" y="202416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527" name="Google Shape;2527;p49"/>
          <p:cNvSpPr txBox="1"/>
          <p:nvPr/>
        </p:nvSpPr>
        <p:spPr>
          <a:xfrm>
            <a:off x="417659" y="2031335"/>
            <a:ext cx="17565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공고 관리                ∨                 </a:t>
            </a:r>
            <a:endParaRPr sz="1400">
              <a:solidFill>
                <a:srgbClr val="BFBFBF"/>
              </a:solidFill>
              <a:latin typeface="Noto Sans KR"/>
              <a:ea typeface="Noto Sans KR"/>
              <a:cs typeface="Noto Sans KR"/>
              <a:sym typeface="Noto Sans KR"/>
            </a:endParaRPr>
          </a:p>
        </p:txBody>
      </p:sp>
      <p:sp>
        <p:nvSpPr>
          <p:cNvPr id="2528" name="Google Shape;2528;p49"/>
          <p:cNvSpPr/>
          <p:nvPr/>
        </p:nvSpPr>
        <p:spPr>
          <a:xfrm>
            <a:off x="1187250" y="3524966"/>
            <a:ext cx="866567"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결과 분석</a:t>
            </a:r>
            <a:endParaRPr sz="12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lt1"/>
                </a:solidFill>
                <a:latin typeface="Noto Sans KR"/>
                <a:ea typeface="Noto Sans KR"/>
                <a:cs typeface="Noto Sans KR"/>
                <a:sym typeface="Noto Sans KR"/>
              </a:rPr>
              <a:t>  </a:t>
            </a:r>
            <a:endParaRPr/>
          </a:p>
        </p:txBody>
      </p:sp>
      <p:cxnSp>
        <p:nvCxnSpPr>
          <p:cNvPr id="2529" name="Google Shape;2529;p49"/>
          <p:cNvCxnSpPr/>
          <p:nvPr/>
        </p:nvCxnSpPr>
        <p:spPr>
          <a:xfrm flipH="1" rot="10800000">
            <a:off x="774609" y="3502016"/>
            <a:ext cx="1249226" cy="4792"/>
          </a:xfrm>
          <a:prstGeom prst="straightConnector1">
            <a:avLst/>
          </a:prstGeom>
          <a:noFill/>
          <a:ln cap="flat" cmpd="sng" w="9525">
            <a:solidFill>
              <a:srgbClr val="BFBFBF"/>
            </a:solidFill>
            <a:prstDash val="solid"/>
            <a:miter lim="8000"/>
            <a:headEnd len="sm" w="sm" type="none"/>
            <a:tailEnd len="sm" w="sm" type="none"/>
          </a:ln>
        </p:spPr>
      </p:cxnSp>
      <p:sp>
        <p:nvSpPr>
          <p:cNvPr id="2530" name="Google Shape;2530;p49"/>
          <p:cNvSpPr/>
          <p:nvPr/>
        </p:nvSpPr>
        <p:spPr>
          <a:xfrm>
            <a:off x="1270578" y="3209802"/>
            <a:ext cx="8194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BFBFBF"/>
                </a:solidFill>
                <a:latin typeface="Noto Sans KR"/>
                <a:ea typeface="Noto Sans KR"/>
                <a:cs typeface="Noto Sans KR"/>
                <a:sym typeface="Noto Sans KR"/>
              </a:rPr>
              <a:t> 결과 관리</a:t>
            </a:r>
            <a:endParaRPr sz="1200">
              <a:solidFill>
                <a:srgbClr val="BFBFBF"/>
              </a:solidFill>
              <a:latin typeface="Noto Sans KR"/>
              <a:ea typeface="Noto Sans KR"/>
              <a:cs typeface="Noto Sans KR"/>
              <a:sym typeface="Noto Sans KR"/>
            </a:endParaRPr>
          </a:p>
        </p:txBody>
      </p:sp>
      <p:sp>
        <p:nvSpPr>
          <p:cNvPr id="2531" name="Google Shape;2531;p49"/>
          <p:cNvSpPr txBox="1"/>
          <p:nvPr/>
        </p:nvSpPr>
        <p:spPr>
          <a:xfrm>
            <a:off x="5536279" y="2910633"/>
            <a:ext cx="55996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결과</a:t>
            </a:r>
            <a:endParaRPr sz="1100">
              <a:solidFill>
                <a:schemeClr val="dk1"/>
              </a:solidFill>
              <a:latin typeface="Noto Sans KR"/>
              <a:ea typeface="Noto Sans KR"/>
              <a:cs typeface="Noto Sans KR"/>
              <a:sym typeface="Noto Sans KR"/>
            </a:endParaRPr>
          </a:p>
        </p:txBody>
      </p:sp>
      <p:pic>
        <p:nvPicPr>
          <p:cNvPr id="2532" name="Google Shape;2532;p49"/>
          <p:cNvPicPr preferRelativeResize="0"/>
          <p:nvPr/>
        </p:nvPicPr>
        <p:blipFill rotWithShape="1">
          <a:blip r:embed="rId8">
            <a:alphaModFix/>
          </a:blip>
          <a:srcRect b="24094" l="23190" r="56900" t="55938"/>
          <a:stretch/>
        </p:blipFill>
        <p:spPr>
          <a:xfrm>
            <a:off x="2626067" y="3273893"/>
            <a:ext cx="252000" cy="235412"/>
          </a:xfrm>
          <a:prstGeom prst="ellipse">
            <a:avLst/>
          </a:prstGeom>
          <a:noFill/>
          <a:ln>
            <a:noFill/>
          </a:ln>
          <a:effectLst>
            <a:outerShdw blurRad="381000" sx="-80000" rotWithShape="0" dir="5400000" dist="292100" sy="-18000">
              <a:srgbClr val="000000">
                <a:alpha val="21961"/>
              </a:srgbClr>
            </a:outerShdw>
          </a:effectLst>
        </p:spPr>
      </p:pic>
      <p:sp>
        <p:nvSpPr>
          <p:cNvPr id="2533" name="Google Shape;2533;p49"/>
          <p:cNvSpPr txBox="1"/>
          <p:nvPr/>
        </p:nvSpPr>
        <p:spPr>
          <a:xfrm>
            <a:off x="2848326" y="325623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pic>
        <p:nvPicPr>
          <p:cNvPr id="2534" name="Google Shape;2534;p49"/>
          <p:cNvPicPr preferRelativeResize="0"/>
          <p:nvPr/>
        </p:nvPicPr>
        <p:blipFill rotWithShape="1">
          <a:blip r:embed="rId9">
            <a:alphaModFix/>
          </a:blip>
          <a:srcRect b="54220" l="55521" r="19604" t="22941"/>
          <a:stretch/>
        </p:blipFill>
        <p:spPr>
          <a:xfrm>
            <a:off x="2617848" y="3652616"/>
            <a:ext cx="274469" cy="252000"/>
          </a:xfrm>
          <a:prstGeom prst="ellipse">
            <a:avLst/>
          </a:prstGeom>
          <a:noFill/>
          <a:ln cap="flat" cmpd="sng" w="9525">
            <a:solidFill>
              <a:srgbClr val="D8D8D8"/>
            </a:solidFill>
            <a:prstDash val="solid"/>
            <a:round/>
            <a:headEnd len="sm" w="sm" type="none"/>
            <a:tailEnd len="sm" w="sm" type="none"/>
          </a:ln>
        </p:spPr>
      </p:pic>
      <p:sp>
        <p:nvSpPr>
          <p:cNvPr id="2535" name="Google Shape;2535;p49"/>
          <p:cNvSpPr txBox="1"/>
          <p:nvPr/>
        </p:nvSpPr>
        <p:spPr>
          <a:xfrm>
            <a:off x="2857012" y="3650047"/>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536" name="Google Shape;2536;p49"/>
          <p:cNvSpPr txBox="1"/>
          <p:nvPr/>
        </p:nvSpPr>
        <p:spPr>
          <a:xfrm>
            <a:off x="4399579" y="3653802"/>
            <a:ext cx="13223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2026.02.09 </a:t>
            </a:r>
            <a:endParaRPr sz="1100">
              <a:solidFill>
                <a:schemeClr val="dk1"/>
              </a:solidFill>
              <a:latin typeface="Noto Sans KR"/>
              <a:ea typeface="Noto Sans KR"/>
              <a:cs typeface="Noto Sans KR"/>
              <a:sym typeface="Noto Sans KR"/>
            </a:endParaRPr>
          </a:p>
        </p:txBody>
      </p:sp>
      <p:pic>
        <p:nvPicPr>
          <p:cNvPr id="2537" name="Google Shape;2537;p49"/>
          <p:cNvPicPr preferRelativeResize="0"/>
          <p:nvPr/>
        </p:nvPicPr>
        <p:blipFill rotWithShape="1">
          <a:blip r:embed="rId10">
            <a:alphaModFix/>
          </a:blip>
          <a:srcRect b="57058" l="20140" r="54458" t="22041"/>
          <a:stretch/>
        </p:blipFill>
        <p:spPr>
          <a:xfrm>
            <a:off x="2607908" y="4057414"/>
            <a:ext cx="306263" cy="252000"/>
          </a:xfrm>
          <a:prstGeom prst="ellipse">
            <a:avLst/>
          </a:prstGeom>
          <a:noFill/>
          <a:ln>
            <a:noFill/>
          </a:ln>
        </p:spPr>
      </p:pic>
      <p:sp>
        <p:nvSpPr>
          <p:cNvPr id="2538" name="Google Shape;2538;p49"/>
          <p:cNvSpPr txBox="1"/>
          <p:nvPr/>
        </p:nvSpPr>
        <p:spPr>
          <a:xfrm>
            <a:off x="2853179" y="406350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539" name="Google Shape;2539;p49"/>
          <p:cNvSpPr/>
          <p:nvPr/>
        </p:nvSpPr>
        <p:spPr>
          <a:xfrm>
            <a:off x="2996379" y="2628511"/>
            <a:ext cx="715115" cy="236267"/>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선택 삭제</a:t>
            </a:r>
            <a:endParaRPr sz="1000">
              <a:solidFill>
                <a:schemeClr val="dk1"/>
              </a:solidFill>
              <a:latin typeface="Noto Sans KR"/>
              <a:ea typeface="Noto Sans KR"/>
              <a:cs typeface="Noto Sans KR"/>
              <a:sym typeface="Noto Sans KR"/>
            </a:endParaRPr>
          </a:p>
        </p:txBody>
      </p:sp>
      <p:sp>
        <p:nvSpPr>
          <p:cNvPr id="2540" name="Google Shape;2540;p49"/>
          <p:cNvSpPr/>
          <p:nvPr/>
        </p:nvSpPr>
        <p:spPr>
          <a:xfrm>
            <a:off x="2229042" y="247032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541" name="Google Shape;2541;p49"/>
          <p:cNvSpPr/>
          <p:nvPr/>
        </p:nvSpPr>
        <p:spPr>
          <a:xfrm>
            <a:off x="2842980" y="248205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542" name="Google Shape;2542;p49"/>
          <p:cNvSpPr/>
          <p:nvPr/>
        </p:nvSpPr>
        <p:spPr>
          <a:xfrm>
            <a:off x="3693341" y="248748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543" name="Google Shape;2543;p49"/>
          <p:cNvSpPr/>
          <p:nvPr/>
        </p:nvSpPr>
        <p:spPr>
          <a:xfrm>
            <a:off x="5394593" y="3700087"/>
            <a:ext cx="777782" cy="190350"/>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예비 합격</a:t>
            </a:r>
            <a:endParaRPr sz="1000">
              <a:solidFill>
                <a:schemeClr val="lt1"/>
              </a:solidFill>
              <a:latin typeface="Noto Sans KR"/>
              <a:ea typeface="Noto Sans KR"/>
              <a:cs typeface="Noto Sans KR"/>
              <a:sym typeface="Noto Sans KR"/>
            </a:endParaRPr>
          </a:p>
        </p:txBody>
      </p:sp>
      <p:sp>
        <p:nvSpPr>
          <p:cNvPr id="2544" name="Google Shape;2544;p49"/>
          <p:cNvSpPr/>
          <p:nvPr/>
        </p:nvSpPr>
        <p:spPr>
          <a:xfrm>
            <a:off x="5396341" y="4100790"/>
            <a:ext cx="777782" cy="190350"/>
          </a:xfrm>
          <a:prstGeom prst="roundRect">
            <a:avLst>
              <a:gd fmla="val 16667" name="adj"/>
            </a:avLst>
          </a:prstGeom>
          <a:solidFill>
            <a:srgbClr val="C00000"/>
          </a:solidFill>
          <a:ln cap="flat" cmpd="sng" w="12700">
            <a:solidFill>
              <a:srgbClr val="C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불합격</a:t>
            </a:r>
            <a:endParaRPr sz="1000">
              <a:solidFill>
                <a:schemeClr val="lt1"/>
              </a:solidFill>
              <a:latin typeface="Noto Sans KR"/>
              <a:ea typeface="Noto Sans KR"/>
              <a:cs typeface="Noto Sans KR"/>
              <a:sym typeface="Noto Sans KR"/>
            </a:endParaRPr>
          </a:p>
        </p:txBody>
      </p:sp>
      <p:sp>
        <p:nvSpPr>
          <p:cNvPr id="2545" name="Google Shape;2545;p49"/>
          <p:cNvSpPr/>
          <p:nvPr/>
        </p:nvSpPr>
        <p:spPr>
          <a:xfrm>
            <a:off x="501645" y="2790911"/>
            <a:ext cx="1602314"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면접 결과              ∧</a:t>
            </a:r>
            <a:endParaRPr sz="14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a:t>
            </a:r>
            <a:endParaRPr sz="1400">
              <a:solidFill>
                <a:schemeClr val="lt1"/>
              </a:solidFill>
              <a:latin typeface="Noto Sans KR"/>
              <a:ea typeface="Noto Sans KR"/>
              <a:cs typeface="Noto Sans KR"/>
              <a:sym typeface="Noto Sans KR"/>
            </a:endParaRPr>
          </a:p>
        </p:txBody>
      </p:sp>
      <p:cxnSp>
        <p:nvCxnSpPr>
          <p:cNvPr id="2546" name="Google Shape;2546;p49"/>
          <p:cNvCxnSpPr/>
          <p:nvPr/>
        </p:nvCxnSpPr>
        <p:spPr>
          <a:xfrm>
            <a:off x="485432" y="3134298"/>
            <a:ext cx="1618527" cy="0"/>
          </a:xfrm>
          <a:prstGeom prst="straightConnector1">
            <a:avLst/>
          </a:prstGeom>
          <a:noFill/>
          <a:ln cap="flat" cmpd="sng" w="9525">
            <a:solidFill>
              <a:srgbClr val="BFBFBF"/>
            </a:solidFill>
            <a:prstDash val="solid"/>
            <a:miter lim="8000"/>
            <a:headEnd len="sm" w="sm" type="none"/>
            <a:tailEnd len="sm" w="sm" type="none"/>
          </a:ln>
        </p:spPr>
      </p:cxnSp>
      <p:cxnSp>
        <p:nvCxnSpPr>
          <p:cNvPr id="2547" name="Google Shape;2547;p49"/>
          <p:cNvCxnSpPr/>
          <p:nvPr/>
        </p:nvCxnSpPr>
        <p:spPr>
          <a:xfrm>
            <a:off x="2368267" y="4787281"/>
            <a:ext cx="6044381" cy="15721"/>
          </a:xfrm>
          <a:prstGeom prst="straightConnector1">
            <a:avLst/>
          </a:prstGeom>
          <a:noFill/>
          <a:ln cap="flat" cmpd="sng" w="9525">
            <a:solidFill>
              <a:srgbClr val="BFBFBF"/>
            </a:solidFill>
            <a:prstDash val="solid"/>
            <a:miter lim="8000"/>
            <a:headEnd len="sm" w="sm" type="none"/>
            <a:tailEnd len="sm" w="sm" type="none"/>
          </a:ln>
        </p:spPr>
      </p:cxnSp>
      <p:sp>
        <p:nvSpPr>
          <p:cNvPr id="2548" name="Google Shape;2548;p49"/>
          <p:cNvSpPr/>
          <p:nvPr/>
        </p:nvSpPr>
        <p:spPr>
          <a:xfrm>
            <a:off x="2429936" y="4525929"/>
            <a:ext cx="108000" cy="108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49" name="Google Shape;2549;p49"/>
          <p:cNvSpPr txBox="1"/>
          <p:nvPr/>
        </p:nvSpPr>
        <p:spPr>
          <a:xfrm>
            <a:off x="3326866" y="4465345"/>
            <a:ext cx="12790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Backend Dev</a:t>
            </a:r>
            <a:endParaRPr sz="1100">
              <a:solidFill>
                <a:schemeClr val="dk1"/>
              </a:solidFill>
              <a:latin typeface="Noto Sans KR"/>
              <a:ea typeface="Noto Sans KR"/>
              <a:cs typeface="Noto Sans KR"/>
              <a:sym typeface="Noto Sans KR"/>
            </a:endParaRPr>
          </a:p>
        </p:txBody>
      </p:sp>
      <p:sp>
        <p:nvSpPr>
          <p:cNvPr id="2550" name="Google Shape;2550;p49"/>
          <p:cNvSpPr txBox="1"/>
          <p:nvPr/>
        </p:nvSpPr>
        <p:spPr>
          <a:xfrm>
            <a:off x="4401552" y="4448502"/>
            <a:ext cx="1262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2026.01.26 </a:t>
            </a:r>
            <a:endParaRPr sz="1100">
              <a:solidFill>
                <a:schemeClr val="dk1"/>
              </a:solidFill>
              <a:latin typeface="Noto Sans KR"/>
              <a:ea typeface="Noto Sans KR"/>
              <a:cs typeface="Noto Sans KR"/>
              <a:sym typeface="Noto Sans KR"/>
            </a:endParaRPr>
          </a:p>
        </p:txBody>
      </p:sp>
      <p:pic>
        <p:nvPicPr>
          <p:cNvPr id="2551" name="Google Shape;2551;p49"/>
          <p:cNvPicPr preferRelativeResize="0"/>
          <p:nvPr/>
        </p:nvPicPr>
        <p:blipFill rotWithShape="1">
          <a:blip r:embed="rId10">
            <a:alphaModFix/>
          </a:blip>
          <a:srcRect b="57058" l="20140" r="54458" t="22041"/>
          <a:stretch/>
        </p:blipFill>
        <p:spPr>
          <a:xfrm>
            <a:off x="2621020" y="4478224"/>
            <a:ext cx="306263" cy="252000"/>
          </a:xfrm>
          <a:prstGeom prst="ellipse">
            <a:avLst/>
          </a:prstGeom>
          <a:noFill/>
          <a:ln>
            <a:noFill/>
          </a:ln>
        </p:spPr>
      </p:pic>
      <p:sp>
        <p:nvSpPr>
          <p:cNvPr id="2552" name="Google Shape;2552;p49"/>
          <p:cNvSpPr txBox="1"/>
          <p:nvPr/>
        </p:nvSpPr>
        <p:spPr>
          <a:xfrm>
            <a:off x="2866291" y="4484312"/>
            <a:ext cx="848623"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홍길동</a:t>
            </a:r>
            <a:endParaRPr sz="1100">
              <a:solidFill>
                <a:schemeClr val="dk1"/>
              </a:solidFill>
              <a:latin typeface="Noto Sans KR"/>
              <a:ea typeface="Noto Sans KR"/>
              <a:cs typeface="Noto Sans KR"/>
              <a:sym typeface="Noto Sans KR"/>
            </a:endParaRPr>
          </a:p>
        </p:txBody>
      </p:sp>
      <p:sp>
        <p:nvSpPr>
          <p:cNvPr id="2553" name="Google Shape;2553;p49"/>
          <p:cNvSpPr/>
          <p:nvPr/>
        </p:nvSpPr>
        <p:spPr>
          <a:xfrm>
            <a:off x="5394593" y="4495608"/>
            <a:ext cx="777782" cy="190350"/>
          </a:xfrm>
          <a:prstGeom prst="roundRect">
            <a:avLst>
              <a:gd fmla="val 16667" name="adj"/>
            </a:avLst>
          </a:prstGeom>
          <a:solidFill>
            <a:srgbClr val="92D050"/>
          </a:solidFill>
          <a:ln cap="flat" cmpd="sng" w="12700">
            <a:solidFill>
              <a:srgbClr val="92D05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최종 합격</a:t>
            </a:r>
            <a:endParaRPr sz="1000">
              <a:solidFill>
                <a:schemeClr val="dk1"/>
              </a:solidFill>
              <a:latin typeface="Noto Sans KR"/>
              <a:ea typeface="Noto Sans KR"/>
              <a:cs typeface="Noto Sans KR"/>
              <a:sym typeface="Noto Sans KR"/>
            </a:endParaRPr>
          </a:p>
        </p:txBody>
      </p:sp>
      <p:pic>
        <p:nvPicPr>
          <p:cNvPr id="2554" name="Google Shape;2554;p49"/>
          <p:cNvPicPr preferRelativeResize="0"/>
          <p:nvPr/>
        </p:nvPicPr>
        <p:blipFill rotWithShape="1">
          <a:blip r:embed="rId11">
            <a:alphaModFix/>
          </a:blip>
          <a:srcRect b="0" l="0" r="0" t="0"/>
          <a:stretch/>
        </p:blipFill>
        <p:spPr>
          <a:xfrm>
            <a:off x="2413761" y="1263783"/>
            <a:ext cx="228600" cy="228600"/>
          </a:xfrm>
          <a:prstGeom prst="rect">
            <a:avLst/>
          </a:prstGeom>
          <a:noFill/>
          <a:ln>
            <a:noFill/>
          </a:ln>
        </p:spPr>
      </p:pic>
      <p:sp>
        <p:nvSpPr>
          <p:cNvPr id="2555" name="Google Shape;2555;p49"/>
          <p:cNvSpPr/>
          <p:nvPr/>
        </p:nvSpPr>
        <p:spPr>
          <a:xfrm>
            <a:off x="6347797" y="3252095"/>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결과 상세 보기</a:t>
            </a:r>
            <a:endParaRPr sz="700">
              <a:solidFill>
                <a:schemeClr val="dk1"/>
              </a:solidFill>
              <a:latin typeface="Noto Sans KR"/>
              <a:ea typeface="Noto Sans KR"/>
              <a:cs typeface="Noto Sans KR"/>
              <a:sym typeface="Noto Sans KR"/>
            </a:endParaRPr>
          </a:p>
        </p:txBody>
      </p:sp>
      <p:sp>
        <p:nvSpPr>
          <p:cNvPr id="2556" name="Google Shape;2556;p49"/>
          <p:cNvSpPr/>
          <p:nvPr/>
        </p:nvSpPr>
        <p:spPr>
          <a:xfrm>
            <a:off x="5385866" y="3288858"/>
            <a:ext cx="777782" cy="190350"/>
          </a:xfrm>
          <a:prstGeom prst="roundRect">
            <a:avLst>
              <a:gd fmla="val 16667" name="adj"/>
            </a:avLst>
          </a:prstGeom>
          <a:solidFill>
            <a:srgbClr val="0070C0"/>
          </a:solidFill>
          <a:ln cap="flat" cmpd="sng" w="12700">
            <a:solidFill>
              <a:srgbClr val="0070C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예비 합격</a:t>
            </a:r>
            <a:endParaRPr sz="1000">
              <a:solidFill>
                <a:schemeClr val="lt1"/>
              </a:solidFill>
              <a:latin typeface="Noto Sans KR"/>
              <a:ea typeface="Noto Sans KR"/>
              <a:cs typeface="Noto Sans KR"/>
              <a:sym typeface="Noto Sans KR"/>
            </a:endParaRPr>
          </a:p>
        </p:txBody>
      </p:sp>
      <p:sp>
        <p:nvSpPr>
          <p:cNvPr id="2557" name="Google Shape;2557;p49"/>
          <p:cNvSpPr/>
          <p:nvPr/>
        </p:nvSpPr>
        <p:spPr>
          <a:xfrm>
            <a:off x="7719848" y="3255663"/>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재평가 요청</a:t>
            </a:r>
            <a:endParaRPr sz="700">
              <a:solidFill>
                <a:schemeClr val="dk1"/>
              </a:solidFill>
              <a:latin typeface="Noto Sans KR"/>
              <a:ea typeface="Noto Sans KR"/>
              <a:cs typeface="Noto Sans KR"/>
              <a:sym typeface="Noto Sans KR"/>
            </a:endParaRPr>
          </a:p>
        </p:txBody>
      </p:sp>
      <p:sp>
        <p:nvSpPr>
          <p:cNvPr id="2558" name="Google Shape;2558;p49"/>
          <p:cNvSpPr/>
          <p:nvPr/>
        </p:nvSpPr>
        <p:spPr>
          <a:xfrm>
            <a:off x="7028955" y="3254768"/>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평가 이력 보기</a:t>
            </a:r>
            <a:endParaRPr sz="700">
              <a:solidFill>
                <a:schemeClr val="dk1"/>
              </a:solidFill>
              <a:latin typeface="Noto Sans KR"/>
              <a:ea typeface="Noto Sans KR"/>
              <a:cs typeface="Noto Sans KR"/>
              <a:sym typeface="Noto Sans KR"/>
            </a:endParaRPr>
          </a:p>
        </p:txBody>
      </p:sp>
      <p:sp>
        <p:nvSpPr>
          <p:cNvPr id="2559" name="Google Shape;2559;p49"/>
          <p:cNvSpPr/>
          <p:nvPr/>
        </p:nvSpPr>
        <p:spPr>
          <a:xfrm>
            <a:off x="6356154" y="3673248"/>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결과 상세 보기</a:t>
            </a:r>
            <a:endParaRPr sz="700">
              <a:solidFill>
                <a:schemeClr val="dk1"/>
              </a:solidFill>
              <a:latin typeface="Noto Sans KR"/>
              <a:ea typeface="Noto Sans KR"/>
              <a:cs typeface="Noto Sans KR"/>
              <a:sym typeface="Noto Sans KR"/>
            </a:endParaRPr>
          </a:p>
        </p:txBody>
      </p:sp>
      <p:sp>
        <p:nvSpPr>
          <p:cNvPr id="2560" name="Google Shape;2560;p49"/>
          <p:cNvSpPr/>
          <p:nvPr/>
        </p:nvSpPr>
        <p:spPr>
          <a:xfrm>
            <a:off x="7728205" y="3676816"/>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재평가 요청</a:t>
            </a:r>
            <a:endParaRPr sz="700">
              <a:solidFill>
                <a:schemeClr val="dk1"/>
              </a:solidFill>
              <a:latin typeface="Noto Sans KR"/>
              <a:ea typeface="Noto Sans KR"/>
              <a:cs typeface="Noto Sans KR"/>
              <a:sym typeface="Noto Sans KR"/>
            </a:endParaRPr>
          </a:p>
        </p:txBody>
      </p:sp>
      <p:sp>
        <p:nvSpPr>
          <p:cNvPr id="2561" name="Google Shape;2561;p49"/>
          <p:cNvSpPr/>
          <p:nvPr/>
        </p:nvSpPr>
        <p:spPr>
          <a:xfrm>
            <a:off x="7037312" y="3675921"/>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평가 이력 보기</a:t>
            </a:r>
            <a:endParaRPr sz="700">
              <a:solidFill>
                <a:schemeClr val="dk1"/>
              </a:solidFill>
              <a:latin typeface="Noto Sans KR"/>
              <a:ea typeface="Noto Sans KR"/>
              <a:cs typeface="Noto Sans KR"/>
              <a:sym typeface="Noto Sans KR"/>
            </a:endParaRPr>
          </a:p>
        </p:txBody>
      </p:sp>
      <p:sp>
        <p:nvSpPr>
          <p:cNvPr id="2562" name="Google Shape;2562;p49"/>
          <p:cNvSpPr/>
          <p:nvPr/>
        </p:nvSpPr>
        <p:spPr>
          <a:xfrm>
            <a:off x="6353300" y="4073104"/>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결과 상세 보기</a:t>
            </a:r>
            <a:endParaRPr sz="700">
              <a:solidFill>
                <a:schemeClr val="dk1"/>
              </a:solidFill>
              <a:latin typeface="Noto Sans KR"/>
              <a:ea typeface="Noto Sans KR"/>
              <a:cs typeface="Noto Sans KR"/>
              <a:sym typeface="Noto Sans KR"/>
            </a:endParaRPr>
          </a:p>
        </p:txBody>
      </p:sp>
      <p:sp>
        <p:nvSpPr>
          <p:cNvPr id="2563" name="Google Shape;2563;p49"/>
          <p:cNvSpPr/>
          <p:nvPr/>
        </p:nvSpPr>
        <p:spPr>
          <a:xfrm>
            <a:off x="7725351" y="4076672"/>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재평가 요청</a:t>
            </a:r>
            <a:endParaRPr sz="700">
              <a:solidFill>
                <a:schemeClr val="dk1"/>
              </a:solidFill>
              <a:latin typeface="Noto Sans KR"/>
              <a:ea typeface="Noto Sans KR"/>
              <a:cs typeface="Noto Sans KR"/>
              <a:sym typeface="Noto Sans KR"/>
            </a:endParaRPr>
          </a:p>
        </p:txBody>
      </p:sp>
      <p:sp>
        <p:nvSpPr>
          <p:cNvPr id="2564" name="Google Shape;2564;p49"/>
          <p:cNvSpPr/>
          <p:nvPr/>
        </p:nvSpPr>
        <p:spPr>
          <a:xfrm>
            <a:off x="7034458" y="4075777"/>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평가 이력 보기</a:t>
            </a:r>
            <a:endParaRPr sz="700">
              <a:solidFill>
                <a:schemeClr val="dk1"/>
              </a:solidFill>
              <a:latin typeface="Noto Sans KR"/>
              <a:ea typeface="Noto Sans KR"/>
              <a:cs typeface="Noto Sans KR"/>
              <a:sym typeface="Noto Sans KR"/>
            </a:endParaRPr>
          </a:p>
        </p:txBody>
      </p:sp>
      <p:sp>
        <p:nvSpPr>
          <p:cNvPr id="2565" name="Google Shape;2565;p49"/>
          <p:cNvSpPr/>
          <p:nvPr/>
        </p:nvSpPr>
        <p:spPr>
          <a:xfrm>
            <a:off x="6356154" y="4483576"/>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결과 상세 보기</a:t>
            </a:r>
            <a:endParaRPr sz="700">
              <a:solidFill>
                <a:schemeClr val="dk1"/>
              </a:solidFill>
              <a:latin typeface="Noto Sans KR"/>
              <a:ea typeface="Noto Sans KR"/>
              <a:cs typeface="Noto Sans KR"/>
              <a:sym typeface="Noto Sans KR"/>
            </a:endParaRPr>
          </a:p>
        </p:txBody>
      </p:sp>
      <p:sp>
        <p:nvSpPr>
          <p:cNvPr id="2566" name="Google Shape;2566;p49"/>
          <p:cNvSpPr/>
          <p:nvPr/>
        </p:nvSpPr>
        <p:spPr>
          <a:xfrm>
            <a:off x="7728205" y="4487144"/>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재평가 요청</a:t>
            </a:r>
            <a:endParaRPr sz="700">
              <a:solidFill>
                <a:schemeClr val="dk1"/>
              </a:solidFill>
              <a:latin typeface="Noto Sans KR"/>
              <a:ea typeface="Noto Sans KR"/>
              <a:cs typeface="Noto Sans KR"/>
              <a:sym typeface="Noto Sans KR"/>
            </a:endParaRPr>
          </a:p>
        </p:txBody>
      </p:sp>
      <p:sp>
        <p:nvSpPr>
          <p:cNvPr id="2567" name="Google Shape;2567;p49"/>
          <p:cNvSpPr/>
          <p:nvPr/>
        </p:nvSpPr>
        <p:spPr>
          <a:xfrm>
            <a:off x="7037312" y="4486249"/>
            <a:ext cx="598711" cy="230800"/>
          </a:xfrm>
          <a:prstGeom prst="roundRect">
            <a:avLst>
              <a:gd fmla="val 16667" name="adj"/>
            </a:avLst>
          </a:prstGeom>
          <a:solidFill>
            <a:srgbClr val="F2F2F2"/>
          </a:solidFill>
          <a:ln cap="flat" cmpd="sng" w="12700">
            <a:solidFill>
              <a:srgbClr val="A5A5A5"/>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ko-KR" sz="700">
                <a:solidFill>
                  <a:schemeClr val="dk1"/>
                </a:solidFill>
                <a:latin typeface="Noto Sans KR"/>
                <a:ea typeface="Noto Sans KR"/>
                <a:cs typeface="Noto Sans KR"/>
                <a:sym typeface="Noto Sans KR"/>
              </a:rPr>
              <a:t>평가 이력 보기</a:t>
            </a:r>
            <a:endParaRPr sz="700">
              <a:solidFill>
                <a:schemeClr val="dk1"/>
              </a:solidFill>
              <a:latin typeface="Noto Sans KR"/>
              <a:ea typeface="Noto Sans KR"/>
              <a:cs typeface="Noto Sans KR"/>
              <a:sym typeface="Noto Sans KR"/>
            </a:endParaRPr>
          </a:p>
        </p:txBody>
      </p:sp>
      <p:sp>
        <p:nvSpPr>
          <p:cNvPr id="2568" name="Google Shape;2568;p49"/>
          <p:cNvSpPr/>
          <p:nvPr/>
        </p:nvSpPr>
        <p:spPr>
          <a:xfrm>
            <a:off x="6203586" y="308286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2569" name="Google Shape;2569;p49"/>
          <p:cNvSpPr/>
          <p:nvPr/>
        </p:nvSpPr>
        <p:spPr>
          <a:xfrm>
            <a:off x="6964046" y="307913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2570" name="Google Shape;2570;p49"/>
          <p:cNvSpPr/>
          <p:nvPr/>
        </p:nvSpPr>
        <p:spPr>
          <a:xfrm>
            <a:off x="7625261" y="307524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50"/>
          <p:cNvSpPr txBox="1"/>
          <p:nvPr>
            <p:ph type="title"/>
          </p:nvPr>
        </p:nvSpPr>
        <p:spPr>
          <a:xfrm>
            <a:off x="459537"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결과 분석</a:t>
            </a:r>
            <a:endParaRPr sz="2400"/>
          </a:p>
        </p:txBody>
      </p:sp>
      <p:sp>
        <p:nvSpPr>
          <p:cNvPr id="2577" name="Google Shape;2577;p50"/>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578" name="Google Shape;2578;p50"/>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579" name="Google Shape;2579;p50"/>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580" name="Google Shape;2580;p50"/>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581" name="Google Shape;2581;p50"/>
          <p:cNvGraphicFramePr/>
          <p:nvPr/>
        </p:nvGraphicFramePr>
        <p:xfrm>
          <a:off x="8557404" y="1054745"/>
          <a:ext cx="3000000" cy="3000000"/>
        </p:xfrm>
        <a:graphic>
          <a:graphicData uri="http://schemas.openxmlformats.org/drawingml/2006/table">
            <a:tbl>
              <a:tblPr bandRow="1" firstRow="1">
                <a:noFill/>
                <a:tableStyleId>{C61F204E-A15B-47D6-BEBB-6A886D3283EB}</a:tableStyleId>
              </a:tblPr>
              <a:tblGrid>
                <a:gridCol w="481850"/>
                <a:gridCol w="2934200"/>
              </a:tblGrid>
              <a:tr h="2306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화면 타이틀 영역</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지원자 정보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면접 대상자의 기본 정보 표시</a:t>
                      </a:r>
                      <a:endParaRPr b="0"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포함 정보 : 지원자 이름 및 지원 직무,생년월일,학력 및 전공,이메일,연락처 등</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면접 내용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진행 일시 및 총 소요 시간 표시</a:t>
                      </a:r>
                      <a:endParaRPr b="0"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진행 면접 영상 다시보기 기능 제공 버튼</a:t>
                      </a:r>
                      <a:endParaRPr b="0" sz="1000" u="none" cap="none" strike="noStrike">
                        <a:solidFill>
                          <a:schemeClr val="dk1"/>
                        </a:solidFill>
                        <a:latin typeface="Malgun Gothic"/>
                        <a:ea typeface="Malgun Gothic"/>
                        <a:cs typeface="Malgun Gothic"/>
                        <a:sym typeface="Malgun Gothic"/>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진행 면접 텍스트 출력 기능 제공 버튼</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의견 작성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면접관 또는 관리자 의견 작성 입력창</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97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1" lang="ko-KR" sz="1000" u="none" cap="none" strike="noStrike">
                          <a:latin typeface="Noto Sans KR"/>
                          <a:ea typeface="Noto Sans KR"/>
                          <a:cs typeface="Noto Sans KR"/>
                          <a:sym typeface="Noto Sans KR"/>
                        </a:rPr>
                        <a:t>의견 저장 버튼</a:t>
                      </a:r>
                      <a:endParaRPr b="1" sz="1000" u="none" cap="none" strike="noStrike">
                        <a:latin typeface="Noto Sans KR"/>
                        <a:ea typeface="Noto Sans KR"/>
                        <a:cs typeface="Noto Sans KR"/>
                        <a:sym typeface="Noto Sans KR"/>
                      </a:endParaRPr>
                    </a:p>
                    <a:p>
                      <a:pPr indent="0" lvl="0" marL="0" marR="0" rtl="0" algn="l">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텍스트 창에 텍스트를 입력한 경우 저장 버튼을 눌러야 종합평가제출 버튼 정상 작동 저장 안한 경우 의견을 저장해주세요 안내 문구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5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질문 목록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면접 진행 시 사용된 질문 목록 표시</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포함 기능 : 전체 질문 개수 표시, 질문별 답변 확인 버튼 클릭, 답변 내용 요약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35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답변 보기 버튼</a:t>
                      </a:r>
                      <a:endParaRPr b="1" sz="10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 </a:t>
                      </a:r>
                      <a:r>
                        <a:rPr b="0" lang="ko-KR" sz="1000" u="none" cap="none" strike="noStrike">
                          <a:solidFill>
                            <a:schemeClr val="dk1"/>
                          </a:solidFill>
                          <a:latin typeface="Noto Sans KR"/>
                          <a:ea typeface="Noto Sans KR"/>
                          <a:cs typeface="Noto Sans KR"/>
                          <a:sym typeface="Noto Sans KR"/>
                        </a:rPr>
                        <a:t>질문별 답변 확인 버튼 클릭 시 버튼 색상 변경 및 하단에 제공답변 내용 요약 표시출력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90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더보기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페이지 영역 제한으로 미출력된 질문 제공하는 버튼, 스크롤 또는 확장 기능 제공</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3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종합 평가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AI</a:t>
                      </a:r>
                      <a:r>
                        <a:rPr b="1" lang="ko-KR" sz="1000" u="none" cap="none" strike="noStrike">
                          <a:solidFill>
                            <a:schemeClr val="dk1"/>
                          </a:solidFill>
                          <a:latin typeface="Noto Sans KR"/>
                          <a:ea typeface="Noto Sans KR"/>
                          <a:cs typeface="Noto Sans KR"/>
                          <a:sym typeface="Noto Sans KR"/>
                        </a:rPr>
                        <a:t> </a:t>
                      </a:r>
                      <a:r>
                        <a:rPr b="0" lang="ko-KR" sz="1000" u="none" cap="none" strike="noStrike">
                          <a:solidFill>
                            <a:schemeClr val="dk1"/>
                          </a:solidFill>
                          <a:latin typeface="Noto Sans KR"/>
                          <a:ea typeface="Noto Sans KR"/>
                          <a:cs typeface="Noto Sans KR"/>
                          <a:sym typeface="Noto Sans KR"/>
                        </a:rPr>
                        <a:t>면접 결과에 대한 종합 점수 및 평가 내용 제공</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직무역량/인성력량 구역 타이틀 클릭 시 활설화 내용 변경</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0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종합 평가 제출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 작성된 평가 결과를 최종 제출</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01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a:t>
                      </a:r>
                      <a:r>
                        <a:rPr b="1" lang="ko-KR" sz="1000" u="none" cap="none" strike="noStrike">
                          <a:solidFill>
                            <a:schemeClr val="dk1"/>
                          </a:solidFill>
                          <a:latin typeface="Noto Sans KR"/>
                          <a:ea typeface="Noto Sans KR"/>
                          <a:cs typeface="Noto Sans KR"/>
                          <a:sym typeface="Noto Sans KR"/>
                        </a:rPr>
                        <a:t>X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현재 창을 닫고 이전 화면(INT-06 결과 분석 목록 화면)으로 이동</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582" name="Google Shape;2582;p50"/>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950"/>
                <a:gridCol w="867425"/>
                <a:gridCol w="663475"/>
                <a:gridCol w="1113625"/>
                <a:gridCol w="768325"/>
                <a:gridCol w="4079375"/>
                <a:gridCol w="452350"/>
                <a:gridCol w="296157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INT-06-1</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결과 분석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INT-06 에서 결과 상세 보기 버튼 클릭 시 인입되는 면접 결과 세부 내용 제공</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583" name="Google Shape;2583;p50"/>
          <p:cNvSpPr/>
          <p:nvPr/>
        </p:nvSpPr>
        <p:spPr>
          <a:xfrm>
            <a:off x="335382" y="1127261"/>
            <a:ext cx="8132343" cy="5410200"/>
          </a:xfrm>
          <a:prstGeom prst="rect">
            <a:avLst/>
          </a:prstGeom>
          <a:solidFill>
            <a:schemeClr val="lt1"/>
          </a:solid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584" name="Google Shape;2584;p50"/>
          <p:cNvPicPr preferRelativeResize="0"/>
          <p:nvPr/>
        </p:nvPicPr>
        <p:blipFill rotWithShape="1">
          <a:blip r:embed="rId3">
            <a:alphaModFix/>
          </a:blip>
          <a:srcRect b="0" l="0" r="0" t="0"/>
          <a:stretch/>
        </p:blipFill>
        <p:spPr>
          <a:xfrm>
            <a:off x="341746" y="1135367"/>
            <a:ext cx="1502116" cy="462845"/>
          </a:xfrm>
          <a:prstGeom prst="rect">
            <a:avLst/>
          </a:prstGeom>
          <a:noFill/>
          <a:ln>
            <a:noFill/>
          </a:ln>
        </p:spPr>
      </p:pic>
      <p:cxnSp>
        <p:nvCxnSpPr>
          <p:cNvPr id="2585" name="Google Shape;2585;p50"/>
          <p:cNvCxnSpPr/>
          <p:nvPr/>
        </p:nvCxnSpPr>
        <p:spPr>
          <a:xfrm>
            <a:off x="1852101" y="1119675"/>
            <a:ext cx="0" cy="5413252"/>
          </a:xfrm>
          <a:prstGeom prst="straightConnector1">
            <a:avLst/>
          </a:prstGeom>
          <a:noFill/>
          <a:ln cap="flat" cmpd="sng" w="9525">
            <a:solidFill>
              <a:srgbClr val="BFBFBF"/>
            </a:solidFill>
            <a:prstDash val="solid"/>
            <a:miter lim="8000"/>
            <a:headEnd len="sm" w="sm" type="none"/>
            <a:tailEnd len="sm" w="sm" type="none"/>
          </a:ln>
        </p:spPr>
      </p:cxnSp>
      <p:sp>
        <p:nvSpPr>
          <p:cNvPr id="2586" name="Google Shape;2586;p50"/>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2587" name="Google Shape;2587;p50"/>
          <p:cNvSpPr/>
          <p:nvPr/>
        </p:nvSpPr>
        <p:spPr>
          <a:xfrm>
            <a:off x="7896250" y="1179197"/>
            <a:ext cx="380984" cy="361442"/>
          </a:xfrm>
          <a:prstGeom prst="ellipse">
            <a:avLst/>
          </a:prstGeom>
          <a:blipFill rotWithShape="1">
            <a:blip r:embed="rId4">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88" name="Google Shape;2588;p50"/>
          <p:cNvSpPr/>
          <p:nvPr/>
        </p:nvSpPr>
        <p:spPr>
          <a:xfrm>
            <a:off x="1681905" y="110488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grpSp>
        <p:nvGrpSpPr>
          <p:cNvPr id="2589" name="Google Shape;2589;p50"/>
          <p:cNvGrpSpPr/>
          <p:nvPr/>
        </p:nvGrpSpPr>
        <p:grpSpPr>
          <a:xfrm>
            <a:off x="1970805" y="1218649"/>
            <a:ext cx="2410818" cy="338554"/>
            <a:chOff x="2413761" y="1219855"/>
            <a:chExt cx="2410818" cy="338554"/>
          </a:xfrm>
        </p:grpSpPr>
        <p:sp>
          <p:nvSpPr>
            <p:cNvPr id="2590" name="Google Shape;2590;p50"/>
            <p:cNvSpPr txBox="1"/>
            <p:nvPr/>
          </p:nvSpPr>
          <p:spPr>
            <a:xfrm>
              <a:off x="2604687"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결과 분석</a:t>
              </a:r>
              <a:endParaRPr b="1" sz="1800">
                <a:solidFill>
                  <a:srgbClr val="7F7F7F"/>
                </a:solidFill>
                <a:latin typeface="Noto Sans KR"/>
                <a:ea typeface="Noto Sans KR"/>
                <a:cs typeface="Noto Sans KR"/>
                <a:sym typeface="Noto Sans KR"/>
              </a:endParaRPr>
            </a:p>
          </p:txBody>
        </p:sp>
        <p:pic>
          <p:nvPicPr>
            <p:cNvPr id="2591" name="Google Shape;2591;p50"/>
            <p:cNvPicPr preferRelativeResize="0"/>
            <p:nvPr/>
          </p:nvPicPr>
          <p:blipFill rotWithShape="1">
            <a:blip r:embed="rId5">
              <a:alphaModFix/>
            </a:blip>
            <a:srcRect b="0" l="0" r="0" t="0"/>
            <a:stretch/>
          </p:blipFill>
          <p:spPr>
            <a:xfrm>
              <a:off x="2413761" y="1263783"/>
              <a:ext cx="228600" cy="228600"/>
            </a:xfrm>
            <a:prstGeom prst="rect">
              <a:avLst/>
            </a:prstGeom>
            <a:noFill/>
            <a:ln>
              <a:noFill/>
            </a:ln>
          </p:spPr>
        </p:pic>
      </p:grpSp>
      <p:cxnSp>
        <p:nvCxnSpPr>
          <p:cNvPr id="2592" name="Google Shape;2592;p50"/>
          <p:cNvCxnSpPr/>
          <p:nvPr/>
        </p:nvCxnSpPr>
        <p:spPr>
          <a:xfrm>
            <a:off x="1843862" y="1595886"/>
            <a:ext cx="6623863" cy="0"/>
          </a:xfrm>
          <a:prstGeom prst="straightConnector1">
            <a:avLst/>
          </a:prstGeom>
          <a:noFill/>
          <a:ln cap="flat" cmpd="sng" w="9525">
            <a:solidFill>
              <a:srgbClr val="BFBFBF"/>
            </a:solidFill>
            <a:prstDash val="solid"/>
            <a:miter lim="8000"/>
            <a:headEnd len="sm" w="sm" type="none"/>
            <a:tailEnd len="sm" w="sm" type="none"/>
          </a:ln>
        </p:spPr>
      </p:cxnSp>
      <p:grpSp>
        <p:nvGrpSpPr>
          <p:cNvPr id="2593" name="Google Shape;2593;p50"/>
          <p:cNvGrpSpPr/>
          <p:nvPr/>
        </p:nvGrpSpPr>
        <p:grpSpPr>
          <a:xfrm>
            <a:off x="1936031" y="1701171"/>
            <a:ext cx="1866129" cy="1829025"/>
            <a:chOff x="2387942" y="1674966"/>
            <a:chExt cx="1587995" cy="2295286"/>
          </a:xfrm>
        </p:grpSpPr>
        <p:sp>
          <p:nvSpPr>
            <p:cNvPr id="2594" name="Google Shape;2594;p50"/>
            <p:cNvSpPr/>
            <p:nvPr/>
          </p:nvSpPr>
          <p:spPr>
            <a:xfrm>
              <a:off x="2387942" y="1674966"/>
              <a:ext cx="1587995" cy="2295286"/>
            </a:xfrm>
            <a:prstGeom prst="roundRect">
              <a:avLst>
                <a:gd fmla="val 4475"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595" name="Google Shape;2595;p50"/>
            <p:cNvCxnSpPr/>
            <p:nvPr/>
          </p:nvCxnSpPr>
          <p:spPr>
            <a:xfrm flipH="1" rot="10800000">
              <a:off x="2398845" y="1968885"/>
              <a:ext cx="1575077" cy="4579"/>
            </a:xfrm>
            <a:prstGeom prst="straightConnector1">
              <a:avLst/>
            </a:prstGeom>
            <a:noFill/>
            <a:ln cap="flat" cmpd="sng" w="9525">
              <a:solidFill>
                <a:srgbClr val="BFBFBF"/>
              </a:solidFill>
              <a:prstDash val="solid"/>
              <a:miter lim="8000"/>
              <a:headEnd len="sm" w="sm" type="none"/>
              <a:tailEnd len="sm" w="sm" type="none"/>
            </a:ln>
          </p:spPr>
        </p:cxnSp>
      </p:grpSp>
      <p:sp>
        <p:nvSpPr>
          <p:cNvPr id="2596" name="Google Shape;2596;p50"/>
          <p:cNvSpPr txBox="1"/>
          <p:nvPr/>
        </p:nvSpPr>
        <p:spPr>
          <a:xfrm>
            <a:off x="1918427" y="1721093"/>
            <a:ext cx="96981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지원자 정보</a:t>
            </a:r>
            <a:endParaRPr sz="1200">
              <a:solidFill>
                <a:schemeClr val="dk1"/>
              </a:solidFill>
              <a:latin typeface="Noto Sans KR"/>
              <a:ea typeface="Noto Sans KR"/>
              <a:cs typeface="Noto Sans KR"/>
              <a:sym typeface="Noto Sans KR"/>
            </a:endParaRPr>
          </a:p>
        </p:txBody>
      </p:sp>
      <p:sp>
        <p:nvSpPr>
          <p:cNvPr id="2597" name="Google Shape;2597;p50"/>
          <p:cNvSpPr/>
          <p:nvPr/>
        </p:nvSpPr>
        <p:spPr>
          <a:xfrm>
            <a:off x="3915813" y="1683816"/>
            <a:ext cx="4491630" cy="2962075"/>
          </a:xfrm>
          <a:prstGeom prst="roundRect">
            <a:avLst>
              <a:gd fmla="val 403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2598" name="Google Shape;2598;p50"/>
          <p:cNvGrpSpPr/>
          <p:nvPr/>
        </p:nvGrpSpPr>
        <p:grpSpPr>
          <a:xfrm>
            <a:off x="333507" y="1596030"/>
            <a:ext cx="1848615" cy="4951691"/>
            <a:chOff x="318669" y="1595887"/>
            <a:chExt cx="1843646" cy="4938263"/>
          </a:xfrm>
        </p:grpSpPr>
        <p:grpSp>
          <p:nvGrpSpPr>
            <p:cNvPr id="2599" name="Google Shape;2599;p50"/>
            <p:cNvGrpSpPr/>
            <p:nvPr/>
          </p:nvGrpSpPr>
          <p:grpSpPr>
            <a:xfrm>
              <a:off x="318669" y="1595887"/>
              <a:ext cx="1661549" cy="4938263"/>
              <a:chOff x="318669" y="1595887"/>
              <a:chExt cx="2141093" cy="4938263"/>
            </a:xfrm>
          </p:grpSpPr>
          <p:grpSp>
            <p:nvGrpSpPr>
              <p:cNvPr id="2600" name="Google Shape;2600;p50"/>
              <p:cNvGrpSpPr/>
              <p:nvPr/>
            </p:nvGrpSpPr>
            <p:grpSpPr>
              <a:xfrm>
                <a:off x="318669" y="1595887"/>
                <a:ext cx="2141093" cy="4938263"/>
                <a:chOff x="335382" y="1595886"/>
                <a:chExt cx="2141093" cy="4938263"/>
              </a:xfrm>
            </p:grpSpPr>
            <p:sp>
              <p:nvSpPr>
                <p:cNvPr id="2601" name="Google Shape;2601;p50"/>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Malgun Gothic"/>
                    <a:ea typeface="Malgun Gothic"/>
                    <a:cs typeface="Malgun Gothic"/>
                    <a:sym typeface="Malgun Gothic"/>
                  </a:endParaRPr>
                </a:p>
              </p:txBody>
            </p:sp>
            <p:sp>
              <p:nvSpPr>
                <p:cNvPr id="2602" name="Google Shape;2602;p50"/>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Dashboard</a:t>
                  </a:r>
                  <a:endParaRPr sz="1000">
                    <a:solidFill>
                      <a:schemeClr val="lt1"/>
                    </a:solidFill>
                    <a:latin typeface="Noto Sans KR"/>
                    <a:ea typeface="Noto Sans KR"/>
                    <a:cs typeface="Noto Sans KR"/>
                    <a:sym typeface="Noto Sans KR"/>
                  </a:endParaRPr>
                </a:p>
              </p:txBody>
            </p:sp>
            <p:pic>
              <p:nvPicPr>
                <p:cNvPr id="2603" name="Google Shape;2603;p50"/>
                <p:cNvPicPr preferRelativeResize="0"/>
                <p:nvPr/>
              </p:nvPicPr>
              <p:blipFill rotWithShape="1">
                <a:blip r:embed="rId6">
                  <a:alphaModFix/>
                </a:blip>
                <a:srcRect b="0" l="0" r="0" t="0"/>
                <a:stretch/>
              </p:blipFill>
              <p:spPr>
                <a:xfrm>
                  <a:off x="477692" y="1740185"/>
                  <a:ext cx="186542" cy="186542"/>
                </a:xfrm>
                <a:prstGeom prst="rect">
                  <a:avLst/>
                </a:prstGeom>
                <a:noFill/>
                <a:ln>
                  <a:noFill/>
                </a:ln>
              </p:spPr>
            </p:pic>
            <p:cxnSp>
              <p:nvCxnSpPr>
                <p:cNvPr id="2604" name="Google Shape;2604;p50"/>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2605" name="Google Shape;2605;p50"/>
                <p:cNvGrpSpPr/>
                <p:nvPr/>
              </p:nvGrpSpPr>
              <p:grpSpPr>
                <a:xfrm>
                  <a:off x="450266" y="2390557"/>
                  <a:ext cx="1756549" cy="352030"/>
                  <a:chOff x="450266" y="1209410"/>
                  <a:chExt cx="1756549" cy="352030"/>
                </a:xfrm>
              </p:grpSpPr>
              <p:cxnSp>
                <p:nvCxnSpPr>
                  <p:cNvPr id="2606" name="Google Shape;2606;p50"/>
                  <p:cNvCxnSpPr/>
                  <p:nvPr/>
                </p:nvCxnSpPr>
                <p:spPr>
                  <a:xfrm>
                    <a:off x="477692" y="1561440"/>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607" name="Google Shape;2607;p50"/>
                  <p:cNvSpPr txBox="1"/>
                  <p:nvPr/>
                </p:nvSpPr>
                <p:spPr>
                  <a:xfrm>
                    <a:off x="450266" y="1209410"/>
                    <a:ext cx="1756549"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BFBFBF"/>
                        </a:solidFill>
                        <a:latin typeface="Noto Sans KR"/>
                        <a:ea typeface="Noto Sans KR"/>
                        <a:cs typeface="Noto Sans KR"/>
                        <a:sym typeface="Noto Sans KR"/>
                      </a:rPr>
                      <a:t>면접 현황                ∧               </a:t>
                    </a:r>
                    <a:endParaRPr sz="1000">
                      <a:solidFill>
                        <a:srgbClr val="BFBFBF"/>
                      </a:solidFill>
                      <a:latin typeface="Noto Sans KR"/>
                      <a:ea typeface="Noto Sans KR"/>
                      <a:cs typeface="Noto Sans KR"/>
                      <a:sym typeface="Noto Sans KR"/>
                    </a:endParaRPr>
                  </a:p>
                </p:txBody>
              </p:sp>
            </p:grpSp>
            <p:grpSp>
              <p:nvGrpSpPr>
                <p:cNvPr id="2608" name="Google Shape;2608;p50"/>
                <p:cNvGrpSpPr/>
                <p:nvPr/>
              </p:nvGrpSpPr>
              <p:grpSpPr>
                <a:xfrm>
                  <a:off x="586240" y="2927871"/>
                  <a:ext cx="1890235" cy="879955"/>
                  <a:chOff x="387847" y="2881173"/>
                  <a:chExt cx="2116652" cy="885768"/>
                </a:xfrm>
              </p:grpSpPr>
              <p:sp>
                <p:nvSpPr>
                  <p:cNvPr id="2609" name="Google Shape;2609;p50"/>
                  <p:cNvSpPr txBox="1"/>
                  <p:nvPr/>
                </p:nvSpPr>
                <p:spPr>
                  <a:xfrm>
                    <a:off x="387847" y="2881173"/>
                    <a:ext cx="2116652" cy="2323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900">
                      <a:solidFill>
                        <a:srgbClr val="BFBFBF"/>
                      </a:solidFill>
                      <a:latin typeface="Noto Sans KR"/>
                      <a:ea typeface="Noto Sans KR"/>
                      <a:cs typeface="Noto Sans KR"/>
                      <a:sym typeface="Noto Sans KR"/>
                    </a:endParaRPr>
                  </a:p>
                </p:txBody>
              </p:sp>
              <p:cxnSp>
                <p:nvCxnSpPr>
                  <p:cNvPr id="2610" name="Google Shape;2610;p50"/>
                  <p:cNvCxnSpPr/>
                  <p:nvPr/>
                </p:nvCxnSpPr>
                <p:spPr>
                  <a:xfrm flipH="1" rot="10800000">
                    <a:off x="627550" y="3762117"/>
                    <a:ext cx="1398861" cy="4824"/>
                  </a:xfrm>
                  <a:prstGeom prst="straightConnector1">
                    <a:avLst/>
                  </a:prstGeom>
                  <a:noFill/>
                  <a:ln cap="flat" cmpd="sng" w="9525">
                    <a:solidFill>
                      <a:srgbClr val="BFBFBF"/>
                    </a:solidFill>
                    <a:prstDash val="solid"/>
                    <a:miter lim="8000"/>
                    <a:headEnd len="sm" w="sm" type="none"/>
                    <a:tailEnd len="sm" w="sm" type="none"/>
                  </a:ln>
                </p:spPr>
              </p:cxnSp>
            </p:grpSp>
            <p:grpSp>
              <p:nvGrpSpPr>
                <p:cNvPr id="2611" name="Google Shape;2611;p50"/>
                <p:cNvGrpSpPr/>
                <p:nvPr/>
              </p:nvGrpSpPr>
              <p:grpSpPr>
                <a:xfrm>
                  <a:off x="437361" y="3993527"/>
                  <a:ext cx="1756549" cy="350847"/>
                  <a:chOff x="437361" y="1889881"/>
                  <a:chExt cx="1756549" cy="350847"/>
                </a:xfrm>
              </p:grpSpPr>
              <p:cxnSp>
                <p:nvCxnSpPr>
                  <p:cNvPr id="2612" name="Google Shape;2612;p50"/>
                  <p:cNvCxnSpPr/>
                  <p:nvPr/>
                </p:nvCxnSpPr>
                <p:spPr>
                  <a:xfrm>
                    <a:off x="518358" y="2240728"/>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613" name="Google Shape;2613;p50"/>
                  <p:cNvSpPr txBox="1"/>
                  <p:nvPr/>
                </p:nvSpPr>
                <p:spPr>
                  <a:xfrm>
                    <a:off x="437361" y="1889881"/>
                    <a:ext cx="17565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BFBFBF"/>
                        </a:solidFill>
                        <a:latin typeface="Noto Sans KR"/>
                        <a:ea typeface="Noto Sans KR"/>
                        <a:cs typeface="Noto Sans KR"/>
                        <a:sym typeface="Noto Sans KR"/>
                      </a:rPr>
                      <a:t>Rubrics                 ∨                </a:t>
                    </a:r>
                    <a:endParaRPr sz="1000">
                      <a:solidFill>
                        <a:srgbClr val="BFBFBF"/>
                      </a:solidFill>
                      <a:latin typeface="Noto Sans KR"/>
                      <a:ea typeface="Noto Sans KR"/>
                      <a:cs typeface="Noto Sans KR"/>
                      <a:sym typeface="Noto Sans KR"/>
                    </a:endParaRPr>
                  </a:p>
                </p:txBody>
              </p:sp>
            </p:grpSp>
          </p:grpSp>
          <p:sp>
            <p:nvSpPr>
              <p:cNvPr id="2614" name="Google Shape;2614;p50"/>
              <p:cNvSpPr/>
              <p:nvPr/>
            </p:nvSpPr>
            <p:spPr>
              <a:xfrm>
                <a:off x="1187250" y="3524966"/>
                <a:ext cx="866567" cy="264811"/>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9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900">
                    <a:solidFill>
                      <a:schemeClr val="lt1"/>
                    </a:solidFill>
                    <a:latin typeface="Noto Sans KR"/>
                    <a:ea typeface="Noto Sans KR"/>
                    <a:cs typeface="Noto Sans KR"/>
                    <a:sym typeface="Noto Sans KR"/>
                  </a:rPr>
                  <a:t>결과 분석</a:t>
                </a:r>
                <a:endParaRPr sz="9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900">
                    <a:solidFill>
                      <a:schemeClr val="lt1"/>
                    </a:solidFill>
                    <a:latin typeface="Noto Sans KR"/>
                    <a:ea typeface="Noto Sans KR"/>
                    <a:cs typeface="Noto Sans KR"/>
                    <a:sym typeface="Noto Sans KR"/>
                  </a:rPr>
                  <a:t>  </a:t>
                </a:r>
                <a:endParaRPr/>
              </a:p>
            </p:txBody>
          </p:sp>
          <p:cxnSp>
            <p:nvCxnSpPr>
              <p:cNvPr id="2615" name="Google Shape;2615;p50"/>
              <p:cNvCxnSpPr/>
              <p:nvPr/>
            </p:nvCxnSpPr>
            <p:spPr>
              <a:xfrm flipH="1" rot="10800000">
                <a:off x="774609" y="3502016"/>
                <a:ext cx="1249226" cy="4792"/>
              </a:xfrm>
              <a:prstGeom prst="straightConnector1">
                <a:avLst/>
              </a:prstGeom>
              <a:noFill/>
              <a:ln cap="flat" cmpd="sng" w="9525">
                <a:solidFill>
                  <a:srgbClr val="BFBFBF"/>
                </a:solidFill>
                <a:prstDash val="solid"/>
                <a:miter lim="8000"/>
                <a:headEnd len="sm" w="sm" type="none"/>
                <a:tailEnd len="sm" w="sm" type="none"/>
              </a:ln>
            </p:spPr>
          </p:cxnSp>
          <p:sp>
            <p:nvSpPr>
              <p:cNvPr id="2616" name="Google Shape;2616;p50"/>
              <p:cNvSpPr/>
              <p:nvPr/>
            </p:nvSpPr>
            <p:spPr>
              <a:xfrm>
                <a:off x="1270577" y="3209802"/>
                <a:ext cx="849395"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rgbClr val="BFBFBF"/>
                    </a:solidFill>
                    <a:latin typeface="Noto Sans KR"/>
                    <a:ea typeface="Noto Sans KR"/>
                    <a:cs typeface="Noto Sans KR"/>
                    <a:sym typeface="Noto Sans KR"/>
                  </a:rPr>
                  <a:t> 결과 관리</a:t>
                </a:r>
                <a:endParaRPr sz="900">
                  <a:solidFill>
                    <a:srgbClr val="BFBFBF"/>
                  </a:solidFill>
                  <a:latin typeface="Noto Sans KR"/>
                  <a:ea typeface="Noto Sans KR"/>
                  <a:cs typeface="Noto Sans KR"/>
                  <a:sym typeface="Noto Sans KR"/>
                </a:endParaRPr>
              </a:p>
            </p:txBody>
          </p:sp>
          <p:sp>
            <p:nvSpPr>
              <p:cNvPr id="2617" name="Google Shape;2617;p50"/>
              <p:cNvSpPr/>
              <p:nvPr/>
            </p:nvSpPr>
            <p:spPr>
              <a:xfrm>
                <a:off x="501645" y="2790911"/>
                <a:ext cx="1602314"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0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면접 결과              ∧</a:t>
                </a:r>
                <a:endParaRPr sz="10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a:t>
                </a:r>
                <a:endParaRPr sz="1000">
                  <a:solidFill>
                    <a:schemeClr val="lt1"/>
                  </a:solidFill>
                  <a:latin typeface="Noto Sans KR"/>
                  <a:ea typeface="Noto Sans KR"/>
                  <a:cs typeface="Noto Sans KR"/>
                  <a:sym typeface="Noto Sans KR"/>
                </a:endParaRPr>
              </a:p>
            </p:txBody>
          </p:sp>
          <p:cxnSp>
            <p:nvCxnSpPr>
              <p:cNvPr id="2618" name="Google Shape;2618;p50"/>
              <p:cNvCxnSpPr/>
              <p:nvPr/>
            </p:nvCxnSpPr>
            <p:spPr>
              <a:xfrm>
                <a:off x="485432" y="3134298"/>
                <a:ext cx="1618527" cy="0"/>
              </a:xfrm>
              <a:prstGeom prst="straightConnector1">
                <a:avLst/>
              </a:prstGeom>
              <a:noFill/>
              <a:ln cap="flat" cmpd="sng" w="9525">
                <a:solidFill>
                  <a:srgbClr val="BFBFBF"/>
                </a:solidFill>
                <a:prstDash val="solid"/>
                <a:miter lim="8000"/>
                <a:headEnd len="sm" w="sm" type="none"/>
                <a:tailEnd len="sm" w="sm" type="none"/>
              </a:ln>
            </p:spPr>
          </p:cxnSp>
        </p:grpSp>
        <p:sp>
          <p:nvSpPr>
            <p:cNvPr id="2619" name="Google Shape;2619;p50"/>
            <p:cNvSpPr txBox="1"/>
            <p:nvPr/>
          </p:nvSpPr>
          <p:spPr>
            <a:xfrm>
              <a:off x="405766" y="2052718"/>
              <a:ext cx="17565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BFBFBF"/>
                  </a:solidFill>
                  <a:latin typeface="Noto Sans KR"/>
                  <a:ea typeface="Noto Sans KR"/>
                  <a:cs typeface="Noto Sans KR"/>
                  <a:sym typeface="Noto Sans KR"/>
                </a:rPr>
                <a:t>공고 관리                ∨                 </a:t>
              </a:r>
              <a:endParaRPr sz="1000">
                <a:solidFill>
                  <a:srgbClr val="BFBFBF"/>
                </a:solidFill>
                <a:latin typeface="Noto Sans KR"/>
                <a:ea typeface="Noto Sans KR"/>
                <a:cs typeface="Noto Sans KR"/>
                <a:sym typeface="Noto Sans KR"/>
              </a:endParaRPr>
            </a:p>
          </p:txBody>
        </p:sp>
      </p:grpSp>
      <p:grpSp>
        <p:nvGrpSpPr>
          <p:cNvPr id="2620" name="Google Shape;2620;p50"/>
          <p:cNvGrpSpPr/>
          <p:nvPr/>
        </p:nvGrpSpPr>
        <p:grpSpPr>
          <a:xfrm>
            <a:off x="398957" y="6246069"/>
            <a:ext cx="1056463" cy="261610"/>
            <a:chOff x="417309" y="6108345"/>
            <a:chExt cx="1066433" cy="388263"/>
          </a:xfrm>
        </p:grpSpPr>
        <p:pic>
          <p:nvPicPr>
            <p:cNvPr id="2621" name="Google Shape;2621;p50"/>
            <p:cNvPicPr preferRelativeResize="0"/>
            <p:nvPr/>
          </p:nvPicPr>
          <p:blipFill rotWithShape="1">
            <a:blip r:embed="rId7">
              <a:alphaModFix/>
            </a:blip>
            <a:srcRect b="0" l="0" r="0" t="0"/>
            <a:stretch/>
          </p:blipFill>
          <p:spPr>
            <a:xfrm>
              <a:off x="417309" y="6148038"/>
              <a:ext cx="246925" cy="280330"/>
            </a:xfrm>
            <a:prstGeom prst="rect">
              <a:avLst/>
            </a:prstGeom>
            <a:noFill/>
            <a:ln>
              <a:noFill/>
            </a:ln>
          </p:spPr>
        </p:pic>
        <p:sp>
          <p:nvSpPr>
            <p:cNvPr id="2622" name="Google Shape;2622;p50"/>
            <p:cNvSpPr txBox="1"/>
            <p:nvPr/>
          </p:nvSpPr>
          <p:spPr>
            <a:xfrm>
              <a:off x="638355" y="6108345"/>
              <a:ext cx="845387" cy="3882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BFBFBF"/>
                  </a:solidFill>
                  <a:latin typeface="Noto Sans KR"/>
                  <a:ea typeface="Noto Sans KR"/>
                  <a:cs typeface="Noto Sans KR"/>
                  <a:sym typeface="Noto Sans KR"/>
                </a:rPr>
                <a:t>설정</a:t>
              </a:r>
              <a:endParaRPr sz="1100">
                <a:solidFill>
                  <a:srgbClr val="BFBFBF"/>
                </a:solidFill>
                <a:latin typeface="Noto Sans KR"/>
                <a:ea typeface="Noto Sans KR"/>
                <a:cs typeface="Noto Sans KR"/>
                <a:sym typeface="Noto Sans KR"/>
              </a:endParaRPr>
            </a:p>
          </p:txBody>
        </p:sp>
      </p:grpSp>
      <p:cxnSp>
        <p:nvCxnSpPr>
          <p:cNvPr id="2623" name="Google Shape;2623;p50"/>
          <p:cNvCxnSpPr/>
          <p:nvPr/>
        </p:nvCxnSpPr>
        <p:spPr>
          <a:xfrm>
            <a:off x="351762" y="6200151"/>
            <a:ext cx="1500339" cy="14216"/>
          </a:xfrm>
          <a:prstGeom prst="straightConnector1">
            <a:avLst/>
          </a:prstGeom>
          <a:noFill/>
          <a:ln cap="flat" cmpd="sng" w="9525">
            <a:solidFill>
              <a:srgbClr val="BFBFBF"/>
            </a:solidFill>
            <a:prstDash val="solid"/>
            <a:miter lim="8000"/>
            <a:headEnd len="sm" w="sm" type="none"/>
            <a:tailEnd len="sm" w="sm" type="none"/>
          </a:ln>
        </p:spPr>
      </p:cxnSp>
      <p:pic>
        <p:nvPicPr>
          <p:cNvPr id="2624" name="Google Shape;2624;p50"/>
          <p:cNvPicPr preferRelativeResize="0"/>
          <p:nvPr/>
        </p:nvPicPr>
        <p:blipFill rotWithShape="1">
          <a:blip r:embed="rId8">
            <a:alphaModFix/>
          </a:blip>
          <a:srcRect b="54220" l="55521" r="19604" t="22941"/>
          <a:stretch/>
        </p:blipFill>
        <p:spPr>
          <a:xfrm>
            <a:off x="1998660" y="2073379"/>
            <a:ext cx="577047" cy="529808"/>
          </a:xfrm>
          <a:prstGeom prst="ellipse">
            <a:avLst/>
          </a:prstGeom>
          <a:noFill/>
          <a:ln cap="flat" cmpd="sng" w="9525">
            <a:solidFill>
              <a:srgbClr val="D8D8D8"/>
            </a:solidFill>
            <a:prstDash val="solid"/>
            <a:round/>
            <a:headEnd len="sm" w="sm" type="none"/>
            <a:tailEnd len="sm" w="sm" type="none"/>
          </a:ln>
        </p:spPr>
      </p:pic>
      <p:sp>
        <p:nvSpPr>
          <p:cNvPr id="2625" name="Google Shape;2625;p50"/>
          <p:cNvSpPr txBox="1"/>
          <p:nvPr/>
        </p:nvSpPr>
        <p:spPr>
          <a:xfrm>
            <a:off x="2623400" y="2056590"/>
            <a:ext cx="105596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홍길동</a:t>
            </a:r>
            <a:endParaRPr sz="1400">
              <a:solidFill>
                <a:schemeClr val="dk1"/>
              </a:solidFill>
              <a:latin typeface="Noto Sans KR"/>
              <a:ea typeface="Noto Sans KR"/>
              <a:cs typeface="Noto Sans KR"/>
              <a:sym typeface="Noto Sans KR"/>
            </a:endParaRPr>
          </a:p>
        </p:txBody>
      </p:sp>
      <p:sp>
        <p:nvSpPr>
          <p:cNvPr id="2626" name="Google Shape;2626;p50"/>
          <p:cNvSpPr txBox="1"/>
          <p:nvPr/>
        </p:nvSpPr>
        <p:spPr>
          <a:xfrm>
            <a:off x="2537575" y="2307449"/>
            <a:ext cx="1187778"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Data Engineer</a:t>
            </a:r>
            <a:endParaRPr sz="900">
              <a:solidFill>
                <a:schemeClr val="dk1"/>
              </a:solidFill>
              <a:latin typeface="Noto Sans KR"/>
              <a:ea typeface="Noto Sans KR"/>
              <a:cs typeface="Noto Sans KR"/>
              <a:sym typeface="Noto Sans KR"/>
            </a:endParaRPr>
          </a:p>
        </p:txBody>
      </p:sp>
      <p:sp>
        <p:nvSpPr>
          <p:cNvPr id="2627" name="Google Shape;2627;p50"/>
          <p:cNvSpPr txBox="1"/>
          <p:nvPr/>
        </p:nvSpPr>
        <p:spPr>
          <a:xfrm>
            <a:off x="1974843" y="2687579"/>
            <a:ext cx="1807847"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생년월일 1996-01-01</a:t>
            </a: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학사/데이터 사이언스 전공</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이메일  </a:t>
            </a:r>
            <a:r>
              <a:rPr lang="ko-KR" sz="1000" u="sng">
                <a:solidFill>
                  <a:schemeClr val="dk1"/>
                </a:solidFill>
                <a:latin typeface="Noto Sans KR"/>
                <a:ea typeface="Noto Sans KR"/>
                <a:cs typeface="Noto Sans KR"/>
                <a:sym typeface="Noto Sans KR"/>
                <a:hlinkClick r:id="rId9">
                  <a:extLst>
                    <a:ext uri="{A12FA001-AC4F-418D-AE19-62706E023703}">
                      <ahyp:hlinkClr val="tx"/>
                    </a:ext>
                  </a:extLst>
                </a:hlinkClick>
              </a:rPr>
              <a:t>kildong@vmail.com</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dk1"/>
                </a:solidFill>
                <a:latin typeface="Noto Sans KR"/>
                <a:ea typeface="Noto Sans KR"/>
                <a:cs typeface="Noto Sans KR"/>
                <a:sym typeface="Noto Sans KR"/>
              </a:rPr>
              <a:t>연락처 010-1111-1111</a:t>
            </a:r>
            <a:endParaRPr/>
          </a:p>
        </p:txBody>
      </p:sp>
      <p:grpSp>
        <p:nvGrpSpPr>
          <p:cNvPr id="2628" name="Google Shape;2628;p50"/>
          <p:cNvGrpSpPr/>
          <p:nvPr/>
        </p:nvGrpSpPr>
        <p:grpSpPr>
          <a:xfrm>
            <a:off x="1921326" y="4634029"/>
            <a:ext cx="1880832" cy="1805939"/>
            <a:chOff x="2375430" y="1674966"/>
            <a:chExt cx="1600507" cy="2295286"/>
          </a:xfrm>
        </p:grpSpPr>
        <p:sp>
          <p:nvSpPr>
            <p:cNvPr id="2629" name="Google Shape;2629;p50"/>
            <p:cNvSpPr/>
            <p:nvPr/>
          </p:nvSpPr>
          <p:spPr>
            <a:xfrm>
              <a:off x="2387942" y="1674966"/>
              <a:ext cx="1587995" cy="2295286"/>
            </a:xfrm>
            <a:prstGeom prst="roundRect">
              <a:avLst>
                <a:gd fmla="val 4475"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630" name="Google Shape;2630;p50"/>
            <p:cNvCxnSpPr/>
            <p:nvPr/>
          </p:nvCxnSpPr>
          <p:spPr>
            <a:xfrm flipH="1" rot="10800000">
              <a:off x="2375430" y="2083795"/>
              <a:ext cx="1575077" cy="4577"/>
            </a:xfrm>
            <a:prstGeom prst="straightConnector1">
              <a:avLst/>
            </a:prstGeom>
            <a:noFill/>
            <a:ln cap="flat" cmpd="sng" w="9525">
              <a:solidFill>
                <a:srgbClr val="BFBFBF"/>
              </a:solidFill>
              <a:prstDash val="solid"/>
              <a:miter lim="8000"/>
              <a:headEnd len="sm" w="sm" type="none"/>
              <a:tailEnd len="sm" w="sm" type="none"/>
            </a:ln>
          </p:spPr>
        </p:cxnSp>
      </p:grpSp>
      <p:sp>
        <p:nvSpPr>
          <p:cNvPr id="2631" name="Google Shape;2631;p50"/>
          <p:cNvSpPr txBox="1"/>
          <p:nvPr/>
        </p:nvSpPr>
        <p:spPr>
          <a:xfrm>
            <a:off x="1961084" y="4687348"/>
            <a:ext cx="117421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의견 남기기</a:t>
            </a:r>
            <a:endParaRPr sz="1200">
              <a:solidFill>
                <a:schemeClr val="dk1"/>
              </a:solidFill>
              <a:latin typeface="Noto Sans KR"/>
              <a:ea typeface="Noto Sans KR"/>
              <a:cs typeface="Noto Sans KR"/>
              <a:sym typeface="Noto Sans KR"/>
            </a:endParaRPr>
          </a:p>
        </p:txBody>
      </p:sp>
      <p:sp>
        <p:nvSpPr>
          <p:cNvPr id="2632" name="Google Shape;2632;p50"/>
          <p:cNvSpPr/>
          <p:nvPr/>
        </p:nvSpPr>
        <p:spPr>
          <a:xfrm>
            <a:off x="2023692" y="5055228"/>
            <a:ext cx="1710148" cy="1078661"/>
          </a:xfrm>
          <a:prstGeom prst="roundRect">
            <a:avLst>
              <a:gd fmla="val 490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633" name="Google Shape;2633;p50"/>
          <p:cNvSpPr txBox="1"/>
          <p:nvPr/>
        </p:nvSpPr>
        <p:spPr>
          <a:xfrm>
            <a:off x="3392397" y="4551416"/>
            <a:ext cx="4156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7F7F7F"/>
                </a:solidFill>
                <a:latin typeface="Malgun Gothic"/>
                <a:ea typeface="Malgun Gothic"/>
                <a:cs typeface="Malgun Gothic"/>
                <a:sym typeface="Malgun Gothic"/>
              </a:rPr>
              <a:t>…</a:t>
            </a:r>
            <a:endParaRPr sz="1800">
              <a:solidFill>
                <a:srgbClr val="7F7F7F"/>
              </a:solidFill>
              <a:latin typeface="Malgun Gothic"/>
              <a:ea typeface="Malgun Gothic"/>
              <a:cs typeface="Malgun Gothic"/>
              <a:sym typeface="Malgun Gothic"/>
            </a:endParaRPr>
          </a:p>
        </p:txBody>
      </p:sp>
      <p:sp>
        <p:nvSpPr>
          <p:cNvPr id="2634" name="Google Shape;2634;p50"/>
          <p:cNvSpPr/>
          <p:nvPr/>
        </p:nvSpPr>
        <p:spPr>
          <a:xfrm>
            <a:off x="3127270" y="6160717"/>
            <a:ext cx="570695" cy="236537"/>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lt1"/>
                </a:solidFill>
                <a:latin typeface="Noto Sans KR"/>
                <a:ea typeface="Noto Sans KR"/>
                <a:cs typeface="Noto Sans KR"/>
                <a:sym typeface="Noto Sans KR"/>
              </a:rPr>
              <a:t>저장</a:t>
            </a:r>
            <a:endParaRPr sz="1200">
              <a:solidFill>
                <a:schemeClr val="lt1"/>
              </a:solidFill>
              <a:latin typeface="Noto Sans KR"/>
              <a:ea typeface="Noto Sans KR"/>
              <a:cs typeface="Noto Sans KR"/>
              <a:sym typeface="Noto Sans KR"/>
            </a:endParaRPr>
          </a:p>
        </p:txBody>
      </p:sp>
      <p:sp>
        <p:nvSpPr>
          <p:cNvPr id="2635" name="Google Shape;2635;p50"/>
          <p:cNvSpPr txBox="1"/>
          <p:nvPr/>
        </p:nvSpPr>
        <p:spPr>
          <a:xfrm>
            <a:off x="3909881" y="1712558"/>
            <a:ext cx="99104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질문 목록</a:t>
            </a:r>
            <a:endParaRPr sz="1200">
              <a:solidFill>
                <a:schemeClr val="dk1"/>
              </a:solidFill>
              <a:latin typeface="Noto Sans KR"/>
              <a:ea typeface="Noto Sans KR"/>
              <a:cs typeface="Noto Sans KR"/>
              <a:sym typeface="Noto Sans KR"/>
            </a:endParaRPr>
          </a:p>
        </p:txBody>
      </p:sp>
      <p:grpSp>
        <p:nvGrpSpPr>
          <p:cNvPr id="2636" name="Google Shape;2636;p50"/>
          <p:cNvGrpSpPr/>
          <p:nvPr/>
        </p:nvGrpSpPr>
        <p:grpSpPr>
          <a:xfrm>
            <a:off x="1903733" y="3599802"/>
            <a:ext cx="2043608" cy="917234"/>
            <a:chOff x="1903733" y="3950737"/>
            <a:chExt cx="2043608" cy="917234"/>
          </a:xfrm>
        </p:grpSpPr>
        <p:grpSp>
          <p:nvGrpSpPr>
            <p:cNvPr id="2637" name="Google Shape;2637;p50"/>
            <p:cNvGrpSpPr/>
            <p:nvPr/>
          </p:nvGrpSpPr>
          <p:grpSpPr>
            <a:xfrm>
              <a:off x="1941905" y="3950737"/>
              <a:ext cx="1871814" cy="917234"/>
              <a:chOff x="2387942" y="1674966"/>
              <a:chExt cx="1592833" cy="2295286"/>
            </a:xfrm>
          </p:grpSpPr>
          <p:sp>
            <p:nvSpPr>
              <p:cNvPr id="2638" name="Google Shape;2638;p50"/>
              <p:cNvSpPr/>
              <p:nvPr/>
            </p:nvSpPr>
            <p:spPr>
              <a:xfrm>
                <a:off x="2387942" y="1674966"/>
                <a:ext cx="1587995" cy="2295286"/>
              </a:xfrm>
              <a:prstGeom prst="roundRect">
                <a:avLst>
                  <a:gd fmla="val 4475"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639" name="Google Shape;2639;p50"/>
              <p:cNvCxnSpPr/>
              <p:nvPr/>
            </p:nvCxnSpPr>
            <p:spPr>
              <a:xfrm flipH="1" rot="10800000">
                <a:off x="2405698" y="2443190"/>
                <a:ext cx="1575077" cy="4577"/>
              </a:xfrm>
              <a:prstGeom prst="straightConnector1">
                <a:avLst/>
              </a:prstGeom>
              <a:noFill/>
              <a:ln cap="flat" cmpd="sng" w="9525">
                <a:solidFill>
                  <a:srgbClr val="BFBFBF"/>
                </a:solidFill>
                <a:prstDash val="solid"/>
                <a:miter lim="8000"/>
                <a:headEnd len="sm" w="sm" type="none"/>
                <a:tailEnd len="sm" w="sm" type="none"/>
              </a:ln>
            </p:spPr>
          </p:cxnSp>
        </p:grpSp>
        <p:sp>
          <p:nvSpPr>
            <p:cNvPr id="2640" name="Google Shape;2640;p50"/>
            <p:cNvSpPr txBox="1"/>
            <p:nvPr/>
          </p:nvSpPr>
          <p:spPr>
            <a:xfrm>
              <a:off x="1935511" y="3981659"/>
              <a:ext cx="11917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면접 내용</a:t>
              </a:r>
              <a:endParaRPr sz="1200">
                <a:solidFill>
                  <a:schemeClr val="dk1"/>
                </a:solidFill>
                <a:latin typeface="Noto Sans KR"/>
                <a:ea typeface="Noto Sans KR"/>
                <a:cs typeface="Noto Sans KR"/>
                <a:sym typeface="Noto Sans KR"/>
              </a:endParaRPr>
            </a:p>
          </p:txBody>
        </p:sp>
        <p:sp>
          <p:nvSpPr>
            <p:cNvPr id="2641" name="Google Shape;2641;p50"/>
            <p:cNvSpPr/>
            <p:nvPr/>
          </p:nvSpPr>
          <p:spPr>
            <a:xfrm>
              <a:off x="2043872" y="4547635"/>
              <a:ext cx="691049" cy="236537"/>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800">
                  <a:solidFill>
                    <a:schemeClr val="lt1"/>
                  </a:solidFill>
                  <a:latin typeface="Noto Sans KR"/>
                  <a:ea typeface="Noto Sans KR"/>
                  <a:cs typeface="Noto Sans KR"/>
                  <a:sym typeface="Noto Sans KR"/>
                </a:rPr>
                <a:t>● </a:t>
              </a:r>
              <a:r>
                <a:rPr lang="ko-KR" sz="1050">
                  <a:solidFill>
                    <a:schemeClr val="lt1"/>
                  </a:solidFill>
                  <a:latin typeface="Noto Sans KR"/>
                  <a:ea typeface="Noto Sans KR"/>
                  <a:cs typeface="Noto Sans KR"/>
                  <a:sym typeface="Noto Sans KR"/>
                </a:rPr>
                <a:t> REC</a:t>
              </a:r>
              <a:endParaRPr sz="3200">
                <a:solidFill>
                  <a:schemeClr val="lt1"/>
                </a:solidFill>
                <a:latin typeface="Noto Sans KR"/>
                <a:ea typeface="Noto Sans KR"/>
                <a:cs typeface="Noto Sans KR"/>
                <a:sym typeface="Noto Sans KR"/>
              </a:endParaRPr>
            </a:p>
          </p:txBody>
        </p:sp>
        <p:sp>
          <p:nvSpPr>
            <p:cNvPr id="2642" name="Google Shape;2642;p50"/>
            <p:cNvSpPr txBox="1"/>
            <p:nvPr/>
          </p:nvSpPr>
          <p:spPr>
            <a:xfrm>
              <a:off x="1903733" y="4279857"/>
              <a:ext cx="2043608"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900">
                  <a:solidFill>
                    <a:schemeClr val="dk1"/>
                  </a:solidFill>
                  <a:latin typeface="Noto Sans KR"/>
                  <a:ea typeface="Noto Sans KR"/>
                  <a:cs typeface="Noto Sans KR"/>
                  <a:sym typeface="Noto Sans KR"/>
                </a:rPr>
                <a:t>2026-01-26  10:00:02 ~ 10:21:24</a:t>
              </a:r>
              <a:endParaRPr sz="900">
                <a:solidFill>
                  <a:schemeClr val="dk1"/>
                </a:solidFill>
                <a:latin typeface="Noto Sans KR"/>
                <a:ea typeface="Noto Sans KR"/>
                <a:cs typeface="Noto Sans KR"/>
                <a:sym typeface="Noto Sans KR"/>
              </a:endParaRPr>
            </a:p>
          </p:txBody>
        </p:sp>
        <p:sp>
          <p:nvSpPr>
            <p:cNvPr id="2643" name="Google Shape;2643;p50"/>
            <p:cNvSpPr/>
            <p:nvPr/>
          </p:nvSpPr>
          <p:spPr>
            <a:xfrm>
              <a:off x="2842986" y="4541917"/>
              <a:ext cx="844961" cy="238363"/>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0" spcFirstLastPara="1" rIns="0" wrap="square" tIns="45700">
              <a:spAutoFit/>
            </a:bodyPr>
            <a:lstStyle/>
            <a:p>
              <a:pPr indent="0" lvl="0" marL="0" marR="0" rtl="0" algn="ctr">
                <a:spcBef>
                  <a:spcPts val="0"/>
                </a:spcBef>
                <a:spcAft>
                  <a:spcPts val="0"/>
                </a:spcAft>
                <a:buNone/>
              </a:pPr>
              <a:r>
                <a:rPr lang="ko-KR" sz="800">
                  <a:solidFill>
                    <a:schemeClr val="lt1"/>
                  </a:solidFill>
                  <a:latin typeface="Noto Sans KR"/>
                  <a:ea typeface="Noto Sans KR"/>
                  <a:cs typeface="Noto Sans KR"/>
                  <a:sym typeface="Noto Sans KR"/>
                </a:rPr>
                <a:t>텍스트 출력 보기</a:t>
              </a:r>
              <a:endParaRPr sz="3200">
                <a:solidFill>
                  <a:schemeClr val="lt1"/>
                </a:solidFill>
                <a:latin typeface="Noto Sans KR"/>
                <a:ea typeface="Noto Sans KR"/>
                <a:cs typeface="Noto Sans KR"/>
                <a:sym typeface="Noto Sans KR"/>
              </a:endParaRPr>
            </a:p>
          </p:txBody>
        </p:sp>
      </p:grpSp>
      <p:sp>
        <p:nvSpPr>
          <p:cNvPr id="2644" name="Google Shape;2644;p50"/>
          <p:cNvSpPr/>
          <p:nvPr/>
        </p:nvSpPr>
        <p:spPr>
          <a:xfrm>
            <a:off x="3917688" y="1997507"/>
            <a:ext cx="4489755" cy="258304"/>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Q1. </a:t>
            </a:r>
            <a:r>
              <a:rPr lang="ko-KR" sz="1000">
                <a:solidFill>
                  <a:schemeClr val="dk1"/>
                </a:solidFill>
                <a:latin typeface="Noto Sans KR"/>
                <a:ea typeface="Noto Sans KR"/>
                <a:cs typeface="Noto Sans KR"/>
                <a:sym typeface="Noto Sans KR"/>
              </a:rPr>
              <a:t>먼저 자기소개를 부탁드립니다.</a:t>
            </a:r>
            <a:endParaRPr sz="1000">
              <a:solidFill>
                <a:schemeClr val="dk1"/>
              </a:solidFill>
              <a:latin typeface="Noto Sans KR"/>
              <a:ea typeface="Noto Sans KR"/>
              <a:cs typeface="Noto Sans KR"/>
              <a:sym typeface="Noto Sans KR"/>
            </a:endParaRPr>
          </a:p>
        </p:txBody>
      </p:sp>
      <p:sp>
        <p:nvSpPr>
          <p:cNvPr id="2645" name="Google Shape;2645;p50"/>
          <p:cNvSpPr/>
          <p:nvPr/>
        </p:nvSpPr>
        <p:spPr>
          <a:xfrm>
            <a:off x="3919331" y="2509757"/>
            <a:ext cx="4489755" cy="258304"/>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Q3. </a:t>
            </a:r>
            <a:r>
              <a:rPr lang="ko-KR" sz="1000">
                <a:solidFill>
                  <a:schemeClr val="dk1"/>
                </a:solidFill>
                <a:latin typeface="Noto Sans KR"/>
                <a:ea typeface="Noto Sans KR"/>
                <a:cs typeface="Noto Sans KR"/>
                <a:sym typeface="Noto Sans KR"/>
              </a:rPr>
              <a:t>데이터 정규화를 진행할 때 가장 우선적으로 해야하는게…</a:t>
            </a:r>
            <a:endParaRPr sz="1000">
              <a:solidFill>
                <a:schemeClr val="dk1"/>
              </a:solidFill>
              <a:latin typeface="Noto Sans KR"/>
              <a:ea typeface="Noto Sans KR"/>
              <a:cs typeface="Noto Sans KR"/>
              <a:sym typeface="Noto Sans KR"/>
            </a:endParaRPr>
          </a:p>
        </p:txBody>
      </p:sp>
      <p:sp>
        <p:nvSpPr>
          <p:cNvPr id="2646" name="Google Shape;2646;p50"/>
          <p:cNvSpPr/>
          <p:nvPr/>
        </p:nvSpPr>
        <p:spPr>
          <a:xfrm>
            <a:off x="7671093" y="2034334"/>
            <a:ext cx="676477" cy="184650"/>
          </a:xfrm>
          <a:prstGeom prst="roundRect">
            <a:avLst>
              <a:gd fmla="val 16667" name="adj"/>
            </a:avLst>
          </a:prstGeom>
          <a:solidFill>
            <a:srgbClr val="D8D8D8"/>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답변보기</a:t>
            </a:r>
            <a:endParaRPr sz="1000">
              <a:solidFill>
                <a:schemeClr val="dk1"/>
              </a:solidFill>
              <a:latin typeface="Noto Sans KR"/>
              <a:ea typeface="Noto Sans KR"/>
              <a:cs typeface="Noto Sans KR"/>
              <a:sym typeface="Noto Sans KR"/>
            </a:endParaRPr>
          </a:p>
        </p:txBody>
      </p:sp>
      <p:grpSp>
        <p:nvGrpSpPr>
          <p:cNvPr id="2647" name="Google Shape;2647;p50"/>
          <p:cNvGrpSpPr/>
          <p:nvPr/>
        </p:nvGrpSpPr>
        <p:grpSpPr>
          <a:xfrm>
            <a:off x="3917688" y="2255811"/>
            <a:ext cx="4489755" cy="258304"/>
            <a:chOff x="3917688" y="2255811"/>
            <a:chExt cx="4489755" cy="258304"/>
          </a:xfrm>
        </p:grpSpPr>
        <p:sp>
          <p:nvSpPr>
            <p:cNvPr id="2648" name="Google Shape;2648;p50"/>
            <p:cNvSpPr/>
            <p:nvPr/>
          </p:nvSpPr>
          <p:spPr>
            <a:xfrm>
              <a:off x="3917688" y="2255811"/>
              <a:ext cx="4489755" cy="258304"/>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Q2. </a:t>
              </a:r>
              <a:r>
                <a:rPr lang="ko-KR" sz="1000">
                  <a:solidFill>
                    <a:schemeClr val="dk1"/>
                  </a:solidFill>
                  <a:latin typeface="Noto Sans KR"/>
                  <a:ea typeface="Noto Sans KR"/>
                  <a:cs typeface="Noto Sans KR"/>
                  <a:sym typeface="Noto Sans KR"/>
                </a:rPr>
                <a:t>저희 회사에 해당 직무에 지원한 이유를 말씀해주세요.</a:t>
              </a:r>
              <a:endParaRPr sz="1000">
                <a:solidFill>
                  <a:schemeClr val="dk1"/>
                </a:solidFill>
                <a:latin typeface="Noto Sans KR"/>
                <a:ea typeface="Noto Sans KR"/>
                <a:cs typeface="Noto Sans KR"/>
                <a:sym typeface="Noto Sans KR"/>
              </a:endParaRPr>
            </a:p>
          </p:txBody>
        </p:sp>
        <p:sp>
          <p:nvSpPr>
            <p:cNvPr id="2649" name="Google Shape;2649;p50"/>
            <p:cNvSpPr/>
            <p:nvPr/>
          </p:nvSpPr>
          <p:spPr>
            <a:xfrm>
              <a:off x="7679966" y="2288280"/>
              <a:ext cx="676477" cy="184650"/>
            </a:xfrm>
            <a:prstGeom prst="roundRect">
              <a:avLst>
                <a:gd fmla="val 16667" name="adj"/>
              </a:avLst>
            </a:prstGeom>
            <a:solidFill>
              <a:srgbClr val="D8D8D8"/>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답변보기</a:t>
              </a:r>
              <a:endParaRPr sz="1000">
                <a:solidFill>
                  <a:schemeClr val="dk1"/>
                </a:solidFill>
                <a:latin typeface="Noto Sans KR"/>
                <a:ea typeface="Noto Sans KR"/>
                <a:cs typeface="Noto Sans KR"/>
                <a:sym typeface="Noto Sans KR"/>
              </a:endParaRPr>
            </a:p>
          </p:txBody>
        </p:sp>
      </p:grpSp>
      <p:sp>
        <p:nvSpPr>
          <p:cNvPr id="2650" name="Google Shape;2650;p50"/>
          <p:cNvSpPr/>
          <p:nvPr/>
        </p:nvSpPr>
        <p:spPr>
          <a:xfrm>
            <a:off x="7679966" y="2550660"/>
            <a:ext cx="676477" cy="184650"/>
          </a:xfrm>
          <a:prstGeom prst="roundRect">
            <a:avLst>
              <a:gd fmla="val 16667" name="adj"/>
            </a:avLst>
          </a:prstGeom>
          <a:solidFill>
            <a:srgbClr val="FFE1EB"/>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답변보기</a:t>
            </a:r>
            <a:endParaRPr sz="1000">
              <a:solidFill>
                <a:schemeClr val="dk1"/>
              </a:solidFill>
              <a:latin typeface="Noto Sans KR"/>
              <a:ea typeface="Noto Sans KR"/>
              <a:cs typeface="Noto Sans KR"/>
              <a:sym typeface="Noto Sans KR"/>
            </a:endParaRPr>
          </a:p>
        </p:txBody>
      </p:sp>
      <p:grpSp>
        <p:nvGrpSpPr>
          <p:cNvPr id="2651" name="Google Shape;2651;p50"/>
          <p:cNvGrpSpPr/>
          <p:nvPr/>
        </p:nvGrpSpPr>
        <p:grpSpPr>
          <a:xfrm>
            <a:off x="3914170" y="3600376"/>
            <a:ext cx="4489755" cy="258304"/>
            <a:chOff x="3917688" y="2255811"/>
            <a:chExt cx="4489755" cy="258304"/>
          </a:xfrm>
        </p:grpSpPr>
        <p:sp>
          <p:nvSpPr>
            <p:cNvPr id="2652" name="Google Shape;2652;p50"/>
            <p:cNvSpPr/>
            <p:nvPr/>
          </p:nvSpPr>
          <p:spPr>
            <a:xfrm>
              <a:off x="3917688" y="2255811"/>
              <a:ext cx="4489755" cy="258304"/>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Q4. </a:t>
              </a:r>
              <a:r>
                <a:rPr lang="ko-KR" sz="1000">
                  <a:solidFill>
                    <a:schemeClr val="dk1"/>
                  </a:solidFill>
                  <a:latin typeface="Noto Sans KR"/>
                  <a:ea typeface="Noto Sans KR"/>
                  <a:cs typeface="Noto Sans KR"/>
                  <a:sym typeface="Noto Sans KR"/>
                </a:rPr>
                <a:t>연금 데이터 분석 경험이 있는데 초기 분석 기획은 어떤…</a:t>
              </a:r>
              <a:endParaRPr sz="1000">
                <a:solidFill>
                  <a:schemeClr val="dk1"/>
                </a:solidFill>
                <a:latin typeface="Noto Sans KR"/>
                <a:ea typeface="Noto Sans KR"/>
                <a:cs typeface="Noto Sans KR"/>
                <a:sym typeface="Noto Sans KR"/>
              </a:endParaRPr>
            </a:p>
          </p:txBody>
        </p:sp>
        <p:sp>
          <p:nvSpPr>
            <p:cNvPr id="2653" name="Google Shape;2653;p50"/>
            <p:cNvSpPr/>
            <p:nvPr/>
          </p:nvSpPr>
          <p:spPr>
            <a:xfrm>
              <a:off x="7679966" y="2288280"/>
              <a:ext cx="676477" cy="184650"/>
            </a:xfrm>
            <a:prstGeom prst="roundRect">
              <a:avLst>
                <a:gd fmla="val 16667" name="adj"/>
              </a:avLst>
            </a:prstGeom>
            <a:solidFill>
              <a:srgbClr val="D8D8D8"/>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답변보기</a:t>
              </a:r>
              <a:endParaRPr sz="1000">
                <a:solidFill>
                  <a:schemeClr val="dk1"/>
                </a:solidFill>
                <a:latin typeface="Noto Sans KR"/>
                <a:ea typeface="Noto Sans KR"/>
                <a:cs typeface="Noto Sans KR"/>
                <a:sym typeface="Noto Sans KR"/>
              </a:endParaRPr>
            </a:p>
          </p:txBody>
        </p:sp>
      </p:grpSp>
      <p:sp>
        <p:nvSpPr>
          <p:cNvPr id="2654" name="Google Shape;2654;p50"/>
          <p:cNvSpPr/>
          <p:nvPr/>
        </p:nvSpPr>
        <p:spPr>
          <a:xfrm>
            <a:off x="3983088" y="2812862"/>
            <a:ext cx="4369837" cy="736052"/>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데이터 정규화 진행 시 가장 우선적으로 처리해야 할 사항은 제1정규형을 만족시키기 위해 모든 속성값을 원자값으로 만드는 것입니다.</a:t>
            </a:r>
            <a:endParaRPr/>
          </a:p>
          <a:p>
            <a:pPr indent="0" lvl="0" marL="0" marR="0" rtl="0" algn="l">
              <a:spcBef>
                <a:spcPts val="0"/>
              </a:spcBef>
              <a:spcAft>
                <a:spcPts val="0"/>
              </a:spcAft>
              <a:buNone/>
            </a:pPr>
            <a:r>
              <a:rPr lang="ko-KR" sz="800">
                <a:solidFill>
                  <a:schemeClr val="dk1"/>
                </a:solidFill>
                <a:latin typeface="Noto Sans KR"/>
                <a:ea typeface="Noto Sans KR"/>
                <a:cs typeface="Noto Sans KR"/>
                <a:sym typeface="Noto Sans KR"/>
              </a:rPr>
              <a:t>하나의 컬럼에 여러 개의 값이 포함된 '다중값 속성'이나 '복합 속성'을 제거하여, 데이터의 중복을 방지하고 검색 및 조작의 효율성을 높이는 작업이 모든 정규화의 기초가 됩니다. 이 단계가 제대로 수행되지 않으면 이후의 부분 함수 종속이나 이행 함수 종속 제거와 같은 상위 정규화 단계로 나아갈 수 없기 때문입니다.</a:t>
            </a:r>
            <a:endParaRPr sz="800">
              <a:solidFill>
                <a:schemeClr val="dk1"/>
              </a:solidFill>
              <a:latin typeface="Noto Sans KR"/>
              <a:ea typeface="Noto Sans KR"/>
              <a:cs typeface="Noto Sans KR"/>
              <a:sym typeface="Noto Sans KR"/>
            </a:endParaRPr>
          </a:p>
        </p:txBody>
      </p:sp>
      <p:grpSp>
        <p:nvGrpSpPr>
          <p:cNvPr id="2655" name="Google Shape;2655;p50"/>
          <p:cNvGrpSpPr/>
          <p:nvPr/>
        </p:nvGrpSpPr>
        <p:grpSpPr>
          <a:xfrm>
            <a:off x="3914169" y="3864829"/>
            <a:ext cx="4489755" cy="258304"/>
            <a:chOff x="3917688" y="2255811"/>
            <a:chExt cx="4489755" cy="258304"/>
          </a:xfrm>
        </p:grpSpPr>
        <p:sp>
          <p:nvSpPr>
            <p:cNvPr id="2656" name="Google Shape;2656;p50"/>
            <p:cNvSpPr/>
            <p:nvPr/>
          </p:nvSpPr>
          <p:spPr>
            <a:xfrm>
              <a:off x="3917688" y="2255811"/>
              <a:ext cx="4489755" cy="258304"/>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Q5. </a:t>
              </a:r>
              <a:r>
                <a:rPr lang="ko-KR" sz="1000">
                  <a:solidFill>
                    <a:schemeClr val="dk1"/>
                  </a:solidFill>
                  <a:latin typeface="Noto Sans KR"/>
                  <a:ea typeface="Noto Sans KR"/>
                  <a:cs typeface="Noto Sans KR"/>
                  <a:sym typeface="Noto Sans KR"/>
                </a:rPr>
                <a:t>데이터 수집이 개인정보라 확보가 쉽지 않았을 거 같은데…</a:t>
              </a:r>
              <a:endParaRPr sz="1000">
                <a:solidFill>
                  <a:schemeClr val="dk1"/>
                </a:solidFill>
                <a:latin typeface="Noto Sans KR"/>
                <a:ea typeface="Noto Sans KR"/>
                <a:cs typeface="Noto Sans KR"/>
                <a:sym typeface="Noto Sans KR"/>
              </a:endParaRPr>
            </a:p>
          </p:txBody>
        </p:sp>
        <p:sp>
          <p:nvSpPr>
            <p:cNvPr id="2657" name="Google Shape;2657;p50"/>
            <p:cNvSpPr/>
            <p:nvPr/>
          </p:nvSpPr>
          <p:spPr>
            <a:xfrm>
              <a:off x="7679966" y="2288280"/>
              <a:ext cx="676477" cy="184650"/>
            </a:xfrm>
            <a:prstGeom prst="roundRect">
              <a:avLst>
                <a:gd fmla="val 16667" name="adj"/>
              </a:avLst>
            </a:prstGeom>
            <a:solidFill>
              <a:srgbClr val="D8D8D8"/>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답변보기</a:t>
              </a:r>
              <a:endParaRPr sz="1000">
                <a:solidFill>
                  <a:schemeClr val="dk1"/>
                </a:solidFill>
                <a:latin typeface="Noto Sans KR"/>
                <a:ea typeface="Noto Sans KR"/>
                <a:cs typeface="Noto Sans KR"/>
                <a:sym typeface="Noto Sans KR"/>
              </a:endParaRPr>
            </a:p>
          </p:txBody>
        </p:sp>
      </p:grpSp>
      <p:sp>
        <p:nvSpPr>
          <p:cNvPr id="2658" name="Google Shape;2658;p50"/>
          <p:cNvSpPr txBox="1"/>
          <p:nvPr/>
        </p:nvSpPr>
        <p:spPr>
          <a:xfrm rot="5400000">
            <a:off x="6003084" y="4038233"/>
            <a:ext cx="2695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a:t>
            </a:r>
            <a:endParaRPr sz="1800">
              <a:solidFill>
                <a:schemeClr val="dk1"/>
              </a:solidFill>
              <a:latin typeface="Malgun Gothic"/>
              <a:ea typeface="Malgun Gothic"/>
              <a:cs typeface="Malgun Gothic"/>
              <a:sym typeface="Malgun Gothic"/>
            </a:endParaRPr>
          </a:p>
        </p:txBody>
      </p:sp>
      <p:sp>
        <p:nvSpPr>
          <p:cNvPr id="2659" name="Google Shape;2659;p50"/>
          <p:cNvSpPr/>
          <p:nvPr/>
        </p:nvSpPr>
        <p:spPr>
          <a:xfrm>
            <a:off x="7435450" y="1735743"/>
            <a:ext cx="765975" cy="210302"/>
          </a:xfrm>
          <a:prstGeom prst="roundRect">
            <a:avLst>
              <a:gd fmla="val 16667" name="adj"/>
            </a:avLst>
          </a:prstGeom>
          <a:solidFill>
            <a:srgbClr val="F2F2F2"/>
          </a:solid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총 </a:t>
            </a:r>
            <a:r>
              <a:rPr lang="ko-KR" sz="1200">
                <a:solidFill>
                  <a:schemeClr val="dk1"/>
                </a:solidFill>
                <a:latin typeface="Noto Sans KR"/>
                <a:ea typeface="Noto Sans KR"/>
                <a:cs typeface="Noto Sans KR"/>
                <a:sym typeface="Noto Sans KR"/>
              </a:rPr>
              <a:t>12</a:t>
            </a:r>
            <a:r>
              <a:rPr lang="ko-KR" sz="1100">
                <a:solidFill>
                  <a:schemeClr val="dk1"/>
                </a:solidFill>
                <a:latin typeface="Noto Sans KR"/>
                <a:ea typeface="Noto Sans KR"/>
                <a:cs typeface="Noto Sans KR"/>
                <a:sym typeface="Noto Sans KR"/>
              </a:rPr>
              <a:t>개  </a:t>
            </a:r>
            <a:endParaRPr sz="1100">
              <a:solidFill>
                <a:schemeClr val="dk1"/>
              </a:solidFill>
              <a:latin typeface="Noto Sans KR"/>
              <a:ea typeface="Noto Sans KR"/>
              <a:cs typeface="Noto Sans KR"/>
              <a:sym typeface="Noto Sans KR"/>
            </a:endParaRPr>
          </a:p>
        </p:txBody>
      </p:sp>
      <p:sp>
        <p:nvSpPr>
          <p:cNvPr id="2660" name="Google Shape;2660;p50"/>
          <p:cNvSpPr/>
          <p:nvPr/>
        </p:nvSpPr>
        <p:spPr>
          <a:xfrm>
            <a:off x="5745726" y="4403861"/>
            <a:ext cx="670533" cy="180000"/>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100">
                <a:solidFill>
                  <a:schemeClr val="dk1"/>
                </a:solidFill>
                <a:latin typeface="Noto Sans KR"/>
                <a:ea typeface="Noto Sans KR"/>
                <a:cs typeface="Noto Sans KR"/>
                <a:sym typeface="Noto Sans KR"/>
              </a:rPr>
              <a:t>더보기</a:t>
            </a:r>
            <a:endParaRPr sz="1100">
              <a:solidFill>
                <a:schemeClr val="dk1"/>
              </a:solidFill>
              <a:latin typeface="Noto Sans KR"/>
              <a:ea typeface="Noto Sans KR"/>
              <a:cs typeface="Noto Sans KR"/>
              <a:sym typeface="Noto Sans KR"/>
            </a:endParaRPr>
          </a:p>
        </p:txBody>
      </p:sp>
      <p:grpSp>
        <p:nvGrpSpPr>
          <p:cNvPr id="2661" name="Google Shape;2661;p50"/>
          <p:cNvGrpSpPr/>
          <p:nvPr/>
        </p:nvGrpSpPr>
        <p:grpSpPr>
          <a:xfrm>
            <a:off x="3926161" y="4762561"/>
            <a:ext cx="4455715" cy="1662099"/>
            <a:chOff x="2387942" y="1674966"/>
            <a:chExt cx="1587995" cy="2295286"/>
          </a:xfrm>
        </p:grpSpPr>
        <p:sp>
          <p:nvSpPr>
            <p:cNvPr id="2662" name="Google Shape;2662;p50"/>
            <p:cNvSpPr/>
            <p:nvPr/>
          </p:nvSpPr>
          <p:spPr>
            <a:xfrm>
              <a:off x="2387942" y="1674966"/>
              <a:ext cx="1587995" cy="2295286"/>
            </a:xfrm>
            <a:prstGeom prst="roundRect">
              <a:avLst>
                <a:gd fmla="val 4475"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663" name="Google Shape;2663;p50"/>
            <p:cNvCxnSpPr/>
            <p:nvPr/>
          </p:nvCxnSpPr>
          <p:spPr>
            <a:xfrm flipH="1" rot="10800000">
              <a:off x="2399386" y="2122484"/>
              <a:ext cx="1575077" cy="4576"/>
            </a:xfrm>
            <a:prstGeom prst="straightConnector1">
              <a:avLst/>
            </a:prstGeom>
            <a:noFill/>
            <a:ln cap="flat" cmpd="sng" w="9525">
              <a:solidFill>
                <a:srgbClr val="BFBFBF"/>
              </a:solidFill>
              <a:prstDash val="solid"/>
              <a:miter lim="8000"/>
              <a:headEnd len="sm" w="sm" type="none"/>
              <a:tailEnd len="sm" w="sm" type="none"/>
            </a:ln>
          </p:spPr>
        </p:cxnSp>
      </p:grpSp>
      <p:sp>
        <p:nvSpPr>
          <p:cNvPr id="2664" name="Google Shape;2664;p50"/>
          <p:cNvSpPr txBox="1"/>
          <p:nvPr/>
        </p:nvSpPr>
        <p:spPr>
          <a:xfrm>
            <a:off x="3983088" y="4805344"/>
            <a:ext cx="82905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종합 평가</a:t>
            </a:r>
            <a:endParaRPr sz="1200">
              <a:solidFill>
                <a:schemeClr val="dk1"/>
              </a:solidFill>
              <a:latin typeface="Noto Sans KR"/>
              <a:ea typeface="Noto Sans KR"/>
              <a:cs typeface="Noto Sans KR"/>
              <a:sym typeface="Noto Sans KR"/>
            </a:endParaRPr>
          </a:p>
        </p:txBody>
      </p:sp>
      <p:sp>
        <p:nvSpPr>
          <p:cNvPr id="2665" name="Google Shape;2665;p50"/>
          <p:cNvSpPr txBox="1"/>
          <p:nvPr/>
        </p:nvSpPr>
        <p:spPr>
          <a:xfrm>
            <a:off x="4722499" y="5134524"/>
            <a:ext cx="8748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A5A5A5"/>
                </a:solidFill>
                <a:latin typeface="Noto Sans KR"/>
                <a:ea typeface="Noto Sans KR"/>
                <a:cs typeface="Noto Sans KR"/>
                <a:sym typeface="Noto Sans KR"/>
              </a:rPr>
              <a:t>인성역량</a:t>
            </a:r>
            <a:endParaRPr sz="1200">
              <a:solidFill>
                <a:srgbClr val="A5A5A5"/>
              </a:solidFill>
              <a:latin typeface="Noto Sans KR"/>
              <a:ea typeface="Noto Sans KR"/>
              <a:cs typeface="Noto Sans KR"/>
              <a:sym typeface="Noto Sans KR"/>
            </a:endParaRPr>
          </a:p>
        </p:txBody>
      </p:sp>
      <p:sp>
        <p:nvSpPr>
          <p:cNvPr id="2666" name="Google Shape;2666;p50"/>
          <p:cNvSpPr/>
          <p:nvPr/>
        </p:nvSpPr>
        <p:spPr>
          <a:xfrm>
            <a:off x="3974031" y="5359381"/>
            <a:ext cx="4333606" cy="1003154"/>
          </a:xfrm>
          <a:prstGeom prst="roundRect">
            <a:avLst>
              <a:gd fmla="val 7460"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직무 이해도 (70점):</a:t>
            </a:r>
            <a:r>
              <a:rPr lang="ko-KR" sz="1000">
                <a:solidFill>
                  <a:schemeClr val="dk1"/>
                </a:solidFill>
                <a:latin typeface="Noto Sans KR"/>
                <a:ea typeface="Noto Sans KR"/>
                <a:cs typeface="Noto Sans KR"/>
                <a:sym typeface="Noto Sans KR"/>
              </a:rPr>
              <a:t> 해당 직무에 대한 기초 지식과 프로세스를 안정적으로 이해안정적으로 이해</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직무 경험 (60점):</a:t>
            </a:r>
            <a:r>
              <a:rPr lang="ko-KR" sz="1000">
                <a:solidFill>
                  <a:schemeClr val="dk1"/>
                </a:solidFill>
                <a:latin typeface="Noto Sans KR"/>
                <a:ea typeface="Noto Sans KR"/>
                <a:cs typeface="Noto Sans KR"/>
                <a:sym typeface="Noto Sans KR"/>
              </a:rPr>
              <a:t> 실무 경험 면에서 보완이 필요하나, 학습 의지를 통해 충분히 극복 가능한 수준</a:t>
            </a:r>
            <a:endParaRPr sz="10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ko-KR" sz="1000">
                <a:solidFill>
                  <a:schemeClr val="dk1"/>
                </a:solidFill>
                <a:latin typeface="Noto Sans KR"/>
                <a:ea typeface="Noto Sans KR"/>
                <a:cs typeface="Noto Sans KR"/>
                <a:sym typeface="Noto Sans KR"/>
              </a:rPr>
              <a:t>조직적합성 및 태도 (80점): </a:t>
            </a:r>
            <a:r>
              <a:rPr lang="ko-KR" sz="1000">
                <a:solidFill>
                  <a:schemeClr val="dk1"/>
                </a:solidFill>
                <a:latin typeface="Noto Sans KR"/>
                <a:ea typeface="Noto Sans KR"/>
                <a:cs typeface="Noto Sans KR"/>
                <a:sym typeface="Noto Sans KR"/>
              </a:rPr>
              <a:t>책임감 있는 태도와 조직의 방향성에 부합하는 가치관을 보유</a:t>
            </a:r>
            <a:endParaRPr/>
          </a:p>
        </p:txBody>
      </p:sp>
      <p:sp>
        <p:nvSpPr>
          <p:cNvPr id="2667" name="Google Shape;2667;p50"/>
          <p:cNvSpPr/>
          <p:nvPr/>
        </p:nvSpPr>
        <p:spPr>
          <a:xfrm>
            <a:off x="3974031" y="5160269"/>
            <a:ext cx="795439" cy="252909"/>
          </a:xfrm>
          <a:prstGeom prst="roundRect">
            <a:avLst>
              <a:gd fmla="val 7460"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직무역량</a:t>
            </a:r>
            <a:endParaRPr sz="1200">
              <a:solidFill>
                <a:schemeClr val="dk1"/>
              </a:solidFill>
              <a:latin typeface="Noto Sans KR"/>
              <a:ea typeface="Noto Sans KR"/>
              <a:cs typeface="Noto Sans KR"/>
              <a:sym typeface="Noto Sans KR"/>
            </a:endParaRPr>
          </a:p>
        </p:txBody>
      </p:sp>
      <p:sp>
        <p:nvSpPr>
          <p:cNvPr id="2668" name="Google Shape;2668;p50"/>
          <p:cNvSpPr/>
          <p:nvPr/>
        </p:nvSpPr>
        <p:spPr>
          <a:xfrm>
            <a:off x="7247403" y="4812173"/>
            <a:ext cx="1029288" cy="236537"/>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종합 평가 제출</a:t>
            </a:r>
            <a:endParaRPr sz="4000">
              <a:solidFill>
                <a:schemeClr val="lt1"/>
              </a:solidFill>
              <a:latin typeface="Noto Sans KR"/>
              <a:ea typeface="Noto Sans KR"/>
              <a:cs typeface="Noto Sans KR"/>
              <a:sym typeface="Noto Sans KR"/>
            </a:endParaRPr>
          </a:p>
        </p:txBody>
      </p:sp>
      <p:sp>
        <p:nvSpPr>
          <p:cNvPr id="2669" name="Google Shape;2669;p50"/>
          <p:cNvSpPr/>
          <p:nvPr/>
        </p:nvSpPr>
        <p:spPr>
          <a:xfrm>
            <a:off x="1779625" y="158417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670" name="Google Shape;2670;p50"/>
          <p:cNvSpPr/>
          <p:nvPr/>
        </p:nvSpPr>
        <p:spPr>
          <a:xfrm>
            <a:off x="1802314" y="351316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671" name="Google Shape;2671;p50"/>
          <p:cNvSpPr/>
          <p:nvPr/>
        </p:nvSpPr>
        <p:spPr>
          <a:xfrm>
            <a:off x="1815930" y="452841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672" name="Google Shape;2672;p50"/>
          <p:cNvSpPr/>
          <p:nvPr/>
        </p:nvSpPr>
        <p:spPr>
          <a:xfrm>
            <a:off x="3812748" y="157509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673" name="Google Shape;2673;p50"/>
          <p:cNvSpPr/>
          <p:nvPr/>
        </p:nvSpPr>
        <p:spPr>
          <a:xfrm>
            <a:off x="7547000" y="243487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674" name="Google Shape;2674;p50"/>
          <p:cNvSpPr/>
          <p:nvPr/>
        </p:nvSpPr>
        <p:spPr>
          <a:xfrm>
            <a:off x="5624467" y="427652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2675" name="Google Shape;2675;p50"/>
          <p:cNvSpPr/>
          <p:nvPr/>
        </p:nvSpPr>
        <p:spPr>
          <a:xfrm>
            <a:off x="3833716" y="468741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2676" name="Google Shape;2676;p50"/>
          <p:cNvSpPr/>
          <p:nvPr/>
        </p:nvSpPr>
        <p:spPr>
          <a:xfrm>
            <a:off x="7126303" y="4719173"/>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2677" name="Google Shape;2677;p50"/>
          <p:cNvSpPr/>
          <p:nvPr/>
        </p:nvSpPr>
        <p:spPr>
          <a:xfrm>
            <a:off x="3033167" y="6081426"/>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678" name="Google Shape;2678;p50"/>
          <p:cNvSpPr txBox="1"/>
          <p:nvPr/>
        </p:nvSpPr>
        <p:spPr>
          <a:xfrm>
            <a:off x="8246228" y="1417778"/>
            <a:ext cx="2576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A5A5A5"/>
                </a:solidFill>
                <a:latin typeface="Malgun Gothic"/>
                <a:ea typeface="Malgun Gothic"/>
                <a:cs typeface="Malgun Gothic"/>
                <a:sym typeface="Malgun Gothic"/>
              </a:rPr>
              <a:t>x</a:t>
            </a:r>
            <a:endParaRPr sz="1800">
              <a:solidFill>
                <a:srgbClr val="A5A5A5"/>
              </a:solidFill>
              <a:latin typeface="Malgun Gothic"/>
              <a:ea typeface="Malgun Gothic"/>
              <a:cs typeface="Malgun Gothic"/>
              <a:sym typeface="Malgun Gothic"/>
            </a:endParaRPr>
          </a:p>
        </p:txBody>
      </p:sp>
      <p:sp>
        <p:nvSpPr>
          <p:cNvPr id="2679" name="Google Shape;2679;p50"/>
          <p:cNvSpPr/>
          <p:nvPr/>
        </p:nvSpPr>
        <p:spPr>
          <a:xfrm>
            <a:off x="8244700" y="132526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11</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4" name="Shape 2684"/>
        <p:cNvGrpSpPr/>
        <p:nvPr/>
      </p:nvGrpSpPr>
      <p:grpSpPr>
        <a:xfrm>
          <a:off x="0" y="0"/>
          <a:ext cx="0" cy="0"/>
          <a:chOff x="0" y="0"/>
          <a:chExt cx="0" cy="0"/>
        </a:xfrm>
      </p:grpSpPr>
      <p:sp>
        <p:nvSpPr>
          <p:cNvPr id="2685" name="Google Shape;2685;p51"/>
          <p:cNvSpPr txBox="1"/>
          <p:nvPr>
            <p:ph type="title"/>
          </p:nvPr>
        </p:nvSpPr>
        <p:spPr>
          <a:xfrm>
            <a:off x="459537" y="325724"/>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루브릭 설정</a:t>
            </a:r>
            <a:endParaRPr sz="2400"/>
          </a:p>
        </p:txBody>
      </p:sp>
      <p:sp>
        <p:nvSpPr>
          <p:cNvPr id="2686" name="Google Shape;2686;p51"/>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687" name="Google Shape;2687;p51"/>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688" name="Google Shape;2688;p51"/>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689" name="Google Shape;2689;p51"/>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690" name="Google Shape;2690;p51"/>
          <p:cNvGraphicFramePr/>
          <p:nvPr/>
        </p:nvGraphicFramePr>
        <p:xfrm>
          <a:off x="8561827" y="1054745"/>
          <a:ext cx="3000000" cy="3000000"/>
        </p:xfrm>
        <a:graphic>
          <a:graphicData uri="http://schemas.openxmlformats.org/drawingml/2006/table">
            <a:tbl>
              <a:tblPr bandRow="1" firstRow="1">
                <a:noFill/>
                <a:tableStyleId>{C61F204E-A15B-47D6-BEBB-6A886D3283EB}</a:tableStyleId>
              </a:tblPr>
              <a:tblGrid>
                <a:gridCol w="479350"/>
                <a:gridCol w="2988450"/>
              </a:tblGrid>
              <a:tr h="2121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화면 타이틀 영역</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47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latin typeface="Noto Sans KR"/>
                          <a:ea typeface="Noto Sans KR"/>
                          <a:cs typeface="Noto Sans KR"/>
                          <a:sym typeface="Noto Sans KR"/>
                        </a:rPr>
                        <a:t>직무 목록 선택 영역</a:t>
                      </a:r>
                      <a:endParaRPr b="1" sz="1000" u="none" cap="none" strike="noStrike">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루브릭을 적용할 직무 유형 선택 </a:t>
                      </a:r>
                      <a:r>
                        <a:rPr lang="ko-KR" sz="1000" u="none" cap="none" strike="noStrike"/>
                        <a:t>Dropdown 제공</a:t>
                      </a:r>
                      <a:endParaRPr sz="1000" u="none" cap="none" strike="noStrike"/>
                    </a:p>
                    <a:p>
                      <a:pPr indent="-171450" lvl="0" marL="171450" marR="0" rtl="0" algn="l">
                        <a:lnSpc>
                          <a:spcPct val="100000"/>
                        </a:lnSpc>
                        <a:spcBef>
                          <a:spcPts val="0"/>
                        </a:spcBef>
                        <a:spcAft>
                          <a:spcPts val="0"/>
                        </a:spcAft>
                        <a:buClr>
                          <a:schemeClr val="dk1"/>
                        </a:buClr>
                        <a:buSzPts val="1000"/>
                        <a:buFont typeface="Noto Sans KR"/>
                        <a:buChar char="-"/>
                      </a:pPr>
                      <a:r>
                        <a:rPr lang="ko-KR" sz="1000" u="none" cap="none" strike="noStrike">
                          <a:latin typeface="Noto Sans KR"/>
                          <a:ea typeface="Noto Sans KR"/>
                          <a:cs typeface="Noto Sans KR"/>
                          <a:sym typeface="Noto Sans KR"/>
                        </a:rPr>
                        <a:t>Rubircs  추가</a:t>
                      </a:r>
                      <a:r>
                        <a:rPr b="0" lang="ko-KR" sz="1000" u="none" cap="none" strike="noStrike">
                          <a:latin typeface="Noto Sans KR"/>
                          <a:ea typeface="Noto Sans KR"/>
                          <a:cs typeface="Noto Sans KR"/>
                          <a:sym typeface="Noto Sans KR"/>
                        </a:rPr>
                        <a:t> : 새 루브릭 추가 버튼</a:t>
                      </a:r>
                      <a:endParaRPr b="0" sz="1000" u="none" cap="none" strike="noStrike">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latin typeface="Noto Sans KR"/>
                          <a:ea typeface="Noto Sans KR"/>
                          <a:cs typeface="Noto Sans KR"/>
                          <a:sym typeface="Noto Sans KR"/>
                        </a:rPr>
                        <a:t>수정 : 기존 루브릭 수정 버튼, 클릭 시 평가 목록 활성화</a:t>
                      </a:r>
                      <a:endParaRPr sz="4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6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목록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선택 직무에 적용되는 평가 영역 목록 관리</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영역 체크 선택, 체크 시 평가기준 영역 활성화</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항목 활성 / 비활성 관리</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79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직무 평가 기준 설정 영역</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947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항목 / 평가 레벨 탭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타이틀 탭 선택시 해당 페이지 이동</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레벨 : 항목별 기준에 맞는 부여 점수 설정</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6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항목 상세 관리 영역</a:t>
                      </a:r>
                      <a:endParaRPr b="1" sz="1000" u="none" cap="none" strike="noStrike">
                        <a:solidFill>
                          <a:schemeClr val="dk1"/>
                        </a:solidFill>
                        <a:latin typeface="Noto Sans KR"/>
                        <a:ea typeface="Noto Sans KR"/>
                        <a:cs typeface="Noto Sans KR"/>
                        <a:sym typeface="Noto Sans KR"/>
                      </a:endParaRPr>
                    </a:p>
                    <a:p>
                      <a:pPr indent="-171450" lvl="0" marL="171450" marR="0" rtl="0" algn="l">
                        <a:lnSpc>
                          <a:spcPct val="100000"/>
                        </a:lnSpc>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평가 항목  : 항목별 목록과 평가기준 수정,삭제 버튼제공 해당 항목 선택시 색상 변동 및 평가 기준 하단 출력</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6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평가 레벨 출력 영역</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설정한 평가레벨을 점수 슬라이더 조정</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등급별 기준 출력</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6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ko-KR" sz="1000" u="none" cap="none" strike="noStrike">
                          <a:solidFill>
                            <a:schemeClr val="dk1"/>
                          </a:solidFill>
                          <a:latin typeface="Noto Sans KR"/>
                          <a:ea typeface="Noto Sans KR"/>
                          <a:cs typeface="Noto Sans KR"/>
                          <a:sym typeface="Noto Sans KR"/>
                        </a:rPr>
                        <a:t>저장 버튼</a:t>
                      </a:r>
                      <a:endParaRPr b="1"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설정된 루브릭 정보 최종 저장</a:t>
                      </a:r>
                      <a:endParaRPr b="0" sz="1000" u="none" cap="none" strike="noStrike">
                        <a:solidFill>
                          <a:schemeClr val="dk1"/>
                        </a:solidFill>
                        <a:latin typeface="Noto Sans KR"/>
                        <a:ea typeface="Noto Sans KR"/>
                        <a:cs typeface="Noto Sans KR"/>
                        <a:sym typeface="Noto Sans KR"/>
                      </a:endParaRPr>
                    </a:p>
                    <a:p>
                      <a:pPr indent="-171450" lvl="0" marL="171450" marR="0" rtl="0" algn="l">
                        <a:spcBef>
                          <a:spcPts val="0"/>
                        </a:spcBef>
                        <a:spcAft>
                          <a:spcPts val="0"/>
                        </a:spcAft>
                        <a:buClr>
                          <a:schemeClr val="dk1"/>
                        </a:buClr>
                        <a:buSzPts val="1000"/>
                        <a:buFont typeface="Noto Sans KR"/>
                        <a:buChar char="-"/>
                      </a:pPr>
                      <a:r>
                        <a:rPr b="0" lang="ko-KR" sz="1000" u="none" cap="none" strike="noStrike">
                          <a:solidFill>
                            <a:schemeClr val="dk1"/>
                          </a:solidFill>
                          <a:latin typeface="Noto Sans KR"/>
                          <a:ea typeface="Noto Sans KR"/>
                          <a:cs typeface="Noto Sans KR"/>
                          <a:sym typeface="Noto Sans KR"/>
                        </a:rPr>
                        <a:t>버튼 클릭 시 해당내용으로 저장하시겠습니까? 추가 확인 멘트 창 출력 후 확인/취소 버튼 제공</a:t>
                      </a:r>
                      <a:br>
                        <a:rPr b="0" lang="ko-KR" sz="1000" u="none" cap="none" strike="noStrike">
                          <a:solidFill>
                            <a:schemeClr val="dk1"/>
                          </a:solidFill>
                          <a:latin typeface="Noto Sans KR"/>
                          <a:ea typeface="Noto Sans KR"/>
                          <a:cs typeface="Noto Sans KR"/>
                          <a:sym typeface="Noto Sans KR"/>
                        </a:rPr>
                      </a:br>
                      <a:r>
                        <a:rPr b="0" lang="ko-KR" sz="1000" u="none" cap="none" strike="noStrike">
                          <a:solidFill>
                            <a:schemeClr val="dk1"/>
                          </a:solidFill>
                          <a:latin typeface="Noto Sans KR"/>
                          <a:ea typeface="Noto Sans KR"/>
                          <a:cs typeface="Noto Sans KR"/>
                          <a:sym typeface="Noto Sans KR"/>
                        </a:rPr>
                        <a:t>취소 버튼은 다시 현재 페이지 이동 확인 버튼은 저장 후 4번 평가 기준 설정 영역 비성화(닫힘)</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2750">
                <a:tc gridSpan="2">
                  <a:txBody>
                    <a:bodyPr/>
                    <a:lstStyle/>
                    <a:p>
                      <a:pPr indent="0" lvl="0" marL="0" marR="0" rtl="0" algn="ctr">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bl>
          </a:graphicData>
        </a:graphic>
      </p:graphicFrame>
      <p:graphicFrame>
        <p:nvGraphicFramePr>
          <p:cNvPr id="2691" name="Google Shape;2691;p51"/>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43600"/>
                <a:gridCol w="881200"/>
                <a:gridCol w="600000"/>
                <a:gridCol w="1617550"/>
                <a:gridCol w="753000"/>
                <a:gridCol w="3631375"/>
                <a:gridCol w="480300"/>
                <a:gridCol w="2987225"/>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INT-07</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루즈릭 설정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직무별 평가 기준(Rubrics) 을 설정하고 관리하는 화면</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pic>
        <p:nvPicPr>
          <p:cNvPr id="2692" name="Google Shape;2692;p51"/>
          <p:cNvPicPr preferRelativeResize="0"/>
          <p:nvPr/>
        </p:nvPicPr>
        <p:blipFill rotWithShape="1">
          <a:blip r:embed="rId3">
            <a:alphaModFix/>
          </a:blip>
          <a:srcRect b="0" l="0" r="0" t="0"/>
          <a:stretch/>
        </p:blipFill>
        <p:spPr>
          <a:xfrm>
            <a:off x="341746" y="1135367"/>
            <a:ext cx="1502116" cy="462845"/>
          </a:xfrm>
          <a:prstGeom prst="rect">
            <a:avLst/>
          </a:prstGeom>
          <a:noFill/>
          <a:ln>
            <a:noFill/>
          </a:ln>
        </p:spPr>
      </p:pic>
      <p:cxnSp>
        <p:nvCxnSpPr>
          <p:cNvPr id="2693" name="Google Shape;2693;p51"/>
          <p:cNvCxnSpPr/>
          <p:nvPr/>
        </p:nvCxnSpPr>
        <p:spPr>
          <a:xfrm>
            <a:off x="1852101" y="1119675"/>
            <a:ext cx="0" cy="5413252"/>
          </a:xfrm>
          <a:prstGeom prst="straightConnector1">
            <a:avLst/>
          </a:prstGeom>
          <a:noFill/>
          <a:ln cap="flat" cmpd="sng" w="9525">
            <a:solidFill>
              <a:srgbClr val="BFBFBF"/>
            </a:solidFill>
            <a:prstDash val="solid"/>
            <a:miter lim="8000"/>
            <a:headEnd len="sm" w="sm" type="none"/>
            <a:tailEnd len="sm" w="sm" type="none"/>
          </a:ln>
        </p:spPr>
      </p:cxnSp>
      <p:sp>
        <p:nvSpPr>
          <p:cNvPr id="2694" name="Google Shape;2694;p51"/>
          <p:cNvSpPr txBox="1"/>
          <p:nvPr/>
        </p:nvSpPr>
        <p:spPr>
          <a:xfrm>
            <a:off x="5822631" y="1192405"/>
            <a:ext cx="21542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7F7F7F"/>
                </a:solidFill>
                <a:latin typeface="Noto Sans KR"/>
                <a:ea typeface="Noto Sans KR"/>
                <a:cs typeface="Noto Sans KR"/>
                <a:sym typeface="Noto Sans KR"/>
              </a:rPr>
              <a:t> </a:t>
            </a:r>
            <a:r>
              <a:rPr b="1" lang="ko-KR" sz="1600">
                <a:solidFill>
                  <a:srgbClr val="7F7F7F"/>
                </a:solidFill>
                <a:latin typeface="Noto Sans KR"/>
                <a:ea typeface="Noto Sans KR"/>
                <a:cs typeface="Noto Sans KR"/>
                <a:sym typeface="Noto Sans KR"/>
              </a:rPr>
              <a:t>Victerview</a:t>
            </a:r>
            <a:r>
              <a:rPr lang="ko-KR" sz="1400">
                <a:solidFill>
                  <a:srgbClr val="7F7F7F"/>
                </a:solidFill>
                <a:latin typeface="Noto Sans KR"/>
                <a:ea typeface="Noto Sans KR"/>
                <a:cs typeface="Noto Sans KR"/>
                <a:sym typeface="Noto Sans KR"/>
              </a:rPr>
              <a:t>   홍길동님</a:t>
            </a:r>
            <a:endParaRPr sz="1400">
              <a:solidFill>
                <a:srgbClr val="7F7F7F"/>
              </a:solidFill>
              <a:latin typeface="Noto Sans KR"/>
              <a:ea typeface="Noto Sans KR"/>
              <a:cs typeface="Noto Sans KR"/>
              <a:sym typeface="Noto Sans KR"/>
            </a:endParaRPr>
          </a:p>
        </p:txBody>
      </p:sp>
      <p:sp>
        <p:nvSpPr>
          <p:cNvPr id="2695" name="Google Shape;2695;p51"/>
          <p:cNvSpPr/>
          <p:nvPr/>
        </p:nvSpPr>
        <p:spPr>
          <a:xfrm>
            <a:off x="7896250" y="1179197"/>
            <a:ext cx="380984" cy="361442"/>
          </a:xfrm>
          <a:prstGeom prst="ellipse">
            <a:avLst/>
          </a:prstGeom>
          <a:blipFill rotWithShape="1">
            <a:blip r:embed="rId4">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696" name="Google Shape;2696;p51"/>
          <p:cNvSpPr/>
          <p:nvPr/>
        </p:nvSpPr>
        <p:spPr>
          <a:xfrm>
            <a:off x="1767754" y="109584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grpSp>
        <p:nvGrpSpPr>
          <p:cNvPr id="2697" name="Google Shape;2697;p51"/>
          <p:cNvGrpSpPr/>
          <p:nvPr/>
        </p:nvGrpSpPr>
        <p:grpSpPr>
          <a:xfrm>
            <a:off x="1970805" y="1218649"/>
            <a:ext cx="2429290" cy="338554"/>
            <a:chOff x="2413761" y="1219855"/>
            <a:chExt cx="2429290" cy="338554"/>
          </a:xfrm>
        </p:grpSpPr>
        <p:sp>
          <p:nvSpPr>
            <p:cNvPr id="2698" name="Google Shape;2698;p51"/>
            <p:cNvSpPr txBox="1"/>
            <p:nvPr/>
          </p:nvSpPr>
          <p:spPr>
            <a:xfrm>
              <a:off x="2623159" y="1219855"/>
              <a:ext cx="2219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rgbClr val="7F7F7F"/>
                  </a:solidFill>
                  <a:latin typeface="Noto Sans KR"/>
                  <a:ea typeface="Noto Sans KR"/>
                  <a:cs typeface="Noto Sans KR"/>
                  <a:sym typeface="Noto Sans KR"/>
                </a:rPr>
                <a:t>루브릭 설정</a:t>
              </a:r>
              <a:endParaRPr b="1" sz="1800">
                <a:solidFill>
                  <a:srgbClr val="7F7F7F"/>
                </a:solidFill>
                <a:latin typeface="Noto Sans KR"/>
                <a:ea typeface="Noto Sans KR"/>
                <a:cs typeface="Noto Sans KR"/>
                <a:sym typeface="Noto Sans KR"/>
              </a:endParaRPr>
            </a:p>
          </p:txBody>
        </p:sp>
        <p:pic>
          <p:nvPicPr>
            <p:cNvPr id="2699" name="Google Shape;2699;p51"/>
            <p:cNvPicPr preferRelativeResize="0"/>
            <p:nvPr/>
          </p:nvPicPr>
          <p:blipFill rotWithShape="1">
            <a:blip r:embed="rId5">
              <a:alphaModFix/>
            </a:blip>
            <a:srcRect b="0" l="0" r="0" t="0"/>
            <a:stretch/>
          </p:blipFill>
          <p:spPr>
            <a:xfrm>
              <a:off x="2413761" y="1263783"/>
              <a:ext cx="228600" cy="228600"/>
            </a:xfrm>
            <a:prstGeom prst="rect">
              <a:avLst/>
            </a:prstGeom>
            <a:noFill/>
            <a:ln>
              <a:noFill/>
            </a:ln>
          </p:spPr>
        </p:pic>
      </p:grpSp>
      <p:cxnSp>
        <p:nvCxnSpPr>
          <p:cNvPr id="2700" name="Google Shape;2700;p51"/>
          <p:cNvCxnSpPr/>
          <p:nvPr/>
        </p:nvCxnSpPr>
        <p:spPr>
          <a:xfrm>
            <a:off x="1843862" y="1595886"/>
            <a:ext cx="6623863" cy="0"/>
          </a:xfrm>
          <a:prstGeom prst="straightConnector1">
            <a:avLst/>
          </a:prstGeom>
          <a:noFill/>
          <a:ln cap="flat" cmpd="sng" w="9525">
            <a:solidFill>
              <a:srgbClr val="BFBFBF"/>
            </a:solidFill>
            <a:prstDash val="solid"/>
            <a:miter lim="8000"/>
            <a:headEnd len="sm" w="sm" type="none"/>
            <a:tailEnd len="sm" w="sm" type="none"/>
          </a:ln>
        </p:spPr>
      </p:cxnSp>
      <p:sp>
        <p:nvSpPr>
          <p:cNvPr id="2701" name="Google Shape;2701;p51"/>
          <p:cNvSpPr/>
          <p:nvPr/>
        </p:nvSpPr>
        <p:spPr>
          <a:xfrm>
            <a:off x="3890302" y="1700515"/>
            <a:ext cx="4491630" cy="4680039"/>
          </a:xfrm>
          <a:prstGeom prst="roundRect">
            <a:avLst>
              <a:gd fmla="val 1981"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2702" name="Google Shape;2702;p51"/>
          <p:cNvGrpSpPr/>
          <p:nvPr/>
        </p:nvGrpSpPr>
        <p:grpSpPr>
          <a:xfrm>
            <a:off x="333507" y="1596030"/>
            <a:ext cx="1848615" cy="4951690"/>
            <a:chOff x="318669" y="1595887"/>
            <a:chExt cx="1843646" cy="4938263"/>
          </a:xfrm>
        </p:grpSpPr>
        <p:grpSp>
          <p:nvGrpSpPr>
            <p:cNvPr id="2703" name="Google Shape;2703;p51"/>
            <p:cNvGrpSpPr/>
            <p:nvPr/>
          </p:nvGrpSpPr>
          <p:grpSpPr>
            <a:xfrm>
              <a:off x="318669" y="1595887"/>
              <a:ext cx="1624885" cy="4938263"/>
              <a:chOff x="318669" y="1595887"/>
              <a:chExt cx="2093847" cy="4938263"/>
            </a:xfrm>
          </p:grpSpPr>
          <p:grpSp>
            <p:nvGrpSpPr>
              <p:cNvPr id="2704" name="Google Shape;2704;p51"/>
              <p:cNvGrpSpPr/>
              <p:nvPr/>
            </p:nvGrpSpPr>
            <p:grpSpPr>
              <a:xfrm>
                <a:off x="318669" y="1595887"/>
                <a:ext cx="2093847" cy="4938263"/>
                <a:chOff x="335382" y="1595886"/>
                <a:chExt cx="2093847" cy="4938263"/>
              </a:xfrm>
            </p:grpSpPr>
            <p:sp>
              <p:nvSpPr>
                <p:cNvPr id="2705" name="Google Shape;2705;p51"/>
                <p:cNvSpPr/>
                <p:nvPr/>
              </p:nvSpPr>
              <p:spPr>
                <a:xfrm>
                  <a:off x="335382" y="1595886"/>
                  <a:ext cx="1959244" cy="4938263"/>
                </a:xfrm>
                <a:prstGeom prst="rect">
                  <a:avLst/>
                </a:prstGeom>
                <a:solidFill>
                  <a:srgbClr val="3F3F3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Malgun Gothic"/>
                    <a:ea typeface="Malgun Gothic"/>
                    <a:cs typeface="Malgun Gothic"/>
                    <a:sym typeface="Malgun Gothic"/>
                  </a:endParaRPr>
                </a:p>
              </p:txBody>
            </p:sp>
            <p:sp>
              <p:nvSpPr>
                <p:cNvPr id="2706" name="Google Shape;2706;p51"/>
                <p:cNvSpPr/>
                <p:nvPr/>
              </p:nvSpPr>
              <p:spPr>
                <a:xfrm>
                  <a:off x="417308" y="1700088"/>
                  <a:ext cx="1756549" cy="26673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Dashboard</a:t>
                  </a:r>
                  <a:endParaRPr sz="1000">
                    <a:solidFill>
                      <a:schemeClr val="lt1"/>
                    </a:solidFill>
                    <a:latin typeface="Noto Sans KR"/>
                    <a:ea typeface="Noto Sans KR"/>
                    <a:cs typeface="Noto Sans KR"/>
                    <a:sym typeface="Noto Sans KR"/>
                  </a:endParaRPr>
                </a:p>
              </p:txBody>
            </p:sp>
            <p:pic>
              <p:nvPicPr>
                <p:cNvPr id="2707" name="Google Shape;2707;p51"/>
                <p:cNvPicPr preferRelativeResize="0"/>
                <p:nvPr/>
              </p:nvPicPr>
              <p:blipFill rotWithShape="1">
                <a:blip r:embed="rId6">
                  <a:alphaModFix/>
                </a:blip>
                <a:srcRect b="0" l="0" r="0" t="0"/>
                <a:stretch/>
              </p:blipFill>
              <p:spPr>
                <a:xfrm>
                  <a:off x="477692" y="1740185"/>
                  <a:ext cx="186542" cy="186542"/>
                </a:xfrm>
                <a:prstGeom prst="rect">
                  <a:avLst/>
                </a:prstGeom>
                <a:noFill/>
                <a:ln>
                  <a:noFill/>
                </a:ln>
              </p:spPr>
            </p:pic>
            <p:cxnSp>
              <p:nvCxnSpPr>
                <p:cNvPr id="2708" name="Google Shape;2708;p51"/>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grpSp>
              <p:nvGrpSpPr>
                <p:cNvPr id="2709" name="Google Shape;2709;p51"/>
                <p:cNvGrpSpPr/>
                <p:nvPr/>
              </p:nvGrpSpPr>
              <p:grpSpPr>
                <a:xfrm>
                  <a:off x="450266" y="2390557"/>
                  <a:ext cx="1756549" cy="352030"/>
                  <a:chOff x="450266" y="1209410"/>
                  <a:chExt cx="1756549" cy="352030"/>
                </a:xfrm>
              </p:grpSpPr>
              <p:cxnSp>
                <p:nvCxnSpPr>
                  <p:cNvPr id="2710" name="Google Shape;2710;p51"/>
                  <p:cNvCxnSpPr/>
                  <p:nvPr/>
                </p:nvCxnSpPr>
                <p:spPr>
                  <a:xfrm>
                    <a:off x="477692" y="1561440"/>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711" name="Google Shape;2711;p51"/>
                  <p:cNvSpPr txBox="1"/>
                  <p:nvPr/>
                </p:nvSpPr>
                <p:spPr>
                  <a:xfrm>
                    <a:off x="450266" y="1209410"/>
                    <a:ext cx="1756549"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BFBFBF"/>
                        </a:solidFill>
                        <a:latin typeface="Noto Sans KR"/>
                        <a:ea typeface="Noto Sans KR"/>
                        <a:cs typeface="Noto Sans KR"/>
                        <a:sym typeface="Noto Sans KR"/>
                      </a:rPr>
                      <a:t>면접 현황                ∨               </a:t>
                    </a:r>
                    <a:endParaRPr sz="1000">
                      <a:solidFill>
                        <a:srgbClr val="BFBFBF"/>
                      </a:solidFill>
                      <a:latin typeface="Noto Sans KR"/>
                      <a:ea typeface="Noto Sans KR"/>
                      <a:cs typeface="Noto Sans KR"/>
                      <a:sym typeface="Noto Sans KR"/>
                    </a:endParaRPr>
                  </a:p>
                </p:txBody>
              </p:sp>
            </p:grpSp>
            <p:sp>
              <p:nvSpPr>
                <p:cNvPr id="2712" name="Google Shape;2712;p51"/>
                <p:cNvSpPr txBox="1"/>
                <p:nvPr/>
              </p:nvSpPr>
              <p:spPr>
                <a:xfrm>
                  <a:off x="538995" y="2881219"/>
                  <a:ext cx="1890234"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900">
                    <a:solidFill>
                      <a:srgbClr val="BFBFBF"/>
                    </a:solidFill>
                    <a:latin typeface="Noto Sans KR"/>
                    <a:ea typeface="Noto Sans KR"/>
                    <a:cs typeface="Noto Sans KR"/>
                    <a:sym typeface="Noto Sans KR"/>
                  </a:endParaRPr>
                </a:p>
              </p:txBody>
            </p:sp>
            <p:cxnSp>
              <p:nvCxnSpPr>
                <p:cNvPr id="2713" name="Google Shape;2713;p51"/>
                <p:cNvCxnSpPr/>
                <p:nvPr/>
              </p:nvCxnSpPr>
              <p:spPr>
                <a:xfrm>
                  <a:off x="477692" y="3627178"/>
                  <a:ext cx="1618527" cy="0"/>
                </a:xfrm>
                <a:prstGeom prst="straightConnector1">
                  <a:avLst/>
                </a:prstGeom>
                <a:noFill/>
                <a:ln cap="flat" cmpd="sng" w="9525">
                  <a:solidFill>
                    <a:srgbClr val="BFBFBF"/>
                  </a:solidFill>
                  <a:prstDash val="solid"/>
                  <a:miter lim="8000"/>
                  <a:headEnd len="sm" w="sm" type="none"/>
                  <a:tailEnd len="sm" w="sm" type="none"/>
                </a:ln>
              </p:spPr>
            </p:cxnSp>
          </p:grpSp>
          <p:sp>
            <p:nvSpPr>
              <p:cNvPr id="2714" name="Google Shape;2714;p51"/>
              <p:cNvSpPr/>
              <p:nvPr/>
            </p:nvSpPr>
            <p:spPr>
              <a:xfrm>
                <a:off x="558611" y="3224861"/>
                <a:ext cx="1602313" cy="29709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0" wrap="square" tIns="45700">
                <a:noAutofit/>
              </a:bodyPr>
              <a:lstStyle/>
              <a:p>
                <a:pPr indent="0" lvl="0" marL="0" marR="0" rtl="0" algn="l">
                  <a:spcBef>
                    <a:spcPts val="0"/>
                  </a:spcBef>
                  <a:spcAft>
                    <a:spcPts val="0"/>
                  </a:spcAft>
                  <a:buNone/>
                </a:pPr>
                <a:r>
                  <a:t/>
                </a:r>
                <a:endParaRPr sz="10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Rubrics              ∧</a:t>
                </a:r>
                <a:endParaRPr sz="1000">
                  <a:solidFill>
                    <a:schemeClr val="lt1"/>
                  </a:solidFill>
                  <a:latin typeface="Noto Sans KR"/>
                  <a:ea typeface="Noto Sans KR"/>
                  <a:cs typeface="Noto Sans KR"/>
                  <a:sym typeface="Noto Sans KR"/>
                </a:endParaRPr>
              </a:p>
              <a:p>
                <a:pPr indent="0" lvl="0" marL="0" marR="0" rtl="0" algn="l">
                  <a:spcBef>
                    <a:spcPts val="0"/>
                  </a:spcBef>
                  <a:spcAft>
                    <a:spcPts val="0"/>
                  </a:spcAft>
                  <a:buNone/>
                </a:pPr>
                <a:r>
                  <a:rPr lang="ko-KR" sz="1000">
                    <a:solidFill>
                      <a:schemeClr val="lt1"/>
                    </a:solidFill>
                    <a:latin typeface="Noto Sans KR"/>
                    <a:ea typeface="Noto Sans KR"/>
                    <a:cs typeface="Noto Sans KR"/>
                    <a:sym typeface="Noto Sans KR"/>
                  </a:rPr>
                  <a:t>  </a:t>
                </a:r>
                <a:endParaRPr sz="1000">
                  <a:solidFill>
                    <a:schemeClr val="lt1"/>
                  </a:solidFill>
                  <a:latin typeface="Noto Sans KR"/>
                  <a:ea typeface="Noto Sans KR"/>
                  <a:cs typeface="Noto Sans KR"/>
                  <a:sym typeface="Noto Sans KR"/>
                </a:endParaRPr>
              </a:p>
            </p:txBody>
          </p:sp>
          <p:cxnSp>
            <p:nvCxnSpPr>
              <p:cNvPr id="2715" name="Google Shape;2715;p51"/>
              <p:cNvCxnSpPr/>
              <p:nvPr/>
            </p:nvCxnSpPr>
            <p:spPr>
              <a:xfrm>
                <a:off x="460979" y="3140299"/>
                <a:ext cx="1618527" cy="0"/>
              </a:xfrm>
              <a:prstGeom prst="straightConnector1">
                <a:avLst/>
              </a:prstGeom>
              <a:noFill/>
              <a:ln cap="flat" cmpd="sng" w="9525">
                <a:solidFill>
                  <a:srgbClr val="BFBFBF"/>
                </a:solidFill>
                <a:prstDash val="solid"/>
                <a:miter lim="8000"/>
                <a:headEnd len="sm" w="sm" type="none"/>
                <a:tailEnd len="sm" w="sm" type="none"/>
              </a:ln>
            </p:spPr>
          </p:cxnSp>
        </p:grpSp>
        <p:sp>
          <p:nvSpPr>
            <p:cNvPr id="2716" name="Google Shape;2716;p51"/>
            <p:cNvSpPr txBox="1"/>
            <p:nvPr/>
          </p:nvSpPr>
          <p:spPr>
            <a:xfrm>
              <a:off x="405766" y="2052718"/>
              <a:ext cx="17565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BFBFBF"/>
                  </a:solidFill>
                  <a:latin typeface="Noto Sans KR"/>
                  <a:ea typeface="Noto Sans KR"/>
                  <a:cs typeface="Noto Sans KR"/>
                  <a:sym typeface="Noto Sans KR"/>
                </a:rPr>
                <a:t>공고 관리                ∨                 </a:t>
              </a:r>
              <a:endParaRPr sz="1000">
                <a:solidFill>
                  <a:srgbClr val="BFBFBF"/>
                </a:solidFill>
                <a:latin typeface="Noto Sans KR"/>
                <a:ea typeface="Noto Sans KR"/>
                <a:cs typeface="Noto Sans KR"/>
                <a:sym typeface="Noto Sans KR"/>
              </a:endParaRPr>
            </a:p>
          </p:txBody>
        </p:sp>
      </p:grpSp>
      <p:grpSp>
        <p:nvGrpSpPr>
          <p:cNvPr id="2717" name="Google Shape;2717;p51"/>
          <p:cNvGrpSpPr/>
          <p:nvPr/>
        </p:nvGrpSpPr>
        <p:grpSpPr>
          <a:xfrm>
            <a:off x="398957" y="6246069"/>
            <a:ext cx="1056463" cy="261610"/>
            <a:chOff x="417309" y="6108345"/>
            <a:chExt cx="1066433" cy="388263"/>
          </a:xfrm>
        </p:grpSpPr>
        <p:pic>
          <p:nvPicPr>
            <p:cNvPr id="2718" name="Google Shape;2718;p51"/>
            <p:cNvPicPr preferRelativeResize="0"/>
            <p:nvPr/>
          </p:nvPicPr>
          <p:blipFill rotWithShape="1">
            <a:blip r:embed="rId7">
              <a:alphaModFix/>
            </a:blip>
            <a:srcRect b="0" l="0" r="0" t="0"/>
            <a:stretch/>
          </p:blipFill>
          <p:spPr>
            <a:xfrm>
              <a:off x="417309" y="6148038"/>
              <a:ext cx="246925" cy="280330"/>
            </a:xfrm>
            <a:prstGeom prst="rect">
              <a:avLst/>
            </a:prstGeom>
            <a:noFill/>
            <a:ln>
              <a:noFill/>
            </a:ln>
          </p:spPr>
        </p:pic>
        <p:sp>
          <p:nvSpPr>
            <p:cNvPr id="2719" name="Google Shape;2719;p51"/>
            <p:cNvSpPr txBox="1"/>
            <p:nvPr/>
          </p:nvSpPr>
          <p:spPr>
            <a:xfrm>
              <a:off x="638355" y="6108345"/>
              <a:ext cx="845387" cy="3882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BFBFBF"/>
                  </a:solidFill>
                  <a:latin typeface="Noto Sans KR"/>
                  <a:ea typeface="Noto Sans KR"/>
                  <a:cs typeface="Noto Sans KR"/>
                  <a:sym typeface="Noto Sans KR"/>
                </a:rPr>
                <a:t>설정</a:t>
              </a:r>
              <a:endParaRPr sz="1100">
                <a:solidFill>
                  <a:srgbClr val="BFBFBF"/>
                </a:solidFill>
                <a:latin typeface="Noto Sans KR"/>
                <a:ea typeface="Noto Sans KR"/>
                <a:cs typeface="Noto Sans KR"/>
                <a:sym typeface="Noto Sans KR"/>
              </a:endParaRPr>
            </a:p>
          </p:txBody>
        </p:sp>
      </p:grpSp>
      <p:cxnSp>
        <p:nvCxnSpPr>
          <p:cNvPr id="2720" name="Google Shape;2720;p51"/>
          <p:cNvCxnSpPr/>
          <p:nvPr/>
        </p:nvCxnSpPr>
        <p:spPr>
          <a:xfrm>
            <a:off x="351762" y="6200151"/>
            <a:ext cx="1500339" cy="14216"/>
          </a:xfrm>
          <a:prstGeom prst="straightConnector1">
            <a:avLst/>
          </a:prstGeom>
          <a:noFill/>
          <a:ln cap="flat" cmpd="sng" w="9525">
            <a:solidFill>
              <a:srgbClr val="BFBFBF"/>
            </a:solidFill>
            <a:prstDash val="solid"/>
            <a:miter lim="8000"/>
            <a:headEnd len="sm" w="sm" type="none"/>
            <a:tailEnd len="sm" w="sm" type="none"/>
          </a:ln>
        </p:spPr>
      </p:cxnSp>
      <p:grpSp>
        <p:nvGrpSpPr>
          <p:cNvPr id="2721" name="Google Shape;2721;p51"/>
          <p:cNvGrpSpPr/>
          <p:nvPr/>
        </p:nvGrpSpPr>
        <p:grpSpPr>
          <a:xfrm>
            <a:off x="1960619" y="1753881"/>
            <a:ext cx="1868004" cy="1130978"/>
            <a:chOff x="2387942" y="1674968"/>
            <a:chExt cx="1589591" cy="1905349"/>
          </a:xfrm>
        </p:grpSpPr>
        <p:sp>
          <p:nvSpPr>
            <p:cNvPr id="2722" name="Google Shape;2722;p51"/>
            <p:cNvSpPr/>
            <p:nvPr/>
          </p:nvSpPr>
          <p:spPr>
            <a:xfrm>
              <a:off x="2387942" y="1674968"/>
              <a:ext cx="1587995" cy="1905349"/>
            </a:xfrm>
            <a:prstGeom prst="roundRect">
              <a:avLst>
                <a:gd fmla="val 4475"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723" name="Google Shape;2723;p51"/>
            <p:cNvCxnSpPr/>
            <p:nvPr/>
          </p:nvCxnSpPr>
          <p:spPr>
            <a:xfrm flipH="1" rot="10800000">
              <a:off x="2396609" y="2218479"/>
              <a:ext cx="1580924" cy="18478"/>
            </a:xfrm>
            <a:prstGeom prst="straightConnector1">
              <a:avLst/>
            </a:prstGeom>
            <a:noFill/>
            <a:ln cap="flat" cmpd="sng" w="9525">
              <a:solidFill>
                <a:srgbClr val="BFBFBF"/>
              </a:solidFill>
              <a:prstDash val="solid"/>
              <a:miter lim="8000"/>
              <a:headEnd len="sm" w="sm" type="none"/>
              <a:tailEnd len="sm" w="sm" type="none"/>
            </a:ln>
          </p:spPr>
        </p:cxnSp>
      </p:grpSp>
      <p:sp>
        <p:nvSpPr>
          <p:cNvPr id="2724" name="Google Shape;2724;p51"/>
          <p:cNvSpPr txBox="1"/>
          <p:nvPr/>
        </p:nvSpPr>
        <p:spPr>
          <a:xfrm>
            <a:off x="1985818" y="1791399"/>
            <a:ext cx="116968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직무 목록 선택</a:t>
            </a:r>
            <a:endParaRPr sz="1200">
              <a:solidFill>
                <a:schemeClr val="dk1"/>
              </a:solidFill>
              <a:latin typeface="Noto Sans KR"/>
              <a:ea typeface="Noto Sans KR"/>
              <a:cs typeface="Noto Sans KR"/>
              <a:sym typeface="Noto Sans KR"/>
            </a:endParaRPr>
          </a:p>
        </p:txBody>
      </p:sp>
      <p:sp>
        <p:nvSpPr>
          <p:cNvPr id="2725" name="Google Shape;2725;p51"/>
          <p:cNvSpPr/>
          <p:nvPr/>
        </p:nvSpPr>
        <p:spPr>
          <a:xfrm>
            <a:off x="1960619" y="2970986"/>
            <a:ext cx="1861091" cy="3392869"/>
          </a:xfrm>
          <a:prstGeom prst="roundRect">
            <a:avLst>
              <a:gd fmla="val 490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26" name="Google Shape;2726;p51"/>
          <p:cNvSpPr/>
          <p:nvPr/>
        </p:nvSpPr>
        <p:spPr>
          <a:xfrm>
            <a:off x="7532303" y="6052500"/>
            <a:ext cx="686905" cy="236537"/>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lt1"/>
                </a:solidFill>
                <a:latin typeface="Noto Sans KR"/>
                <a:ea typeface="Noto Sans KR"/>
                <a:cs typeface="Noto Sans KR"/>
                <a:sym typeface="Noto Sans KR"/>
              </a:rPr>
              <a:t>저장</a:t>
            </a:r>
            <a:endParaRPr sz="1200">
              <a:solidFill>
                <a:schemeClr val="lt1"/>
              </a:solidFill>
              <a:latin typeface="Noto Sans KR"/>
              <a:ea typeface="Noto Sans KR"/>
              <a:cs typeface="Noto Sans KR"/>
              <a:sym typeface="Noto Sans KR"/>
            </a:endParaRPr>
          </a:p>
        </p:txBody>
      </p:sp>
      <p:sp>
        <p:nvSpPr>
          <p:cNvPr id="2727" name="Google Shape;2727;p51"/>
          <p:cNvSpPr/>
          <p:nvPr/>
        </p:nvSpPr>
        <p:spPr>
          <a:xfrm>
            <a:off x="2022298" y="2553723"/>
            <a:ext cx="961047" cy="236537"/>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Rubircs  추가</a:t>
            </a:r>
            <a:endParaRPr sz="4000">
              <a:solidFill>
                <a:schemeClr val="lt1"/>
              </a:solidFill>
              <a:latin typeface="Noto Sans KR"/>
              <a:ea typeface="Noto Sans KR"/>
              <a:cs typeface="Noto Sans KR"/>
              <a:sym typeface="Noto Sans KR"/>
            </a:endParaRPr>
          </a:p>
        </p:txBody>
      </p:sp>
      <p:sp>
        <p:nvSpPr>
          <p:cNvPr id="2728" name="Google Shape;2728;p51"/>
          <p:cNvSpPr txBox="1"/>
          <p:nvPr/>
        </p:nvSpPr>
        <p:spPr>
          <a:xfrm>
            <a:off x="409401" y="2813884"/>
            <a:ext cx="1366806" cy="2546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00">
                <a:solidFill>
                  <a:srgbClr val="BFBFBF"/>
                </a:solidFill>
                <a:latin typeface="Noto Sans KR"/>
                <a:ea typeface="Noto Sans KR"/>
                <a:cs typeface="Noto Sans KR"/>
                <a:sym typeface="Noto Sans KR"/>
              </a:rPr>
              <a:t>면접  결과                ∨               </a:t>
            </a:r>
            <a:endParaRPr sz="1000">
              <a:solidFill>
                <a:srgbClr val="BFBFBF"/>
              </a:solidFill>
              <a:latin typeface="Noto Sans KR"/>
              <a:ea typeface="Noto Sans KR"/>
              <a:cs typeface="Noto Sans KR"/>
              <a:sym typeface="Noto Sans KR"/>
            </a:endParaRPr>
          </a:p>
        </p:txBody>
      </p:sp>
      <p:sp>
        <p:nvSpPr>
          <p:cNvPr id="2729" name="Google Shape;2729;p51"/>
          <p:cNvSpPr/>
          <p:nvPr/>
        </p:nvSpPr>
        <p:spPr>
          <a:xfrm>
            <a:off x="2026082" y="2198191"/>
            <a:ext cx="1452422" cy="260795"/>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AI Engineer        </a:t>
            </a:r>
            <a:r>
              <a:rPr lang="ko-KR" sz="1200">
                <a:solidFill>
                  <a:srgbClr val="A5A5A5"/>
                </a:solidFill>
                <a:latin typeface="Noto Sans KR"/>
                <a:ea typeface="Noto Sans KR"/>
                <a:cs typeface="Noto Sans KR"/>
                <a:sym typeface="Noto Sans KR"/>
              </a:rPr>
              <a:t>∨</a:t>
            </a:r>
            <a:endParaRPr sz="1200">
              <a:solidFill>
                <a:srgbClr val="A5A5A5"/>
              </a:solidFill>
              <a:latin typeface="Noto Sans KR"/>
              <a:ea typeface="Noto Sans KR"/>
              <a:cs typeface="Noto Sans KR"/>
              <a:sym typeface="Noto Sans KR"/>
            </a:endParaRPr>
          </a:p>
        </p:txBody>
      </p:sp>
      <p:sp>
        <p:nvSpPr>
          <p:cNvPr id="2730" name="Google Shape;2730;p51"/>
          <p:cNvSpPr/>
          <p:nvPr/>
        </p:nvSpPr>
        <p:spPr>
          <a:xfrm>
            <a:off x="3123437" y="2553723"/>
            <a:ext cx="563218" cy="236537"/>
          </a:xfrm>
          <a:prstGeom prst="roundRect">
            <a:avLst>
              <a:gd fmla="val 16667" name="adj"/>
            </a:avLst>
          </a:prstGeom>
          <a:solidFill>
            <a:srgbClr val="D8D8D8"/>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수정</a:t>
            </a:r>
            <a:endParaRPr sz="4000">
              <a:solidFill>
                <a:schemeClr val="dk1"/>
              </a:solidFill>
              <a:latin typeface="Noto Sans KR"/>
              <a:ea typeface="Noto Sans KR"/>
              <a:cs typeface="Noto Sans KR"/>
              <a:sym typeface="Noto Sans KR"/>
            </a:endParaRPr>
          </a:p>
        </p:txBody>
      </p:sp>
      <p:sp>
        <p:nvSpPr>
          <p:cNvPr id="2731" name="Google Shape;2731;p51"/>
          <p:cNvSpPr txBox="1"/>
          <p:nvPr/>
        </p:nvSpPr>
        <p:spPr>
          <a:xfrm>
            <a:off x="1975860" y="3013563"/>
            <a:ext cx="148725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평가 목록</a:t>
            </a:r>
            <a:endParaRPr sz="1200">
              <a:solidFill>
                <a:schemeClr val="dk1"/>
              </a:solidFill>
              <a:latin typeface="Noto Sans KR"/>
              <a:ea typeface="Noto Sans KR"/>
              <a:cs typeface="Noto Sans KR"/>
              <a:sym typeface="Noto Sans KR"/>
            </a:endParaRPr>
          </a:p>
        </p:txBody>
      </p:sp>
      <p:grpSp>
        <p:nvGrpSpPr>
          <p:cNvPr id="2732" name="Google Shape;2732;p51"/>
          <p:cNvGrpSpPr/>
          <p:nvPr/>
        </p:nvGrpSpPr>
        <p:grpSpPr>
          <a:xfrm>
            <a:off x="1960619" y="3283054"/>
            <a:ext cx="1864659" cy="402252"/>
            <a:chOff x="2078244" y="3615759"/>
            <a:chExt cx="1864659" cy="402252"/>
          </a:xfrm>
        </p:grpSpPr>
        <p:sp>
          <p:nvSpPr>
            <p:cNvPr id="2733" name="Google Shape;2733;p51"/>
            <p:cNvSpPr/>
            <p:nvPr/>
          </p:nvSpPr>
          <p:spPr>
            <a:xfrm>
              <a:off x="2160146" y="3744885"/>
              <a:ext cx="144000" cy="144000"/>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34" name="Google Shape;2734;p51"/>
            <p:cNvSpPr/>
            <p:nvPr/>
          </p:nvSpPr>
          <p:spPr>
            <a:xfrm>
              <a:off x="2078244" y="3615759"/>
              <a:ext cx="1864659" cy="402252"/>
            </a:xfrm>
            <a:prstGeom prst="rect">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      직무평가</a:t>
              </a:r>
              <a:endParaRPr sz="1400">
                <a:solidFill>
                  <a:schemeClr val="dk1"/>
                </a:solidFill>
                <a:latin typeface="Noto Sans KR"/>
                <a:ea typeface="Noto Sans KR"/>
                <a:cs typeface="Noto Sans KR"/>
                <a:sym typeface="Noto Sans KR"/>
              </a:endParaRPr>
            </a:p>
          </p:txBody>
        </p:sp>
      </p:grpSp>
      <p:grpSp>
        <p:nvGrpSpPr>
          <p:cNvPr id="2735" name="Google Shape;2735;p51"/>
          <p:cNvGrpSpPr/>
          <p:nvPr/>
        </p:nvGrpSpPr>
        <p:grpSpPr>
          <a:xfrm>
            <a:off x="1957051" y="3688361"/>
            <a:ext cx="1864659" cy="402252"/>
            <a:chOff x="2078244" y="3615759"/>
            <a:chExt cx="1864659" cy="402252"/>
          </a:xfrm>
        </p:grpSpPr>
        <p:sp>
          <p:nvSpPr>
            <p:cNvPr id="2736" name="Google Shape;2736;p51"/>
            <p:cNvSpPr/>
            <p:nvPr/>
          </p:nvSpPr>
          <p:spPr>
            <a:xfrm>
              <a:off x="2160146" y="3744885"/>
              <a:ext cx="144000" cy="144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37" name="Google Shape;2737;p51"/>
            <p:cNvSpPr/>
            <p:nvPr/>
          </p:nvSpPr>
          <p:spPr>
            <a:xfrm>
              <a:off x="2078244" y="3615759"/>
              <a:ext cx="1864659" cy="402252"/>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      직무경험</a:t>
              </a:r>
              <a:endParaRPr sz="1400">
                <a:solidFill>
                  <a:schemeClr val="dk1"/>
                </a:solidFill>
                <a:latin typeface="Noto Sans KR"/>
                <a:ea typeface="Noto Sans KR"/>
                <a:cs typeface="Noto Sans KR"/>
                <a:sym typeface="Noto Sans KR"/>
              </a:endParaRPr>
            </a:p>
          </p:txBody>
        </p:sp>
      </p:grpSp>
      <p:grpSp>
        <p:nvGrpSpPr>
          <p:cNvPr id="2738" name="Google Shape;2738;p51"/>
          <p:cNvGrpSpPr/>
          <p:nvPr/>
        </p:nvGrpSpPr>
        <p:grpSpPr>
          <a:xfrm>
            <a:off x="1960619" y="4096312"/>
            <a:ext cx="1864659" cy="402252"/>
            <a:chOff x="2078244" y="3615759"/>
            <a:chExt cx="1864659" cy="402252"/>
          </a:xfrm>
        </p:grpSpPr>
        <p:sp>
          <p:nvSpPr>
            <p:cNvPr id="2739" name="Google Shape;2739;p51"/>
            <p:cNvSpPr/>
            <p:nvPr/>
          </p:nvSpPr>
          <p:spPr>
            <a:xfrm>
              <a:off x="2160146" y="3744885"/>
              <a:ext cx="144000" cy="144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40" name="Google Shape;2740;p51"/>
            <p:cNvSpPr/>
            <p:nvPr/>
          </p:nvSpPr>
          <p:spPr>
            <a:xfrm>
              <a:off x="2078244" y="3615759"/>
              <a:ext cx="1864659" cy="402252"/>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      소통능력</a:t>
              </a:r>
              <a:endParaRPr sz="1400">
                <a:solidFill>
                  <a:schemeClr val="dk1"/>
                </a:solidFill>
                <a:latin typeface="Noto Sans KR"/>
                <a:ea typeface="Noto Sans KR"/>
                <a:cs typeface="Noto Sans KR"/>
                <a:sym typeface="Noto Sans KR"/>
              </a:endParaRPr>
            </a:p>
          </p:txBody>
        </p:sp>
      </p:grpSp>
      <p:grpSp>
        <p:nvGrpSpPr>
          <p:cNvPr id="2741" name="Google Shape;2741;p51"/>
          <p:cNvGrpSpPr/>
          <p:nvPr/>
        </p:nvGrpSpPr>
        <p:grpSpPr>
          <a:xfrm>
            <a:off x="1957050" y="4498564"/>
            <a:ext cx="1864659" cy="402252"/>
            <a:chOff x="2078244" y="3615759"/>
            <a:chExt cx="1864659" cy="402252"/>
          </a:xfrm>
        </p:grpSpPr>
        <p:sp>
          <p:nvSpPr>
            <p:cNvPr id="2742" name="Google Shape;2742;p51"/>
            <p:cNvSpPr/>
            <p:nvPr/>
          </p:nvSpPr>
          <p:spPr>
            <a:xfrm>
              <a:off x="2160146" y="3744885"/>
              <a:ext cx="144000" cy="144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43" name="Google Shape;2743;p51"/>
            <p:cNvSpPr/>
            <p:nvPr/>
          </p:nvSpPr>
          <p:spPr>
            <a:xfrm>
              <a:off x="2078244" y="3615759"/>
              <a:ext cx="1864659" cy="402252"/>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      업무태도</a:t>
              </a:r>
              <a:endParaRPr sz="1400">
                <a:solidFill>
                  <a:schemeClr val="dk1"/>
                </a:solidFill>
                <a:latin typeface="Noto Sans KR"/>
                <a:ea typeface="Noto Sans KR"/>
                <a:cs typeface="Noto Sans KR"/>
                <a:sym typeface="Noto Sans KR"/>
              </a:endParaRPr>
            </a:p>
          </p:txBody>
        </p:sp>
      </p:grpSp>
      <p:grpSp>
        <p:nvGrpSpPr>
          <p:cNvPr id="2744" name="Google Shape;2744;p51"/>
          <p:cNvGrpSpPr/>
          <p:nvPr/>
        </p:nvGrpSpPr>
        <p:grpSpPr>
          <a:xfrm>
            <a:off x="1960619" y="4900733"/>
            <a:ext cx="1864659" cy="402252"/>
            <a:chOff x="2078244" y="3615759"/>
            <a:chExt cx="1864659" cy="402252"/>
          </a:xfrm>
        </p:grpSpPr>
        <p:sp>
          <p:nvSpPr>
            <p:cNvPr id="2745" name="Google Shape;2745;p51"/>
            <p:cNvSpPr/>
            <p:nvPr/>
          </p:nvSpPr>
          <p:spPr>
            <a:xfrm>
              <a:off x="2160146" y="3744885"/>
              <a:ext cx="144000" cy="144000"/>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46" name="Google Shape;2746;p51"/>
            <p:cNvSpPr/>
            <p:nvPr/>
          </p:nvSpPr>
          <p:spPr>
            <a:xfrm>
              <a:off x="2078244" y="3615759"/>
              <a:ext cx="1864659" cy="402252"/>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      문제해결능력</a:t>
              </a:r>
              <a:endParaRPr sz="1400">
                <a:solidFill>
                  <a:schemeClr val="dk1"/>
                </a:solidFill>
                <a:latin typeface="Noto Sans KR"/>
                <a:ea typeface="Noto Sans KR"/>
                <a:cs typeface="Noto Sans KR"/>
                <a:sym typeface="Noto Sans KR"/>
              </a:endParaRPr>
            </a:p>
          </p:txBody>
        </p:sp>
      </p:grpSp>
      <p:sp>
        <p:nvSpPr>
          <p:cNvPr id="2747" name="Google Shape;2747;p51"/>
          <p:cNvSpPr/>
          <p:nvPr/>
        </p:nvSpPr>
        <p:spPr>
          <a:xfrm>
            <a:off x="2044396" y="3412180"/>
            <a:ext cx="144000" cy="144000"/>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48" name="Google Shape;2748;p51"/>
          <p:cNvSpPr/>
          <p:nvPr/>
        </p:nvSpPr>
        <p:spPr>
          <a:xfrm>
            <a:off x="3884370" y="2059086"/>
            <a:ext cx="4491225" cy="359536"/>
          </a:xfrm>
          <a:prstGeom prst="rect">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49" name="Google Shape;2749;p51"/>
          <p:cNvSpPr txBox="1"/>
          <p:nvPr/>
        </p:nvSpPr>
        <p:spPr>
          <a:xfrm>
            <a:off x="3921004" y="1752140"/>
            <a:ext cx="20320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직무 평가 기준</a:t>
            </a:r>
            <a:endParaRPr sz="1200">
              <a:solidFill>
                <a:schemeClr val="dk1"/>
              </a:solidFill>
              <a:latin typeface="Noto Sans KR"/>
              <a:ea typeface="Noto Sans KR"/>
              <a:cs typeface="Noto Sans KR"/>
              <a:sym typeface="Noto Sans KR"/>
            </a:endParaRPr>
          </a:p>
        </p:txBody>
      </p:sp>
      <p:sp>
        <p:nvSpPr>
          <p:cNvPr id="2750" name="Google Shape;2750;p51"/>
          <p:cNvSpPr/>
          <p:nvPr/>
        </p:nvSpPr>
        <p:spPr>
          <a:xfrm>
            <a:off x="4796011" y="2145807"/>
            <a:ext cx="1074482" cy="272946"/>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2751" name="Google Shape;2751;p51"/>
          <p:cNvGrpSpPr/>
          <p:nvPr/>
        </p:nvGrpSpPr>
        <p:grpSpPr>
          <a:xfrm>
            <a:off x="3966839" y="2145807"/>
            <a:ext cx="1542473" cy="479310"/>
            <a:chOff x="3966839" y="2145807"/>
            <a:chExt cx="1542473" cy="479310"/>
          </a:xfrm>
        </p:grpSpPr>
        <p:sp>
          <p:nvSpPr>
            <p:cNvPr id="2752" name="Google Shape;2752;p51"/>
            <p:cNvSpPr/>
            <p:nvPr/>
          </p:nvSpPr>
          <p:spPr>
            <a:xfrm>
              <a:off x="4077311" y="2145807"/>
              <a:ext cx="946166" cy="347125"/>
            </a:xfrm>
            <a:prstGeom prst="roundRect">
              <a:avLst>
                <a:gd fmla="val 16667"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53" name="Google Shape;2753;p51"/>
            <p:cNvSpPr/>
            <p:nvPr/>
          </p:nvSpPr>
          <p:spPr>
            <a:xfrm>
              <a:off x="3966839" y="2436576"/>
              <a:ext cx="1542473" cy="188541"/>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754" name="Google Shape;2754;p51"/>
          <p:cNvSpPr txBox="1"/>
          <p:nvPr/>
        </p:nvSpPr>
        <p:spPr>
          <a:xfrm>
            <a:off x="4135164" y="2160823"/>
            <a:ext cx="8978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평가 항목</a:t>
            </a:r>
            <a:endParaRPr sz="1200">
              <a:solidFill>
                <a:schemeClr val="dk1"/>
              </a:solidFill>
              <a:latin typeface="Noto Sans KR"/>
              <a:ea typeface="Noto Sans KR"/>
              <a:cs typeface="Noto Sans KR"/>
              <a:sym typeface="Noto Sans KR"/>
            </a:endParaRPr>
          </a:p>
        </p:txBody>
      </p:sp>
      <p:sp>
        <p:nvSpPr>
          <p:cNvPr id="2755" name="Google Shape;2755;p51"/>
          <p:cNvSpPr txBox="1"/>
          <p:nvPr/>
        </p:nvSpPr>
        <p:spPr>
          <a:xfrm>
            <a:off x="5019715" y="2157439"/>
            <a:ext cx="8978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rgbClr val="7F7F7F"/>
                </a:solidFill>
                <a:latin typeface="Noto Sans KR"/>
                <a:ea typeface="Noto Sans KR"/>
                <a:cs typeface="Noto Sans KR"/>
                <a:sym typeface="Noto Sans KR"/>
              </a:rPr>
              <a:t>평가 레벨</a:t>
            </a:r>
            <a:endParaRPr sz="1200">
              <a:solidFill>
                <a:srgbClr val="7F7F7F"/>
              </a:solidFill>
              <a:latin typeface="Noto Sans KR"/>
              <a:ea typeface="Noto Sans KR"/>
              <a:cs typeface="Noto Sans KR"/>
              <a:sym typeface="Noto Sans KR"/>
            </a:endParaRPr>
          </a:p>
        </p:txBody>
      </p:sp>
      <p:sp>
        <p:nvSpPr>
          <p:cNvPr id="2756" name="Google Shape;2756;p51"/>
          <p:cNvSpPr/>
          <p:nvPr/>
        </p:nvSpPr>
        <p:spPr>
          <a:xfrm>
            <a:off x="4008291" y="2494582"/>
            <a:ext cx="4306673" cy="2003982"/>
          </a:xfrm>
          <a:prstGeom prst="roundRect">
            <a:avLst>
              <a:gd fmla="val 3619"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2757" name="Google Shape;2757;p51"/>
          <p:cNvGrpSpPr/>
          <p:nvPr/>
        </p:nvGrpSpPr>
        <p:grpSpPr>
          <a:xfrm>
            <a:off x="4298861" y="4805669"/>
            <a:ext cx="3698569" cy="235896"/>
            <a:chOff x="2959323" y="1930356"/>
            <a:chExt cx="3698569" cy="235896"/>
          </a:xfrm>
        </p:grpSpPr>
        <p:grpSp>
          <p:nvGrpSpPr>
            <p:cNvPr id="2758" name="Google Shape;2758;p51"/>
            <p:cNvGrpSpPr/>
            <p:nvPr/>
          </p:nvGrpSpPr>
          <p:grpSpPr>
            <a:xfrm>
              <a:off x="2959323" y="2002242"/>
              <a:ext cx="2955243" cy="108000"/>
              <a:chOff x="2848326" y="2002233"/>
              <a:chExt cx="2955243" cy="108000"/>
            </a:xfrm>
          </p:grpSpPr>
          <p:sp>
            <p:nvSpPr>
              <p:cNvPr id="2759" name="Google Shape;2759;p51"/>
              <p:cNvSpPr/>
              <p:nvPr/>
            </p:nvSpPr>
            <p:spPr>
              <a:xfrm>
                <a:off x="2848326" y="2028295"/>
                <a:ext cx="2955243" cy="45719"/>
              </a:xfrm>
              <a:prstGeom prst="roundRect">
                <a:avLst>
                  <a:gd fmla="val 16667" name="adj"/>
                </a:avLst>
              </a:prstGeom>
              <a:gradFill>
                <a:gsLst>
                  <a:gs pos="0">
                    <a:srgbClr val="F5F7FC"/>
                  </a:gs>
                  <a:gs pos="1000">
                    <a:srgbClr val="FF256E"/>
                  </a:gs>
                  <a:gs pos="62000">
                    <a:srgbClr val="DDEAF6"/>
                  </a:gs>
                  <a:gs pos="74000">
                    <a:srgbClr val="A9BEE4"/>
                  </a:gs>
                  <a:gs pos="100000">
                    <a:srgbClr val="C5D3ED"/>
                  </a:gs>
                </a:gsLst>
                <a:lin ang="10800000" scaled="0"/>
              </a:gra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760" name="Google Shape;2760;p51"/>
              <p:cNvSpPr/>
              <p:nvPr/>
            </p:nvSpPr>
            <p:spPr>
              <a:xfrm>
                <a:off x="4572610" y="2002233"/>
                <a:ext cx="108000" cy="108000"/>
              </a:xfrm>
              <a:prstGeom prst="ellipse">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761" name="Google Shape;2761;p51"/>
            <p:cNvSpPr/>
            <p:nvPr/>
          </p:nvSpPr>
          <p:spPr>
            <a:xfrm>
              <a:off x="5989635" y="1930356"/>
              <a:ext cx="668257" cy="235896"/>
            </a:xfrm>
            <a:prstGeom prst="roundRect">
              <a:avLst>
                <a:gd fmla="val 16667" name="adj"/>
              </a:avLst>
            </a:prstGeom>
            <a:solidFill>
              <a:srgbClr val="F2F2F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200">
                  <a:solidFill>
                    <a:schemeClr val="dk1"/>
                  </a:solidFill>
                  <a:latin typeface="Noto Sans KR"/>
                  <a:ea typeface="Noto Sans KR"/>
                  <a:cs typeface="Noto Sans KR"/>
                  <a:sym typeface="Noto Sans KR"/>
                </a:rPr>
                <a:t>100점</a:t>
              </a:r>
              <a:endParaRPr sz="1200">
                <a:solidFill>
                  <a:schemeClr val="dk1"/>
                </a:solidFill>
                <a:latin typeface="Noto Sans KR"/>
                <a:ea typeface="Noto Sans KR"/>
                <a:cs typeface="Noto Sans KR"/>
                <a:sym typeface="Noto Sans KR"/>
              </a:endParaRPr>
            </a:p>
          </p:txBody>
        </p:sp>
      </p:grpSp>
      <p:sp>
        <p:nvSpPr>
          <p:cNvPr id="2762" name="Google Shape;2762;p51"/>
          <p:cNvSpPr/>
          <p:nvPr/>
        </p:nvSpPr>
        <p:spPr>
          <a:xfrm>
            <a:off x="4008291" y="2494583"/>
            <a:ext cx="4306674" cy="476404"/>
          </a:xfrm>
          <a:prstGeom prst="roundRect">
            <a:avLst>
              <a:gd fmla="val 10851" name="adj"/>
            </a:avLst>
          </a:prstGeom>
          <a:solidFill>
            <a:schemeClr val="lt2"/>
          </a:solid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평가항목명     </a:t>
            </a:r>
            <a:endParaRPr sz="1200">
              <a:solidFill>
                <a:schemeClr val="dk1"/>
              </a:solidFill>
              <a:latin typeface="Noto Sans KR"/>
              <a:ea typeface="Noto Sans KR"/>
              <a:cs typeface="Noto Sans KR"/>
              <a:sym typeface="Noto Sans KR"/>
            </a:endParaRPr>
          </a:p>
        </p:txBody>
      </p:sp>
      <p:sp>
        <p:nvSpPr>
          <p:cNvPr id="2763" name="Google Shape;2763;p51"/>
          <p:cNvSpPr/>
          <p:nvPr/>
        </p:nvSpPr>
        <p:spPr>
          <a:xfrm>
            <a:off x="4008291" y="2801688"/>
            <a:ext cx="4306673" cy="314630"/>
          </a:xfrm>
          <a:prstGeom prst="rect">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기술 이해 능력</a:t>
            </a:r>
            <a:endParaRPr sz="1200">
              <a:solidFill>
                <a:schemeClr val="dk1"/>
              </a:solidFill>
              <a:latin typeface="Noto Sans KR"/>
              <a:ea typeface="Noto Sans KR"/>
              <a:cs typeface="Noto Sans KR"/>
              <a:sym typeface="Noto Sans KR"/>
            </a:endParaRPr>
          </a:p>
        </p:txBody>
      </p:sp>
      <p:sp>
        <p:nvSpPr>
          <p:cNvPr id="2764" name="Google Shape;2764;p51"/>
          <p:cNvSpPr/>
          <p:nvPr/>
        </p:nvSpPr>
        <p:spPr>
          <a:xfrm>
            <a:off x="4008290" y="3110947"/>
            <a:ext cx="4306673" cy="314630"/>
          </a:xfrm>
          <a:prstGeom prst="rect">
            <a:avLst/>
          </a:prstGeom>
          <a:solidFill>
            <a:schemeClr val="lt2"/>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기술 활용 능력</a:t>
            </a:r>
            <a:endParaRPr sz="1200">
              <a:solidFill>
                <a:schemeClr val="dk1"/>
              </a:solidFill>
              <a:latin typeface="Noto Sans KR"/>
              <a:ea typeface="Noto Sans KR"/>
              <a:cs typeface="Noto Sans KR"/>
              <a:sym typeface="Noto Sans KR"/>
            </a:endParaRPr>
          </a:p>
        </p:txBody>
      </p:sp>
      <p:sp>
        <p:nvSpPr>
          <p:cNvPr id="2765" name="Google Shape;2765;p51"/>
          <p:cNvSpPr/>
          <p:nvPr/>
        </p:nvSpPr>
        <p:spPr>
          <a:xfrm>
            <a:off x="7034613" y="2847246"/>
            <a:ext cx="563218" cy="216000"/>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수정</a:t>
            </a:r>
            <a:endParaRPr sz="4000">
              <a:solidFill>
                <a:schemeClr val="dk1"/>
              </a:solidFill>
              <a:latin typeface="Noto Sans KR"/>
              <a:ea typeface="Noto Sans KR"/>
              <a:cs typeface="Noto Sans KR"/>
              <a:sym typeface="Noto Sans KR"/>
            </a:endParaRPr>
          </a:p>
        </p:txBody>
      </p:sp>
      <p:sp>
        <p:nvSpPr>
          <p:cNvPr id="2766" name="Google Shape;2766;p51"/>
          <p:cNvSpPr/>
          <p:nvPr/>
        </p:nvSpPr>
        <p:spPr>
          <a:xfrm>
            <a:off x="7650350" y="2846182"/>
            <a:ext cx="563218" cy="216000"/>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삭제</a:t>
            </a:r>
            <a:endParaRPr sz="4000">
              <a:solidFill>
                <a:schemeClr val="dk1"/>
              </a:solidFill>
              <a:latin typeface="Noto Sans KR"/>
              <a:ea typeface="Noto Sans KR"/>
              <a:cs typeface="Noto Sans KR"/>
              <a:sym typeface="Noto Sans KR"/>
            </a:endParaRPr>
          </a:p>
        </p:txBody>
      </p:sp>
      <p:sp>
        <p:nvSpPr>
          <p:cNvPr id="2767" name="Google Shape;2767;p51"/>
          <p:cNvSpPr/>
          <p:nvPr/>
        </p:nvSpPr>
        <p:spPr>
          <a:xfrm>
            <a:off x="7040253" y="3161876"/>
            <a:ext cx="563218" cy="216000"/>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수정</a:t>
            </a:r>
            <a:endParaRPr sz="4000">
              <a:solidFill>
                <a:schemeClr val="dk1"/>
              </a:solidFill>
              <a:latin typeface="Noto Sans KR"/>
              <a:ea typeface="Noto Sans KR"/>
              <a:cs typeface="Noto Sans KR"/>
              <a:sym typeface="Noto Sans KR"/>
            </a:endParaRPr>
          </a:p>
        </p:txBody>
      </p:sp>
      <p:sp>
        <p:nvSpPr>
          <p:cNvPr id="2768" name="Google Shape;2768;p51"/>
          <p:cNvSpPr/>
          <p:nvPr/>
        </p:nvSpPr>
        <p:spPr>
          <a:xfrm>
            <a:off x="7655990" y="3160812"/>
            <a:ext cx="563218" cy="216000"/>
          </a:xfrm>
          <a:prstGeom prst="roundRect">
            <a:avLst>
              <a:gd fmla="val 16667" name="adj"/>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000">
                <a:solidFill>
                  <a:schemeClr val="dk1"/>
                </a:solidFill>
                <a:latin typeface="Noto Sans KR"/>
                <a:ea typeface="Noto Sans KR"/>
                <a:cs typeface="Noto Sans KR"/>
                <a:sym typeface="Noto Sans KR"/>
              </a:rPr>
              <a:t>삭제</a:t>
            </a:r>
            <a:endParaRPr sz="4000">
              <a:solidFill>
                <a:schemeClr val="dk1"/>
              </a:solidFill>
              <a:latin typeface="Noto Sans KR"/>
              <a:ea typeface="Noto Sans KR"/>
              <a:cs typeface="Noto Sans KR"/>
              <a:sym typeface="Noto Sans KR"/>
            </a:endParaRPr>
          </a:p>
        </p:txBody>
      </p:sp>
      <p:sp>
        <p:nvSpPr>
          <p:cNvPr id="2769" name="Google Shape;2769;p51"/>
          <p:cNvSpPr/>
          <p:nvPr/>
        </p:nvSpPr>
        <p:spPr>
          <a:xfrm>
            <a:off x="4135164" y="3514086"/>
            <a:ext cx="4025965" cy="842107"/>
          </a:xfrm>
          <a:prstGeom prst="roundRect">
            <a:avLst>
              <a:gd fmla="val 5698"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ko-KR" sz="1100">
                <a:solidFill>
                  <a:schemeClr val="dk1"/>
                </a:solidFill>
                <a:latin typeface="Noto Sans KR"/>
                <a:ea typeface="Noto Sans KR"/>
                <a:cs typeface="Noto Sans KR"/>
                <a:sym typeface="Noto Sans KR"/>
              </a:rPr>
              <a:t>평가 기준</a:t>
            </a:r>
            <a:endParaRPr sz="11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기술 선택의 논리적 타당성 비교 분석 능력: 동일 목적을 가진 대안 기술들과의 차이점 및 상대적 우위를 객관적으로 비교할 수 있는가?</a:t>
            </a: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근거 기반 의사결정: 특정 도구 채택 시 직면한 문제 상황과 기술의 특성을 결합하여 타당한 논리를 제시하는가?</a:t>
            </a:r>
            <a:endParaRPr/>
          </a:p>
          <a:p>
            <a:pPr indent="0" lvl="0" marL="0" marR="0" rtl="0" algn="l">
              <a:spcBef>
                <a:spcPts val="0"/>
              </a:spcBef>
              <a:spcAft>
                <a:spcPts val="0"/>
              </a:spcAft>
              <a:buNone/>
            </a:pPr>
            <a:r>
              <a:rPr lang="ko-KR" sz="700">
                <a:solidFill>
                  <a:schemeClr val="dk1"/>
                </a:solidFill>
                <a:latin typeface="Noto Sans KR"/>
                <a:ea typeface="Noto Sans KR"/>
                <a:cs typeface="Noto Sans KR"/>
                <a:sym typeface="Noto Sans KR"/>
              </a:rPr>
              <a:t>제약 사항 파악: 선택한 기술이 가진 한계점과 발생 가능한 잠재적 리스크를 사전에 인지하고 있는가</a:t>
            </a:r>
            <a:r>
              <a:rPr lang="ko-KR" sz="900">
                <a:solidFill>
                  <a:schemeClr val="dk1"/>
                </a:solidFill>
                <a:latin typeface="Noto Sans KR"/>
                <a:ea typeface="Noto Sans KR"/>
                <a:cs typeface="Noto Sans KR"/>
                <a:sym typeface="Noto Sans KR"/>
              </a:rPr>
              <a:t>?</a:t>
            </a:r>
            <a:endParaRPr sz="900">
              <a:solidFill>
                <a:schemeClr val="dk1"/>
              </a:solidFill>
              <a:latin typeface="Noto Sans KR"/>
              <a:ea typeface="Noto Sans KR"/>
              <a:cs typeface="Noto Sans KR"/>
              <a:sym typeface="Noto Sans KR"/>
            </a:endParaRPr>
          </a:p>
        </p:txBody>
      </p:sp>
      <p:sp>
        <p:nvSpPr>
          <p:cNvPr id="2770" name="Google Shape;2770;p51"/>
          <p:cNvSpPr txBox="1"/>
          <p:nvPr/>
        </p:nvSpPr>
        <p:spPr>
          <a:xfrm>
            <a:off x="3966839" y="4570560"/>
            <a:ext cx="12243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평가 레벨</a:t>
            </a:r>
            <a:endParaRPr sz="1200">
              <a:solidFill>
                <a:schemeClr val="dk1"/>
              </a:solidFill>
              <a:latin typeface="Noto Sans KR"/>
              <a:ea typeface="Noto Sans KR"/>
              <a:cs typeface="Noto Sans KR"/>
              <a:sym typeface="Noto Sans KR"/>
            </a:endParaRPr>
          </a:p>
        </p:txBody>
      </p:sp>
      <p:grpSp>
        <p:nvGrpSpPr>
          <p:cNvPr id="2771" name="Google Shape;2771;p51"/>
          <p:cNvGrpSpPr/>
          <p:nvPr/>
        </p:nvGrpSpPr>
        <p:grpSpPr>
          <a:xfrm>
            <a:off x="4085712" y="5173859"/>
            <a:ext cx="3360798" cy="1072210"/>
            <a:chOff x="2387942" y="1674968"/>
            <a:chExt cx="1587995" cy="1905349"/>
          </a:xfrm>
        </p:grpSpPr>
        <p:sp>
          <p:nvSpPr>
            <p:cNvPr id="2772" name="Google Shape;2772;p51"/>
            <p:cNvSpPr/>
            <p:nvPr/>
          </p:nvSpPr>
          <p:spPr>
            <a:xfrm>
              <a:off x="2387942" y="1674968"/>
              <a:ext cx="1587995" cy="1905349"/>
            </a:xfrm>
            <a:prstGeom prst="roundRect">
              <a:avLst>
                <a:gd fmla="val 4475" name="adj"/>
              </a:avLst>
            </a:prstGeom>
            <a:solidFill>
              <a:schemeClr val="lt1"/>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773" name="Google Shape;2773;p51"/>
            <p:cNvCxnSpPr/>
            <p:nvPr/>
          </p:nvCxnSpPr>
          <p:spPr>
            <a:xfrm flipH="1" rot="10800000">
              <a:off x="2395013" y="2134147"/>
              <a:ext cx="1580924" cy="18478"/>
            </a:xfrm>
            <a:prstGeom prst="straightConnector1">
              <a:avLst/>
            </a:prstGeom>
            <a:noFill/>
            <a:ln cap="flat" cmpd="sng" w="9525">
              <a:solidFill>
                <a:srgbClr val="BFBFBF"/>
              </a:solidFill>
              <a:prstDash val="solid"/>
              <a:miter lim="8000"/>
              <a:headEnd len="sm" w="sm" type="none"/>
              <a:tailEnd len="sm" w="sm" type="none"/>
            </a:ln>
          </p:spPr>
        </p:cxnSp>
      </p:grpSp>
      <p:sp>
        <p:nvSpPr>
          <p:cNvPr id="2774" name="Google Shape;2774;p51"/>
          <p:cNvSpPr txBox="1"/>
          <p:nvPr/>
        </p:nvSpPr>
        <p:spPr>
          <a:xfrm>
            <a:off x="4049767" y="5193337"/>
            <a:ext cx="331029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800">
                <a:solidFill>
                  <a:schemeClr val="dk1"/>
                </a:solidFill>
                <a:latin typeface="Noto Sans KR"/>
                <a:ea typeface="Noto Sans KR"/>
                <a:cs typeface="Noto Sans KR"/>
                <a:sym typeface="Noto Sans KR"/>
              </a:rPr>
              <a:t>최우수(90) </a:t>
            </a:r>
            <a:r>
              <a:rPr lang="ko-KR" sz="700">
                <a:solidFill>
                  <a:schemeClr val="dk1"/>
                </a:solidFill>
                <a:latin typeface="Noto Sans KR"/>
                <a:ea typeface="Noto Sans KR"/>
                <a:cs typeface="Noto Sans KR"/>
                <a:sym typeface="Noto Sans KR"/>
              </a:rPr>
              <a:t>원리 설명이 완벽하며, 상황별 최적의 기술 조합을 리스크까지 고려</a:t>
            </a:r>
            <a:endParaRPr sz="700">
              <a:solidFill>
                <a:schemeClr val="dk1"/>
              </a:solidFill>
              <a:latin typeface="Noto Sans KR"/>
              <a:ea typeface="Noto Sans KR"/>
              <a:cs typeface="Noto Sans KR"/>
              <a:sym typeface="Noto Sans KR"/>
            </a:endParaRPr>
          </a:p>
        </p:txBody>
      </p:sp>
      <p:cxnSp>
        <p:nvCxnSpPr>
          <p:cNvPr id="2775" name="Google Shape;2775;p51"/>
          <p:cNvCxnSpPr/>
          <p:nvPr/>
        </p:nvCxnSpPr>
        <p:spPr>
          <a:xfrm flipH="1" rot="10800000">
            <a:off x="4093194" y="5668246"/>
            <a:ext cx="3345833" cy="10398"/>
          </a:xfrm>
          <a:prstGeom prst="straightConnector1">
            <a:avLst/>
          </a:prstGeom>
          <a:noFill/>
          <a:ln cap="flat" cmpd="sng" w="9525">
            <a:solidFill>
              <a:srgbClr val="BFBFBF"/>
            </a:solidFill>
            <a:prstDash val="solid"/>
            <a:miter lim="8000"/>
            <a:headEnd len="sm" w="sm" type="none"/>
            <a:tailEnd len="sm" w="sm" type="none"/>
          </a:ln>
        </p:spPr>
      </p:cxnSp>
      <p:sp>
        <p:nvSpPr>
          <p:cNvPr id="2776" name="Google Shape;2776;p51"/>
          <p:cNvSpPr txBox="1"/>
          <p:nvPr/>
        </p:nvSpPr>
        <p:spPr>
          <a:xfrm>
            <a:off x="4048245" y="5436167"/>
            <a:ext cx="3592497"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800">
                <a:solidFill>
                  <a:schemeClr val="dk1"/>
                </a:solidFill>
                <a:latin typeface="Noto Sans KR"/>
                <a:ea typeface="Noto Sans KR"/>
                <a:cs typeface="Noto Sans KR"/>
                <a:sym typeface="Noto Sans KR"/>
              </a:rPr>
              <a:t>우수(80) </a:t>
            </a:r>
            <a:r>
              <a:rPr lang="ko-KR" sz="700">
                <a:solidFill>
                  <a:schemeClr val="dk1"/>
                </a:solidFill>
                <a:latin typeface="Noto Sans KR"/>
                <a:ea typeface="Noto Sans KR"/>
                <a:cs typeface="Noto Sans KR"/>
                <a:sym typeface="Noto Sans KR"/>
              </a:rPr>
              <a:t>기술의 장단점을 명확히 인지하고 있으며, 선택에 대해 일관된 논리를 유지</a:t>
            </a:r>
            <a:endParaRPr/>
          </a:p>
        </p:txBody>
      </p:sp>
      <p:cxnSp>
        <p:nvCxnSpPr>
          <p:cNvPr id="2777" name="Google Shape;2777;p51"/>
          <p:cNvCxnSpPr/>
          <p:nvPr/>
        </p:nvCxnSpPr>
        <p:spPr>
          <a:xfrm flipH="1" rot="10800000">
            <a:off x="4085712" y="5947607"/>
            <a:ext cx="3345833" cy="10398"/>
          </a:xfrm>
          <a:prstGeom prst="straightConnector1">
            <a:avLst/>
          </a:prstGeom>
          <a:noFill/>
          <a:ln cap="flat" cmpd="sng" w="9525">
            <a:solidFill>
              <a:srgbClr val="BFBFBF"/>
            </a:solidFill>
            <a:prstDash val="solid"/>
            <a:miter lim="8000"/>
            <a:headEnd len="sm" w="sm" type="none"/>
            <a:tailEnd len="sm" w="sm" type="none"/>
          </a:ln>
        </p:spPr>
      </p:cxnSp>
      <p:sp>
        <p:nvSpPr>
          <p:cNvPr id="2778" name="Google Shape;2778;p51"/>
          <p:cNvSpPr txBox="1"/>
          <p:nvPr/>
        </p:nvSpPr>
        <p:spPr>
          <a:xfrm>
            <a:off x="4056964" y="5976671"/>
            <a:ext cx="3592497"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800">
                <a:solidFill>
                  <a:schemeClr val="dk1"/>
                </a:solidFill>
                <a:latin typeface="Noto Sans KR"/>
                <a:ea typeface="Noto Sans KR"/>
                <a:cs typeface="Noto Sans KR"/>
                <a:sym typeface="Noto Sans KR"/>
              </a:rPr>
              <a:t>미흡 (60) </a:t>
            </a:r>
            <a:r>
              <a:rPr lang="ko-KR" sz="700">
                <a:solidFill>
                  <a:schemeClr val="dk1"/>
                </a:solidFill>
                <a:latin typeface="Noto Sans KR"/>
                <a:ea typeface="Noto Sans KR"/>
                <a:cs typeface="Noto Sans KR"/>
                <a:sym typeface="Noto Sans KR"/>
              </a:rPr>
              <a:t>기술 명칭이나 단순 사용법은 아나, 작동 원리나 선택 근거가 모호</a:t>
            </a:r>
            <a:endParaRPr/>
          </a:p>
        </p:txBody>
      </p:sp>
      <p:sp>
        <p:nvSpPr>
          <p:cNvPr id="2779" name="Google Shape;2779;p51"/>
          <p:cNvSpPr txBox="1"/>
          <p:nvPr/>
        </p:nvSpPr>
        <p:spPr>
          <a:xfrm>
            <a:off x="4043745" y="5709964"/>
            <a:ext cx="3592497"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800">
                <a:solidFill>
                  <a:schemeClr val="dk1"/>
                </a:solidFill>
                <a:latin typeface="Noto Sans KR"/>
                <a:ea typeface="Noto Sans KR"/>
                <a:cs typeface="Noto Sans KR"/>
                <a:sym typeface="Noto Sans KR"/>
              </a:rPr>
              <a:t>부족(70) </a:t>
            </a:r>
            <a:r>
              <a:rPr lang="ko-KR" sz="700">
                <a:solidFill>
                  <a:schemeClr val="dk1"/>
                </a:solidFill>
                <a:latin typeface="Noto Sans KR"/>
                <a:ea typeface="Noto Sans KR"/>
                <a:cs typeface="Noto Sans KR"/>
                <a:sym typeface="Noto Sans KR"/>
              </a:rPr>
              <a:t>주요 개념은 이해하고 있으나, 대안 기술과의 비교 부족</a:t>
            </a:r>
            <a:endParaRPr sz="700">
              <a:solidFill>
                <a:schemeClr val="dk1"/>
              </a:solidFill>
              <a:latin typeface="Noto Sans KR"/>
              <a:ea typeface="Noto Sans KR"/>
              <a:cs typeface="Noto Sans KR"/>
              <a:sym typeface="Noto Sans KR"/>
            </a:endParaRPr>
          </a:p>
        </p:txBody>
      </p:sp>
      <p:sp>
        <p:nvSpPr>
          <p:cNvPr id="2780" name="Google Shape;2780;p51"/>
          <p:cNvSpPr/>
          <p:nvPr/>
        </p:nvSpPr>
        <p:spPr>
          <a:xfrm>
            <a:off x="1828743" y="166358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781" name="Google Shape;2781;p51"/>
          <p:cNvSpPr/>
          <p:nvPr/>
        </p:nvSpPr>
        <p:spPr>
          <a:xfrm>
            <a:off x="1834646" y="290725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782" name="Google Shape;2782;p51"/>
          <p:cNvSpPr/>
          <p:nvPr/>
        </p:nvSpPr>
        <p:spPr>
          <a:xfrm>
            <a:off x="3804509" y="161875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783" name="Google Shape;2783;p51"/>
          <p:cNvSpPr/>
          <p:nvPr/>
        </p:nvSpPr>
        <p:spPr>
          <a:xfrm>
            <a:off x="3947402" y="2048718"/>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784" name="Google Shape;2784;p51"/>
          <p:cNvSpPr/>
          <p:nvPr/>
        </p:nvSpPr>
        <p:spPr>
          <a:xfrm>
            <a:off x="3888317" y="244209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785" name="Google Shape;2785;p51"/>
          <p:cNvSpPr/>
          <p:nvPr/>
        </p:nvSpPr>
        <p:spPr>
          <a:xfrm>
            <a:off x="3864791" y="443252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786" name="Google Shape;2786;p51"/>
          <p:cNvSpPr/>
          <p:nvPr/>
        </p:nvSpPr>
        <p:spPr>
          <a:xfrm>
            <a:off x="7537928" y="5878130"/>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1" name="Shape 2791"/>
        <p:cNvGrpSpPr/>
        <p:nvPr/>
      </p:nvGrpSpPr>
      <p:grpSpPr>
        <a:xfrm>
          <a:off x="0" y="0"/>
          <a:ext cx="0" cy="0"/>
          <a:chOff x="0" y="0"/>
          <a:chExt cx="0" cy="0"/>
        </a:xfrm>
      </p:grpSpPr>
      <p:sp>
        <p:nvSpPr>
          <p:cNvPr id="2792" name="Google Shape;2792;p52"/>
          <p:cNvSpPr txBox="1"/>
          <p:nvPr>
            <p:ph type="title"/>
          </p:nvPr>
        </p:nvSpPr>
        <p:spPr>
          <a:xfrm>
            <a:off x="417308" y="300580"/>
            <a:ext cx="10515600" cy="11367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Noto Sans KR"/>
              <a:buNone/>
            </a:pPr>
            <a:r>
              <a:rPr lang="ko-KR"/>
              <a:t>메인 화면</a:t>
            </a:r>
            <a:endParaRPr sz="2400"/>
          </a:p>
        </p:txBody>
      </p:sp>
      <p:sp>
        <p:nvSpPr>
          <p:cNvPr id="2793" name="Google Shape;2793;p52"/>
          <p:cNvSpPr txBox="1"/>
          <p:nvPr>
            <p:ph idx="10" type="dt"/>
          </p:nvPr>
        </p:nvSpPr>
        <p:spPr>
          <a:xfrm>
            <a:off x="0" y="6625031"/>
            <a:ext cx="3307222" cy="2329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2026년 3월 6일 오전 11시 28분</a:t>
            </a:r>
            <a:endParaRPr b="0" i="0" sz="900" u="none" cap="none" strike="noStrike">
              <a:solidFill>
                <a:srgbClr val="000000"/>
              </a:solidFill>
              <a:latin typeface="Noto Sans KR"/>
              <a:ea typeface="Noto Sans KR"/>
              <a:cs typeface="Noto Sans KR"/>
              <a:sym typeface="Noto Sans KR"/>
            </a:endParaRPr>
          </a:p>
        </p:txBody>
      </p:sp>
      <p:sp>
        <p:nvSpPr>
          <p:cNvPr id="2794" name="Google Shape;2794;p52"/>
          <p:cNvSpPr txBox="1"/>
          <p:nvPr>
            <p:ph idx="11" type="ftr"/>
          </p:nvPr>
        </p:nvSpPr>
        <p:spPr>
          <a:xfrm>
            <a:off x="5023477" y="6609979"/>
            <a:ext cx="4114800"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r>
              <a:rPr b="0" i="0" lang="ko-KR" sz="900" u="none" cap="none" strike="noStrike">
                <a:solidFill>
                  <a:srgbClr val="000000"/>
                </a:solidFill>
                <a:latin typeface="Noto Sans KR"/>
                <a:ea typeface="Noto Sans KR"/>
                <a:cs typeface="Noto Sans KR"/>
                <a:sym typeface="Noto Sans KR"/>
              </a:rPr>
              <a:t>A4_Project_화면정의서_함유라</a:t>
            </a:r>
            <a:endParaRPr b="0" i="0" sz="900" u="none" cap="none" strike="noStrike">
              <a:solidFill>
                <a:srgbClr val="000000"/>
              </a:solidFill>
              <a:latin typeface="Noto Sans KR"/>
              <a:ea typeface="Noto Sans KR"/>
              <a:cs typeface="Noto Sans KR"/>
              <a:sym typeface="Noto Sans KR"/>
            </a:endParaRPr>
          </a:p>
        </p:txBody>
      </p:sp>
      <p:sp>
        <p:nvSpPr>
          <p:cNvPr id="2795" name="Google Shape;2795;p52"/>
          <p:cNvSpPr txBox="1"/>
          <p:nvPr>
            <p:ph idx="12" type="sldNum"/>
          </p:nvPr>
        </p:nvSpPr>
        <p:spPr>
          <a:xfrm>
            <a:off x="11838062" y="6625031"/>
            <a:ext cx="353938" cy="24802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Noto Sans KR"/>
              <a:buNone/>
            </a:pPr>
            <a:fld id="{00000000-1234-1234-1234-123412341234}" type="slidenum">
              <a:rPr b="0" i="0" lang="ko-KR" sz="900" u="none" cap="none" strike="noStrike">
                <a:solidFill>
                  <a:srgbClr val="000000"/>
                </a:solidFill>
                <a:latin typeface="Noto Sans KR"/>
                <a:ea typeface="Noto Sans KR"/>
                <a:cs typeface="Noto Sans KR"/>
                <a:sym typeface="Noto Sans KR"/>
              </a:rPr>
              <a:t>‹#›</a:t>
            </a:fld>
            <a:endParaRPr b="0" i="0" sz="900" u="none" cap="none" strike="noStrike">
              <a:solidFill>
                <a:srgbClr val="000000"/>
              </a:solidFill>
              <a:latin typeface="Noto Sans KR"/>
              <a:ea typeface="Noto Sans KR"/>
              <a:cs typeface="Noto Sans KR"/>
              <a:sym typeface="Noto Sans KR"/>
            </a:endParaRPr>
          </a:p>
        </p:txBody>
      </p:sp>
      <p:sp>
        <p:nvSpPr>
          <p:cNvPr id="2796" name="Google Shape;2796;p5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aphicFrame>
        <p:nvGraphicFramePr>
          <p:cNvPr id="2797" name="Google Shape;2797;p52"/>
          <p:cNvGraphicFramePr/>
          <p:nvPr/>
        </p:nvGraphicFramePr>
        <p:xfrm>
          <a:off x="8561828" y="1054745"/>
          <a:ext cx="3000000" cy="3000000"/>
        </p:xfrm>
        <a:graphic>
          <a:graphicData uri="http://schemas.openxmlformats.org/drawingml/2006/table">
            <a:tbl>
              <a:tblPr bandRow="1" firstRow="1">
                <a:noFill/>
                <a:tableStyleId>{C61F204E-A15B-47D6-BEBB-6A886D3283EB}</a:tableStyleId>
              </a:tblPr>
              <a:tblGrid>
                <a:gridCol w="563125"/>
                <a:gridCol w="2713100"/>
              </a:tblGrid>
              <a:tr h="3223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2</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92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3</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4</a:t>
                      </a:r>
                      <a:endParaRPr b="1" sz="1000" u="none" cap="none" strike="noStrike">
                        <a:solidFill>
                          <a:schemeClr val="dk1"/>
                        </a:solidFill>
                        <a:latin typeface="Noto Sans KR"/>
                        <a:ea typeface="Noto Sans KR"/>
                        <a:cs typeface="Noto Sans KR"/>
                        <a:sym typeface="Noto Sans K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5</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6</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9670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7</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8</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9</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6450">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10</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6325">
                <a:tc>
                  <a:txBody>
                    <a:bodyPr/>
                    <a:lstStyle/>
                    <a:p>
                      <a:pPr indent="0" lvl="0" marL="0" marR="0" rtl="0" algn="ctr">
                        <a:spcBef>
                          <a:spcPts val="0"/>
                        </a:spcBef>
                        <a:spcAft>
                          <a:spcPts val="0"/>
                        </a:spcAft>
                        <a:buNone/>
                      </a:pPr>
                      <a:r>
                        <a:rPr b="1" lang="ko-KR" sz="1000" u="none" cap="none" strike="noStrike">
                          <a:solidFill>
                            <a:schemeClr val="dk1"/>
                          </a:solidFill>
                          <a:latin typeface="Noto Sans KR"/>
                          <a:ea typeface="Noto Sans KR"/>
                          <a:cs typeface="Noto Sans KR"/>
                          <a:sym typeface="Noto Sans KR"/>
                        </a:rPr>
                        <a:t>11</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Malgun Gothic"/>
                        <a:buNone/>
                      </a:pPr>
                      <a:r>
                        <a:t/>
                      </a:r>
                      <a:endParaRPr b="0" sz="1000" u="none" cap="none" strike="noStrike">
                        <a:solidFill>
                          <a:schemeClr val="dk1"/>
                        </a:solidFill>
                        <a:latin typeface="Noto Sans KR"/>
                        <a:ea typeface="Noto Sans KR"/>
                        <a:cs typeface="Noto Sans KR"/>
                        <a:sym typeface="Noto Sans K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798" name="Google Shape;2798;p52"/>
          <p:cNvGraphicFramePr/>
          <p:nvPr/>
        </p:nvGraphicFramePr>
        <p:xfrm>
          <a:off x="335382" y="839068"/>
          <a:ext cx="3000000" cy="3000000"/>
        </p:xfrm>
        <a:graphic>
          <a:graphicData uri="http://schemas.openxmlformats.org/drawingml/2006/table">
            <a:tbl>
              <a:tblPr bandRow="1" firstRow="1">
                <a:noFill/>
                <a:tableStyleId>{C61F204E-A15B-47D6-BEBB-6A886D3283EB}</a:tableStyleId>
              </a:tblPr>
              <a:tblGrid>
                <a:gridCol w="731425"/>
                <a:gridCol w="866775"/>
                <a:gridCol w="590175"/>
                <a:gridCol w="1591050"/>
                <a:gridCol w="740675"/>
                <a:gridCol w="3697975"/>
                <a:gridCol w="571500"/>
                <a:gridCol w="2713100"/>
              </a:tblGrid>
              <a:tr h="215675">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코드</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ADM-00</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화면명</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관리자 메인 화면</a:t>
                      </a:r>
                      <a:endParaRPr b="0"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화면 설명</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l">
                        <a:lnSpc>
                          <a:spcPct val="100000"/>
                        </a:lnSpc>
                        <a:spcBef>
                          <a:spcPts val="0"/>
                        </a:spcBef>
                        <a:spcAft>
                          <a:spcPts val="0"/>
                        </a:spcAft>
                        <a:buClr>
                          <a:schemeClr val="dk1"/>
                        </a:buClr>
                        <a:buSzPts val="1000"/>
                        <a:buFont typeface="Noto Sans KR"/>
                        <a:buNone/>
                      </a:pPr>
                      <a:r>
                        <a:rPr b="0" lang="ko-KR" sz="1000" u="none" cap="none" strike="noStrike">
                          <a:solidFill>
                            <a:schemeClr val="dk1"/>
                          </a:solidFill>
                          <a:latin typeface="Noto Sans KR"/>
                          <a:ea typeface="Noto Sans KR"/>
                          <a:cs typeface="Noto Sans KR"/>
                          <a:sym typeface="Noto Sans KR"/>
                        </a:rPr>
                        <a:t>  </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No.</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000"/>
                        <a:buFont typeface="Noto Sans KR"/>
                        <a:buNone/>
                      </a:pPr>
                      <a:r>
                        <a:rPr b="1" lang="ko-KR" sz="1000" u="none" cap="none" strike="noStrike">
                          <a:solidFill>
                            <a:schemeClr val="dk1"/>
                          </a:solidFill>
                          <a:latin typeface="Noto Sans KR"/>
                          <a:ea typeface="Noto Sans KR"/>
                          <a:cs typeface="Noto Sans KR"/>
                          <a:sym typeface="Noto Sans KR"/>
                        </a:rPr>
                        <a:t>기 능</a:t>
                      </a:r>
                      <a:endParaRPr b="1" sz="1000" u="none" cap="none" strike="noStrike">
                        <a:solidFill>
                          <a:schemeClr val="dk1"/>
                        </a:solidFill>
                        <a:latin typeface="Noto Sans KR"/>
                        <a:ea typeface="Noto Sans KR"/>
                        <a:cs typeface="Noto Sans KR"/>
                        <a:sym typeface="Noto Sans K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r>
            </a:tbl>
          </a:graphicData>
        </a:graphic>
      </p:graphicFrame>
      <p:sp>
        <p:nvSpPr>
          <p:cNvPr id="2799" name="Google Shape;2799;p5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800" name="Google Shape;2800;p52"/>
          <p:cNvSpPr/>
          <p:nvPr/>
        </p:nvSpPr>
        <p:spPr>
          <a:xfrm>
            <a:off x="335382" y="1123950"/>
            <a:ext cx="8132343" cy="5410200"/>
          </a:xfrm>
          <a:prstGeom prst="rect">
            <a:avLst/>
          </a:prstGeom>
          <a:noFill/>
          <a:ln cap="flat" cmpd="sng" w="12700">
            <a:solidFill>
              <a:srgbClr val="A5A5A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pic>
        <p:nvPicPr>
          <p:cNvPr id="2801" name="Google Shape;2801;p52"/>
          <p:cNvPicPr preferRelativeResize="0"/>
          <p:nvPr/>
        </p:nvPicPr>
        <p:blipFill rotWithShape="1">
          <a:blip r:embed="rId3">
            <a:alphaModFix/>
          </a:blip>
          <a:srcRect b="0" l="0" r="0" t="0"/>
          <a:stretch/>
        </p:blipFill>
        <p:spPr>
          <a:xfrm>
            <a:off x="338217" y="1139337"/>
            <a:ext cx="1877318" cy="437047"/>
          </a:xfrm>
          <a:prstGeom prst="rect">
            <a:avLst/>
          </a:prstGeom>
          <a:noFill/>
          <a:ln>
            <a:noFill/>
          </a:ln>
        </p:spPr>
      </p:pic>
      <p:cxnSp>
        <p:nvCxnSpPr>
          <p:cNvPr id="2802" name="Google Shape;2802;p52"/>
          <p:cNvCxnSpPr/>
          <p:nvPr/>
        </p:nvCxnSpPr>
        <p:spPr>
          <a:xfrm>
            <a:off x="2294626" y="1595886"/>
            <a:ext cx="6173099" cy="0"/>
          </a:xfrm>
          <a:prstGeom prst="straightConnector1">
            <a:avLst/>
          </a:prstGeom>
          <a:noFill/>
          <a:ln cap="flat" cmpd="sng" w="9525">
            <a:solidFill>
              <a:srgbClr val="BFBFBF"/>
            </a:solidFill>
            <a:prstDash val="solid"/>
            <a:miter lim="8000"/>
            <a:headEnd len="sm" w="sm" type="none"/>
            <a:tailEnd len="sm" w="sm" type="none"/>
          </a:ln>
        </p:spPr>
      </p:cxnSp>
      <p:cxnSp>
        <p:nvCxnSpPr>
          <p:cNvPr id="2803" name="Google Shape;2803;p52"/>
          <p:cNvCxnSpPr/>
          <p:nvPr/>
        </p:nvCxnSpPr>
        <p:spPr>
          <a:xfrm>
            <a:off x="2294626" y="1123950"/>
            <a:ext cx="0" cy="635838"/>
          </a:xfrm>
          <a:prstGeom prst="straightConnector1">
            <a:avLst/>
          </a:prstGeom>
          <a:noFill/>
          <a:ln cap="flat" cmpd="sng" w="9525">
            <a:solidFill>
              <a:srgbClr val="BFBFBF"/>
            </a:solidFill>
            <a:prstDash val="solid"/>
            <a:miter lim="8000"/>
            <a:headEnd len="sm" w="sm" type="none"/>
            <a:tailEnd len="sm" w="sm" type="none"/>
          </a:ln>
        </p:spPr>
      </p:cxnSp>
      <p:grpSp>
        <p:nvGrpSpPr>
          <p:cNvPr id="2804" name="Google Shape;2804;p52"/>
          <p:cNvGrpSpPr/>
          <p:nvPr/>
        </p:nvGrpSpPr>
        <p:grpSpPr>
          <a:xfrm>
            <a:off x="2446350" y="1294579"/>
            <a:ext cx="180000" cy="108000"/>
            <a:chOff x="2415396" y="1285336"/>
            <a:chExt cx="284672" cy="179820"/>
          </a:xfrm>
        </p:grpSpPr>
        <p:sp>
          <p:nvSpPr>
            <p:cNvPr id="2805" name="Google Shape;2805;p52"/>
            <p:cNvSpPr/>
            <p:nvPr/>
          </p:nvSpPr>
          <p:spPr>
            <a:xfrm>
              <a:off x="2415396" y="1285336"/>
              <a:ext cx="284672" cy="45719"/>
            </a:xfrm>
            <a:prstGeom prst="rect">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806" name="Google Shape;2806;p52"/>
            <p:cNvSpPr/>
            <p:nvPr/>
          </p:nvSpPr>
          <p:spPr>
            <a:xfrm>
              <a:off x="2415396" y="1354543"/>
              <a:ext cx="284672" cy="45719"/>
            </a:xfrm>
            <a:prstGeom prst="rect">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807" name="Google Shape;2807;p52"/>
            <p:cNvSpPr/>
            <p:nvPr/>
          </p:nvSpPr>
          <p:spPr>
            <a:xfrm>
              <a:off x="2415396" y="1419437"/>
              <a:ext cx="284672" cy="45719"/>
            </a:xfrm>
            <a:prstGeom prst="rect">
              <a:avLst/>
            </a:prstGeom>
            <a:solidFill>
              <a:srgbClr val="BFBFBF"/>
            </a:solid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2808" name="Google Shape;2808;p52"/>
          <p:cNvSpPr txBox="1"/>
          <p:nvPr/>
        </p:nvSpPr>
        <p:spPr>
          <a:xfrm>
            <a:off x="7080877" y="1185263"/>
            <a:ext cx="138163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chemeClr val="dk1"/>
                </a:solidFill>
                <a:latin typeface="Noto Sans KR"/>
                <a:ea typeface="Noto Sans KR"/>
                <a:cs typeface="Noto Sans KR"/>
                <a:sym typeface="Noto Sans KR"/>
              </a:rPr>
              <a:t>홍길동님</a:t>
            </a:r>
            <a:endParaRPr sz="1400">
              <a:solidFill>
                <a:schemeClr val="dk1"/>
              </a:solidFill>
              <a:latin typeface="Noto Sans KR"/>
              <a:ea typeface="Noto Sans KR"/>
              <a:cs typeface="Noto Sans KR"/>
              <a:sym typeface="Noto Sans KR"/>
            </a:endParaRPr>
          </a:p>
        </p:txBody>
      </p:sp>
      <p:sp>
        <p:nvSpPr>
          <p:cNvPr id="2809" name="Google Shape;2809;p52"/>
          <p:cNvSpPr/>
          <p:nvPr/>
        </p:nvSpPr>
        <p:spPr>
          <a:xfrm>
            <a:off x="7896250" y="1179197"/>
            <a:ext cx="380984" cy="361442"/>
          </a:xfrm>
          <a:prstGeom prst="ellipse">
            <a:avLst/>
          </a:prstGeom>
          <a:blipFill rotWithShape="1">
            <a:blip r:embed="rId4">
              <a:alphaModFix/>
            </a:blip>
            <a:stretch>
              <a:fillRect b="0" l="0" r="0" t="0"/>
            </a:stretch>
          </a:blip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nvGrpSpPr>
          <p:cNvPr id="2810" name="Google Shape;2810;p52"/>
          <p:cNvGrpSpPr/>
          <p:nvPr/>
        </p:nvGrpSpPr>
        <p:grpSpPr>
          <a:xfrm>
            <a:off x="2446350" y="1713364"/>
            <a:ext cx="1728835" cy="981587"/>
            <a:chOff x="2446350" y="1713364"/>
            <a:chExt cx="1728835" cy="981587"/>
          </a:xfrm>
        </p:grpSpPr>
        <p:sp>
          <p:nvSpPr>
            <p:cNvPr id="2811" name="Google Shape;2811;p52"/>
            <p:cNvSpPr/>
            <p:nvPr/>
          </p:nvSpPr>
          <p:spPr>
            <a:xfrm>
              <a:off x="2446350" y="1713364"/>
              <a:ext cx="1728835" cy="981587"/>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600">
                  <a:solidFill>
                    <a:schemeClr val="dk1"/>
                  </a:solidFill>
                  <a:latin typeface="Noto Sans KR"/>
                  <a:ea typeface="Noto Sans KR"/>
                  <a:cs typeface="Noto Sans KR"/>
                  <a:sym typeface="Noto Sans KR"/>
                </a:rPr>
                <a:t>DAU</a:t>
              </a: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812" name="Google Shape;2812;p52"/>
            <p:cNvSpPr txBox="1"/>
            <p:nvPr/>
          </p:nvSpPr>
          <p:spPr>
            <a:xfrm>
              <a:off x="2522402" y="2048620"/>
              <a:ext cx="1652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1,256</a:t>
              </a:r>
              <a:r>
                <a:rPr lang="ko-KR" sz="1800">
                  <a:solidFill>
                    <a:schemeClr val="dk1"/>
                  </a:solidFill>
                  <a:latin typeface="Noto Sans KR"/>
                  <a:ea typeface="Noto Sans KR"/>
                  <a:cs typeface="Noto Sans KR"/>
                  <a:sym typeface="Noto Sans KR"/>
                </a:rPr>
                <a:t>  </a:t>
              </a:r>
              <a:r>
                <a:rPr lang="ko-KR" sz="1200">
                  <a:solidFill>
                    <a:schemeClr val="accent6"/>
                  </a:solidFill>
                  <a:latin typeface="Noto Sans KR"/>
                  <a:ea typeface="Noto Sans KR"/>
                  <a:cs typeface="Noto Sans KR"/>
                  <a:sym typeface="Noto Sans KR"/>
                </a:rPr>
                <a:t>+34</a:t>
              </a:r>
              <a:endParaRPr sz="1200">
                <a:solidFill>
                  <a:schemeClr val="accent6"/>
                </a:solidFill>
                <a:latin typeface="Noto Sans KR"/>
                <a:ea typeface="Noto Sans KR"/>
                <a:cs typeface="Noto Sans KR"/>
                <a:sym typeface="Noto Sans KR"/>
              </a:endParaRPr>
            </a:p>
          </p:txBody>
        </p:sp>
        <p:sp>
          <p:nvSpPr>
            <p:cNvPr id="2813" name="Google Shape;2813;p52"/>
            <p:cNvSpPr txBox="1"/>
            <p:nvPr/>
          </p:nvSpPr>
          <p:spPr>
            <a:xfrm>
              <a:off x="2522402" y="2267790"/>
              <a:ext cx="14333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accent6"/>
                  </a:solidFill>
                  <a:latin typeface="Malgun Gothic"/>
                  <a:ea typeface="Malgun Gothic"/>
                  <a:cs typeface="Malgun Gothic"/>
                  <a:sym typeface="Malgun Gothic"/>
                </a:rPr>
                <a:t>• </a:t>
              </a:r>
              <a:r>
                <a:rPr lang="ko-KR" sz="1100">
                  <a:solidFill>
                    <a:schemeClr val="dk1"/>
                  </a:solidFill>
                  <a:latin typeface="Noto Sans KR"/>
                  <a:ea typeface="Noto Sans KR"/>
                  <a:cs typeface="Noto Sans KR"/>
                  <a:sym typeface="Noto Sans KR"/>
                </a:rPr>
                <a:t>Daily Variance</a:t>
              </a:r>
              <a:endParaRPr sz="1100">
                <a:solidFill>
                  <a:schemeClr val="dk1"/>
                </a:solidFill>
                <a:latin typeface="Noto Sans KR"/>
                <a:ea typeface="Noto Sans KR"/>
                <a:cs typeface="Noto Sans KR"/>
                <a:sym typeface="Noto Sans KR"/>
              </a:endParaRPr>
            </a:p>
          </p:txBody>
        </p:sp>
      </p:grpSp>
      <p:grpSp>
        <p:nvGrpSpPr>
          <p:cNvPr id="2814" name="Google Shape;2814;p52"/>
          <p:cNvGrpSpPr/>
          <p:nvPr/>
        </p:nvGrpSpPr>
        <p:grpSpPr>
          <a:xfrm>
            <a:off x="4370646" y="1721990"/>
            <a:ext cx="1728835" cy="981587"/>
            <a:chOff x="2446350" y="1713364"/>
            <a:chExt cx="1728835" cy="981587"/>
          </a:xfrm>
        </p:grpSpPr>
        <p:sp>
          <p:nvSpPr>
            <p:cNvPr id="2815" name="Google Shape;2815;p52"/>
            <p:cNvSpPr/>
            <p:nvPr/>
          </p:nvSpPr>
          <p:spPr>
            <a:xfrm>
              <a:off x="2446350" y="1713364"/>
              <a:ext cx="1728835" cy="981587"/>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600">
                  <a:solidFill>
                    <a:schemeClr val="dk1"/>
                  </a:solidFill>
                  <a:latin typeface="Noto Sans KR"/>
                  <a:ea typeface="Noto Sans KR"/>
                  <a:cs typeface="Noto Sans KR"/>
                  <a:sym typeface="Noto Sans KR"/>
                </a:rPr>
                <a:t>Total User</a:t>
              </a: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816" name="Google Shape;2816;p52"/>
            <p:cNvSpPr txBox="1"/>
            <p:nvPr/>
          </p:nvSpPr>
          <p:spPr>
            <a:xfrm>
              <a:off x="2522402" y="2048620"/>
              <a:ext cx="1652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25,680</a:t>
              </a:r>
              <a:r>
                <a:rPr lang="ko-KR" sz="1800">
                  <a:solidFill>
                    <a:schemeClr val="dk1"/>
                  </a:solidFill>
                  <a:latin typeface="Noto Sans KR"/>
                  <a:ea typeface="Noto Sans KR"/>
                  <a:cs typeface="Noto Sans KR"/>
                  <a:sym typeface="Noto Sans KR"/>
                </a:rPr>
                <a:t>  </a:t>
              </a:r>
              <a:r>
                <a:rPr lang="ko-KR" sz="1200">
                  <a:solidFill>
                    <a:srgbClr val="0070C0"/>
                  </a:solidFill>
                  <a:latin typeface="Noto Sans KR"/>
                  <a:ea typeface="Noto Sans KR"/>
                  <a:cs typeface="Noto Sans KR"/>
                  <a:sym typeface="Noto Sans KR"/>
                </a:rPr>
                <a:t>+1,256</a:t>
              </a:r>
              <a:endParaRPr sz="1200">
                <a:solidFill>
                  <a:srgbClr val="0070C0"/>
                </a:solidFill>
                <a:latin typeface="Noto Sans KR"/>
                <a:ea typeface="Noto Sans KR"/>
                <a:cs typeface="Noto Sans KR"/>
                <a:sym typeface="Noto Sans KR"/>
              </a:endParaRPr>
            </a:p>
          </p:txBody>
        </p:sp>
        <p:sp>
          <p:nvSpPr>
            <p:cNvPr id="2817" name="Google Shape;2817;p52"/>
            <p:cNvSpPr txBox="1"/>
            <p:nvPr/>
          </p:nvSpPr>
          <p:spPr>
            <a:xfrm>
              <a:off x="2522402" y="2267790"/>
              <a:ext cx="14333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0070C0"/>
                  </a:solidFill>
                  <a:latin typeface="Malgun Gothic"/>
                  <a:ea typeface="Malgun Gothic"/>
                  <a:cs typeface="Malgun Gothic"/>
                  <a:sym typeface="Malgun Gothic"/>
                </a:rPr>
                <a:t>•</a:t>
              </a:r>
              <a:r>
                <a:rPr lang="ko-KR" sz="1800">
                  <a:solidFill>
                    <a:schemeClr val="accent6"/>
                  </a:solidFill>
                  <a:latin typeface="Malgun Gothic"/>
                  <a:ea typeface="Malgun Gothic"/>
                  <a:cs typeface="Malgun Gothic"/>
                  <a:sym typeface="Malgun Gothic"/>
                </a:rPr>
                <a:t> </a:t>
              </a:r>
              <a:r>
                <a:rPr lang="ko-KR" sz="1100">
                  <a:solidFill>
                    <a:schemeClr val="dk1"/>
                  </a:solidFill>
                  <a:latin typeface="Noto Sans KR"/>
                  <a:ea typeface="Noto Sans KR"/>
                  <a:cs typeface="Noto Sans KR"/>
                  <a:sym typeface="Noto Sans KR"/>
                </a:rPr>
                <a:t>Daily Variance</a:t>
              </a:r>
              <a:endParaRPr sz="1100">
                <a:solidFill>
                  <a:schemeClr val="dk1"/>
                </a:solidFill>
                <a:latin typeface="Noto Sans KR"/>
                <a:ea typeface="Noto Sans KR"/>
                <a:cs typeface="Noto Sans KR"/>
                <a:sym typeface="Noto Sans KR"/>
              </a:endParaRPr>
            </a:p>
          </p:txBody>
        </p:sp>
      </p:grpSp>
      <p:grpSp>
        <p:nvGrpSpPr>
          <p:cNvPr id="2818" name="Google Shape;2818;p52"/>
          <p:cNvGrpSpPr/>
          <p:nvPr/>
        </p:nvGrpSpPr>
        <p:grpSpPr>
          <a:xfrm>
            <a:off x="6289972" y="1713364"/>
            <a:ext cx="1987262" cy="981587"/>
            <a:chOff x="2446350" y="1713364"/>
            <a:chExt cx="1728835" cy="981587"/>
          </a:xfrm>
        </p:grpSpPr>
        <p:sp>
          <p:nvSpPr>
            <p:cNvPr id="2819" name="Google Shape;2819;p52"/>
            <p:cNvSpPr/>
            <p:nvPr/>
          </p:nvSpPr>
          <p:spPr>
            <a:xfrm>
              <a:off x="2446350" y="1713364"/>
              <a:ext cx="1728835" cy="981587"/>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600">
                  <a:solidFill>
                    <a:schemeClr val="dk1"/>
                  </a:solidFill>
                  <a:latin typeface="Noto Sans KR"/>
                  <a:ea typeface="Noto Sans KR"/>
                  <a:cs typeface="Noto Sans KR"/>
                  <a:sym typeface="Noto Sans KR"/>
                </a:rPr>
                <a:t>Total Interview</a:t>
              </a: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820" name="Google Shape;2820;p52"/>
            <p:cNvSpPr txBox="1"/>
            <p:nvPr/>
          </p:nvSpPr>
          <p:spPr>
            <a:xfrm>
              <a:off x="2522402" y="2048620"/>
              <a:ext cx="16527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Noto Sans KR"/>
                  <a:ea typeface="Noto Sans KR"/>
                  <a:cs typeface="Noto Sans KR"/>
                  <a:sym typeface="Noto Sans KR"/>
                </a:rPr>
                <a:t>34,252  </a:t>
              </a:r>
              <a:r>
                <a:rPr lang="ko-KR" sz="1200">
                  <a:solidFill>
                    <a:srgbClr val="FF0000"/>
                  </a:solidFill>
                  <a:latin typeface="Noto Sans KR"/>
                  <a:ea typeface="Noto Sans KR"/>
                  <a:cs typeface="Noto Sans KR"/>
                  <a:sym typeface="Noto Sans KR"/>
                </a:rPr>
                <a:t>+1,896</a:t>
              </a:r>
              <a:r>
                <a:rPr lang="ko-KR" sz="1800">
                  <a:solidFill>
                    <a:schemeClr val="dk1"/>
                  </a:solidFill>
                  <a:latin typeface="Noto Sans KR"/>
                  <a:ea typeface="Noto Sans KR"/>
                  <a:cs typeface="Noto Sans KR"/>
                  <a:sym typeface="Noto Sans KR"/>
                </a:rPr>
                <a:t>  </a:t>
              </a:r>
              <a:endParaRPr sz="1200">
                <a:solidFill>
                  <a:srgbClr val="0070C0"/>
                </a:solidFill>
                <a:latin typeface="Noto Sans KR"/>
                <a:ea typeface="Noto Sans KR"/>
                <a:cs typeface="Noto Sans KR"/>
                <a:sym typeface="Noto Sans KR"/>
              </a:endParaRPr>
            </a:p>
          </p:txBody>
        </p:sp>
      </p:grpSp>
      <p:sp>
        <p:nvSpPr>
          <p:cNvPr id="2821" name="Google Shape;2821;p52"/>
          <p:cNvSpPr txBox="1"/>
          <p:nvPr/>
        </p:nvSpPr>
        <p:spPr>
          <a:xfrm>
            <a:off x="2603855" y="1212280"/>
            <a:ext cx="221989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400">
                <a:solidFill>
                  <a:srgbClr val="BFBFBF"/>
                </a:solidFill>
                <a:latin typeface="Noto Sans KR"/>
                <a:ea typeface="Noto Sans KR"/>
                <a:cs typeface="Noto Sans KR"/>
                <a:sym typeface="Noto Sans KR"/>
              </a:rPr>
              <a:t>Dashboard</a:t>
            </a:r>
            <a:endParaRPr sz="1600">
              <a:solidFill>
                <a:srgbClr val="BFBFBF"/>
              </a:solidFill>
              <a:latin typeface="Noto Sans KR"/>
              <a:ea typeface="Noto Sans KR"/>
              <a:cs typeface="Noto Sans KR"/>
              <a:sym typeface="Noto Sans KR"/>
            </a:endParaRPr>
          </a:p>
        </p:txBody>
      </p:sp>
      <p:sp>
        <p:nvSpPr>
          <p:cNvPr id="2822" name="Google Shape;2822;p52"/>
          <p:cNvSpPr/>
          <p:nvPr/>
        </p:nvSpPr>
        <p:spPr>
          <a:xfrm>
            <a:off x="5523053" y="2864918"/>
            <a:ext cx="2670700" cy="2078966"/>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Fallback</a:t>
            </a:r>
            <a:endParaRPr b="1" sz="1400">
              <a:solidFill>
                <a:schemeClr val="dk1"/>
              </a:solidFill>
              <a:latin typeface="Noto Sans KR"/>
              <a:ea typeface="Noto Sans KR"/>
              <a:cs typeface="Noto Sans KR"/>
              <a:sym typeface="Noto Sans KR"/>
            </a:endParaRPr>
          </a:p>
        </p:txBody>
      </p:sp>
      <p:grpSp>
        <p:nvGrpSpPr>
          <p:cNvPr id="2823" name="Google Shape;2823;p52"/>
          <p:cNvGrpSpPr/>
          <p:nvPr/>
        </p:nvGrpSpPr>
        <p:grpSpPr>
          <a:xfrm>
            <a:off x="2455171" y="2864918"/>
            <a:ext cx="2670700" cy="2169847"/>
            <a:chOff x="2446350" y="2932768"/>
            <a:chExt cx="2670700" cy="2169847"/>
          </a:xfrm>
        </p:grpSpPr>
        <p:sp>
          <p:nvSpPr>
            <p:cNvPr id="2824" name="Google Shape;2824;p52"/>
            <p:cNvSpPr/>
            <p:nvPr/>
          </p:nvSpPr>
          <p:spPr>
            <a:xfrm>
              <a:off x="2446350" y="2932768"/>
              <a:ext cx="2670700" cy="2078966"/>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User Growth</a:t>
              </a:r>
              <a:endParaRPr b="1" sz="1400">
                <a:solidFill>
                  <a:schemeClr val="dk1"/>
                </a:solidFill>
                <a:latin typeface="Noto Sans KR"/>
                <a:ea typeface="Noto Sans KR"/>
                <a:cs typeface="Noto Sans KR"/>
                <a:sym typeface="Noto Sans KR"/>
              </a:endParaRPr>
            </a:p>
          </p:txBody>
        </p:sp>
        <p:graphicFrame>
          <p:nvGraphicFramePr>
            <p:cNvPr id="2825" name="Google Shape;2825;p52"/>
            <p:cNvGraphicFramePr/>
            <p:nvPr/>
          </p:nvGraphicFramePr>
          <p:xfrm>
            <a:off x="2548581" y="3278506"/>
            <a:ext cx="2445258" cy="1824109"/>
          </p:xfrm>
          <a:graphic>
            <a:graphicData uri="http://schemas.openxmlformats.org/drawingml/2006/chart">
              <c:chart r:id="rId5"/>
            </a:graphicData>
          </a:graphic>
        </p:graphicFrame>
      </p:grpSp>
      <p:graphicFrame>
        <p:nvGraphicFramePr>
          <p:cNvPr id="2826" name="Google Shape;2826;p52"/>
          <p:cNvGraphicFramePr/>
          <p:nvPr/>
        </p:nvGraphicFramePr>
        <p:xfrm>
          <a:off x="5324278" y="3210656"/>
          <a:ext cx="2817606" cy="1557439"/>
        </p:xfrm>
        <a:graphic>
          <a:graphicData uri="http://schemas.openxmlformats.org/drawingml/2006/chart">
            <c:chart r:id="rId6"/>
          </a:graphicData>
        </a:graphic>
      </p:graphicFrame>
      <p:grpSp>
        <p:nvGrpSpPr>
          <p:cNvPr id="2827" name="Google Shape;2827;p52"/>
          <p:cNvGrpSpPr/>
          <p:nvPr/>
        </p:nvGrpSpPr>
        <p:grpSpPr>
          <a:xfrm>
            <a:off x="5494075" y="5103138"/>
            <a:ext cx="2592667" cy="1219716"/>
            <a:chOff x="2446350" y="4989530"/>
            <a:chExt cx="2592667" cy="1219716"/>
          </a:xfrm>
        </p:grpSpPr>
        <p:sp>
          <p:nvSpPr>
            <p:cNvPr id="2828" name="Google Shape;2828;p52"/>
            <p:cNvSpPr/>
            <p:nvPr/>
          </p:nvSpPr>
          <p:spPr>
            <a:xfrm>
              <a:off x="2446350" y="4989530"/>
              <a:ext cx="2592667" cy="1219716"/>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829" name="Google Shape;2829;p52"/>
            <p:cNvCxnSpPr/>
            <p:nvPr/>
          </p:nvCxnSpPr>
          <p:spPr>
            <a:xfrm>
              <a:off x="2522402" y="5368746"/>
              <a:ext cx="2391343" cy="9236"/>
            </a:xfrm>
            <a:prstGeom prst="straightConnector1">
              <a:avLst/>
            </a:prstGeom>
            <a:noFill/>
            <a:ln cap="flat" cmpd="sng" w="9525">
              <a:solidFill>
                <a:srgbClr val="BFBFBF"/>
              </a:solidFill>
              <a:prstDash val="solid"/>
              <a:miter lim="8000"/>
              <a:headEnd len="sm" w="sm" type="none"/>
              <a:tailEnd len="sm" w="sm" type="none"/>
            </a:ln>
          </p:spPr>
        </p:cxnSp>
        <p:sp>
          <p:nvSpPr>
            <p:cNvPr id="2830" name="Google Shape;2830;p52"/>
            <p:cNvSpPr txBox="1"/>
            <p:nvPr/>
          </p:nvSpPr>
          <p:spPr>
            <a:xfrm>
              <a:off x="2536350" y="5036338"/>
              <a:ext cx="219739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Top 3 Positions </a:t>
              </a:r>
              <a:endParaRPr b="1" sz="1400">
                <a:solidFill>
                  <a:schemeClr val="dk1"/>
                </a:solidFill>
                <a:latin typeface="Noto Sans KR"/>
                <a:ea typeface="Noto Sans KR"/>
                <a:cs typeface="Noto Sans KR"/>
                <a:sym typeface="Noto Sans KR"/>
              </a:endParaRPr>
            </a:p>
          </p:txBody>
        </p:sp>
        <p:sp>
          <p:nvSpPr>
            <p:cNvPr id="2831" name="Google Shape;2831;p52"/>
            <p:cNvSpPr txBox="1"/>
            <p:nvPr/>
          </p:nvSpPr>
          <p:spPr>
            <a:xfrm>
              <a:off x="2536350" y="5468863"/>
              <a:ext cx="24452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Top1 . AI Engineer</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Top2 . SW Development</a:t>
              </a: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Top3 . Backend Development</a:t>
              </a:r>
              <a:endParaRPr sz="1200">
                <a:solidFill>
                  <a:schemeClr val="dk1"/>
                </a:solidFill>
                <a:latin typeface="Noto Sans KR"/>
                <a:ea typeface="Noto Sans KR"/>
                <a:cs typeface="Noto Sans KR"/>
                <a:sym typeface="Noto Sans KR"/>
              </a:endParaRPr>
            </a:p>
          </p:txBody>
        </p:sp>
      </p:grpSp>
      <p:grpSp>
        <p:nvGrpSpPr>
          <p:cNvPr id="2832" name="Google Shape;2832;p52"/>
          <p:cNvGrpSpPr/>
          <p:nvPr/>
        </p:nvGrpSpPr>
        <p:grpSpPr>
          <a:xfrm>
            <a:off x="2608973" y="5103138"/>
            <a:ext cx="2592667" cy="1219716"/>
            <a:chOff x="2446350" y="4989530"/>
            <a:chExt cx="2592667" cy="1219716"/>
          </a:xfrm>
        </p:grpSpPr>
        <p:sp>
          <p:nvSpPr>
            <p:cNvPr id="2833" name="Google Shape;2833;p52"/>
            <p:cNvSpPr/>
            <p:nvPr/>
          </p:nvSpPr>
          <p:spPr>
            <a:xfrm>
              <a:off x="2446350" y="4989530"/>
              <a:ext cx="2592667" cy="1219716"/>
            </a:xfrm>
            <a:prstGeom prst="roundRect">
              <a:avLst>
                <a:gd fmla="val 16667" name="adj"/>
              </a:avLst>
            </a:prstGeom>
            <a:noFill/>
            <a:ln cap="flat" cmpd="sng" w="12700">
              <a:solidFill>
                <a:srgbClr val="BFBFB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cxnSp>
          <p:nvCxnSpPr>
            <p:cNvPr id="2834" name="Google Shape;2834;p52"/>
            <p:cNvCxnSpPr/>
            <p:nvPr/>
          </p:nvCxnSpPr>
          <p:spPr>
            <a:xfrm>
              <a:off x="2522402" y="5368746"/>
              <a:ext cx="2391343" cy="9236"/>
            </a:xfrm>
            <a:prstGeom prst="straightConnector1">
              <a:avLst/>
            </a:prstGeom>
            <a:noFill/>
            <a:ln cap="flat" cmpd="sng" w="9525">
              <a:solidFill>
                <a:srgbClr val="BFBFBF"/>
              </a:solidFill>
              <a:prstDash val="solid"/>
              <a:miter lim="8000"/>
              <a:headEnd len="sm" w="sm" type="none"/>
              <a:tailEnd len="sm" w="sm" type="none"/>
            </a:ln>
          </p:spPr>
        </p:cxnSp>
        <p:sp>
          <p:nvSpPr>
            <p:cNvPr id="2835" name="Google Shape;2835;p52"/>
            <p:cNvSpPr txBox="1"/>
            <p:nvPr/>
          </p:nvSpPr>
          <p:spPr>
            <a:xfrm>
              <a:off x="2536350" y="5036338"/>
              <a:ext cx="219739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400">
                  <a:solidFill>
                    <a:schemeClr val="dk1"/>
                  </a:solidFill>
                  <a:latin typeface="Noto Sans KR"/>
                  <a:ea typeface="Noto Sans KR"/>
                  <a:cs typeface="Noto Sans KR"/>
                  <a:sym typeface="Noto Sans KR"/>
                </a:rPr>
                <a:t>Top 3 Companies </a:t>
              </a:r>
              <a:endParaRPr b="1" sz="1400">
                <a:solidFill>
                  <a:schemeClr val="dk1"/>
                </a:solidFill>
                <a:latin typeface="Noto Sans KR"/>
                <a:ea typeface="Noto Sans KR"/>
                <a:cs typeface="Noto Sans KR"/>
                <a:sym typeface="Noto Sans KR"/>
              </a:endParaRPr>
            </a:p>
          </p:txBody>
        </p:sp>
        <p:sp>
          <p:nvSpPr>
            <p:cNvPr id="2836" name="Google Shape;2836;p52"/>
            <p:cNvSpPr txBox="1"/>
            <p:nvPr/>
          </p:nvSpPr>
          <p:spPr>
            <a:xfrm>
              <a:off x="2536350" y="5468863"/>
              <a:ext cx="24452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Top1 . 삼성전자</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Top2 . Naver</a:t>
              </a:r>
              <a:endParaRPr sz="12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ko-KR" sz="1200">
                  <a:solidFill>
                    <a:schemeClr val="dk1"/>
                  </a:solidFill>
                  <a:latin typeface="Noto Sans KR"/>
                  <a:ea typeface="Noto Sans KR"/>
                  <a:cs typeface="Noto Sans KR"/>
                  <a:sym typeface="Noto Sans KR"/>
                </a:rPr>
                <a:t>Top3 . LG CNS</a:t>
              </a:r>
              <a:endParaRPr/>
            </a:p>
          </p:txBody>
        </p:sp>
      </p:grpSp>
      <p:grpSp>
        <p:nvGrpSpPr>
          <p:cNvPr id="2837" name="Google Shape;2837;p52"/>
          <p:cNvGrpSpPr/>
          <p:nvPr/>
        </p:nvGrpSpPr>
        <p:grpSpPr>
          <a:xfrm>
            <a:off x="325303" y="1601645"/>
            <a:ext cx="2639747" cy="4938263"/>
            <a:chOff x="335382" y="1499012"/>
            <a:chExt cx="2639747" cy="4938263"/>
          </a:xfrm>
        </p:grpSpPr>
        <p:sp>
          <p:nvSpPr>
            <p:cNvPr id="2838" name="Google Shape;2838;p52"/>
            <p:cNvSpPr/>
            <p:nvPr/>
          </p:nvSpPr>
          <p:spPr>
            <a:xfrm>
              <a:off x="335382" y="1499012"/>
              <a:ext cx="1959244" cy="4938263"/>
            </a:xfrm>
            <a:prstGeom prst="rect">
              <a:avLst/>
            </a:prstGeom>
            <a:solidFill>
              <a:srgbClr val="3F3F3F"/>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839" name="Google Shape;2839;p52"/>
            <p:cNvSpPr/>
            <p:nvPr/>
          </p:nvSpPr>
          <p:spPr>
            <a:xfrm>
              <a:off x="417308" y="1700088"/>
              <a:ext cx="1756549" cy="266736"/>
            </a:xfrm>
            <a:prstGeom prst="roundRect">
              <a:avLst>
                <a:gd fmla="val 16667" name="adj"/>
              </a:avLst>
            </a:prstGeom>
            <a:solidFill>
              <a:srgbClr val="FF256E"/>
            </a:solidFill>
            <a:ln cap="flat" cmpd="sng" w="12700">
              <a:solidFill>
                <a:srgbClr val="FF256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ko-KR" sz="1400">
                  <a:solidFill>
                    <a:schemeClr val="lt1"/>
                  </a:solidFill>
                  <a:latin typeface="Noto Sans KR"/>
                  <a:ea typeface="Noto Sans KR"/>
                  <a:cs typeface="Noto Sans KR"/>
                  <a:sym typeface="Noto Sans KR"/>
                </a:rPr>
                <a:t>     Dashboard</a:t>
              </a:r>
              <a:endParaRPr sz="1400">
                <a:solidFill>
                  <a:schemeClr val="lt1"/>
                </a:solidFill>
                <a:latin typeface="Noto Sans KR"/>
                <a:ea typeface="Noto Sans KR"/>
                <a:cs typeface="Noto Sans KR"/>
                <a:sym typeface="Noto Sans KR"/>
              </a:endParaRPr>
            </a:p>
          </p:txBody>
        </p:sp>
        <p:pic>
          <p:nvPicPr>
            <p:cNvPr id="2840" name="Google Shape;2840;p52"/>
            <p:cNvPicPr preferRelativeResize="0"/>
            <p:nvPr/>
          </p:nvPicPr>
          <p:blipFill rotWithShape="1">
            <a:blip r:embed="rId7">
              <a:alphaModFix/>
            </a:blip>
            <a:srcRect b="0" l="0" r="0" t="0"/>
            <a:stretch/>
          </p:blipFill>
          <p:spPr>
            <a:xfrm>
              <a:off x="477692" y="1740185"/>
              <a:ext cx="186542" cy="186542"/>
            </a:xfrm>
            <a:prstGeom prst="rect">
              <a:avLst/>
            </a:prstGeom>
            <a:noFill/>
            <a:ln>
              <a:noFill/>
            </a:ln>
          </p:spPr>
        </p:pic>
        <p:grpSp>
          <p:nvGrpSpPr>
            <p:cNvPr id="2841" name="Google Shape;2841;p52"/>
            <p:cNvGrpSpPr/>
            <p:nvPr/>
          </p:nvGrpSpPr>
          <p:grpSpPr>
            <a:xfrm>
              <a:off x="417309" y="2028295"/>
              <a:ext cx="1678910" cy="297090"/>
              <a:chOff x="417309" y="2028295"/>
              <a:chExt cx="1678910" cy="297090"/>
            </a:xfrm>
          </p:grpSpPr>
          <p:cxnSp>
            <p:nvCxnSpPr>
              <p:cNvPr id="2842" name="Google Shape;2842;p5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843" name="Google Shape;2843;p52"/>
              <p:cNvSpPr txBox="1"/>
              <p:nvPr/>
            </p:nvSpPr>
            <p:spPr>
              <a:xfrm>
                <a:off x="417309" y="2028295"/>
                <a:ext cx="167891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BFBFBF"/>
                    </a:solidFill>
                    <a:latin typeface="Noto Sans KR"/>
                    <a:ea typeface="Noto Sans KR"/>
                    <a:cs typeface="Noto Sans KR"/>
                    <a:sym typeface="Noto Sans KR"/>
                  </a:rPr>
                  <a:t>User Management     ∧</a:t>
                </a:r>
                <a:endParaRPr sz="1100">
                  <a:solidFill>
                    <a:srgbClr val="BFBFBF"/>
                  </a:solidFill>
                  <a:latin typeface="Noto Sans KR"/>
                  <a:ea typeface="Noto Sans KR"/>
                  <a:cs typeface="Noto Sans KR"/>
                  <a:sym typeface="Noto Sans KR"/>
                </a:endParaRPr>
              </a:p>
            </p:txBody>
          </p:sp>
        </p:grpSp>
        <p:grpSp>
          <p:nvGrpSpPr>
            <p:cNvPr id="2844" name="Google Shape;2844;p52"/>
            <p:cNvGrpSpPr/>
            <p:nvPr/>
          </p:nvGrpSpPr>
          <p:grpSpPr>
            <a:xfrm>
              <a:off x="858389" y="2435549"/>
              <a:ext cx="1315468" cy="261610"/>
              <a:chOff x="858389" y="2393766"/>
              <a:chExt cx="1315468" cy="261610"/>
            </a:xfrm>
          </p:grpSpPr>
          <p:sp>
            <p:nvSpPr>
              <p:cNvPr id="2845" name="Google Shape;2845;p52"/>
              <p:cNvSpPr txBox="1"/>
              <p:nvPr/>
            </p:nvSpPr>
            <p:spPr>
              <a:xfrm>
                <a:off x="858389" y="2393766"/>
                <a:ext cx="131546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rgbClr val="BFBFBF"/>
                    </a:solidFill>
                    <a:latin typeface="Noto Sans KR"/>
                    <a:ea typeface="Noto Sans KR"/>
                    <a:cs typeface="Noto Sans KR"/>
                    <a:sym typeface="Noto Sans KR"/>
                  </a:rPr>
                  <a:t>Daily Active Users</a:t>
                </a:r>
                <a:endParaRPr sz="1050">
                  <a:solidFill>
                    <a:srgbClr val="BFBFBF"/>
                  </a:solidFill>
                  <a:latin typeface="Noto Sans KR"/>
                  <a:ea typeface="Noto Sans KR"/>
                  <a:cs typeface="Noto Sans KR"/>
                  <a:sym typeface="Noto Sans KR"/>
                </a:endParaRPr>
              </a:p>
            </p:txBody>
          </p:sp>
          <p:cxnSp>
            <p:nvCxnSpPr>
              <p:cNvPr id="2846" name="Google Shape;2846;p52"/>
              <p:cNvCxnSpPr/>
              <p:nvPr/>
            </p:nvCxnSpPr>
            <p:spPr>
              <a:xfrm>
                <a:off x="862642" y="2653168"/>
                <a:ext cx="1233577" cy="0"/>
              </a:xfrm>
              <a:prstGeom prst="straightConnector1">
                <a:avLst/>
              </a:prstGeom>
              <a:noFill/>
              <a:ln cap="flat" cmpd="sng" w="9525">
                <a:solidFill>
                  <a:srgbClr val="BFBFBF"/>
                </a:solidFill>
                <a:prstDash val="solid"/>
                <a:miter lim="8000"/>
                <a:headEnd len="sm" w="sm" type="none"/>
                <a:tailEnd len="sm" w="sm" type="none"/>
              </a:ln>
            </p:spPr>
          </p:cxnSp>
        </p:grpSp>
        <p:grpSp>
          <p:nvGrpSpPr>
            <p:cNvPr id="2847" name="Google Shape;2847;p52"/>
            <p:cNvGrpSpPr/>
            <p:nvPr/>
          </p:nvGrpSpPr>
          <p:grpSpPr>
            <a:xfrm>
              <a:off x="430205" y="3138758"/>
              <a:ext cx="2512586" cy="297090"/>
              <a:chOff x="477692" y="2028295"/>
              <a:chExt cx="2512586" cy="297090"/>
            </a:xfrm>
          </p:grpSpPr>
          <p:cxnSp>
            <p:nvCxnSpPr>
              <p:cNvPr id="2848" name="Google Shape;2848;p5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849" name="Google Shape;2849;p52"/>
              <p:cNvSpPr txBox="1"/>
              <p:nvPr/>
            </p:nvSpPr>
            <p:spPr>
              <a:xfrm>
                <a:off x="510030" y="2028295"/>
                <a:ext cx="248024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BFBFBF"/>
                    </a:solidFill>
                    <a:latin typeface="Noto Sans KR"/>
                    <a:ea typeface="Noto Sans KR"/>
                    <a:cs typeface="Noto Sans KR"/>
                    <a:sym typeface="Noto Sans KR"/>
                  </a:rPr>
                  <a:t>Interview Logs         ∨</a:t>
                </a:r>
                <a:endParaRPr sz="1100">
                  <a:solidFill>
                    <a:srgbClr val="BFBFBF"/>
                  </a:solidFill>
                  <a:latin typeface="Noto Sans KR"/>
                  <a:ea typeface="Noto Sans KR"/>
                  <a:cs typeface="Noto Sans KR"/>
                  <a:sym typeface="Noto Sans KR"/>
                </a:endParaRPr>
              </a:p>
            </p:txBody>
          </p:sp>
        </p:grpSp>
        <p:grpSp>
          <p:nvGrpSpPr>
            <p:cNvPr id="2850" name="Google Shape;2850;p52"/>
            <p:cNvGrpSpPr/>
            <p:nvPr/>
          </p:nvGrpSpPr>
          <p:grpSpPr>
            <a:xfrm>
              <a:off x="446374" y="3539414"/>
              <a:ext cx="2512586" cy="297090"/>
              <a:chOff x="477692" y="2028295"/>
              <a:chExt cx="2512586" cy="297090"/>
            </a:xfrm>
          </p:grpSpPr>
          <p:cxnSp>
            <p:nvCxnSpPr>
              <p:cNvPr id="2851" name="Google Shape;2851;p5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852" name="Google Shape;2852;p52"/>
              <p:cNvSpPr txBox="1"/>
              <p:nvPr/>
            </p:nvSpPr>
            <p:spPr>
              <a:xfrm>
                <a:off x="510030" y="2028295"/>
                <a:ext cx="248024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BFBFBF"/>
                    </a:solidFill>
                    <a:latin typeface="Noto Sans KR"/>
                    <a:ea typeface="Noto Sans KR"/>
                    <a:cs typeface="Noto Sans KR"/>
                    <a:sym typeface="Noto Sans KR"/>
                  </a:rPr>
                  <a:t>AI Monitoring           ∨</a:t>
                </a:r>
                <a:endParaRPr sz="1100">
                  <a:solidFill>
                    <a:srgbClr val="BFBFBF"/>
                  </a:solidFill>
                  <a:latin typeface="Noto Sans KR"/>
                  <a:ea typeface="Noto Sans KR"/>
                  <a:cs typeface="Noto Sans KR"/>
                  <a:sym typeface="Noto Sans KR"/>
                </a:endParaRPr>
              </a:p>
            </p:txBody>
          </p:sp>
        </p:grpSp>
        <p:grpSp>
          <p:nvGrpSpPr>
            <p:cNvPr id="2853" name="Google Shape;2853;p52"/>
            <p:cNvGrpSpPr/>
            <p:nvPr/>
          </p:nvGrpSpPr>
          <p:grpSpPr>
            <a:xfrm>
              <a:off x="462543" y="3921100"/>
              <a:ext cx="2512586" cy="297090"/>
              <a:chOff x="477692" y="2028295"/>
              <a:chExt cx="2512586" cy="297090"/>
            </a:xfrm>
          </p:grpSpPr>
          <p:cxnSp>
            <p:nvCxnSpPr>
              <p:cNvPr id="2854" name="Google Shape;2854;p52"/>
              <p:cNvCxnSpPr/>
              <p:nvPr/>
            </p:nvCxnSpPr>
            <p:spPr>
              <a:xfrm>
                <a:off x="477692" y="2325385"/>
                <a:ext cx="1618527" cy="0"/>
              </a:xfrm>
              <a:prstGeom prst="straightConnector1">
                <a:avLst/>
              </a:prstGeom>
              <a:noFill/>
              <a:ln cap="flat" cmpd="sng" w="9525">
                <a:solidFill>
                  <a:srgbClr val="BFBFBF"/>
                </a:solidFill>
                <a:prstDash val="solid"/>
                <a:miter lim="8000"/>
                <a:headEnd len="sm" w="sm" type="none"/>
                <a:tailEnd len="sm" w="sm" type="none"/>
              </a:ln>
            </p:spPr>
          </p:cxnSp>
          <p:sp>
            <p:nvSpPr>
              <p:cNvPr id="2855" name="Google Shape;2855;p52"/>
              <p:cNvSpPr txBox="1"/>
              <p:nvPr/>
            </p:nvSpPr>
            <p:spPr>
              <a:xfrm>
                <a:off x="510030" y="2028295"/>
                <a:ext cx="248024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100">
                    <a:solidFill>
                      <a:srgbClr val="BFBFBF"/>
                    </a:solidFill>
                    <a:latin typeface="Noto Sans KR"/>
                    <a:ea typeface="Noto Sans KR"/>
                    <a:cs typeface="Noto Sans KR"/>
                    <a:sym typeface="Noto Sans KR"/>
                  </a:rPr>
                  <a:t>Admin Account       ∨</a:t>
                </a:r>
                <a:endParaRPr sz="1100">
                  <a:solidFill>
                    <a:srgbClr val="BFBFBF"/>
                  </a:solidFill>
                  <a:latin typeface="Noto Sans KR"/>
                  <a:ea typeface="Noto Sans KR"/>
                  <a:cs typeface="Noto Sans KR"/>
                  <a:sym typeface="Noto Sans KR"/>
                </a:endParaRPr>
              </a:p>
            </p:txBody>
          </p:sp>
        </p:grpSp>
        <p:grpSp>
          <p:nvGrpSpPr>
            <p:cNvPr id="2856" name="Google Shape;2856;p52"/>
            <p:cNvGrpSpPr/>
            <p:nvPr/>
          </p:nvGrpSpPr>
          <p:grpSpPr>
            <a:xfrm>
              <a:off x="862642" y="2772888"/>
              <a:ext cx="1431984" cy="261610"/>
              <a:chOff x="862642" y="2393664"/>
              <a:chExt cx="1431984" cy="261610"/>
            </a:xfrm>
          </p:grpSpPr>
          <p:sp>
            <p:nvSpPr>
              <p:cNvPr id="2857" name="Google Shape;2857;p52"/>
              <p:cNvSpPr txBox="1"/>
              <p:nvPr/>
            </p:nvSpPr>
            <p:spPr>
              <a:xfrm>
                <a:off x="1241934" y="2393664"/>
                <a:ext cx="105269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rgbClr val="BFBFBF"/>
                    </a:solidFill>
                    <a:latin typeface="Noto Sans KR"/>
                    <a:ea typeface="Noto Sans KR"/>
                    <a:cs typeface="Noto Sans KR"/>
                    <a:sym typeface="Noto Sans KR"/>
                  </a:rPr>
                  <a:t>Total Users</a:t>
                </a:r>
                <a:endParaRPr sz="1050">
                  <a:solidFill>
                    <a:srgbClr val="BFBFBF"/>
                  </a:solidFill>
                  <a:latin typeface="Noto Sans KR"/>
                  <a:ea typeface="Noto Sans KR"/>
                  <a:cs typeface="Noto Sans KR"/>
                  <a:sym typeface="Noto Sans KR"/>
                </a:endParaRPr>
              </a:p>
            </p:txBody>
          </p:sp>
          <p:cxnSp>
            <p:nvCxnSpPr>
              <p:cNvPr id="2858" name="Google Shape;2858;p52"/>
              <p:cNvCxnSpPr/>
              <p:nvPr/>
            </p:nvCxnSpPr>
            <p:spPr>
              <a:xfrm>
                <a:off x="862642" y="2653168"/>
                <a:ext cx="1233577" cy="0"/>
              </a:xfrm>
              <a:prstGeom prst="straightConnector1">
                <a:avLst/>
              </a:prstGeom>
              <a:noFill/>
              <a:ln cap="flat" cmpd="sng" w="9525">
                <a:solidFill>
                  <a:srgbClr val="BFBFBF"/>
                </a:solidFill>
                <a:prstDash val="solid"/>
                <a:miter lim="8000"/>
                <a:headEnd len="sm" w="sm" type="none"/>
                <a:tailEnd len="sm" w="sm" type="none"/>
              </a:ln>
            </p:spPr>
          </p:cxnSp>
        </p:grpSp>
      </p:grpSp>
      <p:sp>
        <p:nvSpPr>
          <p:cNvPr id="2859" name="Google Shape;2859;p52"/>
          <p:cNvSpPr txBox="1"/>
          <p:nvPr/>
        </p:nvSpPr>
        <p:spPr>
          <a:xfrm>
            <a:off x="6338388" y="2279453"/>
            <a:ext cx="14333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rgbClr val="FF0000"/>
                </a:solidFill>
                <a:latin typeface="Malgun Gothic"/>
                <a:ea typeface="Malgun Gothic"/>
                <a:cs typeface="Malgun Gothic"/>
                <a:sym typeface="Malgun Gothic"/>
              </a:rPr>
              <a:t>• </a:t>
            </a:r>
            <a:r>
              <a:rPr lang="ko-KR" sz="1100">
                <a:solidFill>
                  <a:schemeClr val="dk1"/>
                </a:solidFill>
                <a:latin typeface="Noto Sans KR"/>
                <a:ea typeface="Noto Sans KR"/>
                <a:cs typeface="Noto Sans KR"/>
                <a:sym typeface="Noto Sans KR"/>
              </a:rPr>
              <a:t>Daily Increase</a:t>
            </a:r>
            <a:endParaRPr sz="1100">
              <a:solidFill>
                <a:schemeClr val="dk1"/>
              </a:solidFill>
              <a:latin typeface="Noto Sans KR"/>
              <a:ea typeface="Noto Sans KR"/>
              <a:cs typeface="Noto Sans KR"/>
              <a:sym typeface="Noto Sans KR"/>
            </a:endParaRPr>
          </a:p>
        </p:txBody>
      </p:sp>
      <p:sp>
        <p:nvSpPr>
          <p:cNvPr id="2860" name="Google Shape;2860;p52"/>
          <p:cNvSpPr/>
          <p:nvPr/>
        </p:nvSpPr>
        <p:spPr>
          <a:xfrm>
            <a:off x="176295" y="111075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a:t>
            </a:r>
            <a:endParaRPr sz="1000">
              <a:solidFill>
                <a:schemeClr val="lt1"/>
              </a:solidFill>
              <a:latin typeface="Noto Sans KR"/>
              <a:ea typeface="Noto Sans KR"/>
              <a:cs typeface="Noto Sans KR"/>
              <a:sym typeface="Noto Sans KR"/>
            </a:endParaRPr>
          </a:p>
        </p:txBody>
      </p:sp>
      <p:sp>
        <p:nvSpPr>
          <p:cNvPr id="2861" name="Google Shape;2861;p52"/>
          <p:cNvSpPr/>
          <p:nvPr/>
        </p:nvSpPr>
        <p:spPr>
          <a:xfrm>
            <a:off x="2199096" y="110471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2</a:t>
            </a:r>
            <a:endParaRPr sz="1000">
              <a:solidFill>
                <a:schemeClr val="lt1"/>
              </a:solidFill>
              <a:latin typeface="Noto Sans KR"/>
              <a:ea typeface="Noto Sans KR"/>
              <a:cs typeface="Noto Sans KR"/>
              <a:sym typeface="Noto Sans KR"/>
            </a:endParaRPr>
          </a:p>
        </p:txBody>
      </p:sp>
      <p:sp>
        <p:nvSpPr>
          <p:cNvPr id="2862" name="Google Shape;2862;p52"/>
          <p:cNvSpPr/>
          <p:nvPr/>
        </p:nvSpPr>
        <p:spPr>
          <a:xfrm>
            <a:off x="6903826" y="106300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3</a:t>
            </a:r>
            <a:endParaRPr sz="1000">
              <a:solidFill>
                <a:schemeClr val="lt1"/>
              </a:solidFill>
              <a:latin typeface="Noto Sans KR"/>
              <a:ea typeface="Noto Sans KR"/>
              <a:cs typeface="Noto Sans KR"/>
              <a:sym typeface="Noto Sans KR"/>
            </a:endParaRPr>
          </a:p>
        </p:txBody>
      </p:sp>
      <p:sp>
        <p:nvSpPr>
          <p:cNvPr id="2863" name="Google Shape;2863;p52"/>
          <p:cNvSpPr/>
          <p:nvPr/>
        </p:nvSpPr>
        <p:spPr>
          <a:xfrm>
            <a:off x="7800719" y="102185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4</a:t>
            </a:r>
            <a:endParaRPr sz="1000">
              <a:solidFill>
                <a:schemeClr val="lt1"/>
              </a:solidFill>
              <a:latin typeface="Noto Sans KR"/>
              <a:ea typeface="Noto Sans KR"/>
              <a:cs typeface="Noto Sans KR"/>
              <a:sym typeface="Noto Sans KR"/>
            </a:endParaRPr>
          </a:p>
        </p:txBody>
      </p:sp>
      <p:sp>
        <p:nvSpPr>
          <p:cNvPr id="2864" name="Google Shape;2864;p52"/>
          <p:cNvSpPr/>
          <p:nvPr/>
        </p:nvSpPr>
        <p:spPr>
          <a:xfrm>
            <a:off x="255506" y="1627534"/>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5</a:t>
            </a:r>
            <a:endParaRPr sz="1000">
              <a:solidFill>
                <a:schemeClr val="lt1"/>
              </a:solidFill>
              <a:latin typeface="Noto Sans KR"/>
              <a:ea typeface="Noto Sans KR"/>
              <a:cs typeface="Noto Sans KR"/>
              <a:sym typeface="Noto Sans KR"/>
            </a:endParaRPr>
          </a:p>
        </p:txBody>
      </p:sp>
      <p:sp>
        <p:nvSpPr>
          <p:cNvPr id="2865" name="Google Shape;2865;p52"/>
          <p:cNvSpPr/>
          <p:nvPr/>
        </p:nvSpPr>
        <p:spPr>
          <a:xfrm>
            <a:off x="2348973" y="1613985"/>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6</a:t>
            </a:r>
            <a:endParaRPr sz="1000">
              <a:solidFill>
                <a:schemeClr val="lt1"/>
              </a:solidFill>
              <a:latin typeface="Noto Sans KR"/>
              <a:ea typeface="Noto Sans KR"/>
              <a:cs typeface="Noto Sans KR"/>
              <a:sym typeface="Noto Sans KR"/>
            </a:endParaRPr>
          </a:p>
        </p:txBody>
      </p:sp>
      <p:sp>
        <p:nvSpPr>
          <p:cNvPr id="2866" name="Google Shape;2866;p52"/>
          <p:cNvSpPr/>
          <p:nvPr/>
        </p:nvSpPr>
        <p:spPr>
          <a:xfrm>
            <a:off x="4319567" y="161906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7</a:t>
            </a:r>
            <a:endParaRPr sz="1000">
              <a:solidFill>
                <a:schemeClr val="lt1"/>
              </a:solidFill>
              <a:latin typeface="Noto Sans KR"/>
              <a:ea typeface="Noto Sans KR"/>
              <a:cs typeface="Noto Sans KR"/>
              <a:sym typeface="Noto Sans KR"/>
            </a:endParaRPr>
          </a:p>
        </p:txBody>
      </p:sp>
      <p:sp>
        <p:nvSpPr>
          <p:cNvPr id="2867" name="Google Shape;2867;p52"/>
          <p:cNvSpPr/>
          <p:nvPr/>
        </p:nvSpPr>
        <p:spPr>
          <a:xfrm>
            <a:off x="6263646" y="1624779"/>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8</a:t>
            </a:r>
            <a:endParaRPr sz="1000">
              <a:solidFill>
                <a:schemeClr val="lt1"/>
              </a:solidFill>
              <a:latin typeface="Noto Sans KR"/>
              <a:ea typeface="Noto Sans KR"/>
              <a:cs typeface="Noto Sans KR"/>
              <a:sym typeface="Noto Sans KR"/>
            </a:endParaRPr>
          </a:p>
        </p:txBody>
      </p:sp>
      <p:sp>
        <p:nvSpPr>
          <p:cNvPr id="2868" name="Google Shape;2868;p52"/>
          <p:cNvSpPr/>
          <p:nvPr/>
        </p:nvSpPr>
        <p:spPr>
          <a:xfrm>
            <a:off x="2392402" y="2847857"/>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9</a:t>
            </a:r>
            <a:endParaRPr sz="1000">
              <a:solidFill>
                <a:schemeClr val="lt1"/>
              </a:solidFill>
              <a:latin typeface="Noto Sans KR"/>
              <a:ea typeface="Noto Sans KR"/>
              <a:cs typeface="Noto Sans KR"/>
              <a:sym typeface="Noto Sans KR"/>
            </a:endParaRPr>
          </a:p>
        </p:txBody>
      </p:sp>
      <p:sp>
        <p:nvSpPr>
          <p:cNvPr id="2869" name="Google Shape;2869;p52"/>
          <p:cNvSpPr/>
          <p:nvPr/>
        </p:nvSpPr>
        <p:spPr>
          <a:xfrm>
            <a:off x="5545108" y="284283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10</a:t>
            </a:r>
            <a:endParaRPr sz="1000">
              <a:solidFill>
                <a:schemeClr val="lt1"/>
              </a:solidFill>
              <a:latin typeface="Noto Sans KR"/>
              <a:ea typeface="Noto Sans KR"/>
              <a:cs typeface="Noto Sans KR"/>
              <a:sym typeface="Noto Sans KR"/>
            </a:endParaRPr>
          </a:p>
        </p:txBody>
      </p:sp>
      <p:sp>
        <p:nvSpPr>
          <p:cNvPr id="2870" name="Google Shape;2870;p52"/>
          <p:cNvSpPr/>
          <p:nvPr/>
        </p:nvSpPr>
        <p:spPr>
          <a:xfrm>
            <a:off x="2527346" y="5055712"/>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11</a:t>
            </a:r>
            <a:endParaRPr sz="1000">
              <a:solidFill>
                <a:schemeClr val="lt1"/>
              </a:solidFill>
              <a:latin typeface="Noto Sans KR"/>
              <a:ea typeface="Noto Sans KR"/>
              <a:cs typeface="Noto Sans KR"/>
              <a:sym typeface="Noto Sans KR"/>
            </a:endParaRPr>
          </a:p>
        </p:txBody>
      </p:sp>
      <p:sp>
        <p:nvSpPr>
          <p:cNvPr id="2871" name="Google Shape;2871;p52"/>
          <p:cNvSpPr/>
          <p:nvPr/>
        </p:nvSpPr>
        <p:spPr>
          <a:xfrm>
            <a:off x="5415108" y="5049671"/>
            <a:ext cx="260000" cy="217442"/>
          </a:xfrm>
          <a:prstGeom prst="ellipse">
            <a:avLst/>
          </a:prstGeom>
          <a:solidFill>
            <a:srgbClr val="C00000"/>
          </a:solidFill>
          <a:ln cap="flat" cmpd="sng" w="12700">
            <a:solidFill>
              <a:srgbClr val="C00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KR" sz="1000">
                <a:solidFill>
                  <a:schemeClr val="lt1"/>
                </a:solidFill>
                <a:latin typeface="Noto Sans KR"/>
                <a:ea typeface="Noto Sans KR"/>
                <a:cs typeface="Noto Sans KR"/>
                <a:sym typeface="Noto Sans KR"/>
              </a:rPr>
              <a:t>12</a:t>
            </a:r>
            <a:endParaRPr sz="1000">
              <a:solidFill>
                <a:schemeClr val="lt1"/>
              </a:solidFill>
              <a:latin typeface="Noto Sans KR"/>
              <a:ea typeface="Noto Sans KR"/>
              <a:cs typeface="Noto Sans KR"/>
              <a:sym typeface="Noto Sans KR"/>
            </a:endParaRPr>
          </a:p>
        </p:txBody>
      </p:sp>
      <p:cxnSp>
        <p:nvCxnSpPr>
          <p:cNvPr id="2872" name="Google Shape;2872;p52"/>
          <p:cNvCxnSpPr/>
          <p:nvPr/>
        </p:nvCxnSpPr>
        <p:spPr>
          <a:xfrm>
            <a:off x="355583" y="6087345"/>
            <a:ext cx="1942864" cy="0"/>
          </a:xfrm>
          <a:prstGeom prst="straightConnector1">
            <a:avLst/>
          </a:prstGeom>
          <a:noFill/>
          <a:ln cap="flat" cmpd="sng" w="9525">
            <a:solidFill>
              <a:srgbClr val="BFBFBF"/>
            </a:solidFill>
            <a:prstDash val="solid"/>
            <a:miter lim="8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2025-12-10T06:17:54Z</dcterms:created>
  <dc:creator>TJ</dc:creator>
</cp:coreProperties>
</file>